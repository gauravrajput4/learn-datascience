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3.jpg" ContentType="image/jpg"/>
  <Override PartName="/ppt/media/image4.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2"/>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279" r:id="rId15"/>
    <p:sldId id="280" r:id="rId16"/>
    <p:sldId id="281" r:id="rId17"/>
    <p:sldId id="282" r:id="rId18"/>
    <p:sldId id="421" r:id="rId19"/>
    <p:sldId id="422" r:id="rId20"/>
    <p:sldId id="352"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12/15/2024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12/15/2024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12/15/2024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12/15/2024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12/15/2024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12/15/2024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12/15/2024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12/15/2024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12/15/2024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12/15/2024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12/15/2024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3200" b="1" dirty="0"/>
              <a:t>Chandigarh School of Business, Jhanjeri</a:t>
            </a:r>
          </a:p>
          <a:p>
            <a:pPr marL="0" indent="0" algn="ctr">
              <a:buNone/>
            </a:pPr>
            <a:r>
              <a:rPr lang="en-US" sz="2800" b="1" dirty="0"/>
              <a:t>Department of Computer Application </a:t>
            </a:r>
          </a:p>
          <a:p>
            <a:pPr marL="0" indent="0" algn="ctr">
              <a:buNone/>
            </a:pPr>
            <a:r>
              <a:rPr lang="en-US" sz="2000" b="1" dirty="0"/>
              <a:t>Program Code: NA</a:t>
            </a:r>
          </a:p>
          <a:p>
            <a:pPr marL="0" indent="0" algn="ctr">
              <a:buNone/>
            </a:pPr>
            <a:r>
              <a:rPr lang="en-US" sz="2000" b="1" dirty="0"/>
              <a:t>Program Name: MCA</a:t>
            </a:r>
          </a:p>
          <a:p>
            <a:pPr marL="0" indent="0" algn="ctr">
              <a:buNone/>
            </a:pPr>
            <a:r>
              <a:rPr lang="en-US" sz="2000" b="1" dirty="0"/>
              <a:t>Course Code: </a:t>
            </a:r>
            <a:r>
              <a:rPr lang="en-US" sz="2000" b="1" i="0" u="none" strike="noStrike" baseline="0" dirty="0">
                <a:solidFill>
                  <a:srgbClr val="000000"/>
                </a:solidFill>
              </a:rPr>
              <a:t>PGCA1937 </a:t>
            </a:r>
            <a:r>
              <a:rPr lang="en-US" sz="2000" b="1" dirty="0">
                <a:solidFill>
                  <a:srgbClr val="000000"/>
                </a:solidFill>
              </a:rPr>
              <a:t> </a:t>
            </a:r>
            <a:endParaRPr lang="en-US" sz="2000" b="1" dirty="0"/>
          </a:p>
          <a:p>
            <a:pPr marL="0" indent="0" algn="ctr">
              <a:buNone/>
            </a:pPr>
            <a:r>
              <a:rPr lang="en-US" sz="2000" b="1" dirty="0"/>
              <a:t>Course Name: </a:t>
            </a:r>
            <a:r>
              <a:rPr lang="en-US" sz="2000" b="1" i="0" u="none" strike="noStrike" baseline="0" dirty="0">
                <a:solidFill>
                  <a:srgbClr val="000000"/>
                </a:solidFill>
              </a:rPr>
              <a:t>Cloud Computing</a:t>
            </a:r>
            <a:r>
              <a:rPr lang="en-US" sz="1800" b="1" i="0" u="none" strike="noStrike" baseline="0" dirty="0">
                <a:solidFill>
                  <a:srgbClr val="000000"/>
                </a:solidFill>
              </a:rPr>
              <a:t>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a:xfrm>
            <a:off x="628650" y="1200150"/>
            <a:ext cx="7886700" cy="3432573"/>
          </a:xfrm>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228600" y="788825"/>
            <a:ext cx="8610600" cy="4068925"/>
          </a:xfrm>
        </p:spPr>
        <p:txBody>
          <a:bodyPr>
            <a:normAutofit fontScale="25000" lnSpcReduction="20000"/>
          </a:bodyPr>
          <a:lstStyle/>
          <a:p>
            <a:pPr marL="0" indent="0" algn="ctr">
              <a:buNone/>
            </a:pPr>
            <a:r>
              <a:rPr lang="en-US" sz="6800" b="1" dirty="0">
                <a:solidFill>
                  <a:srgbClr val="000000"/>
                </a:solidFill>
              </a:rPr>
              <a:t>Part-A</a:t>
            </a:r>
            <a:endParaRPr lang="en-US" sz="6800" dirty="0">
              <a:solidFill>
                <a:srgbClr val="000000"/>
              </a:solidFill>
            </a:endParaRPr>
          </a:p>
          <a:p>
            <a:pPr algn="just">
              <a:lnSpc>
                <a:spcPct val="120000"/>
              </a:lnSpc>
            </a:pPr>
            <a:r>
              <a:rPr lang="en-US" sz="6800" b="1" i="0" u="none" strike="noStrike" baseline="0" dirty="0">
                <a:solidFill>
                  <a:srgbClr val="000000"/>
                </a:solidFill>
              </a:rPr>
              <a:t>Overview of Computing Paradigm: </a:t>
            </a:r>
            <a:r>
              <a:rPr lang="en-US" sz="6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6800" b="1" i="0" u="none" strike="noStrike" baseline="0" dirty="0">
                <a:solidFill>
                  <a:srgbClr val="000000"/>
                </a:solidFill>
              </a:rPr>
              <a:t>Introduction to Cloud Computing: </a:t>
            </a:r>
            <a:r>
              <a:rPr lang="en-US" sz="6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6800" b="1" i="0" u="none" strike="noStrike" baseline="0" dirty="0">
                <a:solidFill>
                  <a:srgbClr val="000000"/>
                </a:solidFill>
              </a:rPr>
              <a:t>Migrating into a Cloud: </a:t>
            </a:r>
            <a:r>
              <a:rPr lang="en-US" sz="6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6800" b="1" i="0" u="none" strike="noStrike" baseline="0" dirty="0">
                <a:solidFill>
                  <a:srgbClr val="000000"/>
                </a:solidFill>
              </a:rPr>
              <a:t>Virtualization: </a:t>
            </a:r>
            <a:r>
              <a:rPr lang="en-US" sz="6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6800" b="1" i="0" u="none" strike="noStrike" baseline="0" dirty="0">
                <a:solidFill>
                  <a:srgbClr val="000000"/>
                </a:solidFill>
              </a:rPr>
              <a:t>Capacity Planning: </a:t>
            </a:r>
            <a:r>
              <a:rPr lang="en-US" sz="6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3200" b="1" kern="0" dirty="0">
                <a:latin typeface="+mn-lt"/>
              </a:rPr>
              <a:t>Key objectives or learning outcomes</a:t>
            </a:r>
            <a:endParaRPr lang="en-IN" sz="32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b="1" dirty="0"/>
              <a:t>Evolution and Integration</a:t>
            </a:r>
            <a:r>
              <a:rPr lang="en-US" sz="1800" dirty="0"/>
              <a:t>: Recent trends in computing, such as Grid Computing, Cluster Computing, and Distributed Computing, focus on optimizing resource utilization across multiple systems. </a:t>
            </a:r>
          </a:p>
          <a:p>
            <a:pPr algn="just">
              <a:lnSpc>
                <a:spcPct val="150000"/>
              </a:lnSpc>
            </a:pPr>
            <a:r>
              <a:rPr lang="en-US" sz="1800" dirty="0"/>
              <a:t>These paradigms enable parallel processing and resource sharing, improving performance, scalability, and fault tolerance. </a:t>
            </a:r>
          </a:p>
          <a:p>
            <a:pPr algn="just">
              <a:lnSpc>
                <a:spcPct val="150000"/>
              </a:lnSpc>
            </a:pPr>
            <a:r>
              <a:rPr lang="en-US" sz="1800" dirty="0"/>
              <a:t>Grid Computing uses distributed resources to solve complex tasks, Cluster Computing groups tightly coupled systems for enhanced performance, and Distributed Computing splits workloads across geographically dispersed networks.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487107" y="70037"/>
            <a:ext cx="5000616" cy="857250"/>
          </a:xfrm>
        </p:spPr>
        <p:txBody>
          <a:bodyPr>
            <a:noAutofit/>
          </a:bodyPr>
          <a:lstStyle/>
          <a:p>
            <a:pPr algn="ctr"/>
            <a:r>
              <a:rPr lang="en-US" altLang="en-US" sz="2800" b="1" kern="0" dirty="0"/>
              <a:t>Brief of what the presentation will</a:t>
            </a:r>
            <a:endParaRPr lang="en-IN" sz="28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a:xfrm>
            <a:off x="628650" y="1240618"/>
            <a:ext cx="7886700" cy="3263504"/>
          </a:xfrm>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dirty="0">
                <a:latin typeface="Calibri"/>
                <a:cs typeface="Calibri"/>
              </a:rPr>
              <a:t>Grid</a:t>
            </a:r>
            <a:r>
              <a:rPr lang="en-US" sz="2400" b="1" spc="-25" dirty="0">
                <a:latin typeface="Calibri"/>
                <a:cs typeface="Calibri"/>
              </a:rPr>
              <a:t> </a:t>
            </a:r>
            <a:r>
              <a:rPr lang="en-US" sz="2400" b="1" spc="-5" dirty="0">
                <a:latin typeface="Calibri"/>
                <a:cs typeface="Calibri"/>
              </a:rPr>
              <a:t>Computing</a:t>
            </a:r>
          </a:p>
          <a:p>
            <a:pPr>
              <a:buFont typeface="+mj-lt"/>
              <a:buAutoNum type="arabicPeriod"/>
            </a:pPr>
            <a:r>
              <a:rPr lang="en-US" sz="2400" b="1" spc="-5" dirty="0">
                <a:latin typeface="Calibri"/>
                <a:cs typeface="Calibri"/>
              </a:rPr>
              <a:t>Need</a:t>
            </a:r>
          </a:p>
          <a:p>
            <a:pPr>
              <a:buFont typeface="+mj-lt"/>
              <a:buAutoNum type="arabicPeriod"/>
            </a:pPr>
            <a:r>
              <a:rPr lang="en-US" sz="2400" b="1" spc="-5" dirty="0">
                <a:latin typeface="Calibri"/>
                <a:cs typeface="Calibri"/>
              </a:rPr>
              <a:t>Uses</a:t>
            </a:r>
          </a:p>
          <a:p>
            <a:pPr>
              <a:buFont typeface="+mj-lt"/>
              <a:buAutoNum type="arabicPeriod"/>
            </a:pPr>
            <a:r>
              <a:rPr lang="en-US" sz="2400" b="1" spc="-5" dirty="0">
                <a:latin typeface="Calibri"/>
                <a:cs typeface="Calibri"/>
              </a:rPr>
              <a:t>Types</a:t>
            </a:r>
          </a:p>
          <a:p>
            <a:pPr>
              <a:buFont typeface="+mj-lt"/>
              <a:buAutoNum type="arabicPeriod"/>
            </a:pPr>
            <a:r>
              <a:rPr lang="en-US" sz="2400" b="1" spc="-5" dirty="0">
                <a:latin typeface="Calibri"/>
                <a:cs typeface="Calibri"/>
              </a:rPr>
              <a:t>Components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b="1" dirty="0"/>
              <a:t>Scalability and Flexibility</a:t>
            </a:r>
            <a:r>
              <a:rPr lang="en-US" dirty="0"/>
              <a:t>: Cloud computing provides on-demand access to a vast range of resources, enabling businesses to scale up or down based on their needs.</a:t>
            </a:r>
          </a:p>
          <a:p>
            <a:pPr algn="just"/>
            <a:r>
              <a:rPr lang="en-US" b="1" dirty="0"/>
              <a:t>Cost Efficiency</a:t>
            </a:r>
            <a:r>
              <a:rPr lang="en-US" dirty="0"/>
              <a:t>: By using cloud services, businesses can significantly reduce costs associated with maintaining and upgrading physical hardware.</a:t>
            </a:r>
          </a:p>
          <a:p>
            <a:pPr algn="just"/>
            <a:r>
              <a:rPr lang="en-US" b="1" dirty="0"/>
              <a:t>Accessibility and Collaboration</a:t>
            </a:r>
            <a:r>
              <a:rPr lang="en-US"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09600" y="895350"/>
            <a:ext cx="8001000" cy="3737373"/>
          </a:xfrm>
        </p:spPr>
        <p:txBody>
          <a:bodyPr>
            <a:normAutofit fontScale="47500" lnSpcReduction="20000"/>
          </a:bodyPr>
          <a:lstStyle/>
          <a:p>
            <a:pPr marL="12065" indent="0">
              <a:lnSpc>
                <a:spcPct val="100000"/>
              </a:lnSpc>
              <a:spcBef>
                <a:spcPts val="95"/>
              </a:spcBef>
              <a:buNone/>
              <a:tabLst>
                <a:tab pos="355600" algn="l"/>
                <a:tab pos="356235" algn="l"/>
              </a:tabLst>
            </a:pPr>
            <a:r>
              <a:rPr lang="en-US" sz="3600" spc="-10" dirty="0">
                <a:cs typeface="Calibri"/>
              </a:rPr>
              <a:t>The</a:t>
            </a:r>
            <a:r>
              <a:rPr lang="en-US" sz="3600" spc="20" dirty="0">
                <a:cs typeface="Calibri"/>
              </a:rPr>
              <a:t> </a:t>
            </a:r>
            <a:r>
              <a:rPr lang="en-US" sz="3600" spc="-10" dirty="0">
                <a:cs typeface="Calibri"/>
              </a:rPr>
              <a:t>ACM</a:t>
            </a:r>
            <a:r>
              <a:rPr lang="en-US" sz="3600" spc="-5" dirty="0">
                <a:cs typeface="Calibri"/>
              </a:rPr>
              <a:t> </a:t>
            </a:r>
            <a:r>
              <a:rPr lang="en-US" sz="3600" i="1" spc="-5" dirty="0">
                <a:cs typeface="Calibri"/>
              </a:rPr>
              <a:t>Computing</a:t>
            </a:r>
            <a:r>
              <a:rPr lang="en-US" sz="3600" i="1" spc="-10" dirty="0">
                <a:cs typeface="Calibri"/>
              </a:rPr>
              <a:t> </a:t>
            </a:r>
            <a:r>
              <a:rPr lang="en-US" sz="3600" i="1" spc="-5" dirty="0">
                <a:cs typeface="Calibri"/>
              </a:rPr>
              <a:t>Curricula</a:t>
            </a:r>
            <a:r>
              <a:rPr lang="en-US" sz="3600" i="1" spc="-35" dirty="0">
                <a:cs typeface="Calibri"/>
              </a:rPr>
              <a:t> </a:t>
            </a:r>
            <a:r>
              <a:rPr lang="en-US" sz="3600" i="1" spc="-5" dirty="0">
                <a:cs typeface="Calibri"/>
              </a:rPr>
              <a:t>2005</a:t>
            </a:r>
            <a:r>
              <a:rPr lang="en-US" sz="3600" i="1" spc="-170" dirty="0">
                <a:cs typeface="Calibri"/>
              </a:rPr>
              <a:t> </a:t>
            </a:r>
            <a:r>
              <a:rPr lang="en-US" sz="3600" spc="-10" dirty="0">
                <a:cs typeface="Calibri"/>
              </a:rPr>
              <a:t>defined</a:t>
            </a:r>
            <a:r>
              <a:rPr lang="en-US" sz="3600" spc="15" dirty="0">
                <a:cs typeface="Calibri"/>
              </a:rPr>
              <a:t> </a:t>
            </a:r>
            <a:r>
              <a:rPr lang="en-US" sz="3600" spc="-10" dirty="0">
                <a:cs typeface="Calibri"/>
              </a:rPr>
              <a:t>"computing"</a:t>
            </a:r>
            <a:r>
              <a:rPr lang="en-US" sz="3600" spc="40" dirty="0">
                <a:cs typeface="Calibri"/>
              </a:rPr>
              <a:t> </a:t>
            </a:r>
            <a:r>
              <a:rPr lang="en-US" sz="3600" spc="-5" dirty="0">
                <a:cs typeface="Calibri"/>
              </a:rPr>
              <a:t>as</a:t>
            </a:r>
            <a:endParaRPr lang="en-US" sz="3600" dirty="0">
              <a:cs typeface="Calibri"/>
            </a:endParaRPr>
          </a:p>
          <a:p>
            <a:pPr>
              <a:lnSpc>
                <a:spcPct val="100000"/>
              </a:lnSpc>
              <a:spcBef>
                <a:spcPts val="55"/>
              </a:spcBef>
            </a:pPr>
            <a:endParaRPr lang="en-US" sz="3600" dirty="0">
              <a:cs typeface="Calibri"/>
            </a:endParaRPr>
          </a:p>
          <a:p>
            <a:pPr marL="12700" marR="5080" algn="just">
              <a:lnSpc>
                <a:spcPct val="170000"/>
              </a:lnSpc>
            </a:pPr>
            <a:r>
              <a:rPr lang="en-US" sz="3600" spc="-5" dirty="0">
                <a:cs typeface="Calibri"/>
              </a:rPr>
              <a:t>"In a </a:t>
            </a:r>
            <a:r>
              <a:rPr lang="en-US" sz="3600" spc="-15" dirty="0">
                <a:cs typeface="Calibri"/>
              </a:rPr>
              <a:t>general </a:t>
            </a:r>
            <a:r>
              <a:rPr lang="en-US" sz="3600" spc="-60" dirty="0">
                <a:cs typeface="Calibri"/>
              </a:rPr>
              <a:t>way, </a:t>
            </a:r>
            <a:r>
              <a:rPr lang="en-US" sz="3600" spc="-15" dirty="0">
                <a:cs typeface="Calibri"/>
              </a:rPr>
              <a:t>we can </a:t>
            </a:r>
            <a:r>
              <a:rPr lang="en-US" sz="3600" spc="-10" dirty="0">
                <a:cs typeface="Calibri"/>
              </a:rPr>
              <a:t>define </a:t>
            </a:r>
            <a:r>
              <a:rPr lang="en-US" sz="3600" spc="-5" dirty="0">
                <a:uFill>
                  <a:solidFill>
                    <a:srgbClr val="000000"/>
                  </a:solidFill>
                </a:uFill>
                <a:cs typeface="Calibri"/>
              </a:rPr>
              <a:t>computing </a:t>
            </a:r>
            <a:r>
              <a:rPr lang="en-US" sz="3600" spc="-20" dirty="0">
                <a:uFill>
                  <a:solidFill>
                    <a:srgbClr val="000000"/>
                  </a:solidFill>
                </a:uFill>
                <a:cs typeface="Calibri"/>
              </a:rPr>
              <a:t>to </a:t>
            </a:r>
            <a:r>
              <a:rPr lang="en-US" sz="3600" spc="-5" dirty="0">
                <a:uFill>
                  <a:solidFill>
                    <a:srgbClr val="000000"/>
                  </a:solidFill>
                </a:uFill>
                <a:cs typeface="Calibri"/>
              </a:rPr>
              <a:t>mean </a:t>
            </a:r>
            <a:r>
              <a:rPr lang="en-US" sz="3600" spc="-15" dirty="0">
                <a:uFill>
                  <a:solidFill>
                    <a:srgbClr val="000000"/>
                  </a:solidFill>
                </a:uFill>
                <a:cs typeface="Calibri"/>
              </a:rPr>
              <a:t>any </a:t>
            </a:r>
            <a:r>
              <a:rPr lang="en-US" sz="3600" spc="-10" dirty="0">
                <a:uFill>
                  <a:solidFill>
                    <a:srgbClr val="000000"/>
                  </a:solidFill>
                </a:uFill>
                <a:cs typeface="Calibri"/>
              </a:rPr>
              <a:t>goal-oriented </a:t>
            </a:r>
            <a:r>
              <a:rPr lang="en-US" sz="3600" spc="-5" dirty="0">
                <a:cs typeface="Calibri"/>
              </a:rPr>
              <a:t> </a:t>
            </a:r>
            <a:r>
              <a:rPr lang="en-US" sz="3600" spc="-5" dirty="0">
                <a:uFill>
                  <a:solidFill>
                    <a:srgbClr val="000000"/>
                  </a:solidFill>
                </a:uFill>
                <a:cs typeface="Calibri"/>
              </a:rPr>
              <a:t>activity</a:t>
            </a:r>
            <a:r>
              <a:rPr lang="en-US" sz="3600" dirty="0">
                <a:uFill>
                  <a:solidFill>
                    <a:srgbClr val="000000"/>
                  </a:solidFill>
                </a:uFill>
                <a:cs typeface="Calibri"/>
              </a:rPr>
              <a:t> </a:t>
            </a:r>
            <a:r>
              <a:rPr lang="en-US" sz="3600" spc="-5" dirty="0">
                <a:uFill>
                  <a:solidFill>
                    <a:srgbClr val="000000"/>
                  </a:solidFill>
                </a:uFill>
                <a:cs typeface="Calibri"/>
              </a:rPr>
              <a:t>requiring</a:t>
            </a:r>
            <a:r>
              <a:rPr lang="en-US" sz="3600" spc="-5" dirty="0">
                <a:cs typeface="Calibri"/>
              </a:rPr>
              <a:t>,</a:t>
            </a:r>
            <a:r>
              <a:rPr lang="en-US" sz="3600" dirty="0">
                <a:cs typeface="Calibri"/>
              </a:rPr>
              <a:t> </a:t>
            </a:r>
            <a:r>
              <a:rPr lang="en-US" sz="3600" spc="-10" dirty="0">
                <a:cs typeface="Calibri"/>
              </a:rPr>
              <a:t>benefiting</a:t>
            </a:r>
            <a:r>
              <a:rPr lang="en-US" sz="3600" spc="-5" dirty="0">
                <a:cs typeface="Calibri"/>
              </a:rPr>
              <a:t> </a:t>
            </a:r>
            <a:r>
              <a:rPr lang="en-US" sz="3600" spc="-15" dirty="0">
                <a:cs typeface="Calibri"/>
              </a:rPr>
              <a:t>from,</a:t>
            </a:r>
            <a:r>
              <a:rPr lang="en-US" sz="3600" spc="-10" dirty="0">
                <a:cs typeface="Calibri"/>
              </a:rPr>
              <a:t> </a:t>
            </a:r>
            <a:r>
              <a:rPr lang="en-US" sz="3600" spc="-5" dirty="0">
                <a:cs typeface="Calibri"/>
              </a:rPr>
              <a:t>or</a:t>
            </a:r>
            <a:r>
              <a:rPr lang="en-US" sz="3600" dirty="0">
                <a:cs typeface="Calibri"/>
              </a:rPr>
              <a:t> </a:t>
            </a:r>
            <a:r>
              <a:rPr lang="en-US" sz="3600" spc="-10" dirty="0">
                <a:cs typeface="Calibri"/>
              </a:rPr>
              <a:t>creating</a:t>
            </a:r>
            <a:r>
              <a:rPr lang="en-US" sz="3600" spc="-5" dirty="0">
                <a:cs typeface="Calibri"/>
              </a:rPr>
              <a:t> </a:t>
            </a:r>
            <a:r>
              <a:rPr lang="en-US" sz="3600" spc="-15" dirty="0">
                <a:cs typeface="Calibri"/>
              </a:rPr>
              <a:t>computers.</a:t>
            </a:r>
            <a:r>
              <a:rPr lang="en-US" sz="3600" spc="-10" dirty="0">
                <a:cs typeface="Calibri"/>
              </a:rPr>
              <a:t> Thus, </a:t>
            </a:r>
            <a:r>
              <a:rPr lang="en-US" sz="3600" spc="-484" dirty="0">
                <a:cs typeface="Calibri"/>
              </a:rPr>
              <a:t> </a:t>
            </a:r>
            <a:r>
              <a:rPr lang="en-US" sz="3600" spc="-10" dirty="0">
                <a:cs typeface="Calibri"/>
              </a:rPr>
              <a:t>computing</a:t>
            </a:r>
            <a:r>
              <a:rPr lang="en-US" sz="3600" spc="-5" dirty="0">
                <a:cs typeface="Calibri"/>
              </a:rPr>
              <a:t> </a:t>
            </a:r>
            <a:r>
              <a:rPr lang="en-US" sz="3600" spc="-10" dirty="0">
                <a:cs typeface="Calibri"/>
              </a:rPr>
              <a:t>includes</a:t>
            </a:r>
            <a:r>
              <a:rPr lang="en-US" sz="3600" spc="-5" dirty="0">
                <a:cs typeface="Calibri"/>
              </a:rPr>
              <a:t> designing</a:t>
            </a:r>
            <a:r>
              <a:rPr lang="en-US" sz="3600" dirty="0">
                <a:cs typeface="Calibri"/>
              </a:rPr>
              <a:t> </a:t>
            </a:r>
            <a:r>
              <a:rPr lang="en-US" sz="3600" spc="-5" dirty="0">
                <a:cs typeface="Calibri"/>
              </a:rPr>
              <a:t>and</a:t>
            </a:r>
            <a:r>
              <a:rPr lang="en-US" sz="3600" dirty="0">
                <a:cs typeface="Calibri"/>
              </a:rPr>
              <a:t> </a:t>
            </a:r>
            <a:r>
              <a:rPr lang="en-US" sz="3600" spc="-10" dirty="0">
                <a:cs typeface="Calibri"/>
              </a:rPr>
              <a:t>building</a:t>
            </a:r>
            <a:r>
              <a:rPr lang="en-US" sz="3600" spc="-5" dirty="0">
                <a:cs typeface="Calibri"/>
              </a:rPr>
              <a:t> </a:t>
            </a:r>
            <a:r>
              <a:rPr lang="en-US" sz="3600" spc="-15" dirty="0">
                <a:cs typeface="Calibri"/>
              </a:rPr>
              <a:t>hardware</a:t>
            </a:r>
            <a:r>
              <a:rPr lang="en-US" sz="3600" spc="-10" dirty="0">
                <a:cs typeface="Calibri"/>
              </a:rPr>
              <a:t> </a:t>
            </a:r>
            <a:r>
              <a:rPr lang="en-US" sz="3600" spc="-5" dirty="0">
                <a:cs typeface="Calibri"/>
              </a:rPr>
              <a:t>and</a:t>
            </a:r>
            <a:r>
              <a:rPr lang="en-US" sz="3600" dirty="0">
                <a:cs typeface="Calibri"/>
              </a:rPr>
              <a:t> </a:t>
            </a:r>
            <a:r>
              <a:rPr lang="en-US" sz="3600" spc="-10" dirty="0">
                <a:cs typeface="Calibri"/>
              </a:rPr>
              <a:t>software </a:t>
            </a:r>
            <a:r>
              <a:rPr lang="en-US" sz="3600" spc="-5" dirty="0">
                <a:cs typeface="Calibri"/>
              </a:rPr>
              <a:t> </a:t>
            </a:r>
            <a:r>
              <a:rPr lang="en-US" sz="3600" spc="-20" dirty="0">
                <a:cs typeface="Calibri"/>
              </a:rPr>
              <a:t>systems</a:t>
            </a:r>
            <a:r>
              <a:rPr lang="en-US" sz="3600" spc="-15" dirty="0">
                <a:cs typeface="Calibri"/>
              </a:rPr>
              <a:t> </a:t>
            </a:r>
            <a:r>
              <a:rPr lang="en-US" sz="3600" spc="-20" dirty="0">
                <a:cs typeface="Calibri"/>
              </a:rPr>
              <a:t>for</a:t>
            </a:r>
            <a:r>
              <a:rPr lang="en-US" sz="3600" spc="-15" dirty="0">
                <a:cs typeface="Calibri"/>
              </a:rPr>
              <a:t> </a:t>
            </a:r>
            <a:r>
              <a:rPr lang="en-US" sz="3600" spc="-5" dirty="0">
                <a:cs typeface="Calibri"/>
              </a:rPr>
              <a:t>a</a:t>
            </a:r>
            <a:r>
              <a:rPr lang="en-US" sz="3600" dirty="0">
                <a:cs typeface="Calibri"/>
              </a:rPr>
              <a:t> </a:t>
            </a:r>
            <a:r>
              <a:rPr lang="en-US" sz="3600" spc="-5" dirty="0">
                <a:cs typeface="Calibri"/>
              </a:rPr>
              <a:t>wide</a:t>
            </a:r>
            <a:r>
              <a:rPr lang="en-US" sz="3600" dirty="0">
                <a:cs typeface="Calibri"/>
              </a:rPr>
              <a:t> </a:t>
            </a:r>
            <a:r>
              <a:rPr lang="en-US" sz="3600" spc="-15" dirty="0">
                <a:cs typeface="Calibri"/>
              </a:rPr>
              <a:t>range</a:t>
            </a:r>
            <a:r>
              <a:rPr lang="en-US" sz="3600" spc="-10" dirty="0">
                <a:cs typeface="Calibri"/>
              </a:rPr>
              <a:t> </a:t>
            </a:r>
            <a:r>
              <a:rPr lang="en-US" sz="3600" dirty="0">
                <a:cs typeface="Calibri"/>
              </a:rPr>
              <a:t>of</a:t>
            </a:r>
            <a:r>
              <a:rPr lang="en-US" sz="3600" spc="5" dirty="0">
                <a:cs typeface="Calibri"/>
              </a:rPr>
              <a:t> </a:t>
            </a:r>
            <a:r>
              <a:rPr lang="en-US" sz="3600" spc="-5" dirty="0">
                <a:cs typeface="Calibri"/>
              </a:rPr>
              <a:t>purposes;</a:t>
            </a:r>
            <a:r>
              <a:rPr lang="en-US" sz="3600" dirty="0">
                <a:cs typeface="Calibri"/>
              </a:rPr>
              <a:t> </a:t>
            </a:r>
            <a:r>
              <a:rPr lang="en-US" sz="3600" spc="-5" dirty="0">
                <a:cs typeface="Calibri"/>
              </a:rPr>
              <a:t>processing,</a:t>
            </a:r>
            <a:r>
              <a:rPr lang="en-US" sz="3600" dirty="0">
                <a:cs typeface="Calibri"/>
              </a:rPr>
              <a:t> </a:t>
            </a:r>
            <a:r>
              <a:rPr lang="en-US" sz="3600" spc="-5" dirty="0">
                <a:cs typeface="Calibri"/>
              </a:rPr>
              <a:t>structuring,</a:t>
            </a:r>
            <a:r>
              <a:rPr lang="en-US" sz="3600" dirty="0">
                <a:cs typeface="Calibri"/>
              </a:rPr>
              <a:t> </a:t>
            </a:r>
            <a:r>
              <a:rPr lang="en-US" sz="3600" spc="-5" dirty="0">
                <a:cs typeface="Calibri"/>
              </a:rPr>
              <a:t>and </a:t>
            </a:r>
            <a:r>
              <a:rPr lang="en-US" sz="3600" spc="-484" dirty="0">
                <a:cs typeface="Calibri"/>
              </a:rPr>
              <a:t> </a:t>
            </a:r>
            <a:r>
              <a:rPr lang="en-US" sz="3600" spc="-5" dirty="0">
                <a:cs typeface="Calibri"/>
              </a:rPr>
              <a:t>managing </a:t>
            </a:r>
            <a:r>
              <a:rPr lang="en-US" sz="3600" spc="-10" dirty="0">
                <a:cs typeface="Calibri"/>
              </a:rPr>
              <a:t>various </a:t>
            </a:r>
            <a:r>
              <a:rPr lang="en-US" sz="3600" spc="-5" dirty="0">
                <a:cs typeface="Calibri"/>
              </a:rPr>
              <a:t>kinds </a:t>
            </a:r>
            <a:r>
              <a:rPr lang="en-US" sz="3600" spc="-10" dirty="0">
                <a:cs typeface="Calibri"/>
              </a:rPr>
              <a:t>of information; </a:t>
            </a:r>
            <a:r>
              <a:rPr lang="en-US" sz="3600" spc="-5" dirty="0">
                <a:cs typeface="Calibri"/>
              </a:rPr>
              <a:t>doing scientific </a:t>
            </a:r>
            <a:r>
              <a:rPr lang="en-US" sz="3600" spc="-10" dirty="0">
                <a:cs typeface="Calibri"/>
              </a:rPr>
              <a:t>studies using </a:t>
            </a:r>
            <a:r>
              <a:rPr lang="en-US" sz="3600" spc="-5" dirty="0">
                <a:cs typeface="Calibri"/>
              </a:rPr>
              <a:t> </a:t>
            </a:r>
            <a:r>
              <a:rPr lang="en-US" sz="3600" spc="-10" dirty="0">
                <a:cs typeface="Calibri"/>
              </a:rPr>
              <a:t>computers;</a:t>
            </a:r>
            <a:r>
              <a:rPr lang="en-US" sz="3600" spc="-5" dirty="0">
                <a:cs typeface="Calibri"/>
              </a:rPr>
              <a:t> making</a:t>
            </a:r>
            <a:r>
              <a:rPr lang="en-US" sz="3600" dirty="0">
                <a:cs typeface="Calibri"/>
              </a:rPr>
              <a:t> </a:t>
            </a:r>
            <a:r>
              <a:rPr lang="en-US" sz="3600" spc="-15" dirty="0">
                <a:cs typeface="Calibri"/>
              </a:rPr>
              <a:t>computer</a:t>
            </a:r>
            <a:r>
              <a:rPr lang="en-US" sz="3600" spc="-10" dirty="0">
                <a:cs typeface="Calibri"/>
              </a:rPr>
              <a:t> </a:t>
            </a:r>
            <a:r>
              <a:rPr lang="en-US" sz="3600" spc="-15" dirty="0">
                <a:cs typeface="Calibri"/>
              </a:rPr>
              <a:t>systems</a:t>
            </a:r>
            <a:r>
              <a:rPr lang="en-US" sz="3600" spc="-10" dirty="0">
                <a:cs typeface="Calibri"/>
              </a:rPr>
              <a:t> </a:t>
            </a:r>
            <a:r>
              <a:rPr lang="en-US" sz="3600" spc="-15" dirty="0">
                <a:cs typeface="Calibri"/>
              </a:rPr>
              <a:t>behave</a:t>
            </a:r>
            <a:r>
              <a:rPr lang="en-US" sz="3600" spc="-10" dirty="0">
                <a:cs typeface="Calibri"/>
              </a:rPr>
              <a:t> intelligently;</a:t>
            </a:r>
            <a:r>
              <a:rPr lang="en-US" sz="3600" spc="475" dirty="0">
                <a:cs typeface="Calibri"/>
              </a:rPr>
              <a:t> </a:t>
            </a:r>
            <a:r>
              <a:rPr lang="en-US" sz="3600" spc="-10" dirty="0">
                <a:cs typeface="Calibri"/>
              </a:rPr>
              <a:t>creating </a:t>
            </a:r>
            <a:r>
              <a:rPr lang="en-US" sz="3600" spc="-5" dirty="0">
                <a:cs typeface="Calibri"/>
              </a:rPr>
              <a:t> and</a:t>
            </a:r>
            <a:r>
              <a:rPr lang="en-US" sz="3600" dirty="0">
                <a:cs typeface="Calibri"/>
              </a:rPr>
              <a:t> </a:t>
            </a:r>
            <a:r>
              <a:rPr lang="en-US" sz="3600" spc="-5" dirty="0">
                <a:cs typeface="Calibri"/>
              </a:rPr>
              <a:t>using</a:t>
            </a:r>
            <a:r>
              <a:rPr lang="en-US" sz="3600" dirty="0">
                <a:cs typeface="Calibri"/>
              </a:rPr>
              <a:t> </a:t>
            </a:r>
            <a:r>
              <a:rPr lang="en-US" sz="3600" spc="-10" dirty="0">
                <a:cs typeface="Calibri"/>
              </a:rPr>
              <a:t>communications</a:t>
            </a:r>
            <a:r>
              <a:rPr lang="en-US" sz="3600" spc="-5" dirty="0">
                <a:cs typeface="Calibri"/>
              </a:rPr>
              <a:t> and</a:t>
            </a:r>
            <a:r>
              <a:rPr lang="en-US" sz="3600" dirty="0">
                <a:cs typeface="Calibri"/>
              </a:rPr>
              <a:t> </a:t>
            </a:r>
            <a:r>
              <a:rPr lang="en-US" sz="3600" spc="-15" dirty="0">
                <a:cs typeface="Calibri"/>
              </a:rPr>
              <a:t>entertainment</a:t>
            </a:r>
            <a:r>
              <a:rPr lang="en-US" sz="3600" spc="-10" dirty="0">
                <a:cs typeface="Calibri"/>
              </a:rPr>
              <a:t> </a:t>
            </a:r>
            <a:r>
              <a:rPr lang="en-US" sz="3600" spc="-5" dirty="0">
                <a:cs typeface="Calibri"/>
              </a:rPr>
              <a:t>media;</a:t>
            </a:r>
            <a:r>
              <a:rPr lang="en-US" sz="3600" dirty="0">
                <a:cs typeface="Calibri"/>
              </a:rPr>
              <a:t> </a:t>
            </a:r>
            <a:r>
              <a:rPr lang="en-US" sz="3600" spc="-5" dirty="0">
                <a:cs typeface="Calibri"/>
              </a:rPr>
              <a:t>finding</a:t>
            </a:r>
            <a:r>
              <a:rPr lang="en-US" sz="3600" dirty="0">
                <a:cs typeface="Calibri"/>
              </a:rPr>
              <a:t> </a:t>
            </a:r>
            <a:r>
              <a:rPr lang="en-US" sz="3600" spc="-5" dirty="0">
                <a:cs typeface="Calibri"/>
              </a:rPr>
              <a:t>and </a:t>
            </a:r>
            <a:r>
              <a:rPr lang="en-US" sz="3600" dirty="0">
                <a:cs typeface="Calibri"/>
              </a:rPr>
              <a:t> </a:t>
            </a:r>
            <a:r>
              <a:rPr lang="en-US" sz="3600" spc="-10" dirty="0">
                <a:cs typeface="Calibri"/>
              </a:rPr>
              <a:t>gathering information </a:t>
            </a:r>
            <a:r>
              <a:rPr lang="en-US" sz="3600" spc="-15" dirty="0">
                <a:cs typeface="Calibri"/>
              </a:rPr>
              <a:t>relevant </a:t>
            </a:r>
            <a:r>
              <a:rPr lang="en-US" sz="3600" spc="-20" dirty="0">
                <a:cs typeface="Calibri"/>
              </a:rPr>
              <a:t>to </a:t>
            </a:r>
            <a:r>
              <a:rPr lang="en-US" sz="3600" spc="-15" dirty="0">
                <a:cs typeface="Calibri"/>
              </a:rPr>
              <a:t>any </a:t>
            </a:r>
            <a:r>
              <a:rPr lang="en-US" sz="3600" spc="-10" dirty="0">
                <a:cs typeface="Calibri"/>
              </a:rPr>
              <a:t>particular </a:t>
            </a:r>
            <a:r>
              <a:rPr lang="en-US" sz="3600" spc="-5" dirty="0">
                <a:cs typeface="Calibri"/>
              </a:rPr>
              <a:t>purpose, and </a:t>
            </a:r>
            <a:r>
              <a:rPr lang="en-US" sz="3600" dirty="0">
                <a:cs typeface="Calibri"/>
              </a:rPr>
              <a:t>so </a:t>
            </a:r>
            <a:r>
              <a:rPr lang="en-US" sz="3600" spc="-5" dirty="0">
                <a:cs typeface="Calibri"/>
              </a:rPr>
              <a:t>on. </a:t>
            </a:r>
            <a:r>
              <a:rPr lang="en-US" sz="3600" dirty="0">
                <a:cs typeface="Calibri"/>
              </a:rPr>
              <a:t> </a:t>
            </a:r>
            <a:r>
              <a:rPr lang="en-US" sz="3600" spc="-10" dirty="0">
                <a:cs typeface="Calibri"/>
              </a:rPr>
              <a:t>The</a:t>
            </a:r>
            <a:r>
              <a:rPr lang="en-US" sz="3600" spc="15" dirty="0">
                <a:cs typeface="Calibri"/>
              </a:rPr>
              <a:t> </a:t>
            </a:r>
            <a:r>
              <a:rPr lang="en-US" sz="3600" spc="-10" dirty="0">
                <a:cs typeface="Calibri"/>
              </a:rPr>
              <a:t>list </a:t>
            </a:r>
            <a:r>
              <a:rPr lang="en-US" sz="3600" spc="-5" dirty="0">
                <a:cs typeface="Calibri"/>
              </a:rPr>
              <a:t>is</a:t>
            </a:r>
            <a:r>
              <a:rPr lang="en-US" sz="3600" dirty="0">
                <a:cs typeface="Calibri"/>
              </a:rPr>
              <a:t> </a:t>
            </a:r>
            <a:r>
              <a:rPr lang="en-US" sz="3600" spc="-5" dirty="0">
                <a:cs typeface="Calibri"/>
              </a:rPr>
              <a:t>virtually</a:t>
            </a:r>
            <a:r>
              <a:rPr lang="en-US" sz="3600" spc="-15" dirty="0">
                <a:cs typeface="Calibri"/>
              </a:rPr>
              <a:t> </a:t>
            </a:r>
            <a:r>
              <a:rPr lang="en-US" sz="3600" spc="-5" dirty="0">
                <a:cs typeface="Calibri"/>
              </a:rPr>
              <a:t>endless,</a:t>
            </a:r>
            <a:r>
              <a:rPr lang="en-US" sz="3600" spc="20" dirty="0">
                <a:cs typeface="Calibri"/>
              </a:rPr>
              <a:t> </a:t>
            </a:r>
            <a:r>
              <a:rPr lang="en-US" sz="3600" spc="-5" dirty="0">
                <a:cs typeface="Calibri"/>
              </a:rPr>
              <a:t>and the</a:t>
            </a:r>
            <a:r>
              <a:rPr lang="en-US" sz="3600" dirty="0">
                <a:cs typeface="Calibri"/>
              </a:rPr>
              <a:t> </a:t>
            </a:r>
            <a:r>
              <a:rPr lang="en-US" sz="3600" spc="-5" dirty="0">
                <a:cs typeface="Calibri"/>
              </a:rPr>
              <a:t>possibilities </a:t>
            </a:r>
            <a:r>
              <a:rPr lang="en-US" sz="3600" spc="-10" dirty="0">
                <a:cs typeface="Calibri"/>
              </a:rPr>
              <a:t>are</a:t>
            </a:r>
            <a:r>
              <a:rPr lang="en-US" sz="3600" spc="-5" dirty="0">
                <a:cs typeface="Calibri"/>
              </a:rPr>
              <a:t> </a:t>
            </a:r>
            <a:r>
              <a:rPr lang="en-US" sz="3600" spc="-15" dirty="0">
                <a:cs typeface="Calibri"/>
              </a:rPr>
              <a:t>vast."</a:t>
            </a:r>
            <a:endParaRPr lang="en-US" sz="36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3528695" cy="504625"/>
          </a:xfrm>
          <a:prstGeom prst="rect">
            <a:avLst/>
          </a:prstGeom>
        </p:spPr>
        <p:txBody>
          <a:bodyPr vert="horz" wrap="square" lIns="0" tIns="12065" rIns="0" bIns="0" rtlCol="0">
            <a:spAutoFit/>
          </a:bodyPr>
          <a:lstStyle/>
          <a:p>
            <a:pPr marL="12700" algn="ctr">
              <a:lnSpc>
                <a:spcPct val="100000"/>
              </a:lnSpc>
              <a:spcBef>
                <a:spcPts val="95"/>
              </a:spcBef>
            </a:pPr>
            <a:r>
              <a:rPr sz="3200" b="1" spc="-5" dirty="0">
                <a:solidFill>
                  <a:srgbClr val="000000"/>
                </a:solidFill>
                <a:cs typeface="Calibri"/>
              </a:rPr>
              <a:t>Grid</a:t>
            </a:r>
            <a:r>
              <a:rPr sz="3200" b="1" spc="-50" dirty="0">
                <a:solidFill>
                  <a:srgbClr val="000000"/>
                </a:solidFill>
                <a:cs typeface="Calibri"/>
              </a:rPr>
              <a:t> </a:t>
            </a:r>
            <a:r>
              <a:rPr sz="3200" b="1" spc="-5" dirty="0">
                <a:solidFill>
                  <a:srgbClr val="000000"/>
                </a:solidFill>
                <a:cs typeface="Calibri"/>
              </a:rPr>
              <a:t>Computing?</a:t>
            </a:r>
            <a:endParaRPr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383540" y="943813"/>
            <a:ext cx="8343265" cy="4399859"/>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4965" algn="l"/>
                <a:tab pos="355600" algn="l"/>
              </a:tabLst>
            </a:pPr>
            <a:r>
              <a:rPr sz="2000" spc="-5" dirty="0">
                <a:latin typeface="Calibri"/>
                <a:cs typeface="Calibri"/>
              </a:rPr>
              <a:t>Pcwebopedia.com</a:t>
            </a:r>
            <a:endParaRPr sz="2000" dirty="0">
              <a:latin typeface="Calibri"/>
              <a:cs typeface="Calibri"/>
            </a:endParaRPr>
          </a:p>
          <a:p>
            <a:pPr marL="756285" marR="8255" lvl="1" indent="-287020" algn="just">
              <a:lnSpc>
                <a:spcPct val="80000"/>
              </a:lnSpc>
              <a:spcBef>
                <a:spcPts val="409"/>
              </a:spcBef>
              <a:buFont typeface="Arial MT"/>
              <a:buChar char="–"/>
              <a:tabLst>
                <a:tab pos="756285" algn="l"/>
                <a:tab pos="756920" algn="l"/>
              </a:tabLst>
            </a:pPr>
            <a:r>
              <a:rPr sz="2000" dirty="0">
                <a:latin typeface="Calibri"/>
                <a:cs typeface="Calibri"/>
              </a:rPr>
              <a:t>A </a:t>
            </a:r>
            <a:r>
              <a:rPr sz="2000" spc="-10" dirty="0">
                <a:latin typeface="Calibri"/>
                <a:cs typeface="Calibri"/>
              </a:rPr>
              <a:t>form </a:t>
            </a:r>
            <a:r>
              <a:rPr sz="2000" spc="-5" dirty="0">
                <a:latin typeface="Calibri"/>
                <a:cs typeface="Calibri"/>
              </a:rPr>
              <a:t>of networking. </a:t>
            </a:r>
            <a:r>
              <a:rPr sz="2000" spc="-10" dirty="0">
                <a:latin typeface="Calibri"/>
                <a:cs typeface="Calibri"/>
              </a:rPr>
              <a:t>unlike conventional networks </a:t>
            </a:r>
            <a:r>
              <a:rPr sz="2000" spc="-5" dirty="0">
                <a:latin typeface="Calibri"/>
                <a:cs typeface="Calibri"/>
              </a:rPr>
              <a:t>that </a:t>
            </a:r>
            <a:r>
              <a:rPr sz="2000" spc="-10" dirty="0">
                <a:latin typeface="Calibri"/>
                <a:cs typeface="Calibri"/>
              </a:rPr>
              <a:t>focus </a:t>
            </a:r>
            <a:r>
              <a:rPr sz="2000" spc="-5" dirty="0">
                <a:latin typeface="Calibri"/>
                <a:cs typeface="Calibri"/>
              </a:rPr>
              <a:t>on communication </a:t>
            </a:r>
            <a:r>
              <a:rPr sz="2000" dirty="0">
                <a:latin typeface="Calibri"/>
                <a:cs typeface="Calibri"/>
              </a:rPr>
              <a:t> </a:t>
            </a:r>
            <a:r>
              <a:rPr sz="2000" spc="-5" dirty="0">
                <a:latin typeface="Calibri"/>
                <a:cs typeface="Calibri"/>
              </a:rPr>
              <a:t>among </a:t>
            </a:r>
            <a:r>
              <a:rPr sz="2000" dirty="0">
                <a:latin typeface="Calibri"/>
                <a:cs typeface="Calibri"/>
              </a:rPr>
              <a:t>devices, grid </a:t>
            </a:r>
            <a:r>
              <a:rPr sz="2000" spc="-5" dirty="0">
                <a:latin typeface="Calibri"/>
                <a:cs typeface="Calibri"/>
              </a:rPr>
              <a:t>computing </a:t>
            </a:r>
            <a:r>
              <a:rPr sz="2000" dirty="0">
                <a:latin typeface="Calibri"/>
                <a:cs typeface="Calibri"/>
              </a:rPr>
              <a:t>harnesses unused </a:t>
            </a:r>
            <a:r>
              <a:rPr sz="2000" spc="-10" dirty="0">
                <a:latin typeface="Calibri"/>
                <a:cs typeface="Calibri"/>
              </a:rPr>
              <a:t>processing </a:t>
            </a:r>
            <a:r>
              <a:rPr sz="2000" spc="-5" dirty="0">
                <a:latin typeface="Calibri"/>
                <a:cs typeface="Calibri"/>
              </a:rPr>
              <a:t>cycles of </a:t>
            </a:r>
            <a:r>
              <a:rPr sz="2000" dirty="0">
                <a:latin typeface="Calibri"/>
                <a:cs typeface="Calibri"/>
              </a:rPr>
              <a:t>all </a:t>
            </a:r>
            <a:r>
              <a:rPr sz="2000" spc="-10" dirty="0">
                <a:latin typeface="Calibri"/>
                <a:cs typeface="Calibri"/>
              </a:rPr>
              <a:t>computers </a:t>
            </a:r>
            <a:r>
              <a:rPr sz="2000" spc="-5" dirty="0">
                <a:latin typeface="Calibri"/>
                <a:cs typeface="Calibri"/>
              </a:rPr>
              <a:t>in </a:t>
            </a:r>
            <a:r>
              <a:rPr sz="2000" spc="-370" dirty="0">
                <a:latin typeface="Calibri"/>
                <a:cs typeface="Calibri"/>
              </a:rPr>
              <a:t> </a:t>
            </a:r>
            <a:r>
              <a:rPr sz="2000" dirty="0">
                <a:latin typeface="Calibri"/>
                <a:cs typeface="Calibri"/>
              </a:rPr>
              <a:t>a </a:t>
            </a:r>
            <a:r>
              <a:rPr sz="2000" spc="-5" dirty="0">
                <a:latin typeface="Calibri"/>
                <a:cs typeface="Calibri"/>
              </a:rPr>
              <a:t>network</a:t>
            </a:r>
            <a:r>
              <a:rPr sz="2000" spc="-45" dirty="0">
                <a:latin typeface="Calibri"/>
                <a:cs typeface="Calibri"/>
              </a:rPr>
              <a:t> </a:t>
            </a:r>
            <a:r>
              <a:rPr sz="2000" spc="-15" dirty="0">
                <a:latin typeface="Calibri"/>
                <a:cs typeface="Calibri"/>
              </a:rPr>
              <a:t>for</a:t>
            </a:r>
            <a:r>
              <a:rPr sz="2000" spc="10" dirty="0">
                <a:latin typeface="Calibri"/>
                <a:cs typeface="Calibri"/>
              </a:rPr>
              <a:t> </a:t>
            </a:r>
            <a:r>
              <a:rPr sz="2000" dirty="0">
                <a:latin typeface="Calibri"/>
                <a:cs typeface="Calibri"/>
              </a:rPr>
              <a:t>solving</a:t>
            </a:r>
            <a:r>
              <a:rPr sz="2000" spc="-40" dirty="0">
                <a:latin typeface="Calibri"/>
                <a:cs typeface="Calibri"/>
              </a:rPr>
              <a:t> </a:t>
            </a:r>
            <a:r>
              <a:rPr sz="2000" spc="-5" dirty="0">
                <a:latin typeface="Calibri"/>
                <a:cs typeface="Calibri"/>
              </a:rPr>
              <a:t>problems</a:t>
            </a:r>
            <a:r>
              <a:rPr sz="2000" spc="-10" dirty="0">
                <a:latin typeface="Calibri"/>
                <a:cs typeface="Calibri"/>
              </a:rPr>
              <a:t> </a:t>
            </a:r>
            <a:r>
              <a:rPr sz="2000" spc="-5" dirty="0">
                <a:latin typeface="Calibri"/>
                <a:cs typeface="Calibri"/>
              </a:rPr>
              <a:t>too</a:t>
            </a:r>
            <a:r>
              <a:rPr sz="2000" spc="-35" dirty="0">
                <a:latin typeface="Calibri"/>
                <a:cs typeface="Calibri"/>
              </a:rPr>
              <a:t> </a:t>
            </a:r>
            <a:r>
              <a:rPr sz="2000" spc="-5" dirty="0">
                <a:latin typeface="Calibri"/>
                <a:cs typeface="Calibri"/>
              </a:rPr>
              <a:t>intensive</a:t>
            </a:r>
            <a:r>
              <a:rPr sz="2000" spc="-35" dirty="0">
                <a:latin typeface="Calibri"/>
                <a:cs typeface="Calibri"/>
              </a:rPr>
              <a:t> </a:t>
            </a:r>
            <a:r>
              <a:rPr sz="2000" spc="-15" dirty="0">
                <a:latin typeface="Calibri"/>
                <a:cs typeface="Calibri"/>
              </a:rPr>
              <a:t>for</a:t>
            </a:r>
            <a:r>
              <a:rPr sz="2000" spc="5" dirty="0">
                <a:latin typeface="Calibri"/>
                <a:cs typeface="Calibri"/>
              </a:rPr>
              <a:t> </a:t>
            </a:r>
            <a:r>
              <a:rPr sz="2000" spc="-10" dirty="0">
                <a:latin typeface="Calibri"/>
                <a:cs typeface="Calibri"/>
              </a:rPr>
              <a:t>any</a:t>
            </a:r>
            <a:r>
              <a:rPr sz="2000" dirty="0">
                <a:latin typeface="Calibri"/>
                <a:cs typeface="Calibri"/>
              </a:rPr>
              <a:t> </a:t>
            </a:r>
            <a:r>
              <a:rPr sz="2000" spc="-5" dirty="0">
                <a:latin typeface="Calibri"/>
                <a:cs typeface="Calibri"/>
              </a:rPr>
              <a:t>stand-alone</a:t>
            </a:r>
            <a:r>
              <a:rPr sz="2000" spc="-35" dirty="0">
                <a:latin typeface="Calibri"/>
                <a:cs typeface="Calibri"/>
              </a:rPr>
              <a:t> </a:t>
            </a:r>
            <a:r>
              <a:rPr sz="2000" dirty="0">
                <a:latin typeface="Calibri"/>
                <a:cs typeface="Calibri"/>
              </a:rPr>
              <a:t>machine.</a:t>
            </a:r>
          </a:p>
          <a:p>
            <a:pPr marL="355600" indent="-342900" algn="just">
              <a:lnSpc>
                <a:spcPct val="100000"/>
              </a:lnSpc>
              <a:buFont typeface="Arial MT"/>
              <a:buChar char="•"/>
              <a:tabLst>
                <a:tab pos="354965" algn="l"/>
                <a:tab pos="355600" algn="l"/>
              </a:tabLst>
            </a:pPr>
            <a:r>
              <a:rPr sz="2000" dirty="0">
                <a:latin typeface="Calibri"/>
                <a:cs typeface="Calibri"/>
              </a:rPr>
              <a:t>IBM</a:t>
            </a:r>
          </a:p>
          <a:p>
            <a:pPr marL="756285" marR="5080" lvl="1" indent="-287020" algn="just">
              <a:lnSpc>
                <a:spcPct val="80000"/>
              </a:lnSpc>
              <a:spcBef>
                <a:spcPts val="409"/>
              </a:spcBef>
              <a:buFont typeface="Arial MT"/>
              <a:buChar char="–"/>
              <a:tabLst>
                <a:tab pos="756285" algn="l"/>
                <a:tab pos="756920" algn="l"/>
              </a:tabLst>
            </a:pPr>
            <a:r>
              <a:rPr sz="2000" dirty="0">
                <a:latin typeface="Calibri"/>
                <a:cs typeface="Calibri"/>
              </a:rPr>
              <a:t>Grid </a:t>
            </a:r>
            <a:r>
              <a:rPr sz="2000" spc="-5" dirty="0">
                <a:latin typeface="Calibri"/>
                <a:cs typeface="Calibri"/>
              </a:rPr>
              <a:t>computing </a:t>
            </a:r>
            <a:r>
              <a:rPr sz="2000" dirty="0">
                <a:latin typeface="Calibri"/>
                <a:cs typeface="Calibri"/>
              </a:rPr>
              <a:t>enables the </a:t>
            </a:r>
            <a:r>
              <a:rPr sz="2000" spc="-5" dirty="0">
                <a:latin typeface="Calibri"/>
                <a:cs typeface="Calibri"/>
              </a:rPr>
              <a:t>virtualization </a:t>
            </a:r>
            <a:r>
              <a:rPr sz="2000" dirty="0">
                <a:latin typeface="Calibri"/>
                <a:cs typeface="Calibri"/>
              </a:rPr>
              <a:t>of </a:t>
            </a:r>
            <a:r>
              <a:rPr sz="2000" spc="-5" dirty="0">
                <a:latin typeface="Calibri"/>
                <a:cs typeface="Calibri"/>
              </a:rPr>
              <a:t>distributed computing </a:t>
            </a:r>
            <a:r>
              <a:rPr sz="2000" dirty="0">
                <a:latin typeface="Calibri"/>
                <a:cs typeface="Calibri"/>
              </a:rPr>
              <a:t>and </a:t>
            </a:r>
            <a:r>
              <a:rPr sz="2000" spc="-10" dirty="0">
                <a:latin typeface="Calibri"/>
                <a:cs typeface="Calibri"/>
              </a:rPr>
              <a:t>data </a:t>
            </a:r>
            <a:r>
              <a:rPr sz="2000" spc="-5" dirty="0">
                <a:latin typeface="Calibri"/>
                <a:cs typeface="Calibri"/>
              </a:rPr>
              <a:t>resources </a:t>
            </a:r>
            <a:r>
              <a:rPr sz="2000" spc="-370" dirty="0">
                <a:latin typeface="Calibri"/>
                <a:cs typeface="Calibri"/>
              </a:rPr>
              <a:t> </a:t>
            </a:r>
            <a:r>
              <a:rPr sz="2000" dirty="0">
                <a:latin typeface="Calibri"/>
                <a:cs typeface="Calibri"/>
              </a:rPr>
              <a:t>such as </a:t>
            </a:r>
            <a:r>
              <a:rPr sz="2000" spc="-5" dirty="0">
                <a:latin typeface="Calibri"/>
                <a:cs typeface="Calibri"/>
              </a:rPr>
              <a:t>processing, network bandwidth </a:t>
            </a:r>
            <a:r>
              <a:rPr sz="2000" dirty="0">
                <a:latin typeface="Calibri"/>
                <a:cs typeface="Calibri"/>
              </a:rPr>
              <a:t>and </a:t>
            </a:r>
            <a:r>
              <a:rPr sz="2000" spc="-10" dirty="0">
                <a:latin typeface="Calibri"/>
                <a:cs typeface="Calibri"/>
              </a:rPr>
              <a:t>storage </a:t>
            </a:r>
            <a:r>
              <a:rPr sz="2000" dirty="0">
                <a:latin typeface="Calibri"/>
                <a:cs typeface="Calibri"/>
              </a:rPr>
              <a:t>capacity </a:t>
            </a:r>
            <a:r>
              <a:rPr sz="2000" spc="-5" dirty="0">
                <a:latin typeface="Calibri"/>
                <a:cs typeface="Calibri"/>
              </a:rPr>
              <a:t>to </a:t>
            </a:r>
            <a:r>
              <a:rPr sz="2000" spc="-10" dirty="0">
                <a:latin typeface="Calibri"/>
                <a:cs typeface="Calibri"/>
              </a:rPr>
              <a:t>create </a:t>
            </a:r>
            <a:r>
              <a:rPr sz="2000" dirty="0">
                <a:latin typeface="Calibri"/>
                <a:cs typeface="Calibri"/>
              </a:rPr>
              <a:t>a single </a:t>
            </a:r>
            <a:r>
              <a:rPr sz="2000" spc="-15" dirty="0">
                <a:latin typeface="Calibri"/>
                <a:cs typeface="Calibri"/>
              </a:rPr>
              <a:t>system </a:t>
            </a:r>
            <a:r>
              <a:rPr sz="2000" spc="-10" dirty="0">
                <a:latin typeface="Calibri"/>
                <a:cs typeface="Calibri"/>
              </a:rPr>
              <a:t> </a:t>
            </a:r>
            <a:r>
              <a:rPr sz="2000" spc="-5" dirty="0">
                <a:latin typeface="Calibri"/>
                <a:cs typeface="Calibri"/>
              </a:rPr>
              <a:t>image,</a:t>
            </a:r>
            <a:r>
              <a:rPr sz="2000" spc="30" dirty="0">
                <a:latin typeface="Calibri"/>
                <a:cs typeface="Calibri"/>
              </a:rPr>
              <a:t> </a:t>
            </a:r>
            <a:r>
              <a:rPr sz="2000" spc="-10" dirty="0">
                <a:latin typeface="Calibri"/>
                <a:cs typeface="Calibri"/>
              </a:rPr>
              <a:t>granting</a:t>
            </a:r>
            <a:r>
              <a:rPr sz="2000" spc="25" dirty="0">
                <a:latin typeface="Calibri"/>
                <a:cs typeface="Calibri"/>
              </a:rPr>
              <a:t> </a:t>
            </a:r>
            <a:r>
              <a:rPr sz="2000" spc="-10" dirty="0">
                <a:latin typeface="Calibri"/>
                <a:cs typeface="Calibri"/>
              </a:rPr>
              <a:t>users</a:t>
            </a:r>
            <a:r>
              <a:rPr sz="2000" spc="-5" dirty="0">
                <a:latin typeface="Calibri"/>
                <a:cs typeface="Calibri"/>
              </a:rPr>
              <a:t> </a:t>
            </a:r>
            <a:r>
              <a:rPr sz="2000" dirty="0">
                <a:latin typeface="Calibri"/>
                <a:cs typeface="Calibri"/>
              </a:rPr>
              <a:t>and</a:t>
            </a:r>
            <a:r>
              <a:rPr sz="2000" spc="5" dirty="0">
                <a:latin typeface="Calibri"/>
                <a:cs typeface="Calibri"/>
              </a:rPr>
              <a:t> </a:t>
            </a:r>
            <a:r>
              <a:rPr sz="2000" spc="-5" dirty="0">
                <a:latin typeface="Calibri"/>
                <a:cs typeface="Calibri"/>
              </a:rPr>
              <a:t>applications</a:t>
            </a:r>
            <a:r>
              <a:rPr sz="2000" spc="-10" dirty="0">
                <a:latin typeface="Calibri"/>
                <a:cs typeface="Calibri"/>
              </a:rPr>
              <a:t> </a:t>
            </a:r>
            <a:r>
              <a:rPr sz="2000" dirty="0">
                <a:latin typeface="Calibri"/>
                <a:cs typeface="Calibri"/>
              </a:rPr>
              <a:t>seamless</a:t>
            </a:r>
            <a:r>
              <a:rPr sz="2000" spc="-5" dirty="0">
                <a:latin typeface="Calibri"/>
                <a:cs typeface="Calibri"/>
              </a:rPr>
              <a:t> </a:t>
            </a:r>
            <a:r>
              <a:rPr sz="2000" dirty="0">
                <a:latin typeface="Calibri"/>
                <a:cs typeface="Calibri"/>
              </a:rPr>
              <a:t>access</a:t>
            </a:r>
            <a:r>
              <a:rPr sz="2000" spc="20" dirty="0">
                <a:latin typeface="Calibri"/>
                <a:cs typeface="Calibri"/>
              </a:rPr>
              <a:t> </a:t>
            </a:r>
            <a:r>
              <a:rPr sz="2000" spc="-5" dirty="0">
                <a:latin typeface="Calibri"/>
                <a:cs typeface="Calibri"/>
              </a:rPr>
              <a:t>to</a:t>
            </a:r>
            <a:r>
              <a:rPr sz="2000" spc="25" dirty="0">
                <a:latin typeface="Calibri"/>
                <a:cs typeface="Calibri"/>
              </a:rPr>
              <a:t> </a:t>
            </a:r>
            <a:r>
              <a:rPr sz="2000" spc="-10" dirty="0">
                <a:latin typeface="Calibri"/>
                <a:cs typeface="Calibri"/>
              </a:rPr>
              <a:t>vast</a:t>
            </a:r>
            <a:r>
              <a:rPr sz="2000" spc="25" dirty="0">
                <a:latin typeface="Calibri"/>
                <a:cs typeface="Calibri"/>
              </a:rPr>
              <a:t> </a:t>
            </a:r>
            <a:r>
              <a:rPr sz="2000" dirty="0">
                <a:latin typeface="Calibri"/>
                <a:cs typeface="Calibri"/>
              </a:rPr>
              <a:t>IT</a:t>
            </a:r>
            <a:r>
              <a:rPr sz="2000" spc="30" dirty="0">
                <a:latin typeface="Calibri"/>
                <a:cs typeface="Calibri"/>
              </a:rPr>
              <a:t> </a:t>
            </a:r>
            <a:r>
              <a:rPr sz="2000" spc="-5" dirty="0">
                <a:latin typeface="Calibri"/>
                <a:cs typeface="Calibri"/>
              </a:rPr>
              <a:t>capabilities. </a:t>
            </a:r>
            <a:r>
              <a:rPr sz="2000" spc="-10" dirty="0">
                <a:latin typeface="Calibri"/>
                <a:cs typeface="Calibri"/>
              </a:rPr>
              <a:t>Just</a:t>
            </a:r>
            <a:r>
              <a:rPr sz="2000" spc="20" dirty="0">
                <a:latin typeface="Calibri"/>
                <a:cs typeface="Calibri"/>
              </a:rPr>
              <a:t> </a:t>
            </a:r>
            <a:r>
              <a:rPr sz="2000" dirty="0">
                <a:latin typeface="Calibri"/>
                <a:cs typeface="Calibri"/>
              </a:rPr>
              <a:t>as </a:t>
            </a:r>
            <a:r>
              <a:rPr sz="2000" spc="5" dirty="0">
                <a:latin typeface="Calibri"/>
                <a:cs typeface="Calibri"/>
              </a:rPr>
              <a:t> </a:t>
            </a:r>
            <a:r>
              <a:rPr sz="2000" dirty="0">
                <a:latin typeface="Calibri"/>
                <a:cs typeface="Calibri"/>
              </a:rPr>
              <a:t>an</a:t>
            </a:r>
            <a:r>
              <a:rPr sz="2000" spc="-10" dirty="0">
                <a:latin typeface="Calibri"/>
                <a:cs typeface="Calibri"/>
              </a:rPr>
              <a:t> </a:t>
            </a:r>
            <a:r>
              <a:rPr sz="2000" spc="-5" dirty="0">
                <a:latin typeface="Calibri"/>
                <a:cs typeface="Calibri"/>
              </a:rPr>
              <a:t>Internet</a:t>
            </a:r>
            <a:r>
              <a:rPr sz="2000" spc="-30" dirty="0">
                <a:latin typeface="Calibri"/>
                <a:cs typeface="Calibri"/>
              </a:rPr>
              <a:t> </a:t>
            </a:r>
            <a:r>
              <a:rPr sz="2000" dirty="0">
                <a:latin typeface="Calibri"/>
                <a:cs typeface="Calibri"/>
              </a:rPr>
              <a:t>user</a:t>
            </a:r>
            <a:r>
              <a:rPr sz="2000" spc="-15" dirty="0">
                <a:latin typeface="Calibri"/>
                <a:cs typeface="Calibri"/>
              </a:rPr>
              <a:t> </a:t>
            </a:r>
            <a:r>
              <a:rPr sz="2000" spc="-5" dirty="0">
                <a:latin typeface="Calibri"/>
                <a:cs typeface="Calibri"/>
              </a:rPr>
              <a:t>views</a:t>
            </a:r>
            <a:r>
              <a:rPr sz="2000" spc="-30" dirty="0">
                <a:latin typeface="Calibri"/>
                <a:cs typeface="Calibri"/>
              </a:rPr>
              <a:t> </a:t>
            </a:r>
            <a:r>
              <a:rPr sz="2000" dirty="0">
                <a:latin typeface="Calibri"/>
                <a:cs typeface="Calibri"/>
              </a:rPr>
              <a:t>a</a:t>
            </a:r>
            <a:r>
              <a:rPr sz="2000" spc="10" dirty="0">
                <a:latin typeface="Calibri"/>
                <a:cs typeface="Calibri"/>
              </a:rPr>
              <a:t> </a:t>
            </a:r>
            <a:r>
              <a:rPr sz="2000" dirty="0">
                <a:latin typeface="Calibri"/>
                <a:cs typeface="Calibri"/>
              </a:rPr>
              <a:t>unified</a:t>
            </a:r>
            <a:r>
              <a:rPr sz="2000" spc="-40" dirty="0">
                <a:latin typeface="Calibri"/>
                <a:cs typeface="Calibri"/>
              </a:rPr>
              <a:t> </a:t>
            </a:r>
            <a:r>
              <a:rPr sz="2000" spc="-5" dirty="0">
                <a:latin typeface="Calibri"/>
                <a:cs typeface="Calibri"/>
              </a:rPr>
              <a:t>instance</a:t>
            </a:r>
            <a:r>
              <a:rPr sz="2000" spc="-2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content</a:t>
            </a:r>
            <a:r>
              <a:rPr sz="2000" spc="-30" dirty="0">
                <a:latin typeface="Calibri"/>
                <a:cs typeface="Calibri"/>
              </a:rPr>
              <a:t> </a:t>
            </a:r>
            <a:r>
              <a:rPr sz="2000" dirty="0">
                <a:latin typeface="Calibri"/>
                <a:cs typeface="Calibri"/>
              </a:rPr>
              <a:t>via</a:t>
            </a:r>
            <a:r>
              <a:rPr sz="2000" spc="-10" dirty="0">
                <a:latin typeface="Calibri"/>
                <a:cs typeface="Calibri"/>
              </a:rPr>
              <a:t> </a:t>
            </a:r>
            <a:r>
              <a:rPr sz="2000" dirty="0">
                <a:latin typeface="Calibri"/>
                <a:cs typeface="Calibri"/>
              </a:rPr>
              <a:t>the</a:t>
            </a:r>
            <a:r>
              <a:rPr sz="2000" spc="-5" dirty="0">
                <a:latin typeface="Calibri"/>
                <a:cs typeface="Calibri"/>
              </a:rPr>
              <a:t> </a:t>
            </a:r>
            <a:r>
              <a:rPr sz="2000" spc="-15" dirty="0">
                <a:latin typeface="Calibri"/>
                <a:cs typeface="Calibri"/>
              </a:rPr>
              <a:t>Web,</a:t>
            </a:r>
            <a:r>
              <a:rPr sz="2000" dirty="0">
                <a:latin typeface="Calibri"/>
                <a:cs typeface="Calibri"/>
              </a:rPr>
              <a:t> a</a:t>
            </a:r>
            <a:r>
              <a:rPr sz="2000" spc="5" dirty="0">
                <a:latin typeface="Calibri"/>
                <a:cs typeface="Calibri"/>
              </a:rPr>
              <a:t> </a:t>
            </a:r>
            <a:r>
              <a:rPr sz="2000" dirty="0">
                <a:latin typeface="Calibri"/>
                <a:cs typeface="Calibri"/>
              </a:rPr>
              <a:t>grid</a:t>
            </a:r>
            <a:r>
              <a:rPr sz="2000" spc="-30" dirty="0">
                <a:latin typeface="Calibri"/>
                <a:cs typeface="Calibri"/>
              </a:rPr>
              <a:t> </a:t>
            </a:r>
            <a:r>
              <a:rPr sz="2000" dirty="0">
                <a:latin typeface="Calibri"/>
                <a:cs typeface="Calibri"/>
              </a:rPr>
              <a:t>user</a:t>
            </a:r>
            <a:r>
              <a:rPr sz="2000" spc="-25" dirty="0">
                <a:latin typeface="Calibri"/>
                <a:cs typeface="Calibri"/>
              </a:rPr>
              <a:t> </a:t>
            </a:r>
            <a:r>
              <a:rPr sz="2000" spc="-5" dirty="0">
                <a:latin typeface="Calibri"/>
                <a:cs typeface="Calibri"/>
              </a:rPr>
              <a:t>essentially </a:t>
            </a:r>
            <a:r>
              <a:rPr sz="2000" spc="-365" dirty="0">
                <a:latin typeface="Calibri"/>
                <a:cs typeface="Calibri"/>
              </a:rPr>
              <a:t> </a:t>
            </a:r>
            <a:r>
              <a:rPr sz="2000" dirty="0">
                <a:latin typeface="Calibri"/>
                <a:cs typeface="Calibri"/>
              </a:rPr>
              <a:t>sees</a:t>
            </a:r>
            <a:r>
              <a:rPr sz="2000" spc="-25" dirty="0">
                <a:latin typeface="Calibri"/>
                <a:cs typeface="Calibri"/>
              </a:rPr>
              <a:t> </a:t>
            </a:r>
            <a:r>
              <a:rPr sz="2000" dirty="0">
                <a:latin typeface="Calibri"/>
                <a:cs typeface="Calibri"/>
              </a:rPr>
              <a:t>a single,</a:t>
            </a:r>
            <a:r>
              <a:rPr sz="2000" spc="-40" dirty="0">
                <a:latin typeface="Calibri"/>
                <a:cs typeface="Calibri"/>
              </a:rPr>
              <a:t> </a:t>
            </a:r>
            <a:r>
              <a:rPr sz="2000" spc="-5" dirty="0">
                <a:latin typeface="Calibri"/>
                <a:cs typeface="Calibri"/>
              </a:rPr>
              <a:t>large</a:t>
            </a:r>
            <a:r>
              <a:rPr sz="2000" spc="-25" dirty="0">
                <a:latin typeface="Calibri"/>
                <a:cs typeface="Calibri"/>
              </a:rPr>
              <a:t> </a:t>
            </a:r>
            <a:r>
              <a:rPr sz="2000" dirty="0">
                <a:latin typeface="Calibri"/>
                <a:cs typeface="Calibri"/>
              </a:rPr>
              <a:t>virtual</a:t>
            </a:r>
            <a:r>
              <a:rPr sz="2000" spc="-35" dirty="0">
                <a:latin typeface="Calibri"/>
                <a:cs typeface="Calibri"/>
              </a:rPr>
              <a:t> </a:t>
            </a:r>
            <a:r>
              <a:rPr sz="2000" spc="-25" dirty="0">
                <a:latin typeface="Calibri"/>
                <a:cs typeface="Calibri"/>
              </a:rPr>
              <a:t>computer.</a:t>
            </a:r>
            <a:endParaRPr sz="2000" dirty="0">
              <a:latin typeface="Calibri"/>
              <a:cs typeface="Calibri"/>
            </a:endParaRPr>
          </a:p>
          <a:p>
            <a:pPr marL="355600" indent="-342900" algn="just">
              <a:lnSpc>
                <a:spcPts val="2275"/>
              </a:lnSpc>
              <a:buFont typeface="Arial MT"/>
              <a:buChar char="•"/>
              <a:tabLst>
                <a:tab pos="354965" algn="l"/>
                <a:tab pos="355600" algn="l"/>
              </a:tabLst>
            </a:pPr>
            <a:r>
              <a:rPr sz="2000" spc="-5" dirty="0">
                <a:latin typeface="Calibri"/>
                <a:cs typeface="Calibri"/>
              </a:rPr>
              <a:t>Sun</a:t>
            </a:r>
            <a:r>
              <a:rPr sz="2000" spc="-35" dirty="0">
                <a:latin typeface="Calibri"/>
                <a:cs typeface="Calibri"/>
              </a:rPr>
              <a:t> </a:t>
            </a:r>
            <a:r>
              <a:rPr sz="2000" spc="-15" dirty="0">
                <a:latin typeface="Calibri"/>
                <a:cs typeface="Calibri"/>
              </a:rPr>
              <a:t>Microsystems</a:t>
            </a:r>
            <a:endParaRPr sz="2000" dirty="0">
              <a:latin typeface="Calibri"/>
              <a:cs typeface="Calibri"/>
            </a:endParaRPr>
          </a:p>
          <a:p>
            <a:pPr marL="756285" marR="326390" lvl="1" indent="-287020" algn="just">
              <a:lnSpc>
                <a:spcPts val="1820"/>
              </a:lnSpc>
              <a:spcBef>
                <a:spcPts val="440"/>
              </a:spcBef>
              <a:buFont typeface="Arial MT"/>
              <a:buChar char="–"/>
              <a:tabLst>
                <a:tab pos="756285" algn="l"/>
                <a:tab pos="756920" algn="l"/>
              </a:tabLst>
            </a:pPr>
            <a:r>
              <a:rPr sz="2000" spc="-5" dirty="0">
                <a:latin typeface="Calibri"/>
                <a:cs typeface="Calibri"/>
              </a:rPr>
              <a:t>Grid </a:t>
            </a:r>
            <a:r>
              <a:rPr sz="2000" spc="-10" dirty="0">
                <a:latin typeface="Calibri"/>
                <a:cs typeface="Calibri"/>
              </a:rPr>
              <a:t>Computing</a:t>
            </a:r>
            <a:r>
              <a:rPr sz="2000" spc="30" dirty="0">
                <a:latin typeface="Calibri"/>
                <a:cs typeface="Calibri"/>
              </a:rPr>
              <a:t> </a:t>
            </a:r>
            <a:r>
              <a:rPr sz="2000" spc="-5" dirty="0">
                <a:latin typeface="Calibri"/>
                <a:cs typeface="Calibri"/>
              </a:rPr>
              <a:t>is</a:t>
            </a:r>
            <a:r>
              <a:rPr sz="2000" dirty="0">
                <a:latin typeface="Calibri"/>
                <a:cs typeface="Calibri"/>
              </a:rPr>
              <a:t> </a:t>
            </a:r>
            <a:r>
              <a:rPr sz="2000" spc="-5" dirty="0">
                <a:latin typeface="Calibri"/>
                <a:cs typeface="Calibri"/>
              </a:rPr>
              <a:t>a</a:t>
            </a:r>
            <a:r>
              <a:rPr sz="2000" spc="-10" dirty="0">
                <a:latin typeface="Calibri"/>
                <a:cs typeface="Calibri"/>
              </a:rPr>
              <a:t> computing</a:t>
            </a:r>
            <a:r>
              <a:rPr sz="2000" spc="15" dirty="0">
                <a:latin typeface="Calibri"/>
                <a:cs typeface="Calibri"/>
              </a:rPr>
              <a:t> </a:t>
            </a:r>
            <a:r>
              <a:rPr sz="2000" spc="-10" dirty="0">
                <a:latin typeface="Calibri"/>
                <a:cs typeface="Calibri"/>
              </a:rPr>
              <a:t>infrastructure</a:t>
            </a:r>
            <a:r>
              <a:rPr sz="2000" spc="20" dirty="0">
                <a:latin typeface="Calibri"/>
                <a:cs typeface="Calibri"/>
              </a:rPr>
              <a:t> </a:t>
            </a:r>
            <a:r>
              <a:rPr sz="2000" spc="-5" dirty="0">
                <a:latin typeface="Calibri"/>
                <a:cs typeface="Calibri"/>
              </a:rPr>
              <a:t>that</a:t>
            </a:r>
            <a:r>
              <a:rPr sz="2000" spc="-10" dirty="0">
                <a:latin typeface="Calibri"/>
                <a:cs typeface="Calibri"/>
              </a:rPr>
              <a:t> </a:t>
            </a:r>
            <a:r>
              <a:rPr sz="2000" spc="-15" dirty="0">
                <a:latin typeface="Calibri"/>
                <a:cs typeface="Calibri"/>
              </a:rPr>
              <a:t>provides</a:t>
            </a:r>
            <a:r>
              <a:rPr sz="2000" spc="40" dirty="0">
                <a:latin typeface="Calibri"/>
                <a:cs typeface="Calibri"/>
              </a:rPr>
              <a:t> </a:t>
            </a:r>
            <a:r>
              <a:rPr sz="2000" spc="-5" dirty="0">
                <a:latin typeface="Calibri"/>
                <a:cs typeface="Calibri"/>
              </a:rPr>
              <a:t>dependable, </a:t>
            </a:r>
            <a:r>
              <a:rPr sz="2000" dirty="0">
                <a:latin typeface="Calibri"/>
                <a:cs typeface="Calibri"/>
              </a:rPr>
              <a:t> </a:t>
            </a:r>
            <a:r>
              <a:rPr sz="2000" spc="-10" dirty="0">
                <a:latin typeface="Calibri"/>
                <a:cs typeface="Calibri"/>
              </a:rPr>
              <a:t>consistent, pervasive</a:t>
            </a:r>
            <a:r>
              <a:rPr sz="2000" spc="35" dirty="0">
                <a:latin typeface="Calibri"/>
                <a:cs typeface="Calibri"/>
              </a:rPr>
              <a:t> </a:t>
            </a:r>
            <a:r>
              <a:rPr sz="2000" spc="-5" dirty="0">
                <a:latin typeface="Calibri"/>
                <a:cs typeface="Calibri"/>
              </a:rPr>
              <a:t>and</a:t>
            </a:r>
            <a:r>
              <a:rPr sz="2000" dirty="0">
                <a:latin typeface="Calibri"/>
                <a:cs typeface="Calibri"/>
              </a:rPr>
              <a:t> </a:t>
            </a:r>
            <a:r>
              <a:rPr sz="2000" spc="-10" dirty="0">
                <a:latin typeface="Calibri"/>
                <a:cs typeface="Calibri"/>
              </a:rPr>
              <a:t>inexpensive</a:t>
            </a:r>
            <a:r>
              <a:rPr sz="2000" spc="35" dirty="0">
                <a:latin typeface="Calibri"/>
                <a:cs typeface="Calibri"/>
              </a:rPr>
              <a:t> </a:t>
            </a:r>
            <a:r>
              <a:rPr sz="2000" spc="-5" dirty="0">
                <a:latin typeface="Calibri"/>
                <a:cs typeface="Calibri"/>
              </a:rPr>
              <a:t>access</a:t>
            </a:r>
            <a:r>
              <a:rPr sz="2000" spc="-20" dirty="0">
                <a:latin typeface="Calibri"/>
                <a:cs typeface="Calibri"/>
              </a:rPr>
              <a:t> </a:t>
            </a:r>
            <a:r>
              <a:rPr sz="2000" spc="-15" dirty="0">
                <a:latin typeface="Calibri"/>
                <a:cs typeface="Calibri"/>
              </a:rPr>
              <a:t>to</a:t>
            </a:r>
            <a:r>
              <a:rPr sz="2000" spc="-10" dirty="0">
                <a:latin typeface="Calibri"/>
                <a:cs typeface="Calibri"/>
              </a:rPr>
              <a:t> computational</a:t>
            </a:r>
            <a:r>
              <a:rPr sz="2000" spc="5" dirty="0">
                <a:latin typeface="Calibri"/>
                <a:cs typeface="Calibri"/>
              </a:rPr>
              <a:t> </a:t>
            </a:r>
            <a:r>
              <a:rPr sz="2000" spc="-5" dirty="0">
                <a:latin typeface="Calibri"/>
                <a:cs typeface="Calibri"/>
              </a:rPr>
              <a:t>capabilities</a:t>
            </a:r>
            <a:endParaRPr sz="20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4025"/>
            <a:ext cx="5485511" cy="997068"/>
          </a:xfrm>
          <a:prstGeom prst="rect">
            <a:avLst/>
          </a:prstGeom>
        </p:spPr>
        <p:txBody>
          <a:bodyPr vert="horz" wrap="square" lIns="0" tIns="12065" rIns="0" bIns="0" rtlCol="0">
            <a:spAutoFit/>
          </a:bodyPr>
          <a:lstStyle/>
          <a:p>
            <a:pPr marL="12700" algn="ctr">
              <a:lnSpc>
                <a:spcPct val="100000"/>
              </a:lnSpc>
              <a:spcBef>
                <a:spcPts val="95"/>
              </a:spcBef>
            </a:pPr>
            <a:r>
              <a:rPr spc="-10" dirty="0">
                <a:solidFill>
                  <a:srgbClr val="000000"/>
                </a:solidFill>
                <a:latin typeface="Calibri"/>
                <a:cs typeface="Calibri"/>
              </a:rPr>
              <a:t>Electrical</a:t>
            </a:r>
            <a:r>
              <a:rPr spc="-35" dirty="0">
                <a:solidFill>
                  <a:srgbClr val="000000"/>
                </a:solidFill>
                <a:latin typeface="Calibri"/>
                <a:cs typeface="Calibri"/>
              </a:rPr>
              <a:t> </a:t>
            </a:r>
            <a:r>
              <a:rPr spc="-30" dirty="0">
                <a:solidFill>
                  <a:srgbClr val="000000"/>
                </a:solidFill>
                <a:latin typeface="Calibri"/>
                <a:cs typeface="Calibri"/>
              </a:rPr>
              <a:t>Power</a:t>
            </a:r>
            <a:r>
              <a:rPr spc="-5" dirty="0">
                <a:solidFill>
                  <a:srgbClr val="000000"/>
                </a:solidFill>
                <a:latin typeface="Calibri"/>
                <a:cs typeface="Calibri"/>
              </a:rPr>
              <a:t> Grid</a:t>
            </a:r>
            <a:r>
              <a:rPr spc="-10" dirty="0">
                <a:solidFill>
                  <a:srgbClr val="000000"/>
                </a:solidFill>
                <a:latin typeface="Calibri"/>
                <a:cs typeface="Calibri"/>
              </a:rPr>
              <a:t> </a:t>
            </a:r>
            <a:br>
              <a:rPr lang="en-US" spc="-10" dirty="0">
                <a:solidFill>
                  <a:srgbClr val="000000"/>
                </a:solidFill>
                <a:latin typeface="Calibri"/>
                <a:cs typeface="Calibri"/>
              </a:rPr>
            </a:br>
            <a:r>
              <a:rPr spc="-5" dirty="0">
                <a:solidFill>
                  <a:srgbClr val="000000"/>
                </a:solidFill>
                <a:latin typeface="Calibri"/>
                <a:cs typeface="Calibri"/>
              </a:rPr>
              <a:t>Analogy</a:t>
            </a:r>
            <a:endParaRPr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3" name="object 3"/>
          <p:cNvSpPr txBox="1"/>
          <p:nvPr/>
        </p:nvSpPr>
        <p:spPr>
          <a:xfrm>
            <a:off x="354552" y="925673"/>
            <a:ext cx="4110990" cy="3797193"/>
          </a:xfrm>
          <a:prstGeom prst="rect">
            <a:avLst/>
          </a:prstGeom>
        </p:spPr>
        <p:txBody>
          <a:bodyPr vert="horz" wrap="square" lIns="0" tIns="153670" rIns="0" bIns="0" rtlCol="0">
            <a:spAutoFit/>
          </a:bodyPr>
          <a:lstStyle/>
          <a:p>
            <a:pPr marL="169545" algn="just">
              <a:lnSpc>
                <a:spcPct val="100000"/>
              </a:lnSpc>
              <a:spcBef>
                <a:spcPts val="1210"/>
              </a:spcBef>
            </a:pPr>
            <a:r>
              <a:rPr sz="2200" b="1" spc="-5" dirty="0">
                <a:latin typeface="Calibri"/>
                <a:cs typeface="Calibri"/>
              </a:rPr>
              <a:t>Electrical</a:t>
            </a:r>
            <a:r>
              <a:rPr sz="2200" b="1" spc="-50" dirty="0">
                <a:latin typeface="Calibri"/>
                <a:cs typeface="Calibri"/>
              </a:rPr>
              <a:t> </a:t>
            </a:r>
            <a:r>
              <a:rPr sz="2200" b="1" spc="-10" dirty="0">
                <a:latin typeface="Calibri"/>
                <a:cs typeface="Calibri"/>
              </a:rPr>
              <a:t>Power</a:t>
            </a:r>
            <a:r>
              <a:rPr sz="2200" b="1" spc="-40" dirty="0">
                <a:latin typeface="Calibri"/>
                <a:cs typeface="Calibri"/>
              </a:rPr>
              <a:t> </a:t>
            </a:r>
            <a:r>
              <a:rPr sz="2200" b="1" spc="-5" dirty="0">
                <a:latin typeface="Calibri"/>
                <a:cs typeface="Calibri"/>
              </a:rPr>
              <a:t>Grid</a:t>
            </a:r>
            <a:endParaRPr sz="2200" dirty="0">
              <a:latin typeface="Calibri"/>
              <a:cs typeface="Calibri"/>
            </a:endParaRPr>
          </a:p>
          <a:p>
            <a:pPr marL="194945" marR="5080" indent="-182880" algn="just">
              <a:lnSpc>
                <a:spcPct val="100000"/>
              </a:lnSpc>
              <a:spcBef>
                <a:spcPts val="980"/>
              </a:spcBef>
              <a:buClr>
                <a:srgbClr val="4F80BC"/>
              </a:buClr>
              <a:buSzPct val="84375"/>
              <a:buFont typeface="Arial MT"/>
              <a:buChar char="•"/>
              <a:tabLst>
                <a:tab pos="195580" algn="l"/>
              </a:tabLst>
            </a:pPr>
            <a:r>
              <a:rPr sz="2200" spc="-10" dirty="0">
                <a:latin typeface="Calibri"/>
                <a:cs typeface="Calibri"/>
              </a:rPr>
              <a:t>Users</a:t>
            </a:r>
            <a:r>
              <a:rPr sz="2200" spc="-5" dirty="0">
                <a:latin typeface="Calibri"/>
                <a:cs typeface="Calibri"/>
              </a:rPr>
              <a:t> </a:t>
            </a:r>
            <a:r>
              <a:rPr sz="2200" dirty="0">
                <a:latin typeface="Calibri"/>
                <a:cs typeface="Calibri"/>
              </a:rPr>
              <a:t>(or</a:t>
            </a:r>
            <a:r>
              <a:rPr sz="2200" spc="5" dirty="0">
                <a:latin typeface="Calibri"/>
                <a:cs typeface="Calibri"/>
              </a:rPr>
              <a:t> </a:t>
            </a:r>
            <a:r>
              <a:rPr sz="2200" spc="-5" dirty="0">
                <a:latin typeface="Calibri"/>
                <a:cs typeface="Calibri"/>
              </a:rPr>
              <a:t>electrical</a:t>
            </a:r>
            <a:r>
              <a:rPr sz="2200" dirty="0">
                <a:latin typeface="Calibri"/>
                <a:cs typeface="Calibri"/>
              </a:rPr>
              <a:t> </a:t>
            </a:r>
            <a:r>
              <a:rPr sz="2200" spc="-10" dirty="0">
                <a:latin typeface="Calibri"/>
                <a:cs typeface="Calibri"/>
              </a:rPr>
              <a:t>appliances)</a:t>
            </a:r>
            <a:r>
              <a:rPr sz="2200" spc="-5" dirty="0">
                <a:latin typeface="Calibri"/>
                <a:cs typeface="Calibri"/>
              </a:rPr>
              <a:t> </a:t>
            </a:r>
            <a:r>
              <a:rPr sz="2200" spc="-10" dirty="0">
                <a:latin typeface="Calibri"/>
                <a:cs typeface="Calibri"/>
              </a:rPr>
              <a:t>get</a:t>
            </a:r>
            <a:r>
              <a:rPr sz="2200" spc="-5" dirty="0">
                <a:latin typeface="Calibri"/>
                <a:cs typeface="Calibri"/>
              </a:rPr>
              <a:t> access</a:t>
            </a:r>
            <a:r>
              <a:rPr sz="2200" dirty="0">
                <a:latin typeface="Calibri"/>
                <a:cs typeface="Calibri"/>
              </a:rPr>
              <a:t> </a:t>
            </a:r>
            <a:r>
              <a:rPr sz="2200" spc="-15" dirty="0">
                <a:latin typeface="Calibri"/>
                <a:cs typeface="Calibri"/>
              </a:rPr>
              <a:t>to </a:t>
            </a:r>
            <a:r>
              <a:rPr sz="2200" spc="-350" dirty="0">
                <a:latin typeface="Calibri"/>
                <a:cs typeface="Calibri"/>
              </a:rPr>
              <a:t> </a:t>
            </a:r>
            <a:r>
              <a:rPr sz="2200" spc="-5" dirty="0">
                <a:latin typeface="Calibri"/>
                <a:cs typeface="Calibri"/>
              </a:rPr>
              <a:t>electricity </a:t>
            </a:r>
            <a:r>
              <a:rPr sz="2200" spc="-10" dirty="0">
                <a:latin typeface="Calibri"/>
                <a:cs typeface="Calibri"/>
              </a:rPr>
              <a:t>through </a:t>
            </a:r>
            <a:r>
              <a:rPr sz="2200" spc="-5" dirty="0">
                <a:latin typeface="Calibri"/>
                <a:cs typeface="Calibri"/>
              </a:rPr>
              <a:t>wall </a:t>
            </a:r>
            <a:r>
              <a:rPr sz="2200" spc="-15" dirty="0">
                <a:latin typeface="Calibri"/>
                <a:cs typeface="Calibri"/>
              </a:rPr>
              <a:t>sockets </a:t>
            </a:r>
            <a:r>
              <a:rPr sz="2200" spc="-5" dirty="0">
                <a:latin typeface="Calibri"/>
                <a:cs typeface="Calibri"/>
              </a:rPr>
              <a:t>with no </a:t>
            </a:r>
            <a:r>
              <a:rPr sz="2200" spc="-15" dirty="0">
                <a:latin typeface="Calibri"/>
                <a:cs typeface="Calibri"/>
              </a:rPr>
              <a:t>care </a:t>
            </a:r>
            <a:r>
              <a:rPr sz="2200" spc="5" dirty="0">
                <a:latin typeface="Calibri"/>
                <a:cs typeface="Calibri"/>
              </a:rPr>
              <a:t>or </a:t>
            </a:r>
            <a:r>
              <a:rPr sz="2200" spc="10" dirty="0">
                <a:latin typeface="Calibri"/>
                <a:cs typeface="Calibri"/>
              </a:rPr>
              <a:t> </a:t>
            </a:r>
            <a:r>
              <a:rPr sz="2200" spc="-10" dirty="0">
                <a:latin typeface="Calibri"/>
                <a:cs typeface="Calibri"/>
              </a:rPr>
              <a:t>consideration</a:t>
            </a:r>
            <a:r>
              <a:rPr sz="2200" spc="150" dirty="0">
                <a:latin typeface="Calibri"/>
                <a:cs typeface="Calibri"/>
              </a:rPr>
              <a:t> </a:t>
            </a:r>
            <a:r>
              <a:rPr sz="2200" spc="-15" dirty="0">
                <a:latin typeface="Calibri"/>
                <a:cs typeface="Calibri"/>
              </a:rPr>
              <a:t>for</a:t>
            </a:r>
            <a:r>
              <a:rPr sz="2200" spc="150" dirty="0">
                <a:latin typeface="Calibri"/>
                <a:cs typeface="Calibri"/>
              </a:rPr>
              <a:t> </a:t>
            </a:r>
            <a:r>
              <a:rPr sz="2200" spc="-10" dirty="0">
                <a:latin typeface="Calibri"/>
                <a:cs typeface="Calibri"/>
              </a:rPr>
              <a:t>where</a:t>
            </a:r>
            <a:r>
              <a:rPr sz="2200" spc="160" dirty="0">
                <a:latin typeface="Calibri"/>
                <a:cs typeface="Calibri"/>
              </a:rPr>
              <a:t> </a:t>
            </a:r>
            <a:r>
              <a:rPr sz="2200" dirty="0">
                <a:latin typeface="Calibri"/>
                <a:cs typeface="Calibri"/>
              </a:rPr>
              <a:t>or</a:t>
            </a:r>
            <a:r>
              <a:rPr sz="2200" spc="150" dirty="0">
                <a:latin typeface="Calibri"/>
                <a:cs typeface="Calibri"/>
              </a:rPr>
              <a:t> </a:t>
            </a:r>
            <a:r>
              <a:rPr sz="2200" spc="-5" dirty="0">
                <a:latin typeface="Calibri"/>
                <a:cs typeface="Calibri"/>
              </a:rPr>
              <a:t>how</a:t>
            </a:r>
            <a:r>
              <a:rPr sz="2200" spc="145" dirty="0">
                <a:latin typeface="Calibri"/>
                <a:cs typeface="Calibri"/>
              </a:rPr>
              <a:t> </a:t>
            </a:r>
            <a:r>
              <a:rPr sz="2200" spc="-5" dirty="0">
                <a:latin typeface="Calibri"/>
                <a:cs typeface="Calibri"/>
              </a:rPr>
              <a:t>the</a:t>
            </a:r>
            <a:r>
              <a:rPr sz="2200" spc="155" dirty="0">
                <a:latin typeface="Calibri"/>
                <a:cs typeface="Calibri"/>
              </a:rPr>
              <a:t> </a:t>
            </a:r>
            <a:r>
              <a:rPr sz="2200" spc="-5" dirty="0">
                <a:latin typeface="Calibri"/>
                <a:cs typeface="Calibri"/>
              </a:rPr>
              <a:t>electricity </a:t>
            </a:r>
            <a:r>
              <a:rPr sz="2200" spc="-350" dirty="0">
                <a:latin typeface="Calibri"/>
                <a:cs typeface="Calibri"/>
              </a:rPr>
              <a:t> </a:t>
            </a:r>
            <a:r>
              <a:rPr sz="2200" dirty="0">
                <a:latin typeface="Calibri"/>
                <a:cs typeface="Calibri"/>
              </a:rPr>
              <a:t>is</a:t>
            </a:r>
            <a:r>
              <a:rPr sz="2200" spc="-20" dirty="0">
                <a:latin typeface="Calibri"/>
                <a:cs typeface="Calibri"/>
              </a:rPr>
              <a:t> </a:t>
            </a:r>
            <a:r>
              <a:rPr sz="2200" spc="-5" dirty="0">
                <a:latin typeface="Calibri"/>
                <a:cs typeface="Calibri"/>
              </a:rPr>
              <a:t>actually</a:t>
            </a:r>
            <a:r>
              <a:rPr sz="2200" spc="-25" dirty="0">
                <a:latin typeface="Calibri"/>
                <a:cs typeface="Calibri"/>
              </a:rPr>
              <a:t> </a:t>
            </a:r>
            <a:r>
              <a:rPr sz="2200" spc="-10" dirty="0">
                <a:latin typeface="Calibri"/>
                <a:cs typeface="Calibri"/>
              </a:rPr>
              <a:t>generated.</a:t>
            </a:r>
            <a:endParaRPr sz="2200" dirty="0">
              <a:latin typeface="Calibri"/>
              <a:cs typeface="Calibri"/>
            </a:endParaRPr>
          </a:p>
          <a:p>
            <a:pPr marL="195580" marR="6350" indent="-182880" algn="just">
              <a:lnSpc>
                <a:spcPct val="100000"/>
              </a:lnSpc>
              <a:spcBef>
                <a:spcPts val="960"/>
              </a:spcBef>
              <a:buClr>
                <a:srgbClr val="4F80BC"/>
              </a:buClr>
              <a:buSzPct val="84375"/>
              <a:buFont typeface="Arial MT"/>
              <a:buChar char="•"/>
              <a:tabLst>
                <a:tab pos="195580" algn="l"/>
              </a:tabLst>
            </a:pPr>
            <a:r>
              <a:rPr sz="2200" b="1" spc="10" dirty="0">
                <a:latin typeface="Calibri"/>
                <a:cs typeface="Calibri"/>
              </a:rPr>
              <a:t>“The</a:t>
            </a:r>
            <a:r>
              <a:rPr sz="2200" b="1" spc="185" dirty="0">
                <a:latin typeface="Calibri"/>
                <a:cs typeface="Calibri"/>
              </a:rPr>
              <a:t> </a:t>
            </a:r>
            <a:r>
              <a:rPr sz="2200" b="1" spc="-10" dirty="0">
                <a:latin typeface="Calibri"/>
                <a:cs typeface="Calibri"/>
              </a:rPr>
              <a:t>power</a:t>
            </a:r>
            <a:r>
              <a:rPr sz="2200" b="1" spc="185" dirty="0">
                <a:latin typeface="Calibri"/>
                <a:cs typeface="Calibri"/>
              </a:rPr>
              <a:t> </a:t>
            </a:r>
            <a:r>
              <a:rPr sz="2200" b="1" spc="-5" dirty="0">
                <a:latin typeface="Calibri"/>
                <a:cs typeface="Calibri"/>
              </a:rPr>
              <a:t>grid”</a:t>
            </a:r>
            <a:r>
              <a:rPr sz="2200" b="1" spc="185" dirty="0">
                <a:latin typeface="Calibri"/>
                <a:cs typeface="Calibri"/>
              </a:rPr>
              <a:t> </a:t>
            </a:r>
            <a:r>
              <a:rPr sz="2200" spc="-10" dirty="0">
                <a:latin typeface="Calibri"/>
                <a:cs typeface="Calibri"/>
              </a:rPr>
              <a:t>links</a:t>
            </a:r>
            <a:r>
              <a:rPr sz="2200" spc="175" dirty="0">
                <a:latin typeface="Calibri"/>
                <a:cs typeface="Calibri"/>
              </a:rPr>
              <a:t> </a:t>
            </a:r>
            <a:r>
              <a:rPr sz="2200" spc="-10" dirty="0">
                <a:latin typeface="Calibri"/>
                <a:cs typeface="Calibri"/>
              </a:rPr>
              <a:t>together</a:t>
            </a:r>
            <a:r>
              <a:rPr sz="2200" spc="185" dirty="0">
                <a:latin typeface="Calibri"/>
                <a:cs typeface="Calibri"/>
              </a:rPr>
              <a:t> </a:t>
            </a:r>
            <a:r>
              <a:rPr sz="2200" spc="-5" dirty="0">
                <a:latin typeface="Calibri"/>
                <a:cs typeface="Calibri"/>
              </a:rPr>
              <a:t>power</a:t>
            </a:r>
            <a:r>
              <a:rPr sz="2200" spc="180" dirty="0">
                <a:latin typeface="Calibri"/>
                <a:cs typeface="Calibri"/>
              </a:rPr>
              <a:t> </a:t>
            </a:r>
            <a:r>
              <a:rPr sz="2200" spc="-5" dirty="0">
                <a:latin typeface="Calibri"/>
                <a:cs typeface="Calibri"/>
              </a:rPr>
              <a:t>plants </a:t>
            </a:r>
            <a:r>
              <a:rPr sz="2200" spc="-350" dirty="0">
                <a:latin typeface="Calibri"/>
                <a:cs typeface="Calibri"/>
              </a:rPr>
              <a:t> </a:t>
            </a:r>
            <a:r>
              <a:rPr sz="2200" spc="-5" dirty="0">
                <a:latin typeface="Calibri"/>
                <a:cs typeface="Calibri"/>
              </a:rPr>
              <a:t>of</a:t>
            </a:r>
            <a:r>
              <a:rPr sz="2200" spc="10" dirty="0">
                <a:latin typeface="Calibri"/>
                <a:cs typeface="Calibri"/>
              </a:rPr>
              <a:t> </a:t>
            </a:r>
            <a:r>
              <a:rPr sz="2200" spc="-10" dirty="0">
                <a:latin typeface="Calibri"/>
                <a:cs typeface="Calibri"/>
              </a:rPr>
              <a:t>many</a:t>
            </a:r>
            <a:r>
              <a:rPr sz="2200" spc="-20" dirty="0">
                <a:latin typeface="Calibri"/>
                <a:cs typeface="Calibri"/>
              </a:rPr>
              <a:t> </a:t>
            </a:r>
            <a:r>
              <a:rPr sz="2200" spc="-15" dirty="0">
                <a:latin typeface="Calibri"/>
                <a:cs typeface="Calibri"/>
              </a:rPr>
              <a:t>different</a:t>
            </a:r>
            <a:r>
              <a:rPr sz="2200" spc="5" dirty="0">
                <a:latin typeface="Calibri"/>
                <a:cs typeface="Calibri"/>
              </a:rPr>
              <a:t> </a:t>
            </a:r>
            <a:r>
              <a:rPr sz="2200" spc="-10" dirty="0">
                <a:latin typeface="Calibri"/>
                <a:cs typeface="Calibri"/>
              </a:rPr>
              <a:t>kinds</a:t>
            </a:r>
            <a:endParaRPr sz="2200" dirty="0">
              <a:latin typeface="Calibri"/>
              <a:cs typeface="Calibri"/>
            </a:endParaRPr>
          </a:p>
        </p:txBody>
      </p:sp>
      <p:sp>
        <p:nvSpPr>
          <p:cNvPr id="4" name="object 4"/>
          <p:cNvSpPr txBox="1"/>
          <p:nvPr/>
        </p:nvSpPr>
        <p:spPr>
          <a:xfrm>
            <a:off x="4525423" y="998391"/>
            <a:ext cx="4466177" cy="3661900"/>
          </a:xfrm>
          <a:prstGeom prst="rect">
            <a:avLst/>
          </a:prstGeom>
        </p:spPr>
        <p:txBody>
          <a:bodyPr vert="horz" wrap="square" lIns="0" tIns="86995" rIns="0" bIns="0" rtlCol="0">
            <a:spAutoFit/>
          </a:bodyPr>
          <a:lstStyle/>
          <a:p>
            <a:pPr marL="93345">
              <a:lnSpc>
                <a:spcPct val="100000"/>
              </a:lnSpc>
              <a:spcBef>
                <a:spcPts val="685"/>
              </a:spcBef>
            </a:pPr>
            <a:r>
              <a:rPr sz="2100" b="1" spc="-5" dirty="0">
                <a:latin typeface="Calibri"/>
                <a:cs typeface="Calibri"/>
              </a:rPr>
              <a:t>Grid</a:t>
            </a:r>
            <a:endParaRPr sz="2100" dirty="0">
              <a:latin typeface="Calibri"/>
              <a:cs typeface="Calibri"/>
            </a:endParaRPr>
          </a:p>
          <a:p>
            <a:pPr marL="194945" marR="5080" indent="-182880" algn="just">
              <a:lnSpc>
                <a:spcPct val="90000"/>
              </a:lnSpc>
              <a:spcBef>
                <a:spcPts val="625"/>
              </a:spcBef>
              <a:buClr>
                <a:srgbClr val="4F80BC"/>
              </a:buClr>
              <a:buSzPct val="82142"/>
              <a:buFont typeface="Arial MT"/>
              <a:buChar char="•"/>
              <a:tabLst>
                <a:tab pos="195580" algn="l"/>
              </a:tabLst>
            </a:pPr>
            <a:r>
              <a:rPr sz="2100" spc="-10" dirty="0">
                <a:latin typeface="Calibri"/>
                <a:cs typeface="Calibri"/>
              </a:rPr>
              <a:t>Users </a:t>
            </a:r>
            <a:r>
              <a:rPr sz="2100" spc="-5" dirty="0">
                <a:latin typeface="Calibri"/>
                <a:cs typeface="Calibri"/>
              </a:rPr>
              <a:t>(or client applications) gain access </a:t>
            </a:r>
            <a:r>
              <a:rPr sz="2100" spc="-10" dirty="0">
                <a:latin typeface="Calibri"/>
                <a:cs typeface="Calibri"/>
              </a:rPr>
              <a:t>to </a:t>
            </a:r>
            <a:r>
              <a:rPr sz="2100" spc="-5" dirty="0">
                <a:latin typeface="Calibri"/>
                <a:cs typeface="Calibri"/>
              </a:rPr>
              <a:t>computing </a:t>
            </a:r>
            <a:r>
              <a:rPr sz="2100" dirty="0">
                <a:latin typeface="Calibri"/>
                <a:cs typeface="Calibri"/>
              </a:rPr>
              <a:t> </a:t>
            </a:r>
            <a:r>
              <a:rPr sz="2100" spc="-5" dirty="0">
                <a:latin typeface="Calibri"/>
                <a:cs typeface="Calibri"/>
              </a:rPr>
              <a:t>resources </a:t>
            </a:r>
            <a:r>
              <a:rPr sz="2100" spc="-10" dirty="0">
                <a:latin typeface="Calibri"/>
                <a:cs typeface="Calibri"/>
              </a:rPr>
              <a:t>(processors,</a:t>
            </a:r>
            <a:r>
              <a:rPr sz="2100" spc="295" dirty="0">
                <a:latin typeface="Calibri"/>
                <a:cs typeface="Calibri"/>
              </a:rPr>
              <a:t> </a:t>
            </a:r>
            <a:r>
              <a:rPr sz="2100" spc="-10" dirty="0">
                <a:latin typeface="Calibri"/>
                <a:cs typeface="Calibri"/>
              </a:rPr>
              <a:t>storage, data, </a:t>
            </a:r>
            <a:r>
              <a:rPr sz="2100" spc="-5" dirty="0">
                <a:latin typeface="Calibri"/>
                <a:cs typeface="Calibri"/>
              </a:rPr>
              <a:t>applications, </a:t>
            </a:r>
            <a:r>
              <a:rPr sz="2100" dirty="0">
                <a:latin typeface="Calibri"/>
                <a:cs typeface="Calibri"/>
              </a:rPr>
              <a:t>and </a:t>
            </a:r>
            <a:r>
              <a:rPr sz="2100" spc="5" dirty="0">
                <a:latin typeface="Calibri"/>
                <a:cs typeface="Calibri"/>
              </a:rPr>
              <a:t> </a:t>
            </a:r>
            <a:r>
              <a:rPr sz="2100" dirty="0">
                <a:latin typeface="Calibri"/>
                <a:cs typeface="Calibri"/>
              </a:rPr>
              <a:t>so </a:t>
            </a:r>
            <a:r>
              <a:rPr sz="2100" spc="-5" dirty="0">
                <a:latin typeface="Calibri"/>
                <a:cs typeface="Calibri"/>
              </a:rPr>
              <a:t>on) </a:t>
            </a:r>
            <a:r>
              <a:rPr sz="2100" dirty="0">
                <a:latin typeface="Calibri"/>
                <a:cs typeface="Calibri"/>
              </a:rPr>
              <a:t>as needed with </a:t>
            </a:r>
            <a:r>
              <a:rPr sz="2100" spc="-5" dirty="0">
                <a:latin typeface="Calibri"/>
                <a:cs typeface="Calibri"/>
              </a:rPr>
              <a:t>little </a:t>
            </a:r>
            <a:r>
              <a:rPr sz="2100" dirty="0">
                <a:latin typeface="Calibri"/>
                <a:cs typeface="Calibri"/>
              </a:rPr>
              <a:t>or </a:t>
            </a:r>
            <a:r>
              <a:rPr sz="2100" spc="-5" dirty="0">
                <a:latin typeface="Calibri"/>
                <a:cs typeface="Calibri"/>
              </a:rPr>
              <a:t>no knowledge </a:t>
            </a:r>
            <a:r>
              <a:rPr sz="2100" dirty="0">
                <a:latin typeface="Calibri"/>
                <a:cs typeface="Calibri"/>
              </a:rPr>
              <a:t>of </a:t>
            </a:r>
            <a:r>
              <a:rPr sz="2100" spc="-5" dirty="0">
                <a:latin typeface="Calibri"/>
                <a:cs typeface="Calibri"/>
              </a:rPr>
              <a:t>where </a:t>
            </a:r>
            <a:r>
              <a:rPr sz="2100" dirty="0">
                <a:latin typeface="Calibri"/>
                <a:cs typeface="Calibri"/>
              </a:rPr>
              <a:t> </a:t>
            </a:r>
            <a:r>
              <a:rPr sz="2100" spc="-5" dirty="0">
                <a:latin typeface="Calibri"/>
                <a:cs typeface="Calibri"/>
              </a:rPr>
              <a:t>those</a:t>
            </a:r>
            <a:r>
              <a:rPr sz="2100" dirty="0">
                <a:latin typeface="Calibri"/>
                <a:cs typeface="Calibri"/>
              </a:rPr>
              <a:t> </a:t>
            </a:r>
            <a:r>
              <a:rPr sz="2100" spc="-5" dirty="0">
                <a:latin typeface="Calibri"/>
                <a:cs typeface="Calibri"/>
              </a:rPr>
              <a:t>resources</a:t>
            </a:r>
            <a:r>
              <a:rPr sz="2100" dirty="0">
                <a:latin typeface="Calibri"/>
                <a:cs typeface="Calibri"/>
              </a:rPr>
              <a:t> </a:t>
            </a:r>
            <a:r>
              <a:rPr sz="2100" spc="-10" dirty="0">
                <a:latin typeface="Calibri"/>
                <a:cs typeface="Calibri"/>
              </a:rPr>
              <a:t>are</a:t>
            </a:r>
            <a:r>
              <a:rPr sz="2100" spc="-5" dirty="0">
                <a:latin typeface="Calibri"/>
                <a:cs typeface="Calibri"/>
              </a:rPr>
              <a:t> </a:t>
            </a:r>
            <a:r>
              <a:rPr sz="2100" spc="-10" dirty="0">
                <a:latin typeface="Calibri"/>
                <a:cs typeface="Calibri"/>
              </a:rPr>
              <a:t>located</a:t>
            </a:r>
            <a:r>
              <a:rPr sz="2100" spc="-5" dirty="0">
                <a:latin typeface="Calibri"/>
                <a:cs typeface="Calibri"/>
              </a:rPr>
              <a:t> </a:t>
            </a:r>
            <a:r>
              <a:rPr sz="2100" dirty="0">
                <a:latin typeface="Calibri"/>
                <a:cs typeface="Calibri"/>
              </a:rPr>
              <a:t>or</a:t>
            </a:r>
            <a:r>
              <a:rPr sz="2100" spc="5" dirty="0">
                <a:latin typeface="Calibri"/>
                <a:cs typeface="Calibri"/>
              </a:rPr>
              <a:t> </a:t>
            </a:r>
            <a:r>
              <a:rPr sz="2100" spc="-5" dirty="0">
                <a:latin typeface="Calibri"/>
                <a:cs typeface="Calibri"/>
              </a:rPr>
              <a:t>what</a:t>
            </a:r>
            <a:r>
              <a:rPr sz="2100" dirty="0">
                <a:latin typeface="Calibri"/>
                <a:cs typeface="Calibri"/>
              </a:rPr>
              <a:t> the</a:t>
            </a:r>
            <a:r>
              <a:rPr sz="2100" spc="5" dirty="0">
                <a:latin typeface="Calibri"/>
                <a:cs typeface="Calibri"/>
              </a:rPr>
              <a:t> </a:t>
            </a:r>
            <a:r>
              <a:rPr sz="2100" dirty="0">
                <a:latin typeface="Calibri"/>
                <a:cs typeface="Calibri"/>
              </a:rPr>
              <a:t>underlying </a:t>
            </a:r>
            <a:r>
              <a:rPr sz="2100" spc="5" dirty="0">
                <a:latin typeface="Calibri"/>
                <a:cs typeface="Calibri"/>
              </a:rPr>
              <a:t> </a:t>
            </a:r>
            <a:r>
              <a:rPr sz="2100" spc="-5" dirty="0">
                <a:latin typeface="Calibri"/>
                <a:cs typeface="Calibri"/>
              </a:rPr>
              <a:t>technologies,</a:t>
            </a:r>
            <a:r>
              <a:rPr sz="2100" dirty="0">
                <a:latin typeface="Calibri"/>
                <a:cs typeface="Calibri"/>
              </a:rPr>
              <a:t> </a:t>
            </a:r>
            <a:r>
              <a:rPr sz="2100" spc="-10" dirty="0">
                <a:latin typeface="Calibri"/>
                <a:cs typeface="Calibri"/>
              </a:rPr>
              <a:t>hardware,</a:t>
            </a:r>
            <a:r>
              <a:rPr sz="2100" spc="-5" dirty="0">
                <a:latin typeface="Calibri"/>
                <a:cs typeface="Calibri"/>
              </a:rPr>
              <a:t> </a:t>
            </a:r>
            <a:r>
              <a:rPr sz="2100" spc="-10" dirty="0">
                <a:latin typeface="Calibri"/>
                <a:cs typeface="Calibri"/>
              </a:rPr>
              <a:t>operating</a:t>
            </a:r>
            <a:r>
              <a:rPr sz="2100" spc="-5" dirty="0">
                <a:latin typeface="Calibri"/>
                <a:cs typeface="Calibri"/>
              </a:rPr>
              <a:t> </a:t>
            </a:r>
            <a:r>
              <a:rPr sz="2100" spc="-10" dirty="0">
                <a:latin typeface="Calibri"/>
                <a:cs typeface="Calibri"/>
              </a:rPr>
              <a:t>system,</a:t>
            </a:r>
            <a:r>
              <a:rPr sz="2100" spc="-5" dirty="0">
                <a:latin typeface="Calibri"/>
                <a:cs typeface="Calibri"/>
              </a:rPr>
              <a:t> and</a:t>
            </a:r>
            <a:r>
              <a:rPr sz="2100" spc="305" dirty="0">
                <a:latin typeface="Calibri"/>
                <a:cs typeface="Calibri"/>
              </a:rPr>
              <a:t> </a:t>
            </a:r>
            <a:r>
              <a:rPr sz="2100" dirty="0">
                <a:latin typeface="Calibri"/>
                <a:cs typeface="Calibri"/>
              </a:rPr>
              <a:t>so</a:t>
            </a:r>
            <a:r>
              <a:rPr sz="2100" spc="315" dirty="0">
                <a:latin typeface="Calibri"/>
                <a:cs typeface="Calibri"/>
              </a:rPr>
              <a:t> </a:t>
            </a:r>
            <a:r>
              <a:rPr sz="2100" dirty="0">
                <a:latin typeface="Calibri"/>
                <a:cs typeface="Calibri"/>
              </a:rPr>
              <a:t>on </a:t>
            </a:r>
            <a:r>
              <a:rPr sz="2100" spc="-305" dirty="0">
                <a:latin typeface="Calibri"/>
                <a:cs typeface="Calibri"/>
              </a:rPr>
              <a:t> </a:t>
            </a:r>
            <a:r>
              <a:rPr sz="2100" spc="-10" dirty="0">
                <a:latin typeface="Calibri"/>
                <a:cs typeface="Calibri"/>
              </a:rPr>
              <a:t>are</a:t>
            </a:r>
            <a:endParaRPr sz="2100" dirty="0">
              <a:latin typeface="Calibri"/>
              <a:cs typeface="Calibri"/>
            </a:endParaRPr>
          </a:p>
          <a:p>
            <a:pPr marL="195580" marR="10160" indent="-182880" algn="just">
              <a:lnSpc>
                <a:spcPts val="1510"/>
              </a:lnSpc>
              <a:spcBef>
                <a:spcPts val="360"/>
              </a:spcBef>
              <a:buClr>
                <a:srgbClr val="4F80BC"/>
              </a:buClr>
              <a:buSzPct val="82142"/>
              <a:buFont typeface="Arial MT"/>
              <a:buChar char="•"/>
              <a:tabLst>
                <a:tab pos="195580" algn="l"/>
              </a:tabLst>
            </a:pPr>
            <a:r>
              <a:rPr sz="2100" b="1" spc="5" dirty="0">
                <a:latin typeface="Calibri"/>
                <a:cs typeface="Calibri"/>
              </a:rPr>
              <a:t>“The</a:t>
            </a:r>
            <a:r>
              <a:rPr sz="2100" b="1" spc="10" dirty="0">
                <a:latin typeface="Calibri"/>
                <a:cs typeface="Calibri"/>
              </a:rPr>
              <a:t> </a:t>
            </a:r>
            <a:r>
              <a:rPr sz="2100" b="1" dirty="0">
                <a:latin typeface="Calibri"/>
                <a:cs typeface="Calibri"/>
              </a:rPr>
              <a:t>Grid"</a:t>
            </a:r>
            <a:r>
              <a:rPr sz="2100" b="1" spc="5" dirty="0">
                <a:latin typeface="Calibri"/>
                <a:cs typeface="Calibri"/>
              </a:rPr>
              <a:t> </a:t>
            </a:r>
            <a:r>
              <a:rPr sz="2100" spc="-5" dirty="0">
                <a:latin typeface="Calibri"/>
                <a:cs typeface="Calibri"/>
              </a:rPr>
              <a:t>links</a:t>
            </a:r>
            <a:r>
              <a:rPr sz="2100" dirty="0">
                <a:latin typeface="Calibri"/>
                <a:cs typeface="Calibri"/>
              </a:rPr>
              <a:t> </a:t>
            </a:r>
            <a:r>
              <a:rPr sz="2100" spc="-10" dirty="0">
                <a:latin typeface="Calibri"/>
                <a:cs typeface="Calibri"/>
              </a:rPr>
              <a:t>together</a:t>
            </a:r>
            <a:r>
              <a:rPr sz="2100" spc="-5" dirty="0">
                <a:latin typeface="Calibri"/>
                <a:cs typeface="Calibri"/>
              </a:rPr>
              <a:t> computing</a:t>
            </a:r>
            <a:r>
              <a:rPr sz="2100" dirty="0">
                <a:latin typeface="Calibri"/>
                <a:cs typeface="Calibri"/>
              </a:rPr>
              <a:t> </a:t>
            </a:r>
            <a:r>
              <a:rPr sz="2100" spc="-5" dirty="0">
                <a:latin typeface="Calibri"/>
                <a:cs typeface="Calibri"/>
              </a:rPr>
              <a:t>resources</a:t>
            </a:r>
            <a:r>
              <a:rPr sz="2100" dirty="0">
                <a:latin typeface="Calibri"/>
                <a:cs typeface="Calibri"/>
              </a:rPr>
              <a:t> </a:t>
            </a:r>
            <a:r>
              <a:rPr sz="2100" spc="-10" dirty="0">
                <a:latin typeface="Calibri"/>
                <a:cs typeface="Calibri"/>
              </a:rPr>
              <a:t>(PCs, </a:t>
            </a:r>
            <a:r>
              <a:rPr sz="2100" spc="-5" dirty="0">
                <a:latin typeface="Calibri"/>
                <a:cs typeface="Calibri"/>
              </a:rPr>
              <a:t> </a:t>
            </a:r>
            <a:r>
              <a:rPr sz="2100" spc="-10" dirty="0">
                <a:latin typeface="Calibri"/>
                <a:cs typeface="Calibri"/>
              </a:rPr>
              <a:t>workstations, </a:t>
            </a:r>
            <a:r>
              <a:rPr sz="2100" spc="-5" dirty="0">
                <a:latin typeface="Calibri"/>
                <a:cs typeface="Calibri"/>
              </a:rPr>
              <a:t>servers, </a:t>
            </a:r>
            <a:r>
              <a:rPr sz="2100" spc="-10" dirty="0">
                <a:latin typeface="Calibri"/>
                <a:cs typeface="Calibri"/>
              </a:rPr>
              <a:t>storage </a:t>
            </a:r>
            <a:r>
              <a:rPr sz="2100" spc="-5" dirty="0">
                <a:latin typeface="Calibri"/>
                <a:cs typeface="Calibri"/>
              </a:rPr>
              <a:t>elements) </a:t>
            </a:r>
            <a:r>
              <a:rPr sz="2100" dirty="0">
                <a:latin typeface="Calibri"/>
                <a:cs typeface="Calibri"/>
              </a:rPr>
              <a:t>and </a:t>
            </a:r>
            <a:r>
              <a:rPr sz="2100" spc="-10" dirty="0">
                <a:latin typeface="Calibri"/>
                <a:cs typeface="Calibri"/>
              </a:rPr>
              <a:t>provides </a:t>
            </a:r>
            <a:r>
              <a:rPr sz="2100" spc="-5" dirty="0">
                <a:latin typeface="Calibri"/>
                <a:cs typeface="Calibri"/>
              </a:rPr>
              <a:t> the</a:t>
            </a:r>
            <a:r>
              <a:rPr sz="2100" dirty="0">
                <a:latin typeface="Calibri"/>
                <a:cs typeface="Calibri"/>
              </a:rPr>
              <a:t> </a:t>
            </a:r>
            <a:r>
              <a:rPr sz="2100" spc="-5" dirty="0">
                <a:latin typeface="Calibri"/>
                <a:cs typeface="Calibri"/>
              </a:rPr>
              <a:t>mechanism</a:t>
            </a:r>
            <a:r>
              <a:rPr sz="2100" spc="5" dirty="0">
                <a:latin typeface="Calibri"/>
                <a:cs typeface="Calibri"/>
              </a:rPr>
              <a:t> </a:t>
            </a:r>
            <a:r>
              <a:rPr sz="2100" spc="-5" dirty="0">
                <a:latin typeface="Calibri"/>
                <a:cs typeface="Calibri"/>
              </a:rPr>
              <a:t>needed</a:t>
            </a:r>
            <a:r>
              <a:rPr sz="2100" spc="20" dirty="0">
                <a:latin typeface="Calibri"/>
                <a:cs typeface="Calibri"/>
              </a:rPr>
              <a:t> </a:t>
            </a:r>
            <a:r>
              <a:rPr sz="2100" spc="-10" dirty="0">
                <a:latin typeface="Calibri"/>
                <a:cs typeface="Calibri"/>
              </a:rPr>
              <a:t>to</a:t>
            </a:r>
            <a:r>
              <a:rPr sz="2100" dirty="0">
                <a:latin typeface="Calibri"/>
                <a:cs typeface="Calibri"/>
              </a:rPr>
              <a:t> </a:t>
            </a:r>
            <a:r>
              <a:rPr sz="2100" spc="-5" dirty="0">
                <a:latin typeface="Calibri"/>
                <a:cs typeface="Calibri"/>
              </a:rPr>
              <a:t>access</a:t>
            </a:r>
            <a:r>
              <a:rPr sz="2100" dirty="0">
                <a:latin typeface="Calibri"/>
                <a:cs typeface="Calibri"/>
              </a:rPr>
              <a:t> </a:t>
            </a:r>
            <a:r>
              <a:rPr sz="2100" spc="-5" dirty="0">
                <a:latin typeface="Calibri"/>
                <a:cs typeface="Calibri"/>
              </a:rPr>
              <a:t>them</a:t>
            </a:r>
            <a:r>
              <a:rPr sz="2200" spc="-5" dirty="0">
                <a:latin typeface="Calibri"/>
                <a:cs typeface="Calibri"/>
              </a:rPr>
              <a:t>.</a:t>
            </a:r>
            <a:endParaRPr sz="2200" dirty="0">
              <a:latin typeface="Calibri"/>
              <a:cs typeface="Calibri"/>
            </a:endParaRP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8742" y="275957"/>
            <a:ext cx="3293745" cy="504625"/>
          </a:xfrm>
          <a:prstGeom prst="rect">
            <a:avLst/>
          </a:prstGeom>
        </p:spPr>
        <p:txBody>
          <a:bodyPr vert="horz" wrap="square" lIns="0" tIns="12065" rIns="0" bIns="0" rtlCol="0">
            <a:spAutoFit/>
          </a:bodyPr>
          <a:lstStyle/>
          <a:p>
            <a:pPr marL="12700" algn="ctr">
              <a:lnSpc>
                <a:spcPct val="100000"/>
              </a:lnSpc>
              <a:spcBef>
                <a:spcPts val="95"/>
              </a:spcBef>
            </a:pPr>
            <a:r>
              <a:rPr sz="3200" b="1" spc="-5" dirty="0">
                <a:solidFill>
                  <a:srgbClr val="000000"/>
                </a:solidFill>
                <a:latin typeface="Calibri"/>
                <a:cs typeface="Calibri"/>
              </a:rPr>
              <a:t>Grid</a:t>
            </a:r>
            <a:r>
              <a:rPr sz="3200" b="1" spc="-50" dirty="0">
                <a:solidFill>
                  <a:srgbClr val="000000"/>
                </a:solidFill>
                <a:latin typeface="Calibri"/>
                <a:cs typeface="Calibri"/>
              </a:rPr>
              <a:t> </a:t>
            </a:r>
            <a:r>
              <a:rPr sz="3200" b="1" spc="-5" dirty="0">
                <a:solidFill>
                  <a:srgbClr val="000000"/>
                </a:solidFill>
                <a:latin typeface="Calibri"/>
                <a:cs typeface="Calibri"/>
              </a:rPr>
              <a:t>Computing</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3" name="object 3"/>
          <p:cNvSpPr txBox="1"/>
          <p:nvPr/>
        </p:nvSpPr>
        <p:spPr>
          <a:xfrm>
            <a:off x="609600" y="1352550"/>
            <a:ext cx="8067040" cy="2898679"/>
          </a:xfrm>
          <a:prstGeom prst="rect">
            <a:avLst/>
          </a:prstGeom>
        </p:spPr>
        <p:txBody>
          <a:bodyPr vert="horz" wrap="square" lIns="0" tIns="71755" rIns="0" bIns="0" rtlCol="0">
            <a:spAutoFit/>
          </a:bodyPr>
          <a:lstStyle/>
          <a:p>
            <a:pPr marL="321310" marR="598805" indent="-321310" algn="just">
              <a:lnSpc>
                <a:spcPts val="1989"/>
              </a:lnSpc>
              <a:spcBef>
                <a:spcPts val="1035"/>
              </a:spcBef>
              <a:buAutoNum type="arabicPeriod"/>
              <a:tabLst>
                <a:tab pos="321310" algn="l"/>
              </a:tabLst>
            </a:pPr>
            <a:r>
              <a:rPr sz="2400" spc="-10" dirty="0">
                <a:latin typeface="Calibri"/>
                <a:cs typeface="Calibri"/>
              </a:rPr>
              <a:t>Share more</a:t>
            </a:r>
            <a:r>
              <a:rPr sz="2400" dirty="0">
                <a:latin typeface="Calibri"/>
                <a:cs typeface="Calibri"/>
              </a:rPr>
              <a:t> than</a:t>
            </a:r>
            <a:r>
              <a:rPr sz="2400" spc="5" dirty="0">
                <a:latin typeface="Calibri"/>
                <a:cs typeface="Calibri"/>
              </a:rPr>
              <a:t> </a:t>
            </a:r>
            <a:r>
              <a:rPr sz="2400" spc="-10" dirty="0">
                <a:latin typeface="Calibri"/>
                <a:cs typeface="Calibri"/>
              </a:rPr>
              <a:t>information:</a:t>
            </a:r>
            <a:r>
              <a:rPr sz="2400" spc="-5" dirty="0">
                <a:latin typeface="Calibri"/>
                <a:cs typeface="Calibri"/>
              </a:rPr>
              <a:t> </a:t>
            </a:r>
            <a:r>
              <a:rPr sz="2400" spc="-10" dirty="0">
                <a:latin typeface="Calibri"/>
                <a:cs typeface="Calibri"/>
              </a:rPr>
              <a:t>Data,</a:t>
            </a:r>
            <a:r>
              <a:rPr sz="2400" spc="5" dirty="0">
                <a:latin typeface="Calibri"/>
                <a:cs typeface="Calibri"/>
              </a:rPr>
              <a:t> </a:t>
            </a:r>
            <a:r>
              <a:rPr sz="2400" spc="-5" dirty="0">
                <a:latin typeface="Calibri"/>
                <a:cs typeface="Calibri"/>
              </a:rPr>
              <a:t>computing</a:t>
            </a:r>
            <a:r>
              <a:rPr sz="2400" spc="-15" dirty="0">
                <a:latin typeface="Calibri"/>
                <a:cs typeface="Calibri"/>
              </a:rPr>
              <a:t> </a:t>
            </a:r>
            <a:r>
              <a:rPr sz="2400" spc="-35" dirty="0">
                <a:latin typeface="Calibri"/>
                <a:cs typeface="Calibri"/>
              </a:rPr>
              <a:t>power,</a:t>
            </a:r>
            <a:r>
              <a:rPr sz="2400" spc="-10" dirty="0">
                <a:latin typeface="Calibri"/>
                <a:cs typeface="Calibri"/>
              </a:rPr>
              <a:t> </a:t>
            </a:r>
            <a:r>
              <a:rPr sz="2400" spc="-5" dirty="0">
                <a:latin typeface="Calibri"/>
                <a:cs typeface="Calibri"/>
              </a:rPr>
              <a:t>applications</a:t>
            </a:r>
            <a:r>
              <a:rPr sz="2400" dirty="0">
                <a:latin typeface="Calibri"/>
                <a:cs typeface="Calibri"/>
              </a:rPr>
              <a:t> in </a:t>
            </a:r>
            <a:r>
              <a:rPr sz="2400" spc="-434" dirty="0">
                <a:latin typeface="Calibri"/>
                <a:cs typeface="Calibri"/>
              </a:rPr>
              <a:t> </a:t>
            </a:r>
            <a:r>
              <a:rPr sz="2400" spc="-5" dirty="0">
                <a:latin typeface="Calibri"/>
                <a:cs typeface="Calibri"/>
              </a:rPr>
              <a:t>dynamic</a:t>
            </a:r>
            <a:r>
              <a:rPr sz="2400" spc="-20" dirty="0">
                <a:latin typeface="Calibri"/>
                <a:cs typeface="Calibri"/>
              </a:rPr>
              <a:t> </a:t>
            </a:r>
            <a:r>
              <a:rPr sz="2400" spc="-10" dirty="0">
                <a:latin typeface="Calibri"/>
                <a:cs typeface="Calibri"/>
              </a:rPr>
              <a:t>environment,</a:t>
            </a:r>
            <a:r>
              <a:rPr sz="2400" spc="15" dirty="0">
                <a:latin typeface="Calibri"/>
                <a:cs typeface="Calibri"/>
              </a:rPr>
              <a:t> </a:t>
            </a:r>
            <a:r>
              <a:rPr sz="2400" spc="-5" dirty="0">
                <a:latin typeface="Calibri"/>
                <a:cs typeface="Calibri"/>
              </a:rPr>
              <a:t>multi-institutional,</a:t>
            </a:r>
            <a:r>
              <a:rPr sz="2400" spc="25" dirty="0">
                <a:latin typeface="Calibri"/>
                <a:cs typeface="Calibri"/>
              </a:rPr>
              <a:t> </a:t>
            </a:r>
            <a:r>
              <a:rPr sz="2400" dirty="0">
                <a:latin typeface="Calibri"/>
                <a:cs typeface="Calibri"/>
              </a:rPr>
              <a:t>virtual</a:t>
            </a:r>
            <a:r>
              <a:rPr sz="2400" spc="10" dirty="0">
                <a:latin typeface="Calibri"/>
                <a:cs typeface="Calibri"/>
              </a:rPr>
              <a:t> </a:t>
            </a:r>
            <a:r>
              <a:rPr sz="2400" spc="-10" dirty="0">
                <a:latin typeface="Calibri"/>
                <a:cs typeface="Calibri"/>
              </a:rPr>
              <a:t>organizations</a:t>
            </a:r>
            <a:endParaRPr sz="2400" dirty="0">
              <a:latin typeface="Calibri"/>
              <a:cs typeface="Calibri"/>
            </a:endParaRPr>
          </a:p>
          <a:p>
            <a:pPr marL="263525" indent="-251460" algn="just">
              <a:lnSpc>
                <a:spcPts val="2365"/>
              </a:lnSpc>
              <a:spcBef>
                <a:spcPts val="375"/>
              </a:spcBef>
              <a:buAutoNum type="arabicPeriod"/>
              <a:tabLst>
                <a:tab pos="264160" algn="l"/>
              </a:tabLst>
            </a:pPr>
            <a:r>
              <a:rPr sz="2400" spc="-15" dirty="0">
                <a:latin typeface="Calibri"/>
                <a:cs typeface="Calibri"/>
              </a:rPr>
              <a:t>Efficient</a:t>
            </a:r>
            <a:r>
              <a:rPr sz="2400" spc="-5" dirty="0">
                <a:latin typeface="Calibri"/>
                <a:cs typeface="Calibri"/>
              </a:rPr>
              <a:t> </a:t>
            </a:r>
            <a:r>
              <a:rPr sz="2400" dirty="0">
                <a:latin typeface="Calibri"/>
                <a:cs typeface="Calibri"/>
              </a:rPr>
              <a:t>use </a:t>
            </a:r>
            <a:r>
              <a:rPr sz="2400" spc="-5" dirty="0">
                <a:latin typeface="Calibri"/>
                <a:cs typeface="Calibri"/>
              </a:rPr>
              <a:t>of</a:t>
            </a:r>
            <a:r>
              <a:rPr sz="2400" spc="-10" dirty="0">
                <a:latin typeface="Calibri"/>
                <a:cs typeface="Calibri"/>
              </a:rPr>
              <a:t> </a:t>
            </a:r>
            <a:r>
              <a:rPr sz="2400" spc="-5" dirty="0">
                <a:latin typeface="Calibri"/>
                <a:cs typeface="Calibri"/>
              </a:rPr>
              <a:t>resources </a:t>
            </a:r>
            <a:r>
              <a:rPr sz="2400" spc="-15" dirty="0">
                <a:latin typeface="Calibri"/>
                <a:cs typeface="Calibri"/>
              </a:rPr>
              <a:t>at</a:t>
            </a:r>
            <a:r>
              <a:rPr sz="2400" spc="15" dirty="0">
                <a:latin typeface="Calibri"/>
                <a:cs typeface="Calibri"/>
              </a:rPr>
              <a:t> </a:t>
            </a:r>
            <a:r>
              <a:rPr sz="2400" spc="-10" dirty="0">
                <a:latin typeface="Calibri"/>
                <a:cs typeface="Calibri"/>
              </a:rPr>
              <a:t>many</a:t>
            </a:r>
            <a:r>
              <a:rPr sz="2400" spc="-15" dirty="0">
                <a:latin typeface="Calibri"/>
                <a:cs typeface="Calibri"/>
              </a:rPr>
              <a:t> </a:t>
            </a:r>
            <a:r>
              <a:rPr sz="2400" spc="-5" dirty="0">
                <a:latin typeface="Calibri"/>
                <a:cs typeface="Calibri"/>
              </a:rPr>
              <a:t>institutes.</a:t>
            </a:r>
            <a:r>
              <a:rPr sz="2400" spc="15" dirty="0">
                <a:latin typeface="Calibri"/>
                <a:cs typeface="Calibri"/>
              </a:rPr>
              <a:t> </a:t>
            </a:r>
            <a:r>
              <a:rPr sz="2400" spc="-5" dirty="0">
                <a:latin typeface="Calibri"/>
                <a:cs typeface="Calibri"/>
              </a:rPr>
              <a:t>People</a:t>
            </a:r>
            <a:r>
              <a:rPr sz="2400" dirty="0">
                <a:latin typeface="Calibri"/>
                <a:cs typeface="Calibri"/>
              </a:rPr>
              <a:t> </a:t>
            </a:r>
            <a:r>
              <a:rPr sz="2400" spc="-15" dirty="0">
                <a:latin typeface="Calibri"/>
                <a:cs typeface="Calibri"/>
              </a:rPr>
              <a:t>from</a:t>
            </a:r>
            <a:r>
              <a:rPr sz="2400" dirty="0">
                <a:latin typeface="Calibri"/>
                <a:cs typeface="Calibri"/>
              </a:rPr>
              <a:t> </a:t>
            </a:r>
            <a:r>
              <a:rPr sz="2400" spc="-10" dirty="0">
                <a:latin typeface="Calibri"/>
                <a:cs typeface="Calibri"/>
              </a:rPr>
              <a:t>many</a:t>
            </a:r>
            <a:r>
              <a:rPr sz="2400" spc="-15" dirty="0">
                <a:latin typeface="Calibri"/>
                <a:cs typeface="Calibri"/>
              </a:rPr>
              <a:t> </a:t>
            </a:r>
            <a:r>
              <a:rPr sz="2400" spc="-5" dirty="0">
                <a:latin typeface="Calibri"/>
                <a:cs typeface="Calibri"/>
              </a:rPr>
              <a:t>institutions</a:t>
            </a:r>
            <a:endParaRPr sz="2400" dirty="0">
              <a:latin typeface="Calibri"/>
              <a:cs typeface="Calibri"/>
            </a:endParaRPr>
          </a:p>
          <a:p>
            <a:pPr marL="355600" algn="just">
              <a:lnSpc>
                <a:spcPts val="2365"/>
              </a:lnSpc>
            </a:pPr>
            <a:r>
              <a:rPr sz="2400" spc="-5" dirty="0">
                <a:latin typeface="Calibri"/>
                <a:cs typeface="Calibri"/>
              </a:rPr>
              <a:t>working</a:t>
            </a:r>
            <a:r>
              <a:rPr sz="2400" spc="-10" dirty="0">
                <a:latin typeface="Calibri"/>
                <a:cs typeface="Calibri"/>
              </a:rPr>
              <a:t> to</a:t>
            </a:r>
            <a:r>
              <a:rPr sz="2400" spc="-5" dirty="0">
                <a:latin typeface="Calibri"/>
                <a:cs typeface="Calibri"/>
              </a:rPr>
              <a:t> </a:t>
            </a:r>
            <a:r>
              <a:rPr sz="2400" spc="-10" dirty="0">
                <a:latin typeface="Calibri"/>
                <a:cs typeface="Calibri"/>
              </a:rPr>
              <a:t>solve</a:t>
            </a:r>
            <a:r>
              <a:rPr sz="2400" spc="15" dirty="0">
                <a:latin typeface="Calibri"/>
                <a:cs typeface="Calibri"/>
              </a:rPr>
              <a:t> </a:t>
            </a:r>
            <a:r>
              <a:rPr sz="2400" dirty="0">
                <a:latin typeface="Calibri"/>
                <a:cs typeface="Calibri"/>
              </a:rPr>
              <a:t>a</a:t>
            </a:r>
            <a:r>
              <a:rPr sz="2400" spc="5" dirty="0">
                <a:latin typeface="Calibri"/>
                <a:cs typeface="Calibri"/>
              </a:rPr>
              <a:t> </a:t>
            </a:r>
            <a:r>
              <a:rPr sz="2400" spc="-5" dirty="0">
                <a:latin typeface="Calibri"/>
                <a:cs typeface="Calibri"/>
              </a:rPr>
              <a:t>common</a:t>
            </a:r>
            <a:r>
              <a:rPr sz="2400" spc="-20" dirty="0">
                <a:latin typeface="Calibri"/>
                <a:cs typeface="Calibri"/>
              </a:rPr>
              <a:t> </a:t>
            </a:r>
            <a:r>
              <a:rPr sz="2400" spc="-10" dirty="0">
                <a:latin typeface="Calibri"/>
                <a:cs typeface="Calibri"/>
              </a:rPr>
              <a:t>problem</a:t>
            </a:r>
            <a:r>
              <a:rPr sz="2400" dirty="0">
                <a:latin typeface="Calibri"/>
                <a:cs typeface="Calibri"/>
              </a:rPr>
              <a:t> </a:t>
            </a:r>
            <a:r>
              <a:rPr sz="2400" spc="-5" dirty="0">
                <a:latin typeface="Calibri"/>
                <a:cs typeface="Calibri"/>
              </a:rPr>
              <a:t>(virtual</a:t>
            </a:r>
            <a:r>
              <a:rPr sz="2400" spc="15" dirty="0">
                <a:latin typeface="Calibri"/>
                <a:cs typeface="Calibri"/>
              </a:rPr>
              <a:t> </a:t>
            </a:r>
            <a:r>
              <a:rPr sz="2400" spc="-10" dirty="0">
                <a:latin typeface="Calibri"/>
                <a:cs typeface="Calibri"/>
              </a:rPr>
              <a:t>organisation).</a:t>
            </a:r>
            <a:endParaRPr sz="2400" dirty="0">
              <a:latin typeface="Calibri"/>
              <a:cs typeface="Calibri"/>
            </a:endParaRPr>
          </a:p>
          <a:p>
            <a:pPr marL="263525" indent="-251460" algn="just">
              <a:lnSpc>
                <a:spcPct val="100000"/>
              </a:lnSpc>
              <a:spcBef>
                <a:spcPts val="405"/>
              </a:spcBef>
              <a:buAutoNum type="arabicPeriod" startAt="3"/>
              <a:tabLst>
                <a:tab pos="264160" algn="l"/>
              </a:tabLst>
            </a:pPr>
            <a:r>
              <a:rPr sz="2400" spc="-5" dirty="0">
                <a:latin typeface="Calibri"/>
                <a:cs typeface="Calibri"/>
              </a:rPr>
              <a:t>Join</a:t>
            </a:r>
            <a:r>
              <a:rPr sz="2400" spc="-25" dirty="0">
                <a:latin typeface="Calibri"/>
                <a:cs typeface="Calibri"/>
              </a:rPr>
              <a:t> </a:t>
            </a:r>
            <a:r>
              <a:rPr sz="2400" spc="-5" dirty="0">
                <a:latin typeface="Calibri"/>
                <a:cs typeface="Calibri"/>
              </a:rPr>
              <a:t>local</a:t>
            </a:r>
            <a:r>
              <a:rPr sz="2400" spc="-25" dirty="0">
                <a:latin typeface="Calibri"/>
                <a:cs typeface="Calibri"/>
              </a:rPr>
              <a:t> </a:t>
            </a:r>
            <a:r>
              <a:rPr sz="2400" spc="-5" dirty="0">
                <a:latin typeface="Calibri"/>
                <a:cs typeface="Calibri"/>
              </a:rPr>
              <a:t>communities.</a:t>
            </a:r>
            <a:endParaRPr sz="2400" dirty="0">
              <a:latin typeface="Calibri"/>
              <a:cs typeface="Calibri"/>
            </a:endParaRPr>
          </a:p>
          <a:p>
            <a:pPr marL="264160" marR="5080" indent="-264160" algn="just">
              <a:lnSpc>
                <a:spcPts val="2330"/>
              </a:lnSpc>
              <a:spcBef>
                <a:spcPts val="545"/>
              </a:spcBef>
              <a:buAutoNum type="arabicPeriod" startAt="3"/>
              <a:tabLst>
                <a:tab pos="264160" algn="l"/>
              </a:tabLst>
            </a:pPr>
            <a:r>
              <a:rPr sz="2400" spc="-10" dirty="0">
                <a:latin typeface="Calibri"/>
                <a:cs typeface="Calibri"/>
              </a:rPr>
              <a:t>Interactions</a:t>
            </a:r>
            <a:r>
              <a:rPr sz="2400" dirty="0">
                <a:latin typeface="Calibri"/>
                <a:cs typeface="Calibri"/>
              </a:rPr>
              <a:t> with the </a:t>
            </a:r>
            <a:r>
              <a:rPr sz="2400" spc="-5" dirty="0">
                <a:latin typeface="Calibri"/>
                <a:cs typeface="Calibri"/>
              </a:rPr>
              <a:t>underneath</a:t>
            </a:r>
            <a:r>
              <a:rPr sz="2400" spc="5" dirty="0">
                <a:latin typeface="Calibri"/>
                <a:cs typeface="Calibri"/>
              </a:rPr>
              <a:t> </a:t>
            </a:r>
            <a:r>
              <a:rPr sz="2400" spc="-20" dirty="0">
                <a:latin typeface="Calibri"/>
                <a:cs typeface="Calibri"/>
              </a:rPr>
              <a:t>layers</a:t>
            </a:r>
            <a:r>
              <a:rPr sz="2400" dirty="0">
                <a:latin typeface="Calibri"/>
                <a:cs typeface="Calibri"/>
              </a:rPr>
              <a:t> </a:t>
            </a:r>
            <a:r>
              <a:rPr sz="2400" spc="-10" dirty="0">
                <a:latin typeface="Calibri"/>
                <a:cs typeface="Calibri"/>
              </a:rPr>
              <a:t>must</a:t>
            </a:r>
            <a:r>
              <a:rPr sz="2400" spc="15" dirty="0">
                <a:latin typeface="Calibri"/>
                <a:cs typeface="Calibri"/>
              </a:rPr>
              <a:t> </a:t>
            </a:r>
            <a:r>
              <a:rPr sz="2400" spc="-5" dirty="0">
                <a:latin typeface="Calibri"/>
                <a:cs typeface="Calibri"/>
              </a:rPr>
              <a:t>be</a:t>
            </a:r>
            <a:r>
              <a:rPr sz="2400" dirty="0">
                <a:latin typeface="Calibri"/>
                <a:cs typeface="Calibri"/>
              </a:rPr>
              <a:t> </a:t>
            </a:r>
            <a:r>
              <a:rPr sz="2400" spc="-10" dirty="0">
                <a:latin typeface="Calibri"/>
                <a:cs typeface="Calibri"/>
              </a:rPr>
              <a:t>transparent</a:t>
            </a:r>
            <a:r>
              <a:rPr sz="2400" spc="25" dirty="0">
                <a:latin typeface="Calibri"/>
                <a:cs typeface="Calibri"/>
              </a:rPr>
              <a:t> </a:t>
            </a:r>
            <a:r>
              <a:rPr sz="2400" dirty="0">
                <a:latin typeface="Calibri"/>
                <a:cs typeface="Calibri"/>
              </a:rPr>
              <a:t>and</a:t>
            </a:r>
            <a:r>
              <a:rPr sz="2400" spc="25" dirty="0">
                <a:latin typeface="Calibri"/>
                <a:cs typeface="Calibri"/>
              </a:rPr>
              <a:t> </a:t>
            </a:r>
            <a:r>
              <a:rPr sz="2400" spc="-5" dirty="0">
                <a:latin typeface="Calibri"/>
                <a:cs typeface="Calibri"/>
              </a:rPr>
              <a:t>seamless </a:t>
            </a:r>
            <a:r>
              <a:rPr sz="2400" spc="-440" dirty="0">
                <a:latin typeface="Calibri"/>
                <a:cs typeface="Calibri"/>
              </a:rPr>
              <a:t> </a:t>
            </a:r>
            <a:r>
              <a:rPr sz="2400" spc="-15" dirty="0">
                <a:latin typeface="Calibri"/>
                <a:cs typeface="Calibri"/>
              </a:rPr>
              <a:t>to</a:t>
            </a:r>
            <a:r>
              <a:rPr sz="2400" spc="-5" dirty="0">
                <a:latin typeface="Calibri"/>
                <a:cs typeface="Calibri"/>
              </a:rPr>
              <a:t> </a:t>
            </a:r>
            <a:r>
              <a:rPr sz="2400" dirty="0">
                <a:latin typeface="Calibri"/>
                <a:cs typeface="Calibri"/>
              </a:rPr>
              <a:t>the</a:t>
            </a:r>
            <a:r>
              <a:rPr sz="2400" spc="-15" dirty="0">
                <a:latin typeface="Calibri"/>
                <a:cs typeface="Calibri"/>
              </a:rPr>
              <a:t> </a:t>
            </a:r>
            <a:r>
              <a:rPr sz="2400" spc="-45" dirty="0">
                <a:latin typeface="Calibri"/>
                <a:cs typeface="Calibri"/>
              </a:rPr>
              <a:t>user.</a:t>
            </a:r>
            <a:endParaRPr sz="2400" dirty="0">
              <a:latin typeface="Calibri"/>
              <a:cs typeface="Calibri"/>
            </a:endParaRP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799" y="299686"/>
            <a:ext cx="5271643" cy="505908"/>
          </a:xfrm>
          <a:prstGeom prst="rect">
            <a:avLst/>
          </a:prstGeom>
        </p:spPr>
        <p:txBody>
          <a:bodyPr vert="horz" wrap="square" lIns="0" tIns="13335" rIns="0" bIns="0" rtlCol="0">
            <a:spAutoFit/>
          </a:bodyPr>
          <a:lstStyle/>
          <a:p>
            <a:pPr marL="12700" algn="ctr">
              <a:lnSpc>
                <a:spcPct val="100000"/>
              </a:lnSpc>
              <a:spcBef>
                <a:spcPts val="105"/>
              </a:spcBef>
            </a:pPr>
            <a:r>
              <a:rPr sz="3200" b="1" dirty="0">
                <a:solidFill>
                  <a:srgbClr val="000000"/>
                </a:solidFill>
                <a:latin typeface="Calibri"/>
                <a:cs typeface="Calibri"/>
              </a:rPr>
              <a:t>Need</a:t>
            </a:r>
            <a:r>
              <a:rPr sz="3200" b="1" spc="-25" dirty="0">
                <a:solidFill>
                  <a:srgbClr val="000000"/>
                </a:solidFill>
                <a:latin typeface="Calibri"/>
                <a:cs typeface="Calibri"/>
              </a:rPr>
              <a:t> </a:t>
            </a:r>
            <a:r>
              <a:rPr sz="3200" b="1" spc="-5" dirty="0">
                <a:solidFill>
                  <a:srgbClr val="000000"/>
                </a:solidFill>
                <a:latin typeface="Calibri"/>
                <a:cs typeface="Calibri"/>
              </a:rPr>
              <a:t>of</a:t>
            </a:r>
            <a:r>
              <a:rPr sz="3200" b="1" spc="-20" dirty="0">
                <a:solidFill>
                  <a:srgbClr val="000000"/>
                </a:solidFill>
                <a:latin typeface="Calibri"/>
                <a:cs typeface="Calibri"/>
              </a:rPr>
              <a:t> </a:t>
            </a:r>
            <a:r>
              <a:rPr sz="3200" b="1" spc="5" dirty="0">
                <a:solidFill>
                  <a:srgbClr val="000000"/>
                </a:solidFill>
                <a:latin typeface="Calibri"/>
                <a:cs typeface="Calibri"/>
              </a:rPr>
              <a:t>Grid</a:t>
            </a:r>
            <a:r>
              <a:rPr sz="3200" b="1" spc="-35" dirty="0">
                <a:solidFill>
                  <a:srgbClr val="000000"/>
                </a:solidFill>
                <a:latin typeface="Calibri"/>
                <a:cs typeface="Calibri"/>
              </a:rPr>
              <a:t> </a:t>
            </a:r>
            <a:r>
              <a:rPr sz="3200" b="1" dirty="0">
                <a:solidFill>
                  <a:srgbClr val="000000"/>
                </a:solidFill>
                <a:latin typeface="Calibri"/>
                <a:cs typeface="Calibri"/>
              </a:rPr>
              <a:t>Computing?</a:t>
            </a:r>
            <a:endParaRPr sz="32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3" name="object 3"/>
          <p:cNvSpPr txBox="1"/>
          <p:nvPr/>
        </p:nvSpPr>
        <p:spPr>
          <a:xfrm>
            <a:off x="535940" y="1216913"/>
            <a:ext cx="8072755" cy="659796"/>
          </a:xfrm>
          <a:prstGeom prst="rect">
            <a:avLst/>
          </a:prstGeom>
        </p:spPr>
        <p:txBody>
          <a:bodyPr vert="horz" wrap="square" lIns="0" tIns="13335" rIns="0" bIns="0" rtlCol="0">
            <a:spAutoFit/>
          </a:bodyPr>
          <a:lstStyle/>
          <a:p>
            <a:pPr marL="194945" marR="5080" indent="-182880" algn="just">
              <a:lnSpc>
                <a:spcPct val="100000"/>
              </a:lnSpc>
              <a:spcBef>
                <a:spcPts val="105"/>
              </a:spcBef>
              <a:buClr>
                <a:srgbClr val="4F80BC"/>
              </a:buClr>
              <a:buSzPct val="85000"/>
              <a:buFont typeface="Arial MT"/>
              <a:buChar char="•"/>
              <a:tabLst>
                <a:tab pos="195580" algn="l"/>
              </a:tabLst>
            </a:pPr>
            <a:r>
              <a:rPr sz="2100" spc="-45" dirty="0">
                <a:latin typeface="Calibri"/>
                <a:cs typeface="Calibri"/>
              </a:rPr>
              <a:t>Today’s</a:t>
            </a:r>
            <a:r>
              <a:rPr sz="2100" spc="114" dirty="0">
                <a:latin typeface="Calibri"/>
                <a:cs typeface="Calibri"/>
              </a:rPr>
              <a:t> </a:t>
            </a:r>
            <a:r>
              <a:rPr sz="2100" spc="-5" dirty="0">
                <a:latin typeface="Calibri"/>
                <a:cs typeface="Calibri"/>
              </a:rPr>
              <a:t>Science/Research</a:t>
            </a:r>
            <a:r>
              <a:rPr sz="2100" spc="95" dirty="0">
                <a:latin typeface="Calibri"/>
                <a:cs typeface="Calibri"/>
              </a:rPr>
              <a:t> </a:t>
            </a:r>
            <a:r>
              <a:rPr sz="2100" spc="-5" dirty="0">
                <a:latin typeface="Calibri"/>
                <a:cs typeface="Calibri"/>
              </a:rPr>
              <a:t>is</a:t>
            </a:r>
            <a:r>
              <a:rPr sz="2100" spc="85" dirty="0">
                <a:latin typeface="Calibri"/>
                <a:cs typeface="Calibri"/>
              </a:rPr>
              <a:t> </a:t>
            </a:r>
            <a:r>
              <a:rPr sz="2100" spc="-5" dirty="0">
                <a:latin typeface="Calibri"/>
                <a:cs typeface="Calibri"/>
              </a:rPr>
              <a:t>based</a:t>
            </a:r>
            <a:r>
              <a:rPr sz="2100" spc="70" dirty="0">
                <a:latin typeface="Calibri"/>
                <a:cs typeface="Calibri"/>
              </a:rPr>
              <a:t> </a:t>
            </a:r>
            <a:r>
              <a:rPr sz="2100" spc="-5" dirty="0">
                <a:latin typeface="Calibri"/>
                <a:cs typeface="Calibri"/>
              </a:rPr>
              <a:t>on</a:t>
            </a:r>
            <a:r>
              <a:rPr sz="2100" spc="55" dirty="0">
                <a:latin typeface="Calibri"/>
                <a:cs typeface="Calibri"/>
              </a:rPr>
              <a:t> </a:t>
            </a:r>
            <a:r>
              <a:rPr sz="2100" spc="-5" dirty="0">
                <a:latin typeface="Calibri"/>
                <a:cs typeface="Calibri"/>
              </a:rPr>
              <a:t>computations,</a:t>
            </a:r>
            <a:r>
              <a:rPr sz="2100" spc="75" dirty="0">
                <a:latin typeface="Calibri"/>
                <a:cs typeface="Calibri"/>
              </a:rPr>
              <a:t> </a:t>
            </a:r>
            <a:r>
              <a:rPr sz="2100" spc="-15" dirty="0">
                <a:latin typeface="Calibri"/>
                <a:cs typeface="Calibri"/>
              </a:rPr>
              <a:t>data</a:t>
            </a:r>
            <a:r>
              <a:rPr sz="2100" spc="85" dirty="0">
                <a:latin typeface="Calibri"/>
                <a:cs typeface="Calibri"/>
              </a:rPr>
              <a:t> </a:t>
            </a:r>
            <a:r>
              <a:rPr sz="2100" spc="-5" dirty="0">
                <a:latin typeface="Calibri"/>
                <a:cs typeface="Calibri"/>
              </a:rPr>
              <a:t>analysis,</a:t>
            </a:r>
            <a:r>
              <a:rPr sz="2100" spc="80" dirty="0">
                <a:latin typeface="Calibri"/>
                <a:cs typeface="Calibri"/>
              </a:rPr>
              <a:t> </a:t>
            </a:r>
            <a:r>
              <a:rPr sz="2100" spc="-15" dirty="0">
                <a:latin typeface="Calibri"/>
                <a:cs typeface="Calibri"/>
              </a:rPr>
              <a:t>data </a:t>
            </a:r>
            <a:r>
              <a:rPr sz="2100" spc="-440" dirty="0">
                <a:latin typeface="Calibri"/>
                <a:cs typeface="Calibri"/>
              </a:rPr>
              <a:t> </a:t>
            </a:r>
            <a:r>
              <a:rPr sz="2100" spc="-10" dirty="0">
                <a:latin typeface="Calibri"/>
                <a:cs typeface="Calibri"/>
              </a:rPr>
              <a:t>visualization</a:t>
            </a:r>
            <a:r>
              <a:rPr sz="2100" spc="25" dirty="0">
                <a:latin typeface="Calibri"/>
                <a:cs typeface="Calibri"/>
              </a:rPr>
              <a:t> </a:t>
            </a:r>
            <a:r>
              <a:rPr sz="2100" dirty="0">
                <a:latin typeface="Calibri"/>
                <a:cs typeface="Calibri"/>
              </a:rPr>
              <a:t>&amp;</a:t>
            </a:r>
            <a:r>
              <a:rPr sz="2100" spc="-5" dirty="0">
                <a:latin typeface="Calibri"/>
                <a:cs typeface="Calibri"/>
              </a:rPr>
              <a:t> </a:t>
            </a:r>
            <a:r>
              <a:rPr sz="2100" spc="-10" dirty="0">
                <a:latin typeface="Calibri"/>
                <a:cs typeface="Calibri"/>
              </a:rPr>
              <a:t>collaborations</a:t>
            </a:r>
            <a:endParaRPr sz="2100" dirty="0">
              <a:latin typeface="Calibri"/>
              <a:cs typeface="Calibri"/>
            </a:endParaRPr>
          </a:p>
        </p:txBody>
      </p:sp>
      <p:sp>
        <p:nvSpPr>
          <p:cNvPr id="4" name="object 4"/>
          <p:cNvSpPr txBox="1"/>
          <p:nvPr/>
        </p:nvSpPr>
        <p:spPr>
          <a:xfrm>
            <a:off x="535940" y="1887474"/>
            <a:ext cx="8227060" cy="659155"/>
          </a:xfrm>
          <a:prstGeom prst="rect">
            <a:avLst/>
          </a:prstGeom>
        </p:spPr>
        <p:txBody>
          <a:bodyPr vert="horz" wrap="square" lIns="0" tIns="12700" rIns="0" bIns="0" rtlCol="0">
            <a:spAutoFit/>
          </a:bodyPr>
          <a:lstStyle/>
          <a:p>
            <a:pPr marL="195580" indent="-182880" algn="just">
              <a:lnSpc>
                <a:spcPct val="100000"/>
              </a:lnSpc>
              <a:spcBef>
                <a:spcPts val="100"/>
              </a:spcBef>
              <a:buClr>
                <a:srgbClr val="4F80BC"/>
              </a:buClr>
              <a:buSzPct val="85000"/>
              <a:buFont typeface="Arial MT"/>
              <a:buChar char="•"/>
              <a:tabLst>
                <a:tab pos="195580" algn="l"/>
                <a:tab pos="1449705" algn="l"/>
                <a:tab pos="2870835" algn="l"/>
                <a:tab pos="3261995" algn="l"/>
                <a:tab pos="4519295" algn="l"/>
                <a:tab pos="5071110" algn="l"/>
                <a:tab pos="5838190" algn="l"/>
                <a:tab pos="6477000" algn="l"/>
                <a:tab pos="7585075" algn="l"/>
              </a:tabLst>
            </a:pPr>
            <a:r>
              <a:rPr sz="2100" spc="-5" dirty="0">
                <a:latin typeface="Calibri"/>
                <a:cs typeface="Calibri"/>
              </a:rPr>
              <a:t>Com</a:t>
            </a:r>
            <a:r>
              <a:rPr sz="2100" spc="-15" dirty="0">
                <a:uFill>
                  <a:solidFill>
                    <a:srgbClr val="FF0000"/>
                  </a:solidFill>
                </a:uFill>
                <a:latin typeface="Calibri"/>
                <a:cs typeface="Calibri"/>
              </a:rPr>
              <a:t>p</a:t>
            </a:r>
            <a:r>
              <a:rPr sz="2100" spc="-5" dirty="0">
                <a:uFill>
                  <a:solidFill>
                    <a:srgbClr val="FF0000"/>
                  </a:solidFill>
                </a:uFill>
                <a:latin typeface="Calibri"/>
                <a:cs typeface="Calibri"/>
              </a:rPr>
              <a:t>u</a:t>
            </a:r>
            <a:r>
              <a:rPr sz="2100" spc="-25" dirty="0">
                <a:uFill>
                  <a:solidFill>
                    <a:srgbClr val="FF0000"/>
                  </a:solidFill>
                </a:uFill>
                <a:latin typeface="Calibri"/>
                <a:cs typeface="Calibri"/>
              </a:rPr>
              <a:t>t</a:t>
            </a:r>
            <a:r>
              <a:rPr sz="2100" dirty="0">
                <a:uFill>
                  <a:solidFill>
                    <a:srgbClr val="FF0000"/>
                  </a:solidFill>
                </a:uFill>
                <a:latin typeface="Calibri"/>
                <a:cs typeface="Calibri"/>
              </a:rPr>
              <a:t>er</a:t>
            </a:r>
            <a:r>
              <a:rPr sz="2100" dirty="0">
                <a:latin typeface="Times New Roman"/>
                <a:cs typeface="Times New Roman"/>
              </a:rPr>
              <a:t>	</a:t>
            </a:r>
            <a:r>
              <a:rPr sz="2100" spc="-5" dirty="0">
                <a:uFill>
                  <a:solidFill>
                    <a:srgbClr val="FF0000"/>
                  </a:solidFill>
                </a:uFill>
                <a:latin typeface="Calibri"/>
                <a:cs typeface="Calibri"/>
              </a:rPr>
              <a:t>S</a:t>
            </a:r>
            <a:r>
              <a:rPr sz="2100" spc="10" dirty="0">
                <a:uFill>
                  <a:solidFill>
                    <a:srgbClr val="FF0000"/>
                  </a:solidFill>
                </a:uFill>
                <a:latin typeface="Calibri"/>
                <a:cs typeface="Calibri"/>
              </a:rPr>
              <a:t>i</a:t>
            </a:r>
            <a:r>
              <a:rPr sz="2100" dirty="0">
                <a:uFill>
                  <a:solidFill>
                    <a:srgbClr val="FF0000"/>
                  </a:solidFill>
                </a:uFill>
                <a:latin typeface="Calibri"/>
                <a:cs typeface="Calibri"/>
              </a:rPr>
              <a:t>mu</a:t>
            </a:r>
            <a:r>
              <a:rPr sz="2100" spc="-5" dirty="0">
                <a:uFill>
                  <a:solidFill>
                    <a:srgbClr val="FF0000"/>
                  </a:solidFill>
                </a:uFill>
                <a:latin typeface="Calibri"/>
                <a:cs typeface="Calibri"/>
              </a:rPr>
              <a:t>l</a:t>
            </a:r>
            <a:r>
              <a:rPr sz="2100" spc="-25" dirty="0">
                <a:latin typeface="Calibri"/>
                <a:cs typeface="Calibri"/>
              </a:rPr>
              <a:t>a</a:t>
            </a:r>
            <a:r>
              <a:rPr sz="2100" spc="10" dirty="0">
                <a:latin typeface="Calibri"/>
                <a:cs typeface="Calibri"/>
              </a:rPr>
              <a:t>t</a:t>
            </a:r>
            <a:r>
              <a:rPr sz="2100" dirty="0">
                <a:latin typeface="Calibri"/>
                <a:cs typeface="Calibri"/>
              </a:rPr>
              <a:t>i</a:t>
            </a:r>
            <a:r>
              <a:rPr sz="2100" spc="-5" dirty="0">
                <a:latin typeface="Calibri"/>
                <a:cs typeface="Calibri"/>
              </a:rPr>
              <a:t>on</a:t>
            </a:r>
            <a:r>
              <a:rPr sz="2100" dirty="0">
                <a:latin typeface="Calibri"/>
                <a:cs typeface="Calibri"/>
              </a:rPr>
              <a:t>s</a:t>
            </a:r>
            <a:r>
              <a:rPr sz="2100" dirty="0">
                <a:latin typeface="Times New Roman"/>
                <a:cs typeface="Times New Roman"/>
              </a:rPr>
              <a:t>	</a:t>
            </a:r>
            <a:r>
              <a:rPr sz="2100" dirty="0">
                <a:latin typeface="Calibri"/>
                <a:cs typeface="Calibri"/>
              </a:rPr>
              <a:t>&amp;</a:t>
            </a:r>
            <a:r>
              <a:rPr sz="2100" dirty="0">
                <a:latin typeface="Times New Roman"/>
                <a:cs typeface="Times New Roman"/>
              </a:rPr>
              <a:t>	</a:t>
            </a:r>
            <a:r>
              <a:rPr sz="2100" dirty="0">
                <a:latin typeface="Calibri"/>
                <a:cs typeface="Calibri"/>
              </a:rPr>
              <a:t>M</a:t>
            </a:r>
            <a:r>
              <a:rPr sz="2100" spc="-10" dirty="0">
                <a:latin typeface="Calibri"/>
                <a:cs typeface="Calibri"/>
              </a:rPr>
              <a:t>o</a:t>
            </a:r>
            <a:r>
              <a:rPr sz="2100" spc="-5" dirty="0">
                <a:latin typeface="Calibri"/>
                <a:cs typeface="Calibri"/>
              </a:rPr>
              <a:t>de</a:t>
            </a:r>
            <a:r>
              <a:rPr sz="2100" dirty="0">
                <a:latin typeface="Calibri"/>
                <a:cs typeface="Calibri"/>
              </a:rPr>
              <a:t>l</a:t>
            </a:r>
            <a:r>
              <a:rPr sz="2100" spc="-10" dirty="0">
                <a:latin typeface="Calibri"/>
                <a:cs typeface="Calibri"/>
              </a:rPr>
              <a:t>l</a:t>
            </a:r>
            <a:r>
              <a:rPr sz="2100" dirty="0">
                <a:latin typeface="Calibri"/>
                <a:cs typeface="Calibri"/>
              </a:rPr>
              <a:t>i</a:t>
            </a:r>
            <a:r>
              <a:rPr sz="2100" spc="-5" dirty="0">
                <a:latin typeface="Calibri"/>
                <a:cs typeface="Calibri"/>
              </a:rPr>
              <a:t>n</a:t>
            </a:r>
            <a:r>
              <a:rPr sz="2100" dirty="0">
                <a:latin typeface="Calibri"/>
                <a:cs typeface="Calibri"/>
              </a:rPr>
              <a:t>g</a:t>
            </a:r>
            <a:r>
              <a:rPr sz="2100" dirty="0">
                <a:latin typeface="Times New Roman"/>
                <a:cs typeface="Times New Roman"/>
              </a:rPr>
              <a:t>	</a:t>
            </a:r>
            <a:r>
              <a:rPr sz="2100" dirty="0">
                <a:latin typeface="Calibri"/>
                <a:cs typeface="Calibri"/>
              </a:rPr>
              <a:t>a</a:t>
            </a:r>
            <a:r>
              <a:rPr sz="2100" spc="-30" dirty="0">
                <a:latin typeface="Calibri"/>
                <a:cs typeface="Calibri"/>
              </a:rPr>
              <a:t>r</a:t>
            </a:r>
            <a:r>
              <a:rPr sz="2100" dirty="0">
                <a:latin typeface="Calibri"/>
                <a:cs typeface="Calibri"/>
              </a:rPr>
              <a:t>e</a:t>
            </a:r>
            <a:r>
              <a:rPr sz="2100" dirty="0">
                <a:latin typeface="Times New Roman"/>
                <a:cs typeface="Times New Roman"/>
              </a:rPr>
              <a:t>	</a:t>
            </a:r>
            <a:r>
              <a:rPr sz="2100" dirty="0">
                <a:latin typeface="Calibri"/>
                <a:cs typeface="Calibri"/>
              </a:rPr>
              <a:t>mo</a:t>
            </a:r>
            <a:r>
              <a:rPr sz="2100" spc="-35" dirty="0">
                <a:latin typeface="Calibri"/>
                <a:cs typeface="Calibri"/>
              </a:rPr>
              <a:t>r</a:t>
            </a:r>
            <a:r>
              <a:rPr sz="2100" dirty="0">
                <a:latin typeface="Calibri"/>
                <a:cs typeface="Calibri"/>
              </a:rPr>
              <a:t>e</a:t>
            </a:r>
            <a:r>
              <a:rPr sz="2100" dirty="0">
                <a:latin typeface="Times New Roman"/>
                <a:cs typeface="Times New Roman"/>
              </a:rPr>
              <a:t>	</a:t>
            </a:r>
            <a:r>
              <a:rPr sz="2100" spc="-10" dirty="0">
                <a:latin typeface="Calibri"/>
                <a:cs typeface="Calibri"/>
              </a:rPr>
              <a:t>c</a:t>
            </a:r>
            <a:r>
              <a:rPr sz="2100" spc="-15" dirty="0">
                <a:latin typeface="Calibri"/>
                <a:cs typeface="Calibri"/>
              </a:rPr>
              <a:t>o</a:t>
            </a:r>
            <a:r>
              <a:rPr sz="2100" spc="-30" dirty="0">
                <a:latin typeface="Calibri"/>
                <a:cs typeface="Calibri"/>
              </a:rPr>
              <a:t>s</a:t>
            </a:r>
            <a:r>
              <a:rPr sz="2100" dirty="0">
                <a:latin typeface="Calibri"/>
                <a:cs typeface="Calibri"/>
              </a:rPr>
              <a:t>t</a:t>
            </a:r>
            <a:r>
              <a:rPr sz="2100" dirty="0">
                <a:latin typeface="Times New Roman"/>
                <a:cs typeface="Times New Roman"/>
              </a:rPr>
              <a:t>	</a:t>
            </a:r>
            <a:r>
              <a:rPr sz="2100" spc="-15" dirty="0">
                <a:latin typeface="Calibri"/>
                <a:cs typeface="Calibri"/>
              </a:rPr>
              <a:t>e</a:t>
            </a:r>
            <a:r>
              <a:rPr sz="2100" spc="-25" dirty="0">
                <a:latin typeface="Calibri"/>
                <a:cs typeface="Calibri"/>
              </a:rPr>
              <a:t>f</a:t>
            </a:r>
            <a:r>
              <a:rPr sz="2100" spc="-50" dirty="0">
                <a:latin typeface="Calibri"/>
                <a:cs typeface="Calibri"/>
              </a:rPr>
              <a:t>f</a:t>
            </a:r>
            <a:r>
              <a:rPr sz="2100" dirty="0">
                <a:latin typeface="Calibri"/>
                <a:cs typeface="Calibri"/>
              </a:rPr>
              <a:t>ec</a:t>
            </a:r>
            <a:r>
              <a:rPr sz="2100" spc="10" dirty="0">
                <a:latin typeface="Calibri"/>
                <a:cs typeface="Calibri"/>
              </a:rPr>
              <a:t>t</a:t>
            </a:r>
            <a:r>
              <a:rPr sz="2100" dirty="0">
                <a:latin typeface="Calibri"/>
                <a:cs typeface="Calibri"/>
              </a:rPr>
              <a:t>i</a:t>
            </a:r>
            <a:r>
              <a:rPr sz="2100" spc="-35" dirty="0">
                <a:latin typeface="Calibri"/>
                <a:cs typeface="Calibri"/>
              </a:rPr>
              <a:t>v</a:t>
            </a:r>
            <a:r>
              <a:rPr sz="2100" dirty="0">
                <a:latin typeface="Calibri"/>
                <a:cs typeface="Calibri"/>
              </a:rPr>
              <a:t>e</a:t>
            </a:r>
            <a:r>
              <a:rPr sz="2100" dirty="0">
                <a:latin typeface="Times New Roman"/>
                <a:cs typeface="Times New Roman"/>
              </a:rPr>
              <a:t>	</a:t>
            </a:r>
            <a:r>
              <a:rPr sz="2100" dirty="0">
                <a:latin typeface="Calibri"/>
                <a:cs typeface="Calibri"/>
              </a:rPr>
              <a:t>than</a:t>
            </a:r>
          </a:p>
          <a:p>
            <a:pPr marL="194945" algn="just">
              <a:lnSpc>
                <a:spcPct val="100000"/>
              </a:lnSpc>
              <a:spcBef>
                <a:spcPts val="5"/>
              </a:spcBef>
            </a:pPr>
            <a:r>
              <a:rPr sz="2100" spc="-10" dirty="0">
                <a:latin typeface="Calibri"/>
                <a:cs typeface="Calibri"/>
              </a:rPr>
              <a:t>experimental</a:t>
            </a:r>
            <a:r>
              <a:rPr sz="2100" dirty="0">
                <a:latin typeface="Calibri"/>
                <a:cs typeface="Calibri"/>
              </a:rPr>
              <a:t> </a:t>
            </a:r>
            <a:r>
              <a:rPr sz="2100" spc="-5" dirty="0">
                <a:latin typeface="Calibri"/>
                <a:cs typeface="Calibri"/>
              </a:rPr>
              <a:t>methods</a:t>
            </a:r>
            <a:endParaRPr sz="2100" dirty="0">
              <a:latin typeface="Calibri"/>
              <a:cs typeface="Calibri"/>
            </a:endParaRPr>
          </a:p>
        </p:txBody>
      </p:sp>
      <p:sp>
        <p:nvSpPr>
          <p:cNvPr id="5" name="object 5"/>
          <p:cNvSpPr txBox="1"/>
          <p:nvPr/>
        </p:nvSpPr>
        <p:spPr>
          <a:xfrm>
            <a:off x="535940" y="2558288"/>
            <a:ext cx="8070215" cy="1756891"/>
          </a:xfrm>
          <a:prstGeom prst="rect">
            <a:avLst/>
          </a:prstGeom>
        </p:spPr>
        <p:txBody>
          <a:bodyPr vert="horz" wrap="square" lIns="0" tIns="12700" rIns="0" bIns="0" rtlCol="0">
            <a:spAutoFit/>
          </a:bodyPr>
          <a:lstStyle/>
          <a:p>
            <a:pPr marL="194945" marR="5080" indent="-182880" algn="just">
              <a:lnSpc>
                <a:spcPct val="100000"/>
              </a:lnSpc>
              <a:spcBef>
                <a:spcPts val="100"/>
              </a:spcBef>
              <a:buClr>
                <a:srgbClr val="4F80BC"/>
              </a:buClr>
              <a:buSzPct val="85000"/>
              <a:buFont typeface="Arial MT"/>
              <a:buChar char="•"/>
              <a:tabLst>
                <a:tab pos="195580" algn="l"/>
              </a:tabLst>
            </a:pPr>
            <a:r>
              <a:rPr sz="2100" spc="-5" dirty="0">
                <a:latin typeface="Calibri"/>
                <a:cs typeface="Calibri"/>
              </a:rPr>
              <a:t>Scientific </a:t>
            </a:r>
            <a:r>
              <a:rPr sz="2100" dirty="0">
                <a:latin typeface="Calibri"/>
                <a:cs typeface="Calibri"/>
              </a:rPr>
              <a:t>and </a:t>
            </a:r>
            <a:r>
              <a:rPr sz="2100" spc="-5" dirty="0">
                <a:latin typeface="Calibri"/>
                <a:cs typeface="Calibri"/>
              </a:rPr>
              <a:t>Engineering </a:t>
            </a:r>
            <a:r>
              <a:rPr sz="2100" spc="-10" dirty="0">
                <a:latin typeface="Calibri"/>
                <a:cs typeface="Calibri"/>
              </a:rPr>
              <a:t>problems are </a:t>
            </a:r>
            <a:r>
              <a:rPr sz="2100" spc="-5" dirty="0">
                <a:latin typeface="Calibri"/>
                <a:cs typeface="Calibri"/>
              </a:rPr>
              <a:t>becoming </a:t>
            </a:r>
            <a:r>
              <a:rPr sz="2100" spc="-10" dirty="0">
                <a:latin typeface="Calibri"/>
                <a:cs typeface="Calibri"/>
              </a:rPr>
              <a:t>more complex </a:t>
            </a:r>
            <a:r>
              <a:rPr sz="2100" dirty="0">
                <a:latin typeface="Calibri"/>
                <a:cs typeface="Calibri"/>
              </a:rPr>
              <a:t>&amp; </a:t>
            </a:r>
            <a:r>
              <a:rPr sz="2100" spc="-15" dirty="0">
                <a:latin typeface="Calibri"/>
                <a:cs typeface="Calibri"/>
              </a:rPr>
              <a:t>users </a:t>
            </a:r>
            <a:r>
              <a:rPr sz="2100" spc="-10" dirty="0">
                <a:latin typeface="Calibri"/>
                <a:cs typeface="Calibri"/>
              </a:rPr>
              <a:t> </a:t>
            </a:r>
            <a:r>
              <a:rPr sz="2100" spc="-5" dirty="0">
                <a:latin typeface="Calibri"/>
                <a:cs typeface="Calibri"/>
              </a:rPr>
              <a:t>need </a:t>
            </a:r>
            <a:r>
              <a:rPr sz="2100" spc="-10" dirty="0">
                <a:latin typeface="Calibri"/>
                <a:cs typeface="Calibri"/>
              </a:rPr>
              <a:t>more accurate, </a:t>
            </a:r>
            <a:r>
              <a:rPr sz="2100" spc="-5" dirty="0">
                <a:latin typeface="Calibri"/>
                <a:cs typeface="Calibri"/>
              </a:rPr>
              <a:t>precise solutions </a:t>
            </a:r>
            <a:r>
              <a:rPr sz="2100" spc="-15" dirty="0">
                <a:latin typeface="Calibri"/>
                <a:cs typeface="Calibri"/>
              </a:rPr>
              <a:t>to </a:t>
            </a:r>
            <a:r>
              <a:rPr sz="2100" spc="-5" dirty="0">
                <a:latin typeface="Calibri"/>
                <a:cs typeface="Calibri"/>
              </a:rPr>
              <a:t>their </a:t>
            </a:r>
            <a:r>
              <a:rPr sz="2100" spc="-10" dirty="0">
                <a:latin typeface="Calibri"/>
                <a:cs typeface="Calibri"/>
              </a:rPr>
              <a:t>problems </a:t>
            </a:r>
            <a:r>
              <a:rPr sz="2100" dirty="0">
                <a:latin typeface="Calibri"/>
                <a:cs typeface="Calibri"/>
              </a:rPr>
              <a:t>in </a:t>
            </a:r>
            <a:r>
              <a:rPr sz="2100" spc="-10" dirty="0">
                <a:latin typeface="Calibri"/>
                <a:cs typeface="Calibri"/>
              </a:rPr>
              <a:t>shortest </a:t>
            </a:r>
            <a:r>
              <a:rPr sz="2100" spc="-5" dirty="0">
                <a:latin typeface="Calibri"/>
                <a:cs typeface="Calibri"/>
              </a:rPr>
              <a:t>possible </a:t>
            </a:r>
            <a:r>
              <a:rPr sz="2100" dirty="0">
                <a:latin typeface="Calibri"/>
                <a:cs typeface="Calibri"/>
              </a:rPr>
              <a:t> </a:t>
            </a:r>
            <a:r>
              <a:rPr sz="2100" spc="-5" dirty="0">
                <a:latin typeface="Calibri"/>
                <a:cs typeface="Calibri"/>
              </a:rPr>
              <a:t>time</a:t>
            </a:r>
            <a:endParaRPr sz="2100" dirty="0">
              <a:latin typeface="Calibri"/>
              <a:cs typeface="Calibri"/>
            </a:endParaRPr>
          </a:p>
          <a:p>
            <a:pPr marL="195580" indent="-182880" algn="just">
              <a:lnSpc>
                <a:spcPct val="100000"/>
              </a:lnSpc>
              <a:spcBef>
                <a:spcPts val="484"/>
              </a:spcBef>
              <a:buClr>
                <a:srgbClr val="4F80BC"/>
              </a:buClr>
              <a:buSzPct val="85000"/>
              <a:buFont typeface="Arial MT"/>
              <a:buChar char="•"/>
              <a:tabLst>
                <a:tab pos="195580" algn="l"/>
              </a:tabLst>
            </a:pPr>
            <a:r>
              <a:rPr sz="2100" spc="-15" dirty="0">
                <a:latin typeface="Calibri"/>
                <a:cs typeface="Calibri"/>
              </a:rPr>
              <a:t>Data</a:t>
            </a:r>
            <a:r>
              <a:rPr sz="2100" spc="5" dirty="0">
                <a:latin typeface="Calibri"/>
                <a:cs typeface="Calibri"/>
              </a:rPr>
              <a:t> </a:t>
            </a:r>
            <a:r>
              <a:rPr sz="2100" spc="-10" dirty="0">
                <a:latin typeface="Calibri"/>
                <a:cs typeface="Calibri"/>
              </a:rPr>
              <a:t>Visualization</a:t>
            </a:r>
            <a:r>
              <a:rPr sz="2100" spc="15" dirty="0">
                <a:latin typeface="Calibri"/>
                <a:cs typeface="Calibri"/>
              </a:rPr>
              <a:t> </a:t>
            </a:r>
            <a:r>
              <a:rPr sz="2100" spc="-5" dirty="0">
                <a:latin typeface="Calibri"/>
                <a:cs typeface="Calibri"/>
              </a:rPr>
              <a:t>is</a:t>
            </a:r>
            <a:r>
              <a:rPr sz="2100" spc="20" dirty="0">
                <a:latin typeface="Calibri"/>
                <a:cs typeface="Calibri"/>
              </a:rPr>
              <a:t> </a:t>
            </a:r>
            <a:r>
              <a:rPr sz="2100" spc="-5" dirty="0">
                <a:latin typeface="Calibri"/>
                <a:cs typeface="Calibri"/>
              </a:rPr>
              <a:t>becoming</a:t>
            </a:r>
            <a:r>
              <a:rPr sz="2100" spc="-10" dirty="0">
                <a:latin typeface="Calibri"/>
                <a:cs typeface="Calibri"/>
              </a:rPr>
              <a:t> very</a:t>
            </a:r>
            <a:r>
              <a:rPr sz="2100" spc="5" dirty="0">
                <a:latin typeface="Calibri"/>
                <a:cs typeface="Calibri"/>
              </a:rPr>
              <a:t> </a:t>
            </a:r>
            <a:r>
              <a:rPr sz="2100" spc="-10" dirty="0">
                <a:latin typeface="Calibri"/>
                <a:cs typeface="Calibri"/>
              </a:rPr>
              <a:t>important</a:t>
            </a:r>
            <a:endParaRPr sz="2100" dirty="0">
              <a:latin typeface="Calibri"/>
              <a:cs typeface="Calibri"/>
            </a:endParaRPr>
          </a:p>
          <a:p>
            <a:pPr marL="195580" indent="-182880" algn="just">
              <a:lnSpc>
                <a:spcPct val="100000"/>
              </a:lnSpc>
              <a:spcBef>
                <a:spcPts val="480"/>
              </a:spcBef>
              <a:buClr>
                <a:srgbClr val="4F80BC"/>
              </a:buClr>
              <a:buSzPct val="85000"/>
              <a:buFont typeface="Arial MT"/>
              <a:buChar char="•"/>
              <a:tabLst>
                <a:tab pos="195580" algn="l"/>
              </a:tabLst>
            </a:pPr>
            <a:r>
              <a:rPr sz="2100" spc="-5" dirty="0">
                <a:latin typeface="Calibri"/>
                <a:cs typeface="Calibri"/>
              </a:rPr>
              <a:t>Exploiting</a:t>
            </a:r>
            <a:r>
              <a:rPr sz="2100" spc="-25" dirty="0">
                <a:latin typeface="Calibri"/>
                <a:cs typeface="Calibri"/>
              </a:rPr>
              <a:t> </a:t>
            </a:r>
            <a:r>
              <a:rPr sz="2100" spc="-5" dirty="0">
                <a:latin typeface="Calibri"/>
                <a:cs typeface="Calibri"/>
              </a:rPr>
              <a:t>under</a:t>
            </a:r>
            <a:r>
              <a:rPr sz="2100" spc="-15" dirty="0">
                <a:latin typeface="Calibri"/>
                <a:cs typeface="Calibri"/>
              </a:rPr>
              <a:t> </a:t>
            </a:r>
            <a:r>
              <a:rPr sz="2100" spc="-10" dirty="0">
                <a:latin typeface="Calibri"/>
                <a:cs typeface="Calibri"/>
              </a:rPr>
              <a:t>utilized</a:t>
            </a:r>
            <a:r>
              <a:rPr sz="2100" spc="5" dirty="0">
                <a:latin typeface="Calibri"/>
                <a:cs typeface="Calibri"/>
              </a:rPr>
              <a:t> </a:t>
            </a:r>
            <a:r>
              <a:rPr sz="2100" spc="-5" dirty="0">
                <a:latin typeface="Calibri"/>
                <a:cs typeface="Calibri"/>
              </a:rPr>
              <a:t>resources</a:t>
            </a:r>
            <a:endParaRPr sz="2100" dirty="0">
              <a:latin typeface="Calibri"/>
              <a:cs typeface="Calibri"/>
            </a:endParaRP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8768"/>
            <a:ext cx="5318251" cy="505908"/>
          </a:xfrm>
          <a:prstGeom prst="rect">
            <a:avLst/>
          </a:prstGeom>
        </p:spPr>
        <p:txBody>
          <a:bodyPr vert="horz" wrap="square" lIns="0" tIns="13335" rIns="0" bIns="0" rtlCol="0">
            <a:spAutoFit/>
          </a:bodyPr>
          <a:lstStyle/>
          <a:p>
            <a:pPr marL="12700" algn="ctr">
              <a:lnSpc>
                <a:spcPct val="100000"/>
              </a:lnSpc>
              <a:spcBef>
                <a:spcPts val="105"/>
              </a:spcBef>
            </a:pPr>
            <a:r>
              <a:rPr b="1" dirty="0">
                <a:solidFill>
                  <a:srgbClr val="000000"/>
                </a:solidFill>
                <a:latin typeface="Calibri"/>
                <a:cs typeface="Calibri"/>
              </a:rPr>
              <a:t>Who</a:t>
            </a:r>
            <a:r>
              <a:rPr b="1" spc="5" dirty="0">
                <a:solidFill>
                  <a:srgbClr val="000000"/>
                </a:solidFill>
                <a:latin typeface="Calibri"/>
                <a:cs typeface="Calibri"/>
              </a:rPr>
              <a:t> </a:t>
            </a:r>
            <a:r>
              <a:rPr b="1" spc="-5" dirty="0">
                <a:solidFill>
                  <a:srgbClr val="000000"/>
                </a:solidFill>
                <a:latin typeface="Calibri"/>
                <a:cs typeface="Calibri"/>
              </a:rPr>
              <a:t>uses</a:t>
            </a:r>
            <a:r>
              <a:rPr b="1" spc="5" dirty="0">
                <a:solidFill>
                  <a:srgbClr val="000000"/>
                </a:solidFill>
                <a:latin typeface="Calibri"/>
                <a:cs typeface="Calibri"/>
              </a:rPr>
              <a:t> </a:t>
            </a:r>
            <a:r>
              <a:rPr b="1" dirty="0">
                <a:solidFill>
                  <a:srgbClr val="000000"/>
                </a:solidFill>
                <a:latin typeface="Calibri"/>
                <a:cs typeface="Calibri"/>
              </a:rPr>
              <a:t>Grid</a:t>
            </a:r>
            <a:r>
              <a:rPr b="1" spc="-10" dirty="0">
                <a:solidFill>
                  <a:srgbClr val="000000"/>
                </a:solidFill>
                <a:latin typeface="Calibri"/>
                <a:cs typeface="Calibri"/>
              </a:rPr>
              <a:t> </a:t>
            </a:r>
            <a:r>
              <a:rPr b="1" spc="-5" dirty="0">
                <a:solidFill>
                  <a:srgbClr val="000000"/>
                </a:solidFill>
                <a:latin typeface="Calibri"/>
                <a:cs typeface="Calibri"/>
              </a:rPr>
              <a:t>Computing</a:t>
            </a:r>
            <a:r>
              <a:rPr b="1" dirty="0">
                <a:solidFill>
                  <a:srgbClr val="000000"/>
                </a:solidFill>
                <a:latin typeface="Calibri"/>
                <a:cs typeface="Calibri"/>
              </a:rPr>
              <a:t>?</a:t>
            </a:r>
            <a:endParaRPr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11</a:t>
            </a:r>
          </a:p>
        </p:txBody>
      </p:sp>
      <p:pic>
        <p:nvPicPr>
          <p:cNvPr id="3" name="object 3"/>
          <p:cNvPicPr/>
          <p:nvPr/>
        </p:nvPicPr>
        <p:blipFill>
          <a:blip r:embed="rId2" cstate="print"/>
          <a:stretch>
            <a:fillRect/>
          </a:stretch>
        </p:blipFill>
        <p:spPr>
          <a:xfrm>
            <a:off x="0" y="895350"/>
            <a:ext cx="9143999" cy="3581400"/>
          </a:xfrm>
          <a:prstGeom prst="rect">
            <a:avLst/>
          </a:prstGeom>
        </p:spPr>
      </p:pic>
      <p:sp>
        <p:nvSpPr>
          <p:cNvPr id="5" name="Footer Placeholder 4">
            <a:extLst>
              <a:ext uri="{FF2B5EF4-FFF2-40B4-BE49-F238E27FC236}">
                <a16:creationId xmlns:a16="http://schemas.microsoft.com/office/drawing/2014/main" id="{047BC097-630E-D63D-0D95-BC83782D070B}"/>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299686"/>
            <a:ext cx="3009900" cy="505908"/>
          </a:xfrm>
          <a:prstGeom prst="rect">
            <a:avLst/>
          </a:prstGeom>
        </p:spPr>
        <p:txBody>
          <a:bodyPr vert="horz" wrap="square" lIns="0" tIns="13335" rIns="0" bIns="0" rtlCol="0">
            <a:spAutoFit/>
          </a:bodyPr>
          <a:lstStyle/>
          <a:p>
            <a:pPr marL="12700" algn="ctr">
              <a:lnSpc>
                <a:spcPct val="100000"/>
              </a:lnSpc>
              <a:spcBef>
                <a:spcPts val="105"/>
              </a:spcBef>
            </a:pPr>
            <a:r>
              <a:rPr sz="3200" b="1" spc="-50" dirty="0">
                <a:solidFill>
                  <a:srgbClr val="000000"/>
                </a:solidFill>
                <a:latin typeface="Calibri"/>
                <a:cs typeface="Calibri"/>
              </a:rPr>
              <a:t>Type</a:t>
            </a:r>
            <a:r>
              <a:rPr sz="3200" b="1" spc="-30" dirty="0">
                <a:solidFill>
                  <a:srgbClr val="000000"/>
                </a:solidFill>
                <a:latin typeface="Calibri"/>
                <a:cs typeface="Calibri"/>
              </a:rPr>
              <a:t> </a:t>
            </a:r>
            <a:r>
              <a:rPr sz="3200" b="1" spc="-5" dirty="0">
                <a:solidFill>
                  <a:srgbClr val="000000"/>
                </a:solidFill>
                <a:latin typeface="Calibri"/>
                <a:cs typeface="Calibri"/>
              </a:rPr>
              <a:t>of</a:t>
            </a:r>
            <a:r>
              <a:rPr sz="3200" b="1" spc="-25" dirty="0">
                <a:solidFill>
                  <a:srgbClr val="000000"/>
                </a:solidFill>
                <a:latin typeface="Calibri"/>
                <a:cs typeface="Calibri"/>
              </a:rPr>
              <a:t> </a:t>
            </a:r>
            <a:r>
              <a:rPr sz="3200" b="1" dirty="0">
                <a:solidFill>
                  <a:srgbClr val="000000"/>
                </a:solidFill>
                <a:latin typeface="Calibri"/>
                <a:cs typeface="Calibri"/>
              </a:rPr>
              <a:t>Grids</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12</a:t>
            </a:r>
          </a:p>
        </p:txBody>
      </p:sp>
      <p:sp>
        <p:nvSpPr>
          <p:cNvPr id="3" name="object 3"/>
          <p:cNvSpPr txBox="1"/>
          <p:nvPr/>
        </p:nvSpPr>
        <p:spPr>
          <a:xfrm>
            <a:off x="459740" y="1107183"/>
            <a:ext cx="8070215" cy="3705502"/>
          </a:xfrm>
          <a:prstGeom prst="rect">
            <a:avLst/>
          </a:prstGeom>
        </p:spPr>
        <p:txBody>
          <a:bodyPr vert="horz" wrap="square" lIns="0" tIns="12065" rIns="0" bIns="0" rtlCol="0">
            <a:spAutoFit/>
          </a:bodyPr>
          <a:lstStyle/>
          <a:p>
            <a:pPr marL="355600" marR="344170" indent="-342900" algn="just">
              <a:lnSpc>
                <a:spcPct val="100000"/>
              </a:lnSpc>
              <a:spcBef>
                <a:spcPts val="95"/>
              </a:spcBef>
              <a:buFont typeface="Arial MT"/>
              <a:buChar char="•"/>
              <a:tabLst>
                <a:tab pos="354965" algn="l"/>
                <a:tab pos="355600" algn="l"/>
              </a:tabLst>
            </a:pPr>
            <a:r>
              <a:rPr sz="2000" b="1" spc="-10" dirty="0">
                <a:latin typeface="Calibri"/>
                <a:cs typeface="Calibri"/>
              </a:rPr>
              <a:t>Computational</a:t>
            </a:r>
            <a:r>
              <a:rPr sz="2000" b="1" spc="20" dirty="0">
                <a:latin typeface="Calibri"/>
                <a:cs typeface="Calibri"/>
              </a:rPr>
              <a:t> </a:t>
            </a:r>
            <a:r>
              <a:rPr sz="2000" b="1" spc="-10" dirty="0">
                <a:latin typeface="Calibri"/>
                <a:cs typeface="Calibri"/>
              </a:rPr>
              <a:t>Grid:</a:t>
            </a:r>
            <a:r>
              <a:rPr sz="2000" b="1" spc="30" dirty="0">
                <a:latin typeface="Calibri"/>
                <a:cs typeface="Calibri"/>
              </a:rPr>
              <a:t> </a:t>
            </a:r>
            <a:r>
              <a:rPr sz="2000" spc="-5" dirty="0">
                <a:latin typeface="Calibri"/>
                <a:cs typeface="Calibri"/>
              </a:rPr>
              <a:t>These</a:t>
            </a:r>
            <a:r>
              <a:rPr sz="2000" spc="10" dirty="0">
                <a:latin typeface="Calibri"/>
                <a:cs typeface="Calibri"/>
              </a:rPr>
              <a:t> </a:t>
            </a:r>
            <a:r>
              <a:rPr sz="2000" spc="-5" dirty="0">
                <a:latin typeface="Calibri"/>
                <a:cs typeface="Calibri"/>
              </a:rPr>
              <a:t>grids</a:t>
            </a:r>
            <a:r>
              <a:rPr sz="2000" spc="5" dirty="0">
                <a:latin typeface="Calibri"/>
                <a:cs typeface="Calibri"/>
              </a:rPr>
              <a:t> </a:t>
            </a:r>
            <a:r>
              <a:rPr sz="2000" spc="-10" dirty="0">
                <a:latin typeface="Calibri"/>
                <a:cs typeface="Calibri"/>
              </a:rPr>
              <a:t>provide</a:t>
            </a:r>
            <a:r>
              <a:rPr sz="2000" spc="25" dirty="0">
                <a:latin typeface="Calibri"/>
                <a:cs typeface="Calibri"/>
              </a:rPr>
              <a:t> </a:t>
            </a:r>
            <a:r>
              <a:rPr sz="2000" spc="-15" dirty="0">
                <a:latin typeface="Calibri"/>
                <a:cs typeface="Calibri"/>
              </a:rPr>
              <a:t>secure</a:t>
            </a:r>
            <a:r>
              <a:rPr sz="2000" spc="30" dirty="0">
                <a:latin typeface="Calibri"/>
                <a:cs typeface="Calibri"/>
              </a:rPr>
              <a:t> </a:t>
            </a:r>
            <a:r>
              <a:rPr sz="2000" spc="-5" dirty="0">
                <a:latin typeface="Calibri"/>
                <a:cs typeface="Calibri"/>
              </a:rPr>
              <a:t>access</a:t>
            </a:r>
            <a:r>
              <a:rPr sz="2000" spc="10" dirty="0">
                <a:latin typeface="Calibri"/>
                <a:cs typeface="Calibri"/>
              </a:rPr>
              <a:t> </a:t>
            </a:r>
            <a:r>
              <a:rPr sz="2000" spc="-10" dirty="0">
                <a:latin typeface="Calibri"/>
                <a:cs typeface="Calibri"/>
              </a:rPr>
              <a:t>to</a:t>
            </a:r>
            <a:r>
              <a:rPr sz="2000" spc="10" dirty="0">
                <a:latin typeface="Calibri"/>
                <a:cs typeface="Calibri"/>
              </a:rPr>
              <a:t> </a:t>
            </a:r>
            <a:r>
              <a:rPr sz="2000" spc="-10" dirty="0">
                <a:latin typeface="Calibri"/>
                <a:cs typeface="Calibri"/>
              </a:rPr>
              <a:t>huge</a:t>
            </a:r>
            <a:r>
              <a:rPr sz="2000" spc="-5" dirty="0">
                <a:latin typeface="Calibri"/>
                <a:cs typeface="Calibri"/>
              </a:rPr>
              <a:t> </a:t>
            </a:r>
            <a:r>
              <a:rPr sz="2000" spc="-10" dirty="0">
                <a:latin typeface="Calibri"/>
                <a:cs typeface="Calibri"/>
              </a:rPr>
              <a:t>pool</a:t>
            </a:r>
            <a:r>
              <a:rPr sz="2000" spc="25" dirty="0">
                <a:latin typeface="Calibri"/>
                <a:cs typeface="Calibri"/>
              </a:rPr>
              <a:t> </a:t>
            </a:r>
            <a:r>
              <a:rPr sz="2000" spc="-5" dirty="0">
                <a:latin typeface="Calibri"/>
                <a:cs typeface="Calibri"/>
              </a:rPr>
              <a:t>of</a:t>
            </a:r>
            <a:r>
              <a:rPr sz="2000" dirty="0">
                <a:latin typeface="Calibri"/>
                <a:cs typeface="Calibri"/>
              </a:rPr>
              <a:t> </a:t>
            </a:r>
            <a:r>
              <a:rPr sz="2000" spc="-10" dirty="0">
                <a:latin typeface="Calibri"/>
                <a:cs typeface="Calibri"/>
              </a:rPr>
              <a:t>shared</a:t>
            </a:r>
            <a:r>
              <a:rPr sz="2000" spc="25" dirty="0">
                <a:latin typeface="Calibri"/>
                <a:cs typeface="Calibri"/>
              </a:rPr>
              <a:t> </a:t>
            </a:r>
            <a:r>
              <a:rPr sz="2000" spc="-10" dirty="0">
                <a:latin typeface="Calibri"/>
                <a:cs typeface="Calibri"/>
              </a:rPr>
              <a:t>processing </a:t>
            </a:r>
            <a:r>
              <a:rPr sz="2000" spc="-345" dirty="0">
                <a:latin typeface="Calibri"/>
                <a:cs typeface="Calibri"/>
              </a:rPr>
              <a:t> </a:t>
            </a:r>
            <a:r>
              <a:rPr sz="2000" spc="-10" dirty="0">
                <a:latin typeface="Calibri"/>
                <a:cs typeface="Calibri"/>
              </a:rPr>
              <a:t>power</a:t>
            </a:r>
            <a:r>
              <a:rPr sz="2000" spc="30" dirty="0">
                <a:latin typeface="Calibri"/>
                <a:cs typeface="Calibri"/>
              </a:rPr>
              <a:t> </a:t>
            </a:r>
            <a:r>
              <a:rPr sz="2000" spc="-5" dirty="0">
                <a:latin typeface="Calibri"/>
                <a:cs typeface="Calibri"/>
              </a:rPr>
              <a:t>suitable</a:t>
            </a:r>
            <a:r>
              <a:rPr sz="2000" spc="-10" dirty="0">
                <a:latin typeface="Calibri"/>
                <a:cs typeface="Calibri"/>
              </a:rPr>
              <a:t> </a:t>
            </a:r>
            <a:r>
              <a:rPr sz="2000" spc="-15" dirty="0">
                <a:latin typeface="Calibri"/>
                <a:cs typeface="Calibri"/>
              </a:rPr>
              <a:t>for</a:t>
            </a:r>
            <a:r>
              <a:rPr sz="2000" spc="20" dirty="0">
                <a:latin typeface="Calibri"/>
                <a:cs typeface="Calibri"/>
              </a:rPr>
              <a:t> </a:t>
            </a:r>
            <a:r>
              <a:rPr sz="2000" spc="-5" dirty="0">
                <a:latin typeface="Calibri"/>
                <a:cs typeface="Calibri"/>
              </a:rPr>
              <a:t>high</a:t>
            </a:r>
            <a:r>
              <a:rPr sz="2000" spc="-10" dirty="0">
                <a:latin typeface="Calibri"/>
                <a:cs typeface="Calibri"/>
              </a:rPr>
              <a:t> throughput</a:t>
            </a:r>
            <a:r>
              <a:rPr sz="2000" spc="5" dirty="0">
                <a:latin typeface="Calibri"/>
                <a:cs typeface="Calibri"/>
              </a:rPr>
              <a:t> </a:t>
            </a:r>
            <a:r>
              <a:rPr sz="2000" spc="-10" dirty="0">
                <a:latin typeface="Calibri"/>
                <a:cs typeface="Calibri"/>
              </a:rPr>
              <a:t>applications</a:t>
            </a:r>
            <a:r>
              <a:rPr sz="2000" spc="-20" dirty="0">
                <a:latin typeface="Calibri"/>
                <a:cs typeface="Calibri"/>
              </a:rPr>
              <a:t> </a:t>
            </a:r>
            <a:r>
              <a:rPr sz="2000" spc="-5" dirty="0">
                <a:latin typeface="Calibri"/>
                <a:cs typeface="Calibri"/>
              </a:rPr>
              <a:t>and</a:t>
            </a:r>
            <a:r>
              <a:rPr sz="2000" spc="-10" dirty="0">
                <a:latin typeface="Calibri"/>
                <a:cs typeface="Calibri"/>
              </a:rPr>
              <a:t> computation</a:t>
            </a:r>
            <a:r>
              <a:rPr sz="2000" spc="15" dirty="0">
                <a:latin typeface="Calibri"/>
                <a:cs typeface="Calibri"/>
              </a:rPr>
              <a:t> </a:t>
            </a:r>
            <a:r>
              <a:rPr sz="2000" spc="-10" dirty="0">
                <a:latin typeface="Calibri"/>
                <a:cs typeface="Calibri"/>
              </a:rPr>
              <a:t>intensive</a:t>
            </a:r>
            <a:r>
              <a:rPr sz="2000" spc="-15" dirty="0">
                <a:latin typeface="Calibri"/>
                <a:cs typeface="Calibri"/>
              </a:rPr>
              <a:t> </a:t>
            </a:r>
            <a:r>
              <a:rPr sz="2000" spc="-5" dirty="0">
                <a:latin typeface="Calibri"/>
                <a:cs typeface="Calibri"/>
              </a:rPr>
              <a:t>computing.</a:t>
            </a:r>
            <a:endParaRPr sz="2000" dirty="0">
              <a:latin typeface="Calibri"/>
              <a:cs typeface="Calibri"/>
            </a:endParaRPr>
          </a:p>
          <a:p>
            <a:pPr marL="355600" marR="125095" indent="-342900" algn="just">
              <a:lnSpc>
                <a:spcPct val="100000"/>
              </a:lnSpc>
              <a:buFont typeface="Arial MT"/>
              <a:buChar char="•"/>
              <a:tabLst>
                <a:tab pos="355600" algn="l"/>
              </a:tabLst>
            </a:pPr>
            <a:r>
              <a:rPr sz="2000" b="1" spc="-10" dirty="0">
                <a:latin typeface="Calibri"/>
                <a:cs typeface="Calibri"/>
              </a:rPr>
              <a:t>Data Grid: </a:t>
            </a:r>
            <a:r>
              <a:rPr sz="2000" spc="-15" dirty="0">
                <a:latin typeface="Calibri"/>
                <a:cs typeface="Calibri"/>
              </a:rPr>
              <a:t>Data </a:t>
            </a:r>
            <a:r>
              <a:rPr sz="2000" spc="-5" dirty="0">
                <a:latin typeface="Calibri"/>
                <a:cs typeface="Calibri"/>
              </a:rPr>
              <a:t>grids </a:t>
            </a:r>
            <a:r>
              <a:rPr sz="2000" spc="-10" dirty="0">
                <a:latin typeface="Calibri"/>
                <a:cs typeface="Calibri"/>
              </a:rPr>
              <a:t>provide </a:t>
            </a:r>
            <a:r>
              <a:rPr sz="2000" spc="-5" dirty="0">
                <a:latin typeface="Calibri"/>
                <a:cs typeface="Calibri"/>
              </a:rPr>
              <a:t>an </a:t>
            </a:r>
            <a:r>
              <a:rPr sz="2000" spc="-15" dirty="0">
                <a:latin typeface="Calibri"/>
                <a:cs typeface="Calibri"/>
              </a:rPr>
              <a:t>infrastructure </a:t>
            </a:r>
            <a:r>
              <a:rPr sz="2000" spc="-10" dirty="0">
                <a:latin typeface="Calibri"/>
                <a:cs typeface="Calibri"/>
              </a:rPr>
              <a:t>to support </a:t>
            </a:r>
            <a:r>
              <a:rPr sz="2000" spc="-15" dirty="0">
                <a:latin typeface="Calibri"/>
                <a:cs typeface="Calibri"/>
              </a:rPr>
              <a:t>data storage, data </a:t>
            </a:r>
            <a:r>
              <a:rPr sz="2000" spc="-20" dirty="0">
                <a:latin typeface="Calibri"/>
                <a:cs typeface="Calibri"/>
              </a:rPr>
              <a:t>discovery, </a:t>
            </a:r>
            <a:r>
              <a:rPr sz="2000" spc="-15" dirty="0">
                <a:latin typeface="Calibri"/>
                <a:cs typeface="Calibri"/>
              </a:rPr>
              <a:t>data </a:t>
            </a:r>
            <a:r>
              <a:rPr sz="2000" spc="-10" dirty="0">
                <a:latin typeface="Calibri"/>
                <a:cs typeface="Calibri"/>
              </a:rPr>
              <a:t> </a:t>
            </a:r>
            <a:r>
              <a:rPr sz="2000" spc="-5" dirty="0">
                <a:latin typeface="Calibri"/>
                <a:cs typeface="Calibri"/>
              </a:rPr>
              <a:t>handling, </a:t>
            </a:r>
            <a:r>
              <a:rPr sz="2000" spc="-15" dirty="0">
                <a:latin typeface="Calibri"/>
                <a:cs typeface="Calibri"/>
              </a:rPr>
              <a:t>data </a:t>
            </a:r>
            <a:r>
              <a:rPr sz="2000" spc="-5" dirty="0">
                <a:latin typeface="Calibri"/>
                <a:cs typeface="Calibri"/>
              </a:rPr>
              <a:t>publication, and </a:t>
            </a:r>
            <a:r>
              <a:rPr sz="2000" spc="-15" dirty="0">
                <a:latin typeface="Calibri"/>
                <a:cs typeface="Calibri"/>
              </a:rPr>
              <a:t>data </a:t>
            </a:r>
            <a:r>
              <a:rPr sz="2000" spc="-5" dirty="0">
                <a:latin typeface="Calibri"/>
                <a:cs typeface="Calibri"/>
              </a:rPr>
              <a:t>manipulation of </a:t>
            </a:r>
            <a:r>
              <a:rPr sz="2000" spc="-10" dirty="0">
                <a:latin typeface="Calibri"/>
                <a:cs typeface="Calibri"/>
              </a:rPr>
              <a:t>large volumes </a:t>
            </a:r>
            <a:r>
              <a:rPr sz="2000" spc="-5" dirty="0">
                <a:latin typeface="Calibri"/>
                <a:cs typeface="Calibri"/>
              </a:rPr>
              <a:t>of </a:t>
            </a:r>
            <a:r>
              <a:rPr sz="2000" spc="-15" dirty="0">
                <a:latin typeface="Calibri"/>
                <a:cs typeface="Calibri"/>
              </a:rPr>
              <a:t>data </a:t>
            </a:r>
            <a:r>
              <a:rPr sz="2000" dirty="0">
                <a:latin typeface="Calibri"/>
                <a:cs typeface="Calibri"/>
              </a:rPr>
              <a:t>actually </a:t>
            </a:r>
            <a:r>
              <a:rPr sz="2000" spc="-15" dirty="0">
                <a:latin typeface="Calibri"/>
                <a:cs typeface="Calibri"/>
              </a:rPr>
              <a:t>stored </a:t>
            </a:r>
            <a:r>
              <a:rPr sz="2000" spc="-5" dirty="0">
                <a:latin typeface="Calibri"/>
                <a:cs typeface="Calibri"/>
              </a:rPr>
              <a:t>in </a:t>
            </a:r>
            <a:r>
              <a:rPr sz="2000" spc="-350" dirty="0">
                <a:latin typeface="Calibri"/>
                <a:cs typeface="Calibri"/>
              </a:rPr>
              <a:t> </a:t>
            </a:r>
            <a:r>
              <a:rPr sz="2000" spc="-10" dirty="0">
                <a:latin typeface="Calibri"/>
                <a:cs typeface="Calibri"/>
              </a:rPr>
              <a:t>various</a:t>
            </a:r>
            <a:r>
              <a:rPr sz="2000" spc="5" dirty="0">
                <a:latin typeface="Calibri"/>
                <a:cs typeface="Calibri"/>
              </a:rPr>
              <a:t> </a:t>
            </a:r>
            <a:r>
              <a:rPr sz="2000" spc="-10" dirty="0">
                <a:latin typeface="Calibri"/>
                <a:cs typeface="Calibri"/>
              </a:rPr>
              <a:t>heterogeneous</a:t>
            </a:r>
            <a:r>
              <a:rPr sz="2000" spc="45" dirty="0">
                <a:latin typeface="Calibri"/>
                <a:cs typeface="Calibri"/>
              </a:rPr>
              <a:t> </a:t>
            </a:r>
            <a:r>
              <a:rPr sz="2000" spc="-10" dirty="0">
                <a:latin typeface="Calibri"/>
                <a:cs typeface="Calibri"/>
              </a:rPr>
              <a:t>databases</a:t>
            </a:r>
            <a:r>
              <a:rPr sz="2000" spc="-15" dirty="0">
                <a:latin typeface="Calibri"/>
                <a:cs typeface="Calibri"/>
              </a:rPr>
              <a:t> </a:t>
            </a:r>
            <a:r>
              <a:rPr sz="2000" spc="-5" dirty="0">
                <a:latin typeface="Calibri"/>
                <a:cs typeface="Calibri"/>
              </a:rPr>
              <a:t>and</a:t>
            </a:r>
            <a:r>
              <a:rPr sz="2000" spc="-20" dirty="0">
                <a:latin typeface="Calibri"/>
                <a:cs typeface="Calibri"/>
              </a:rPr>
              <a:t> </a:t>
            </a:r>
            <a:r>
              <a:rPr sz="2000" spc="-5" dirty="0">
                <a:latin typeface="Calibri"/>
                <a:cs typeface="Calibri"/>
              </a:rPr>
              <a:t>file</a:t>
            </a:r>
            <a:r>
              <a:rPr sz="2000" spc="-15" dirty="0">
                <a:latin typeface="Calibri"/>
                <a:cs typeface="Calibri"/>
              </a:rPr>
              <a:t> systems.</a:t>
            </a:r>
            <a:endParaRPr sz="2000" dirty="0">
              <a:latin typeface="Calibri"/>
              <a:cs typeface="Calibri"/>
            </a:endParaRPr>
          </a:p>
          <a:p>
            <a:pPr marL="355600" marR="5080" indent="-342900" algn="just">
              <a:lnSpc>
                <a:spcPct val="100000"/>
              </a:lnSpc>
              <a:buFont typeface="Arial MT"/>
              <a:buChar char="•"/>
              <a:tabLst>
                <a:tab pos="354965" algn="l"/>
                <a:tab pos="355600" algn="l"/>
              </a:tabLst>
            </a:pPr>
            <a:r>
              <a:rPr sz="2000" b="1" spc="-10" dirty="0">
                <a:latin typeface="Calibri"/>
                <a:cs typeface="Calibri"/>
              </a:rPr>
              <a:t>Collaboration</a:t>
            </a:r>
            <a:r>
              <a:rPr sz="2000" b="1" spc="-5" dirty="0">
                <a:latin typeface="Calibri"/>
                <a:cs typeface="Calibri"/>
              </a:rPr>
              <a:t> </a:t>
            </a:r>
            <a:r>
              <a:rPr sz="2000" b="1" spc="-10" dirty="0">
                <a:latin typeface="Calibri"/>
                <a:cs typeface="Calibri"/>
              </a:rPr>
              <a:t>Grid:</a:t>
            </a:r>
            <a:r>
              <a:rPr sz="2000" b="1" spc="25" dirty="0">
                <a:latin typeface="Calibri"/>
                <a:cs typeface="Calibri"/>
              </a:rPr>
              <a:t> </a:t>
            </a:r>
            <a:r>
              <a:rPr sz="2000" spc="-5" dirty="0">
                <a:latin typeface="Calibri"/>
                <a:cs typeface="Calibri"/>
              </a:rPr>
              <a:t>With</a:t>
            </a:r>
            <a:r>
              <a:rPr sz="2000" dirty="0">
                <a:latin typeface="Calibri"/>
                <a:cs typeface="Calibri"/>
              </a:rPr>
              <a:t> </a:t>
            </a:r>
            <a:r>
              <a:rPr sz="2000" spc="-5" dirty="0">
                <a:latin typeface="Calibri"/>
                <a:cs typeface="Calibri"/>
              </a:rPr>
              <a:t>the</a:t>
            </a:r>
            <a:r>
              <a:rPr sz="2000" spc="10" dirty="0">
                <a:latin typeface="Calibri"/>
                <a:cs typeface="Calibri"/>
              </a:rPr>
              <a:t> </a:t>
            </a:r>
            <a:r>
              <a:rPr sz="2000" spc="-10" dirty="0">
                <a:latin typeface="Calibri"/>
                <a:cs typeface="Calibri"/>
              </a:rPr>
              <a:t>advent</a:t>
            </a:r>
            <a:r>
              <a:rPr sz="2000" spc="-5" dirty="0">
                <a:latin typeface="Calibri"/>
                <a:cs typeface="Calibri"/>
              </a:rPr>
              <a:t> of</a:t>
            </a:r>
            <a:r>
              <a:rPr sz="2000" spc="15" dirty="0">
                <a:latin typeface="Calibri"/>
                <a:cs typeface="Calibri"/>
              </a:rPr>
              <a:t> </a:t>
            </a:r>
            <a:r>
              <a:rPr sz="2000" spc="-10" dirty="0">
                <a:latin typeface="Calibri"/>
                <a:cs typeface="Calibri"/>
              </a:rPr>
              <a:t>Internet,</a:t>
            </a:r>
            <a:r>
              <a:rPr sz="2000" spc="10" dirty="0">
                <a:latin typeface="Calibri"/>
                <a:cs typeface="Calibri"/>
              </a:rPr>
              <a:t> </a:t>
            </a:r>
            <a:r>
              <a:rPr sz="2000" spc="-15" dirty="0">
                <a:latin typeface="Calibri"/>
                <a:cs typeface="Calibri"/>
              </a:rPr>
              <a:t>there</a:t>
            </a:r>
            <a:r>
              <a:rPr sz="2000" spc="25" dirty="0">
                <a:latin typeface="Calibri"/>
                <a:cs typeface="Calibri"/>
              </a:rPr>
              <a:t> </a:t>
            </a:r>
            <a:r>
              <a:rPr sz="2000" spc="-5" dirty="0">
                <a:latin typeface="Calibri"/>
                <a:cs typeface="Calibri"/>
              </a:rPr>
              <a:t>has</a:t>
            </a:r>
            <a:r>
              <a:rPr sz="2000" spc="5" dirty="0">
                <a:latin typeface="Calibri"/>
                <a:cs typeface="Calibri"/>
              </a:rPr>
              <a:t> </a:t>
            </a:r>
            <a:r>
              <a:rPr sz="2000" spc="-10" dirty="0">
                <a:latin typeface="Calibri"/>
                <a:cs typeface="Calibri"/>
              </a:rPr>
              <a:t>been</a:t>
            </a:r>
            <a:r>
              <a:rPr sz="2000" spc="10" dirty="0">
                <a:latin typeface="Calibri"/>
                <a:cs typeface="Calibri"/>
              </a:rPr>
              <a:t> </a:t>
            </a:r>
            <a:r>
              <a:rPr sz="2000" spc="-5" dirty="0">
                <a:latin typeface="Calibri"/>
                <a:cs typeface="Calibri"/>
              </a:rPr>
              <a:t>an </a:t>
            </a:r>
            <a:r>
              <a:rPr sz="2000" spc="-10" dirty="0">
                <a:latin typeface="Calibri"/>
                <a:cs typeface="Calibri"/>
              </a:rPr>
              <a:t>increased</a:t>
            </a:r>
            <a:r>
              <a:rPr sz="2000" spc="25" dirty="0">
                <a:latin typeface="Calibri"/>
                <a:cs typeface="Calibri"/>
              </a:rPr>
              <a:t> </a:t>
            </a:r>
            <a:r>
              <a:rPr sz="2000" spc="-10" dirty="0">
                <a:latin typeface="Calibri"/>
                <a:cs typeface="Calibri"/>
              </a:rPr>
              <a:t>demand</a:t>
            </a:r>
            <a:r>
              <a:rPr sz="2000" dirty="0">
                <a:latin typeface="Calibri"/>
                <a:cs typeface="Calibri"/>
              </a:rPr>
              <a:t> </a:t>
            </a:r>
            <a:r>
              <a:rPr sz="2000" spc="-15" dirty="0">
                <a:latin typeface="Calibri"/>
                <a:cs typeface="Calibri"/>
              </a:rPr>
              <a:t>for </a:t>
            </a:r>
            <a:r>
              <a:rPr sz="2000" spc="-10" dirty="0">
                <a:latin typeface="Calibri"/>
                <a:cs typeface="Calibri"/>
              </a:rPr>
              <a:t> better</a:t>
            </a:r>
            <a:r>
              <a:rPr sz="2000" spc="15" dirty="0">
                <a:latin typeface="Calibri"/>
                <a:cs typeface="Calibri"/>
              </a:rPr>
              <a:t> </a:t>
            </a:r>
            <a:r>
              <a:rPr sz="2000" spc="-10" dirty="0">
                <a:latin typeface="Calibri"/>
                <a:cs typeface="Calibri"/>
              </a:rPr>
              <a:t>collaboration.</a:t>
            </a:r>
            <a:r>
              <a:rPr sz="2000" spc="-5" dirty="0">
                <a:latin typeface="Calibri"/>
                <a:cs typeface="Calibri"/>
              </a:rPr>
              <a:t> </a:t>
            </a:r>
            <a:r>
              <a:rPr sz="2000" spc="-10" dirty="0">
                <a:latin typeface="Calibri"/>
                <a:cs typeface="Calibri"/>
              </a:rPr>
              <a:t>Such</a:t>
            </a:r>
            <a:r>
              <a:rPr sz="2000" spc="-5" dirty="0">
                <a:latin typeface="Calibri"/>
                <a:cs typeface="Calibri"/>
              </a:rPr>
              <a:t> </a:t>
            </a:r>
            <a:r>
              <a:rPr sz="2000" spc="-10" dirty="0">
                <a:latin typeface="Calibri"/>
                <a:cs typeface="Calibri"/>
              </a:rPr>
              <a:t>advanced</a:t>
            </a:r>
            <a:r>
              <a:rPr sz="2000" spc="-5" dirty="0">
                <a:latin typeface="Calibri"/>
                <a:cs typeface="Calibri"/>
              </a:rPr>
              <a:t> </a:t>
            </a:r>
            <a:r>
              <a:rPr sz="2000" spc="-10" dirty="0">
                <a:latin typeface="Calibri"/>
                <a:cs typeface="Calibri"/>
              </a:rPr>
              <a:t>collaboration</a:t>
            </a:r>
            <a:r>
              <a:rPr sz="2000" dirty="0">
                <a:latin typeface="Calibri"/>
                <a:cs typeface="Calibri"/>
              </a:rPr>
              <a:t> </a:t>
            </a:r>
            <a:r>
              <a:rPr sz="2000" spc="-5" dirty="0">
                <a:latin typeface="Calibri"/>
                <a:cs typeface="Calibri"/>
              </a:rPr>
              <a:t>is</a:t>
            </a:r>
            <a:r>
              <a:rPr sz="2000" dirty="0">
                <a:latin typeface="Calibri"/>
                <a:cs typeface="Calibri"/>
              </a:rPr>
              <a:t> </a:t>
            </a:r>
            <a:r>
              <a:rPr sz="2000" spc="-5" dirty="0">
                <a:latin typeface="Calibri"/>
                <a:cs typeface="Calibri"/>
              </a:rPr>
              <a:t>possible</a:t>
            </a:r>
            <a:r>
              <a:rPr sz="2000" spc="5" dirty="0">
                <a:latin typeface="Calibri"/>
                <a:cs typeface="Calibri"/>
              </a:rPr>
              <a:t> </a:t>
            </a:r>
            <a:r>
              <a:rPr sz="2000" spc="-5" dirty="0">
                <a:latin typeface="Calibri"/>
                <a:cs typeface="Calibri"/>
              </a:rPr>
              <a:t>using</a:t>
            </a:r>
            <a:r>
              <a:rPr sz="2000" spc="-20"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grid.</a:t>
            </a:r>
            <a:r>
              <a:rPr sz="2000" spc="-10" dirty="0">
                <a:latin typeface="Calibri"/>
                <a:cs typeface="Calibri"/>
              </a:rPr>
              <a:t> </a:t>
            </a:r>
            <a:r>
              <a:rPr sz="2000" spc="-15" dirty="0">
                <a:latin typeface="Calibri"/>
                <a:cs typeface="Calibri"/>
              </a:rPr>
              <a:t>For</a:t>
            </a:r>
            <a:r>
              <a:rPr sz="2000" spc="20" dirty="0">
                <a:latin typeface="Calibri"/>
                <a:cs typeface="Calibri"/>
              </a:rPr>
              <a:t> </a:t>
            </a:r>
            <a:r>
              <a:rPr sz="2000" spc="-10" dirty="0">
                <a:latin typeface="Calibri"/>
                <a:cs typeface="Calibri"/>
              </a:rPr>
              <a:t>instance, </a:t>
            </a:r>
            <a:r>
              <a:rPr sz="2000" spc="-5" dirty="0">
                <a:latin typeface="Calibri"/>
                <a:cs typeface="Calibri"/>
              </a:rPr>
              <a:t> </a:t>
            </a:r>
            <a:r>
              <a:rPr sz="2000" spc="-15" dirty="0">
                <a:latin typeface="Calibri"/>
                <a:cs typeface="Calibri"/>
              </a:rPr>
              <a:t>persons</a:t>
            </a:r>
            <a:r>
              <a:rPr sz="2000" spc="25" dirty="0">
                <a:latin typeface="Calibri"/>
                <a:cs typeface="Calibri"/>
              </a:rPr>
              <a:t> </a:t>
            </a:r>
            <a:r>
              <a:rPr sz="2000" spc="-15" dirty="0">
                <a:latin typeface="Calibri"/>
                <a:cs typeface="Calibri"/>
              </a:rPr>
              <a:t>from</a:t>
            </a:r>
            <a:r>
              <a:rPr sz="2000" spc="25" dirty="0">
                <a:latin typeface="Calibri"/>
                <a:cs typeface="Calibri"/>
              </a:rPr>
              <a:t> </a:t>
            </a:r>
            <a:r>
              <a:rPr sz="2000" spc="-15" dirty="0">
                <a:latin typeface="Calibri"/>
                <a:cs typeface="Calibri"/>
              </a:rPr>
              <a:t>different</a:t>
            </a:r>
            <a:r>
              <a:rPr sz="2000" spc="-5" dirty="0">
                <a:latin typeface="Calibri"/>
                <a:cs typeface="Calibri"/>
              </a:rPr>
              <a:t> </a:t>
            </a:r>
            <a:r>
              <a:rPr sz="2000" spc="-10" dirty="0">
                <a:latin typeface="Calibri"/>
                <a:cs typeface="Calibri"/>
              </a:rPr>
              <a:t>companies</a:t>
            </a:r>
            <a:r>
              <a:rPr sz="2000" spc="15" dirty="0">
                <a:latin typeface="Calibri"/>
                <a:cs typeface="Calibri"/>
              </a:rPr>
              <a:t> </a:t>
            </a:r>
            <a:r>
              <a:rPr sz="2000" spc="-5" dirty="0">
                <a:latin typeface="Calibri"/>
                <a:cs typeface="Calibri"/>
              </a:rPr>
              <a:t>in a</a:t>
            </a:r>
            <a:r>
              <a:rPr sz="2000" spc="5" dirty="0">
                <a:latin typeface="Calibri"/>
                <a:cs typeface="Calibri"/>
              </a:rPr>
              <a:t> </a:t>
            </a:r>
            <a:r>
              <a:rPr sz="2000" spc="-5" dirty="0">
                <a:latin typeface="Calibri"/>
                <a:cs typeface="Calibri"/>
              </a:rPr>
              <a:t>virtual</a:t>
            </a:r>
            <a:r>
              <a:rPr sz="2000" dirty="0">
                <a:latin typeface="Calibri"/>
                <a:cs typeface="Calibri"/>
              </a:rPr>
              <a:t> </a:t>
            </a:r>
            <a:r>
              <a:rPr sz="2000" spc="-10" dirty="0">
                <a:latin typeface="Calibri"/>
                <a:cs typeface="Calibri"/>
              </a:rPr>
              <a:t>enterprise</a:t>
            </a:r>
            <a:r>
              <a:rPr sz="2000" spc="25" dirty="0">
                <a:latin typeface="Calibri"/>
                <a:cs typeface="Calibri"/>
              </a:rPr>
              <a:t> </a:t>
            </a:r>
            <a:r>
              <a:rPr sz="2000" spc="-10" dirty="0">
                <a:latin typeface="Calibri"/>
                <a:cs typeface="Calibri"/>
              </a:rPr>
              <a:t>can</a:t>
            </a:r>
            <a:r>
              <a:rPr sz="2000" dirty="0">
                <a:latin typeface="Calibri"/>
                <a:cs typeface="Calibri"/>
              </a:rPr>
              <a:t> </a:t>
            </a:r>
            <a:r>
              <a:rPr sz="2000" spc="-10" dirty="0">
                <a:latin typeface="Calibri"/>
                <a:cs typeface="Calibri"/>
              </a:rPr>
              <a:t>work</a:t>
            </a:r>
            <a:r>
              <a:rPr sz="2000" spc="35" dirty="0">
                <a:latin typeface="Calibri"/>
                <a:cs typeface="Calibri"/>
              </a:rPr>
              <a:t> </a:t>
            </a:r>
            <a:r>
              <a:rPr sz="2000" spc="-5" dirty="0">
                <a:latin typeface="Calibri"/>
                <a:cs typeface="Calibri"/>
              </a:rPr>
              <a:t>on</a:t>
            </a:r>
            <a:r>
              <a:rPr sz="2000" spc="15" dirty="0">
                <a:latin typeface="Calibri"/>
                <a:cs typeface="Calibri"/>
              </a:rPr>
              <a:t> </a:t>
            </a:r>
            <a:r>
              <a:rPr sz="2000" spc="-15" dirty="0">
                <a:latin typeface="Calibri"/>
                <a:cs typeface="Calibri"/>
              </a:rPr>
              <a:t>different</a:t>
            </a:r>
            <a:r>
              <a:rPr sz="2000" spc="10" dirty="0">
                <a:latin typeface="Calibri"/>
                <a:cs typeface="Calibri"/>
              </a:rPr>
              <a:t> </a:t>
            </a:r>
            <a:r>
              <a:rPr sz="2000" spc="-10" dirty="0">
                <a:latin typeface="Calibri"/>
                <a:cs typeface="Calibri"/>
              </a:rPr>
              <a:t>components</a:t>
            </a:r>
            <a:r>
              <a:rPr sz="2000" spc="30" dirty="0">
                <a:latin typeface="Calibri"/>
                <a:cs typeface="Calibri"/>
              </a:rPr>
              <a:t> </a:t>
            </a:r>
            <a:r>
              <a:rPr sz="2000" spc="-10" dirty="0">
                <a:latin typeface="Calibri"/>
                <a:cs typeface="Calibri"/>
              </a:rPr>
              <a:t>of </a:t>
            </a:r>
            <a:r>
              <a:rPr sz="2000" spc="-350" dirty="0">
                <a:latin typeface="Calibri"/>
                <a:cs typeface="Calibri"/>
              </a:rPr>
              <a:t> </a:t>
            </a:r>
            <a:r>
              <a:rPr sz="2000" spc="-5" dirty="0">
                <a:latin typeface="Calibri"/>
                <a:cs typeface="Calibri"/>
              </a:rPr>
              <a:t>a </a:t>
            </a:r>
            <a:r>
              <a:rPr sz="2000" spc="-10" dirty="0">
                <a:latin typeface="Calibri"/>
                <a:cs typeface="Calibri"/>
              </a:rPr>
              <a:t>CAD</a:t>
            </a:r>
            <a:r>
              <a:rPr sz="2000" spc="5" dirty="0">
                <a:latin typeface="Calibri"/>
                <a:cs typeface="Calibri"/>
              </a:rPr>
              <a:t> </a:t>
            </a:r>
            <a:r>
              <a:rPr sz="2000" spc="-10" dirty="0">
                <a:latin typeface="Calibri"/>
                <a:cs typeface="Calibri"/>
              </a:rPr>
              <a:t>project</a:t>
            </a:r>
            <a:r>
              <a:rPr sz="2000" spc="25" dirty="0">
                <a:latin typeface="Calibri"/>
                <a:cs typeface="Calibri"/>
              </a:rPr>
              <a:t> </a:t>
            </a:r>
            <a:r>
              <a:rPr sz="2000" spc="-5" dirty="0">
                <a:latin typeface="Calibri"/>
                <a:cs typeface="Calibri"/>
              </a:rPr>
              <a:t>without</a:t>
            </a:r>
            <a:r>
              <a:rPr sz="2000" spc="5" dirty="0">
                <a:latin typeface="Calibri"/>
                <a:cs typeface="Calibri"/>
              </a:rPr>
              <a:t> </a:t>
            </a:r>
            <a:r>
              <a:rPr sz="2000" spc="-15" dirty="0">
                <a:latin typeface="Calibri"/>
                <a:cs typeface="Calibri"/>
              </a:rPr>
              <a:t>even</a:t>
            </a:r>
            <a:r>
              <a:rPr sz="2000" spc="20" dirty="0">
                <a:latin typeface="Calibri"/>
                <a:cs typeface="Calibri"/>
              </a:rPr>
              <a:t> </a:t>
            </a:r>
            <a:r>
              <a:rPr sz="2000" spc="-5" dirty="0">
                <a:latin typeface="Calibri"/>
                <a:cs typeface="Calibri"/>
              </a:rPr>
              <a:t>disclosing</a:t>
            </a:r>
            <a:r>
              <a:rPr sz="2000" spc="-25" dirty="0">
                <a:latin typeface="Calibri"/>
                <a:cs typeface="Calibri"/>
              </a:rPr>
              <a:t> </a:t>
            </a:r>
            <a:r>
              <a:rPr sz="2000" spc="-5" dirty="0">
                <a:latin typeface="Calibri"/>
                <a:cs typeface="Calibri"/>
              </a:rPr>
              <a:t>their</a:t>
            </a:r>
            <a:r>
              <a:rPr sz="2000" dirty="0">
                <a:latin typeface="Calibri"/>
                <a:cs typeface="Calibri"/>
              </a:rPr>
              <a:t> </a:t>
            </a:r>
            <a:r>
              <a:rPr sz="2000" spc="-10" dirty="0">
                <a:latin typeface="Calibri"/>
                <a:cs typeface="Calibri"/>
              </a:rPr>
              <a:t>proprietary</a:t>
            </a:r>
            <a:r>
              <a:rPr sz="2000" spc="35" dirty="0">
                <a:latin typeface="Calibri"/>
                <a:cs typeface="Calibri"/>
              </a:rPr>
              <a:t> </a:t>
            </a:r>
            <a:r>
              <a:rPr sz="2000" spc="-5" dirty="0">
                <a:latin typeface="Calibri"/>
                <a:cs typeface="Calibri"/>
              </a:rPr>
              <a:t>technologies.</a:t>
            </a:r>
            <a:endParaRPr sz="2000" dirty="0">
              <a:latin typeface="Calibri"/>
              <a:cs typeface="Calibri"/>
            </a:endParaRPr>
          </a:p>
        </p:txBody>
      </p:sp>
      <p:sp>
        <p:nvSpPr>
          <p:cNvPr id="5" name="Footer Placeholder 4">
            <a:extLst>
              <a:ext uri="{FF2B5EF4-FFF2-40B4-BE49-F238E27FC236}">
                <a16:creationId xmlns:a16="http://schemas.microsoft.com/office/drawing/2014/main" id="{942E2581-DD1F-3E3B-B692-F34C7976927D}"/>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407228"/>
            <a:ext cx="3009900" cy="382797"/>
          </a:xfrm>
          <a:prstGeom prst="rect">
            <a:avLst/>
          </a:prstGeom>
        </p:spPr>
        <p:txBody>
          <a:bodyPr vert="horz" wrap="square" lIns="0" tIns="13335" rIns="0" bIns="0" rtlCol="0">
            <a:spAutoFit/>
          </a:bodyPr>
          <a:lstStyle/>
          <a:p>
            <a:pPr marL="12700">
              <a:lnSpc>
                <a:spcPct val="100000"/>
              </a:lnSpc>
              <a:spcBef>
                <a:spcPts val="105"/>
              </a:spcBef>
            </a:pPr>
            <a:r>
              <a:rPr sz="2400" b="1" spc="-50" dirty="0">
                <a:solidFill>
                  <a:srgbClr val="000000"/>
                </a:solidFill>
                <a:latin typeface="Calibri"/>
                <a:cs typeface="Calibri"/>
              </a:rPr>
              <a:t>Type</a:t>
            </a:r>
            <a:r>
              <a:rPr sz="2400" b="1" spc="-35" dirty="0">
                <a:solidFill>
                  <a:srgbClr val="000000"/>
                </a:solidFill>
                <a:latin typeface="Calibri"/>
                <a:cs typeface="Calibri"/>
              </a:rPr>
              <a:t> </a:t>
            </a:r>
            <a:r>
              <a:rPr sz="2400" b="1" dirty="0">
                <a:solidFill>
                  <a:srgbClr val="000000"/>
                </a:solidFill>
                <a:latin typeface="Calibri"/>
                <a:cs typeface="Calibri"/>
              </a:rPr>
              <a:t>of</a:t>
            </a:r>
            <a:r>
              <a:rPr sz="2400" b="1" spc="-35" dirty="0">
                <a:solidFill>
                  <a:srgbClr val="000000"/>
                </a:solidFill>
                <a:latin typeface="Calibri"/>
                <a:cs typeface="Calibri"/>
              </a:rPr>
              <a:t> </a:t>
            </a:r>
            <a:r>
              <a:rPr sz="2400" b="1" dirty="0">
                <a:solidFill>
                  <a:srgbClr val="000000"/>
                </a:solidFill>
                <a:latin typeface="Calibri"/>
                <a:cs typeface="Calibri"/>
              </a:rPr>
              <a:t>Grids</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13</a:t>
            </a:r>
          </a:p>
        </p:txBody>
      </p:sp>
      <p:sp>
        <p:nvSpPr>
          <p:cNvPr id="3" name="object 3"/>
          <p:cNvSpPr txBox="1"/>
          <p:nvPr/>
        </p:nvSpPr>
        <p:spPr>
          <a:xfrm>
            <a:off x="566420" y="971550"/>
            <a:ext cx="8011159" cy="3397725"/>
          </a:xfrm>
          <a:prstGeom prst="rect">
            <a:avLst/>
          </a:prstGeom>
        </p:spPr>
        <p:txBody>
          <a:bodyPr vert="horz" wrap="square" lIns="0" tIns="12065" rIns="0" bIns="0" rtlCol="0">
            <a:spAutoFit/>
          </a:bodyPr>
          <a:lstStyle/>
          <a:p>
            <a:pPr marL="355600" marR="16510" indent="-343535" algn="just">
              <a:lnSpc>
                <a:spcPct val="100000"/>
              </a:lnSpc>
              <a:spcBef>
                <a:spcPts val="95"/>
              </a:spcBef>
              <a:buFont typeface="Arial MT"/>
              <a:buChar char="•"/>
              <a:tabLst>
                <a:tab pos="355600" algn="l"/>
                <a:tab pos="356235" algn="l"/>
              </a:tabLst>
            </a:pPr>
            <a:r>
              <a:rPr sz="2000" b="1" spc="-10" dirty="0">
                <a:latin typeface="Calibri"/>
                <a:cs typeface="Calibri"/>
              </a:rPr>
              <a:t>Network</a:t>
            </a:r>
            <a:r>
              <a:rPr sz="2000" b="1" spc="-5" dirty="0">
                <a:latin typeface="Calibri"/>
                <a:cs typeface="Calibri"/>
              </a:rPr>
              <a:t> </a:t>
            </a:r>
            <a:r>
              <a:rPr sz="2000" b="1" spc="-10" dirty="0">
                <a:latin typeface="Calibri"/>
                <a:cs typeface="Calibri"/>
              </a:rPr>
              <a:t>Grid:</a:t>
            </a:r>
            <a:r>
              <a:rPr sz="2000" b="1" spc="35" dirty="0">
                <a:latin typeface="Calibri"/>
                <a:cs typeface="Calibri"/>
              </a:rPr>
              <a:t> </a:t>
            </a:r>
            <a:r>
              <a:rPr sz="2000" spc="-5" dirty="0">
                <a:latin typeface="Calibri"/>
                <a:cs typeface="Calibri"/>
              </a:rPr>
              <a:t>A</a:t>
            </a:r>
            <a:r>
              <a:rPr sz="2000" spc="15" dirty="0">
                <a:latin typeface="Calibri"/>
                <a:cs typeface="Calibri"/>
              </a:rPr>
              <a:t> </a:t>
            </a:r>
            <a:r>
              <a:rPr sz="2000" spc="-10" dirty="0">
                <a:latin typeface="Calibri"/>
                <a:cs typeface="Calibri"/>
              </a:rPr>
              <a:t>Network</a:t>
            </a:r>
            <a:r>
              <a:rPr sz="2000" spc="50" dirty="0">
                <a:latin typeface="Calibri"/>
                <a:cs typeface="Calibri"/>
              </a:rPr>
              <a:t> </a:t>
            </a:r>
            <a:r>
              <a:rPr sz="2000" spc="-5" dirty="0">
                <a:latin typeface="Calibri"/>
                <a:cs typeface="Calibri"/>
              </a:rPr>
              <a:t>Grid</a:t>
            </a:r>
            <a:r>
              <a:rPr sz="2000" spc="25" dirty="0">
                <a:latin typeface="Calibri"/>
                <a:cs typeface="Calibri"/>
              </a:rPr>
              <a:t> </a:t>
            </a:r>
            <a:r>
              <a:rPr sz="2000" spc="-10" dirty="0">
                <a:latin typeface="Calibri"/>
                <a:cs typeface="Calibri"/>
              </a:rPr>
              <a:t>provides</a:t>
            </a:r>
            <a:r>
              <a:rPr sz="2000" spc="30" dirty="0">
                <a:latin typeface="Calibri"/>
                <a:cs typeface="Calibri"/>
              </a:rPr>
              <a:t> </a:t>
            </a:r>
            <a:r>
              <a:rPr sz="2000" spc="-10" dirty="0">
                <a:latin typeface="Calibri"/>
                <a:cs typeface="Calibri"/>
              </a:rPr>
              <a:t>fault-tolerant </a:t>
            </a:r>
            <a:r>
              <a:rPr sz="2000" spc="-5" dirty="0">
                <a:latin typeface="Calibri"/>
                <a:cs typeface="Calibri"/>
              </a:rPr>
              <a:t>and</a:t>
            </a:r>
            <a:r>
              <a:rPr sz="2000" dirty="0">
                <a:latin typeface="Calibri"/>
                <a:cs typeface="Calibri"/>
              </a:rPr>
              <a:t> </a:t>
            </a:r>
            <a:r>
              <a:rPr sz="2000" spc="-10" dirty="0">
                <a:latin typeface="Calibri"/>
                <a:cs typeface="Calibri"/>
              </a:rPr>
              <a:t>high-performance</a:t>
            </a:r>
            <a:r>
              <a:rPr sz="2000" spc="25" dirty="0">
                <a:latin typeface="Calibri"/>
                <a:cs typeface="Calibri"/>
              </a:rPr>
              <a:t> </a:t>
            </a:r>
            <a:r>
              <a:rPr sz="2000" spc="-10" dirty="0">
                <a:latin typeface="Calibri"/>
                <a:cs typeface="Calibri"/>
              </a:rPr>
              <a:t>communication </a:t>
            </a:r>
            <a:r>
              <a:rPr sz="2000" spc="-345" dirty="0">
                <a:latin typeface="Calibri"/>
                <a:cs typeface="Calibri"/>
              </a:rPr>
              <a:t> </a:t>
            </a:r>
            <a:r>
              <a:rPr sz="2000" spc="-5" dirty="0">
                <a:latin typeface="Calibri"/>
                <a:cs typeface="Calibri"/>
              </a:rPr>
              <a:t>services.</a:t>
            </a:r>
            <a:r>
              <a:rPr sz="2000" spc="25" dirty="0">
                <a:latin typeface="Calibri"/>
                <a:cs typeface="Calibri"/>
              </a:rPr>
              <a:t> </a:t>
            </a:r>
            <a:r>
              <a:rPr sz="2000" spc="-10" dirty="0">
                <a:latin typeface="Calibri"/>
                <a:cs typeface="Calibri"/>
              </a:rPr>
              <a:t>Each</a:t>
            </a:r>
            <a:r>
              <a:rPr sz="2000" dirty="0">
                <a:latin typeface="Calibri"/>
                <a:cs typeface="Calibri"/>
              </a:rPr>
              <a:t> </a:t>
            </a:r>
            <a:r>
              <a:rPr sz="2000" spc="-5" dirty="0">
                <a:latin typeface="Calibri"/>
                <a:cs typeface="Calibri"/>
              </a:rPr>
              <a:t>grid</a:t>
            </a:r>
            <a:r>
              <a:rPr sz="2000" dirty="0">
                <a:latin typeface="Calibri"/>
                <a:cs typeface="Calibri"/>
              </a:rPr>
              <a:t> </a:t>
            </a:r>
            <a:r>
              <a:rPr sz="2000" spc="-10" dirty="0">
                <a:latin typeface="Calibri"/>
                <a:cs typeface="Calibri"/>
              </a:rPr>
              <a:t>node</a:t>
            </a:r>
            <a:r>
              <a:rPr sz="2000" spc="10" dirty="0">
                <a:latin typeface="Calibri"/>
                <a:cs typeface="Calibri"/>
              </a:rPr>
              <a:t> </a:t>
            </a:r>
            <a:r>
              <a:rPr sz="2000" spc="-15" dirty="0">
                <a:latin typeface="Calibri"/>
                <a:cs typeface="Calibri"/>
              </a:rPr>
              <a:t>works</a:t>
            </a:r>
            <a:r>
              <a:rPr sz="2000" spc="30" dirty="0">
                <a:latin typeface="Calibri"/>
                <a:cs typeface="Calibri"/>
              </a:rPr>
              <a:t> </a:t>
            </a:r>
            <a:r>
              <a:rPr sz="2000" spc="-5" dirty="0">
                <a:latin typeface="Calibri"/>
                <a:cs typeface="Calibri"/>
              </a:rPr>
              <a:t>as</a:t>
            </a:r>
            <a:r>
              <a:rPr sz="2000" spc="5" dirty="0">
                <a:latin typeface="Calibri"/>
                <a:cs typeface="Calibri"/>
              </a:rPr>
              <a:t> </a:t>
            </a:r>
            <a:r>
              <a:rPr sz="2000" spc="-5" dirty="0">
                <a:latin typeface="Calibri"/>
                <a:cs typeface="Calibri"/>
              </a:rPr>
              <a:t>a</a:t>
            </a:r>
            <a:r>
              <a:rPr sz="2000" spc="-10" dirty="0">
                <a:latin typeface="Calibri"/>
                <a:cs typeface="Calibri"/>
              </a:rPr>
              <a:t> </a:t>
            </a:r>
            <a:r>
              <a:rPr sz="2000" spc="-15" dirty="0">
                <a:latin typeface="Calibri"/>
                <a:cs typeface="Calibri"/>
              </a:rPr>
              <a:t>data</a:t>
            </a:r>
            <a:r>
              <a:rPr sz="2000" spc="-10" dirty="0">
                <a:latin typeface="Calibri"/>
                <a:cs typeface="Calibri"/>
              </a:rPr>
              <a:t> </a:t>
            </a:r>
            <a:r>
              <a:rPr sz="2000" spc="-15" dirty="0">
                <a:latin typeface="Calibri"/>
                <a:cs typeface="Calibri"/>
              </a:rPr>
              <a:t>router</a:t>
            </a:r>
            <a:r>
              <a:rPr sz="2000" spc="30" dirty="0">
                <a:latin typeface="Calibri"/>
                <a:cs typeface="Calibri"/>
              </a:rPr>
              <a:t> </a:t>
            </a:r>
            <a:r>
              <a:rPr sz="2000" spc="-10" dirty="0">
                <a:latin typeface="Calibri"/>
                <a:cs typeface="Calibri"/>
              </a:rPr>
              <a:t>between</a:t>
            </a:r>
            <a:r>
              <a:rPr sz="2000" spc="20" dirty="0">
                <a:latin typeface="Calibri"/>
                <a:cs typeface="Calibri"/>
              </a:rPr>
              <a:t> </a:t>
            </a:r>
            <a:r>
              <a:rPr sz="2000" spc="-10" dirty="0">
                <a:latin typeface="Calibri"/>
                <a:cs typeface="Calibri"/>
              </a:rPr>
              <a:t>two</a:t>
            </a:r>
            <a:r>
              <a:rPr sz="2000" spc="20" dirty="0">
                <a:latin typeface="Calibri"/>
                <a:cs typeface="Calibri"/>
              </a:rPr>
              <a:t> </a:t>
            </a:r>
            <a:r>
              <a:rPr sz="2000" spc="-10" dirty="0">
                <a:latin typeface="Calibri"/>
                <a:cs typeface="Calibri"/>
              </a:rPr>
              <a:t>communication points, </a:t>
            </a:r>
            <a:r>
              <a:rPr sz="2000" spc="-5" dirty="0">
                <a:latin typeface="Calibri"/>
                <a:cs typeface="Calibri"/>
              </a:rPr>
              <a:t> </a:t>
            </a:r>
            <a:r>
              <a:rPr sz="2000" spc="-10" dirty="0">
                <a:latin typeface="Calibri"/>
                <a:cs typeface="Calibri"/>
              </a:rPr>
              <a:t>providing</a:t>
            </a:r>
            <a:r>
              <a:rPr sz="2000" dirty="0">
                <a:latin typeface="Calibri"/>
                <a:cs typeface="Calibri"/>
              </a:rPr>
              <a:t> </a:t>
            </a:r>
            <a:r>
              <a:rPr sz="2000" spc="-10" dirty="0">
                <a:latin typeface="Calibri"/>
                <a:cs typeface="Calibri"/>
              </a:rPr>
              <a:t>data-caching</a:t>
            </a:r>
            <a:r>
              <a:rPr sz="2000" spc="-30" dirty="0">
                <a:latin typeface="Calibri"/>
                <a:cs typeface="Calibri"/>
              </a:rPr>
              <a:t> </a:t>
            </a:r>
            <a:r>
              <a:rPr sz="2000" spc="-5" dirty="0">
                <a:latin typeface="Calibri"/>
                <a:cs typeface="Calibri"/>
              </a:rPr>
              <a:t>and</a:t>
            </a:r>
            <a:r>
              <a:rPr sz="2000" spc="-15" dirty="0">
                <a:latin typeface="Calibri"/>
                <a:cs typeface="Calibri"/>
              </a:rPr>
              <a:t> </a:t>
            </a:r>
            <a:r>
              <a:rPr sz="2000" spc="-5" dirty="0">
                <a:latin typeface="Calibri"/>
                <a:cs typeface="Calibri"/>
              </a:rPr>
              <a:t>other</a:t>
            </a:r>
            <a:r>
              <a:rPr sz="2000" spc="20" dirty="0">
                <a:latin typeface="Calibri"/>
                <a:cs typeface="Calibri"/>
              </a:rPr>
              <a:t> </a:t>
            </a:r>
            <a:r>
              <a:rPr sz="2000" spc="-5" dirty="0">
                <a:latin typeface="Calibri"/>
                <a:cs typeface="Calibri"/>
              </a:rPr>
              <a:t>facilities</a:t>
            </a:r>
            <a:r>
              <a:rPr sz="2000" spc="-20" dirty="0">
                <a:latin typeface="Calibri"/>
                <a:cs typeface="Calibri"/>
              </a:rPr>
              <a:t> </a:t>
            </a:r>
            <a:r>
              <a:rPr sz="2000" spc="-10" dirty="0">
                <a:latin typeface="Calibri"/>
                <a:cs typeface="Calibri"/>
              </a:rPr>
              <a:t>to</a:t>
            </a:r>
            <a:r>
              <a:rPr sz="2000" dirty="0">
                <a:latin typeface="Calibri"/>
                <a:cs typeface="Calibri"/>
              </a:rPr>
              <a:t> </a:t>
            </a:r>
            <a:r>
              <a:rPr sz="2000" spc="-10" dirty="0">
                <a:latin typeface="Calibri"/>
                <a:cs typeface="Calibri"/>
              </a:rPr>
              <a:t>speed</a:t>
            </a:r>
            <a:r>
              <a:rPr sz="2000" spc="10" dirty="0">
                <a:latin typeface="Calibri"/>
                <a:cs typeface="Calibri"/>
              </a:rPr>
              <a:t> </a:t>
            </a:r>
            <a:r>
              <a:rPr sz="2000" spc="-5" dirty="0">
                <a:latin typeface="Calibri"/>
                <a:cs typeface="Calibri"/>
              </a:rPr>
              <a:t>up</a:t>
            </a:r>
            <a:r>
              <a:rPr sz="2000" dirty="0">
                <a:latin typeface="Calibri"/>
                <a:cs typeface="Calibri"/>
              </a:rPr>
              <a:t> </a:t>
            </a:r>
            <a:r>
              <a:rPr sz="2000" spc="-5" dirty="0">
                <a:latin typeface="Calibri"/>
                <a:cs typeface="Calibri"/>
              </a:rPr>
              <a:t>the</a:t>
            </a:r>
            <a:r>
              <a:rPr sz="2000" spc="10" dirty="0">
                <a:latin typeface="Calibri"/>
                <a:cs typeface="Calibri"/>
              </a:rPr>
              <a:t> </a:t>
            </a:r>
            <a:r>
              <a:rPr sz="2000" spc="-10" dirty="0">
                <a:latin typeface="Calibri"/>
                <a:cs typeface="Calibri"/>
              </a:rPr>
              <a:t>communications</a:t>
            </a:r>
            <a:r>
              <a:rPr sz="2000" spc="-15" dirty="0">
                <a:latin typeface="Calibri"/>
                <a:cs typeface="Calibri"/>
              </a:rPr>
              <a:t> </a:t>
            </a:r>
            <a:r>
              <a:rPr sz="2000" spc="-10" dirty="0">
                <a:latin typeface="Calibri"/>
                <a:cs typeface="Calibri"/>
              </a:rPr>
              <a:t>between</a:t>
            </a:r>
            <a:r>
              <a:rPr sz="2000" spc="35" dirty="0">
                <a:latin typeface="Calibri"/>
                <a:cs typeface="Calibri"/>
              </a:rPr>
              <a:t> </a:t>
            </a:r>
            <a:r>
              <a:rPr sz="2000" spc="-10" dirty="0">
                <a:latin typeface="Calibri"/>
                <a:cs typeface="Calibri"/>
              </a:rPr>
              <a:t>such </a:t>
            </a:r>
            <a:r>
              <a:rPr sz="2000" spc="-5" dirty="0">
                <a:latin typeface="Calibri"/>
                <a:cs typeface="Calibri"/>
              </a:rPr>
              <a:t> points.</a:t>
            </a:r>
            <a:endParaRPr sz="2000" dirty="0">
              <a:latin typeface="Calibri"/>
              <a:cs typeface="Calibri"/>
            </a:endParaRPr>
          </a:p>
          <a:p>
            <a:pPr algn="just">
              <a:lnSpc>
                <a:spcPct val="100000"/>
              </a:lnSpc>
              <a:buFont typeface="Arial MT"/>
              <a:buChar char="•"/>
            </a:pPr>
            <a:endParaRPr sz="2000" dirty="0">
              <a:latin typeface="Calibri"/>
              <a:cs typeface="Calibri"/>
            </a:endParaRPr>
          </a:p>
          <a:p>
            <a:pPr marL="355600" marR="5080" indent="-343535" algn="just">
              <a:lnSpc>
                <a:spcPct val="100200"/>
              </a:lnSpc>
              <a:buFont typeface="Arial MT"/>
              <a:buChar char="•"/>
              <a:tabLst>
                <a:tab pos="355600" algn="l"/>
                <a:tab pos="356235" algn="l"/>
              </a:tabLst>
            </a:pPr>
            <a:r>
              <a:rPr sz="2000" b="1" spc="-5" dirty="0">
                <a:latin typeface="Calibri"/>
                <a:cs typeface="Calibri"/>
              </a:rPr>
              <a:t>Utility</a:t>
            </a:r>
            <a:r>
              <a:rPr sz="2000" b="1" spc="-10" dirty="0">
                <a:latin typeface="Calibri"/>
                <a:cs typeface="Calibri"/>
              </a:rPr>
              <a:t> Grid:</a:t>
            </a:r>
            <a:r>
              <a:rPr sz="2000" b="1" spc="15" dirty="0">
                <a:latin typeface="Calibri"/>
                <a:cs typeface="Calibri"/>
              </a:rPr>
              <a:t> </a:t>
            </a:r>
            <a:r>
              <a:rPr sz="2000" spc="-5" dirty="0">
                <a:latin typeface="Calibri"/>
                <a:cs typeface="Calibri"/>
              </a:rPr>
              <a:t>This</a:t>
            </a:r>
            <a:r>
              <a:rPr sz="2000" spc="-1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ultimate</a:t>
            </a:r>
            <a:r>
              <a:rPr sz="2000" spc="-25" dirty="0">
                <a:latin typeface="Calibri"/>
                <a:cs typeface="Calibri"/>
              </a:rPr>
              <a:t> </a:t>
            </a:r>
            <a:r>
              <a:rPr sz="2000" spc="-15" dirty="0">
                <a:latin typeface="Calibri"/>
                <a:cs typeface="Calibri"/>
              </a:rPr>
              <a:t>form</a:t>
            </a:r>
            <a:r>
              <a:rPr sz="2000" spc="20" dirty="0">
                <a:latin typeface="Calibri"/>
                <a:cs typeface="Calibri"/>
              </a:rPr>
              <a:t> </a:t>
            </a:r>
            <a:r>
              <a:rPr sz="2000" spc="-5" dirty="0">
                <a:latin typeface="Calibri"/>
                <a:cs typeface="Calibri"/>
              </a:rPr>
              <a:t>of</a:t>
            </a:r>
            <a:r>
              <a:rPr sz="2000" dirty="0">
                <a:latin typeface="Calibri"/>
                <a:cs typeface="Calibri"/>
              </a:rPr>
              <a:t> </a:t>
            </a:r>
            <a:r>
              <a:rPr sz="2000" spc="-5" dirty="0">
                <a:latin typeface="Calibri"/>
                <a:cs typeface="Calibri"/>
              </a:rPr>
              <a:t>the</a:t>
            </a:r>
            <a:r>
              <a:rPr sz="2000" spc="5" dirty="0">
                <a:latin typeface="Calibri"/>
                <a:cs typeface="Calibri"/>
              </a:rPr>
              <a:t> </a:t>
            </a:r>
            <a:r>
              <a:rPr sz="2000" spc="-5" dirty="0">
                <a:latin typeface="Calibri"/>
                <a:cs typeface="Calibri"/>
              </a:rPr>
              <a:t>Grid,</a:t>
            </a:r>
            <a:r>
              <a:rPr sz="2000" spc="10" dirty="0">
                <a:latin typeface="Calibri"/>
                <a:cs typeface="Calibri"/>
              </a:rPr>
              <a:t> </a:t>
            </a:r>
            <a:r>
              <a:rPr sz="2000" spc="-5" dirty="0">
                <a:latin typeface="Calibri"/>
                <a:cs typeface="Calibri"/>
              </a:rPr>
              <a:t>in</a:t>
            </a:r>
            <a:r>
              <a:rPr sz="2000" spc="-15" dirty="0">
                <a:latin typeface="Calibri"/>
                <a:cs typeface="Calibri"/>
              </a:rPr>
              <a:t> </a:t>
            </a:r>
            <a:r>
              <a:rPr sz="2000" spc="-5" dirty="0">
                <a:latin typeface="Calibri"/>
                <a:cs typeface="Calibri"/>
              </a:rPr>
              <a:t>which</a:t>
            </a:r>
            <a:r>
              <a:rPr sz="2000" spc="5" dirty="0">
                <a:latin typeface="Calibri"/>
                <a:cs typeface="Calibri"/>
              </a:rPr>
              <a:t> </a:t>
            </a:r>
            <a:r>
              <a:rPr sz="2000" spc="-10" dirty="0">
                <a:latin typeface="Calibri"/>
                <a:cs typeface="Calibri"/>
              </a:rPr>
              <a:t>not</a:t>
            </a:r>
            <a:r>
              <a:rPr sz="2000" spc="-5" dirty="0">
                <a:latin typeface="Calibri"/>
                <a:cs typeface="Calibri"/>
              </a:rPr>
              <a:t> only</a:t>
            </a:r>
            <a:r>
              <a:rPr sz="2000" spc="10" dirty="0">
                <a:latin typeface="Calibri"/>
                <a:cs typeface="Calibri"/>
              </a:rPr>
              <a:t> </a:t>
            </a:r>
            <a:r>
              <a:rPr sz="2000" spc="-15" dirty="0">
                <a:latin typeface="Calibri"/>
                <a:cs typeface="Calibri"/>
              </a:rPr>
              <a:t>data</a:t>
            </a:r>
            <a:r>
              <a:rPr sz="2000" spc="-10" dirty="0">
                <a:latin typeface="Calibri"/>
                <a:cs typeface="Calibri"/>
              </a:rPr>
              <a:t> </a:t>
            </a:r>
            <a:r>
              <a:rPr sz="2000" spc="-5" dirty="0">
                <a:latin typeface="Calibri"/>
                <a:cs typeface="Calibri"/>
              </a:rPr>
              <a:t>and</a:t>
            </a:r>
            <a:r>
              <a:rPr sz="2000" spc="-15" dirty="0">
                <a:latin typeface="Calibri"/>
                <a:cs typeface="Calibri"/>
              </a:rPr>
              <a:t> </a:t>
            </a:r>
            <a:r>
              <a:rPr sz="2000" spc="-10" dirty="0">
                <a:latin typeface="Calibri"/>
                <a:cs typeface="Calibri"/>
              </a:rPr>
              <a:t>computation </a:t>
            </a:r>
            <a:r>
              <a:rPr sz="2000" spc="-5" dirty="0">
                <a:latin typeface="Calibri"/>
                <a:cs typeface="Calibri"/>
              </a:rPr>
              <a:t> </a:t>
            </a:r>
            <a:r>
              <a:rPr sz="2000" spc="-10" dirty="0">
                <a:latin typeface="Calibri"/>
                <a:cs typeface="Calibri"/>
              </a:rPr>
              <a:t>cycles</a:t>
            </a:r>
            <a:r>
              <a:rPr sz="2000" spc="5" dirty="0">
                <a:latin typeface="Calibri"/>
                <a:cs typeface="Calibri"/>
              </a:rPr>
              <a:t> </a:t>
            </a:r>
            <a:r>
              <a:rPr sz="2000" spc="-15" dirty="0">
                <a:latin typeface="Calibri"/>
                <a:cs typeface="Calibri"/>
              </a:rPr>
              <a:t>are</a:t>
            </a:r>
            <a:r>
              <a:rPr sz="2000" spc="20" dirty="0">
                <a:latin typeface="Calibri"/>
                <a:cs typeface="Calibri"/>
              </a:rPr>
              <a:t> </a:t>
            </a:r>
            <a:r>
              <a:rPr sz="2000" spc="-10" dirty="0">
                <a:latin typeface="Calibri"/>
                <a:cs typeface="Calibri"/>
              </a:rPr>
              <a:t>shared</a:t>
            </a:r>
            <a:r>
              <a:rPr sz="2000" spc="10" dirty="0">
                <a:latin typeface="Calibri"/>
                <a:cs typeface="Calibri"/>
              </a:rPr>
              <a:t> </a:t>
            </a:r>
            <a:r>
              <a:rPr sz="2000" spc="-10" dirty="0">
                <a:latin typeface="Calibri"/>
                <a:cs typeface="Calibri"/>
              </a:rPr>
              <a:t>but</a:t>
            </a:r>
            <a:r>
              <a:rPr sz="2000" spc="5" dirty="0">
                <a:latin typeface="Calibri"/>
                <a:cs typeface="Calibri"/>
              </a:rPr>
              <a:t> </a:t>
            </a:r>
            <a:r>
              <a:rPr sz="2000" spc="-10" dirty="0">
                <a:latin typeface="Calibri"/>
                <a:cs typeface="Calibri"/>
              </a:rPr>
              <a:t>software</a:t>
            </a:r>
            <a:r>
              <a:rPr sz="2000" spc="20" dirty="0">
                <a:latin typeface="Calibri"/>
                <a:cs typeface="Calibri"/>
              </a:rPr>
              <a:t> </a:t>
            </a:r>
            <a:r>
              <a:rPr sz="2000" spc="-5" dirty="0">
                <a:latin typeface="Calibri"/>
                <a:cs typeface="Calibri"/>
              </a:rPr>
              <a:t>or</a:t>
            </a:r>
            <a:r>
              <a:rPr sz="2000" spc="10" dirty="0">
                <a:latin typeface="Calibri"/>
                <a:cs typeface="Calibri"/>
              </a:rPr>
              <a:t> </a:t>
            </a:r>
            <a:r>
              <a:rPr sz="2000" spc="-10" dirty="0">
                <a:latin typeface="Calibri"/>
                <a:cs typeface="Calibri"/>
              </a:rPr>
              <a:t>just</a:t>
            </a:r>
            <a:r>
              <a:rPr sz="2000" dirty="0">
                <a:latin typeface="Calibri"/>
                <a:cs typeface="Calibri"/>
              </a:rPr>
              <a:t> </a:t>
            </a:r>
            <a:r>
              <a:rPr sz="2000" spc="-5" dirty="0">
                <a:latin typeface="Calibri"/>
                <a:cs typeface="Calibri"/>
              </a:rPr>
              <a:t>about</a:t>
            </a:r>
            <a:r>
              <a:rPr sz="2000" spc="-10" dirty="0">
                <a:latin typeface="Calibri"/>
                <a:cs typeface="Calibri"/>
              </a:rPr>
              <a:t> any</a:t>
            </a:r>
            <a:r>
              <a:rPr sz="2000" dirty="0">
                <a:latin typeface="Calibri"/>
                <a:cs typeface="Calibri"/>
              </a:rPr>
              <a:t> </a:t>
            </a:r>
            <a:r>
              <a:rPr sz="2000" spc="-10" dirty="0">
                <a:latin typeface="Calibri"/>
                <a:cs typeface="Calibri"/>
              </a:rPr>
              <a:t>resource</a:t>
            </a:r>
            <a:r>
              <a:rPr sz="2000" spc="50" dirty="0">
                <a:latin typeface="Calibri"/>
                <a:cs typeface="Calibri"/>
              </a:rPr>
              <a:t> </a:t>
            </a:r>
            <a:r>
              <a:rPr sz="2000" spc="-5" dirty="0">
                <a:latin typeface="Calibri"/>
                <a:cs typeface="Calibri"/>
              </a:rPr>
              <a:t>is</a:t>
            </a:r>
            <a:r>
              <a:rPr sz="2000" spc="-15" dirty="0">
                <a:latin typeface="Calibri"/>
                <a:cs typeface="Calibri"/>
              </a:rPr>
              <a:t> </a:t>
            </a:r>
            <a:r>
              <a:rPr sz="2000" spc="-10" dirty="0">
                <a:latin typeface="Calibri"/>
                <a:cs typeface="Calibri"/>
              </a:rPr>
              <a:t>shared.</a:t>
            </a:r>
            <a:r>
              <a:rPr sz="2000" spc="5" dirty="0">
                <a:latin typeface="Calibri"/>
                <a:cs typeface="Calibri"/>
              </a:rPr>
              <a:t> </a:t>
            </a:r>
            <a:r>
              <a:rPr sz="2000" spc="-5" dirty="0">
                <a:latin typeface="Calibri"/>
                <a:cs typeface="Calibri"/>
              </a:rPr>
              <a:t>The</a:t>
            </a:r>
            <a:r>
              <a:rPr sz="2000" dirty="0">
                <a:latin typeface="Calibri"/>
                <a:cs typeface="Calibri"/>
              </a:rPr>
              <a:t> </a:t>
            </a:r>
            <a:r>
              <a:rPr sz="2000" spc="-5" dirty="0">
                <a:latin typeface="Calibri"/>
                <a:cs typeface="Calibri"/>
              </a:rPr>
              <a:t>main</a:t>
            </a:r>
            <a:r>
              <a:rPr sz="2000" spc="-15" dirty="0">
                <a:latin typeface="Calibri"/>
                <a:cs typeface="Calibri"/>
              </a:rPr>
              <a:t> </a:t>
            </a:r>
            <a:r>
              <a:rPr sz="2000" spc="-5" dirty="0">
                <a:latin typeface="Calibri"/>
                <a:cs typeface="Calibri"/>
              </a:rPr>
              <a:t>services </a:t>
            </a:r>
            <a:r>
              <a:rPr sz="2000" dirty="0">
                <a:latin typeface="Calibri"/>
                <a:cs typeface="Calibri"/>
              </a:rPr>
              <a:t> </a:t>
            </a:r>
            <a:r>
              <a:rPr sz="2000" spc="-10" dirty="0">
                <a:latin typeface="Calibri"/>
                <a:cs typeface="Calibri"/>
              </a:rPr>
              <a:t>provided</a:t>
            </a:r>
            <a:r>
              <a:rPr sz="2000" spc="20" dirty="0">
                <a:latin typeface="Calibri"/>
                <a:cs typeface="Calibri"/>
              </a:rPr>
              <a:t> </a:t>
            </a:r>
            <a:r>
              <a:rPr sz="2000" spc="-10" dirty="0">
                <a:latin typeface="Calibri"/>
                <a:cs typeface="Calibri"/>
              </a:rPr>
              <a:t>through</a:t>
            </a:r>
            <a:r>
              <a:rPr sz="2000" spc="-5" dirty="0">
                <a:latin typeface="Calibri"/>
                <a:cs typeface="Calibri"/>
              </a:rPr>
              <a:t> utility</a:t>
            </a:r>
            <a:r>
              <a:rPr sz="2000" spc="-30" dirty="0">
                <a:latin typeface="Calibri"/>
                <a:cs typeface="Calibri"/>
              </a:rPr>
              <a:t> </a:t>
            </a:r>
            <a:r>
              <a:rPr sz="2000" spc="-5" dirty="0">
                <a:latin typeface="Calibri"/>
                <a:cs typeface="Calibri"/>
              </a:rPr>
              <a:t>grids</a:t>
            </a:r>
            <a:r>
              <a:rPr sz="2000" dirty="0">
                <a:latin typeface="Calibri"/>
                <a:cs typeface="Calibri"/>
              </a:rPr>
              <a:t> </a:t>
            </a:r>
            <a:r>
              <a:rPr sz="2000" spc="-15" dirty="0">
                <a:latin typeface="Calibri"/>
                <a:cs typeface="Calibri"/>
              </a:rPr>
              <a:t>are</a:t>
            </a:r>
            <a:r>
              <a:rPr sz="2000" spc="5" dirty="0">
                <a:latin typeface="Calibri"/>
                <a:cs typeface="Calibri"/>
              </a:rPr>
              <a:t> </a:t>
            </a:r>
            <a:r>
              <a:rPr sz="2000" spc="-10" dirty="0">
                <a:latin typeface="Calibri"/>
                <a:cs typeface="Calibri"/>
              </a:rPr>
              <a:t>software</a:t>
            </a:r>
            <a:r>
              <a:rPr sz="2000" spc="20" dirty="0">
                <a:latin typeface="Calibri"/>
                <a:cs typeface="Calibri"/>
              </a:rPr>
              <a:t> </a:t>
            </a:r>
            <a:r>
              <a:rPr sz="2000" spc="-5" dirty="0">
                <a:latin typeface="Calibri"/>
                <a:cs typeface="Calibri"/>
              </a:rPr>
              <a:t>and special</a:t>
            </a:r>
            <a:r>
              <a:rPr sz="2000" spc="20" dirty="0">
                <a:latin typeface="Calibri"/>
                <a:cs typeface="Calibri"/>
              </a:rPr>
              <a:t> </a:t>
            </a:r>
            <a:r>
              <a:rPr sz="2000" spc="-5" dirty="0">
                <a:latin typeface="Calibri"/>
                <a:cs typeface="Calibri"/>
              </a:rPr>
              <a:t>equipment.</a:t>
            </a:r>
            <a:r>
              <a:rPr sz="2000" dirty="0">
                <a:latin typeface="Calibri"/>
                <a:cs typeface="Calibri"/>
              </a:rPr>
              <a:t> </a:t>
            </a:r>
            <a:r>
              <a:rPr sz="2000" spc="-15" dirty="0">
                <a:latin typeface="Calibri"/>
                <a:cs typeface="Calibri"/>
              </a:rPr>
              <a:t>For</a:t>
            </a:r>
            <a:r>
              <a:rPr sz="2000" spc="15" dirty="0">
                <a:latin typeface="Calibri"/>
                <a:cs typeface="Calibri"/>
              </a:rPr>
              <a:t> </a:t>
            </a:r>
            <a:r>
              <a:rPr sz="2000" spc="-10" dirty="0">
                <a:latin typeface="Calibri"/>
                <a:cs typeface="Calibri"/>
              </a:rPr>
              <a:t>instance,</a:t>
            </a:r>
            <a:r>
              <a:rPr sz="2000" dirty="0">
                <a:latin typeface="Calibri"/>
                <a:cs typeface="Calibri"/>
              </a:rPr>
              <a:t> </a:t>
            </a:r>
            <a:r>
              <a:rPr sz="2000" spc="-5" dirty="0">
                <a:latin typeface="Calibri"/>
                <a:cs typeface="Calibri"/>
              </a:rPr>
              <a:t>the </a:t>
            </a:r>
            <a:r>
              <a:rPr sz="2000" dirty="0">
                <a:latin typeface="Calibri"/>
                <a:cs typeface="Calibri"/>
              </a:rPr>
              <a:t> </a:t>
            </a:r>
            <a:r>
              <a:rPr sz="2000" spc="-10" dirty="0">
                <a:latin typeface="Calibri"/>
                <a:cs typeface="Calibri"/>
              </a:rPr>
              <a:t>applications</a:t>
            </a:r>
            <a:r>
              <a:rPr sz="2000" spc="-20" dirty="0">
                <a:latin typeface="Calibri"/>
                <a:cs typeface="Calibri"/>
              </a:rPr>
              <a:t> </a:t>
            </a:r>
            <a:r>
              <a:rPr sz="2000" spc="-10" dirty="0">
                <a:latin typeface="Calibri"/>
                <a:cs typeface="Calibri"/>
              </a:rPr>
              <a:t>can</a:t>
            </a:r>
            <a:r>
              <a:rPr sz="2000" spc="10" dirty="0">
                <a:latin typeface="Calibri"/>
                <a:cs typeface="Calibri"/>
              </a:rPr>
              <a:t> </a:t>
            </a:r>
            <a:r>
              <a:rPr sz="2000" spc="-5" dirty="0">
                <a:latin typeface="Calibri"/>
                <a:cs typeface="Calibri"/>
              </a:rPr>
              <a:t>be</a:t>
            </a:r>
            <a:r>
              <a:rPr sz="2000" dirty="0">
                <a:latin typeface="Calibri"/>
                <a:cs typeface="Calibri"/>
              </a:rPr>
              <a:t> </a:t>
            </a:r>
            <a:r>
              <a:rPr sz="2000" spc="-10" dirty="0">
                <a:latin typeface="Calibri"/>
                <a:cs typeface="Calibri"/>
              </a:rPr>
              <a:t>run</a:t>
            </a:r>
            <a:r>
              <a:rPr sz="2000" spc="20" dirty="0">
                <a:latin typeface="Calibri"/>
                <a:cs typeface="Calibri"/>
              </a:rPr>
              <a:t> </a:t>
            </a:r>
            <a:r>
              <a:rPr sz="2000" spc="-5" dirty="0">
                <a:latin typeface="Calibri"/>
                <a:cs typeface="Calibri"/>
              </a:rPr>
              <a:t>on</a:t>
            </a:r>
            <a:r>
              <a:rPr sz="2000" spc="15" dirty="0">
                <a:latin typeface="Calibri"/>
                <a:cs typeface="Calibri"/>
              </a:rPr>
              <a:t> </a:t>
            </a:r>
            <a:r>
              <a:rPr sz="2000" spc="-10" dirty="0">
                <a:latin typeface="Calibri"/>
                <a:cs typeface="Calibri"/>
              </a:rPr>
              <a:t>one</a:t>
            </a:r>
            <a:r>
              <a:rPr sz="2000" spc="10" dirty="0">
                <a:latin typeface="Calibri"/>
                <a:cs typeface="Calibri"/>
              </a:rPr>
              <a:t> </a:t>
            </a:r>
            <a:r>
              <a:rPr sz="2000" spc="-5" dirty="0">
                <a:latin typeface="Calibri"/>
                <a:cs typeface="Calibri"/>
              </a:rPr>
              <a:t>machine</a:t>
            </a:r>
            <a:r>
              <a:rPr sz="2000" spc="10" dirty="0">
                <a:latin typeface="Calibri"/>
                <a:cs typeface="Calibri"/>
              </a:rPr>
              <a:t> </a:t>
            </a:r>
            <a:r>
              <a:rPr sz="2000" spc="-5" dirty="0">
                <a:latin typeface="Calibri"/>
                <a:cs typeface="Calibri"/>
              </a:rPr>
              <a:t>and </a:t>
            </a:r>
            <a:r>
              <a:rPr sz="2000" dirty="0">
                <a:latin typeface="Calibri"/>
                <a:cs typeface="Calibri"/>
              </a:rPr>
              <a:t>all</a:t>
            </a:r>
            <a:r>
              <a:rPr sz="2000" spc="-15" dirty="0">
                <a:latin typeface="Calibri"/>
                <a:cs typeface="Calibri"/>
              </a:rPr>
              <a:t> </a:t>
            </a:r>
            <a:r>
              <a:rPr sz="2000" spc="-5" dirty="0">
                <a:latin typeface="Calibri"/>
                <a:cs typeface="Calibri"/>
              </a:rPr>
              <a:t>the</a:t>
            </a:r>
            <a:r>
              <a:rPr sz="2000" spc="10" dirty="0">
                <a:latin typeface="Calibri"/>
                <a:cs typeface="Calibri"/>
              </a:rPr>
              <a:t> </a:t>
            </a:r>
            <a:r>
              <a:rPr sz="2000" spc="-15" dirty="0">
                <a:latin typeface="Calibri"/>
                <a:cs typeface="Calibri"/>
              </a:rPr>
              <a:t>users</a:t>
            </a:r>
            <a:r>
              <a:rPr sz="2000" spc="15" dirty="0">
                <a:latin typeface="Calibri"/>
                <a:cs typeface="Calibri"/>
              </a:rPr>
              <a:t> </a:t>
            </a:r>
            <a:r>
              <a:rPr sz="2000" spc="-10" dirty="0">
                <a:latin typeface="Calibri"/>
                <a:cs typeface="Calibri"/>
              </a:rPr>
              <a:t>can</a:t>
            </a:r>
            <a:r>
              <a:rPr sz="2000" spc="10" dirty="0">
                <a:latin typeface="Calibri"/>
                <a:cs typeface="Calibri"/>
              </a:rPr>
              <a:t> </a:t>
            </a:r>
            <a:r>
              <a:rPr sz="2000" spc="-10" dirty="0">
                <a:latin typeface="Calibri"/>
                <a:cs typeface="Calibri"/>
              </a:rPr>
              <a:t>send</a:t>
            </a:r>
            <a:r>
              <a:rPr sz="2000" spc="10" dirty="0">
                <a:latin typeface="Calibri"/>
                <a:cs typeface="Calibri"/>
              </a:rPr>
              <a:t> </a:t>
            </a:r>
            <a:r>
              <a:rPr sz="2000" spc="-5" dirty="0">
                <a:latin typeface="Calibri"/>
                <a:cs typeface="Calibri"/>
              </a:rPr>
              <a:t>their</a:t>
            </a:r>
            <a:r>
              <a:rPr sz="2000" spc="10" dirty="0">
                <a:latin typeface="Calibri"/>
                <a:cs typeface="Calibri"/>
              </a:rPr>
              <a:t> </a:t>
            </a:r>
            <a:r>
              <a:rPr sz="2000" spc="-15" dirty="0">
                <a:latin typeface="Calibri"/>
                <a:cs typeface="Calibri"/>
              </a:rPr>
              <a:t>data</a:t>
            </a:r>
            <a:r>
              <a:rPr sz="2000" spc="-5" dirty="0">
                <a:latin typeface="Calibri"/>
                <a:cs typeface="Calibri"/>
              </a:rPr>
              <a:t> </a:t>
            </a:r>
            <a:r>
              <a:rPr sz="2000" spc="-10" dirty="0">
                <a:latin typeface="Calibri"/>
                <a:cs typeface="Calibri"/>
              </a:rPr>
              <a:t>to</a:t>
            </a:r>
            <a:r>
              <a:rPr sz="2000" spc="10" dirty="0">
                <a:latin typeface="Calibri"/>
                <a:cs typeface="Calibri"/>
              </a:rPr>
              <a:t> </a:t>
            </a:r>
            <a:r>
              <a:rPr sz="2000" spc="-5" dirty="0">
                <a:latin typeface="Calibri"/>
                <a:cs typeface="Calibri"/>
              </a:rPr>
              <a:t>be</a:t>
            </a:r>
            <a:r>
              <a:rPr sz="2000" dirty="0">
                <a:latin typeface="Calibri"/>
                <a:cs typeface="Calibri"/>
              </a:rPr>
              <a:t> </a:t>
            </a:r>
            <a:r>
              <a:rPr sz="2000" spc="-15" dirty="0">
                <a:latin typeface="Calibri"/>
                <a:cs typeface="Calibri"/>
              </a:rPr>
              <a:t>processed </a:t>
            </a:r>
            <a:r>
              <a:rPr sz="2000" spc="-345" dirty="0">
                <a:latin typeface="Calibri"/>
                <a:cs typeface="Calibri"/>
              </a:rPr>
              <a:t> </a:t>
            </a:r>
            <a:r>
              <a:rPr sz="2000" spc="-10" dirty="0">
                <a:latin typeface="Calibri"/>
                <a:cs typeface="Calibri"/>
              </a:rPr>
              <a:t>to</a:t>
            </a:r>
            <a:r>
              <a:rPr sz="2000" dirty="0">
                <a:latin typeface="Calibri"/>
                <a:cs typeface="Calibri"/>
              </a:rPr>
              <a:t> </a:t>
            </a:r>
            <a:r>
              <a:rPr sz="2000" spc="-10" dirty="0">
                <a:latin typeface="Calibri"/>
                <a:cs typeface="Calibri"/>
              </a:rPr>
              <a:t>that</a:t>
            </a:r>
            <a:r>
              <a:rPr sz="2000" spc="-20" dirty="0">
                <a:latin typeface="Calibri"/>
                <a:cs typeface="Calibri"/>
              </a:rPr>
              <a:t> </a:t>
            </a:r>
            <a:r>
              <a:rPr sz="2000" spc="-5" dirty="0">
                <a:latin typeface="Calibri"/>
                <a:cs typeface="Calibri"/>
              </a:rPr>
              <a:t>machine and</a:t>
            </a:r>
            <a:r>
              <a:rPr sz="2000" spc="-10" dirty="0">
                <a:latin typeface="Calibri"/>
                <a:cs typeface="Calibri"/>
              </a:rPr>
              <a:t> receive</a:t>
            </a:r>
            <a:r>
              <a:rPr sz="2000" spc="30" dirty="0">
                <a:latin typeface="Calibri"/>
                <a:cs typeface="Calibri"/>
              </a:rPr>
              <a:t> </a:t>
            </a:r>
            <a:r>
              <a:rPr sz="2000" spc="-5" dirty="0">
                <a:latin typeface="Calibri"/>
                <a:cs typeface="Calibri"/>
              </a:rPr>
              <a:t>the</a:t>
            </a:r>
            <a:r>
              <a:rPr sz="2000" dirty="0">
                <a:latin typeface="Calibri"/>
                <a:cs typeface="Calibri"/>
              </a:rPr>
              <a:t> </a:t>
            </a:r>
            <a:r>
              <a:rPr sz="2000" spc="-10" dirty="0">
                <a:latin typeface="Calibri"/>
                <a:cs typeface="Calibri"/>
              </a:rPr>
              <a:t>result</a:t>
            </a:r>
            <a:r>
              <a:rPr sz="2000" spc="15" dirty="0">
                <a:latin typeface="Calibri"/>
                <a:cs typeface="Calibri"/>
              </a:rPr>
              <a:t> </a:t>
            </a:r>
            <a:r>
              <a:rPr sz="2000" spc="-5" dirty="0">
                <a:latin typeface="Calibri"/>
                <a:cs typeface="Calibri"/>
              </a:rPr>
              <a:t>back.</a:t>
            </a:r>
            <a:endParaRPr sz="2000" dirty="0">
              <a:latin typeface="Calibri"/>
              <a:cs typeface="Calibri"/>
            </a:endParaRPr>
          </a:p>
        </p:txBody>
      </p:sp>
      <p:sp>
        <p:nvSpPr>
          <p:cNvPr id="5" name="Footer Placeholder 4">
            <a:extLst>
              <a:ext uri="{FF2B5EF4-FFF2-40B4-BE49-F238E27FC236}">
                <a16:creationId xmlns:a16="http://schemas.microsoft.com/office/drawing/2014/main" id="{DA1765B4-9A94-8E52-1BA3-E1A1B93B7A70}"/>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0714" y="237840"/>
            <a:ext cx="3677286" cy="505908"/>
          </a:xfrm>
          <a:prstGeom prst="rect">
            <a:avLst/>
          </a:prstGeom>
        </p:spPr>
        <p:txBody>
          <a:bodyPr vert="horz" wrap="square" lIns="0" tIns="13335" rIns="0" bIns="0" rtlCol="0">
            <a:spAutoFit/>
          </a:bodyPr>
          <a:lstStyle/>
          <a:p>
            <a:pPr marL="12700">
              <a:lnSpc>
                <a:spcPct val="100000"/>
              </a:lnSpc>
              <a:spcBef>
                <a:spcPts val="105"/>
              </a:spcBef>
            </a:pPr>
            <a:r>
              <a:rPr b="1" spc="-5" dirty="0">
                <a:solidFill>
                  <a:srgbClr val="000000"/>
                </a:solidFill>
                <a:latin typeface="Calibri"/>
                <a:cs typeface="Calibri"/>
              </a:rPr>
              <a:t>Grid</a:t>
            </a:r>
            <a:r>
              <a:rPr b="1" spc="-60" dirty="0">
                <a:solidFill>
                  <a:srgbClr val="000000"/>
                </a:solidFill>
                <a:latin typeface="Calibri"/>
                <a:cs typeface="Calibri"/>
              </a:rPr>
              <a:t> </a:t>
            </a:r>
            <a:r>
              <a:rPr b="1" spc="-5" dirty="0">
                <a:solidFill>
                  <a:srgbClr val="000000"/>
                </a:solidFill>
                <a:latin typeface="Calibri"/>
                <a:cs typeface="Calibri"/>
              </a:rPr>
              <a:t>Components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14</a:t>
            </a:r>
          </a:p>
        </p:txBody>
      </p:sp>
      <p:pic>
        <p:nvPicPr>
          <p:cNvPr id="3" name="object 3"/>
          <p:cNvPicPr/>
          <p:nvPr/>
        </p:nvPicPr>
        <p:blipFill>
          <a:blip r:embed="rId2" cstate="print"/>
          <a:stretch>
            <a:fillRect/>
          </a:stretch>
        </p:blipFill>
        <p:spPr>
          <a:xfrm>
            <a:off x="568553" y="895350"/>
            <a:ext cx="8303006" cy="3390900"/>
          </a:xfrm>
          <a:prstGeom prst="rect">
            <a:avLst/>
          </a:prstGeom>
        </p:spPr>
      </p:pic>
      <p:sp>
        <p:nvSpPr>
          <p:cNvPr id="5" name="object 5"/>
          <p:cNvSpPr txBox="1"/>
          <p:nvPr/>
        </p:nvSpPr>
        <p:spPr>
          <a:xfrm>
            <a:off x="914400" y="4466414"/>
            <a:ext cx="6901815" cy="182038"/>
          </a:xfrm>
          <a:prstGeom prst="rect">
            <a:avLst/>
          </a:prstGeom>
        </p:spPr>
        <p:txBody>
          <a:bodyPr vert="horz" wrap="square" lIns="0" tIns="0" rIns="0" bIns="0" rtlCol="0">
            <a:spAutoFit/>
          </a:bodyPr>
          <a:lstStyle/>
          <a:p>
            <a:pPr marL="12700" algn="ctr">
              <a:lnSpc>
                <a:spcPts val="1435"/>
              </a:lnSpc>
            </a:pPr>
            <a:r>
              <a:rPr sz="1400" spc="-80" dirty="0">
                <a:latin typeface="Calibri"/>
                <a:cs typeface="Calibri"/>
              </a:rPr>
              <a:t>Source:KajariMazumdar</a:t>
            </a:r>
            <a:r>
              <a:rPr sz="1400" dirty="0">
                <a:latin typeface="Calibri"/>
                <a:cs typeface="Calibri"/>
              </a:rPr>
              <a:t> </a:t>
            </a:r>
            <a:r>
              <a:rPr sz="1400" spc="-85" dirty="0">
                <a:latin typeface="Calibri"/>
                <a:cs typeface="Calibri"/>
              </a:rPr>
              <a:t>“GRID:</a:t>
            </a:r>
            <a:r>
              <a:rPr sz="1400" spc="-225" dirty="0">
                <a:latin typeface="Calibri"/>
                <a:cs typeface="Calibri"/>
              </a:rPr>
              <a:t> </a:t>
            </a:r>
            <a:r>
              <a:rPr sz="1400" spc="-90" dirty="0">
                <a:latin typeface="Calibri"/>
                <a:cs typeface="Calibri"/>
              </a:rPr>
              <a:t>Computing</a:t>
            </a:r>
            <a:r>
              <a:rPr sz="1400" spc="-220" dirty="0">
                <a:latin typeface="Calibri"/>
                <a:cs typeface="Calibri"/>
              </a:rPr>
              <a:t> </a:t>
            </a:r>
            <a:r>
              <a:rPr sz="1400" spc="-85" dirty="0">
                <a:latin typeface="Calibri"/>
                <a:cs typeface="Calibri"/>
              </a:rPr>
              <a:t>Without</a:t>
            </a:r>
            <a:r>
              <a:rPr sz="1400" spc="-210" dirty="0">
                <a:latin typeface="Calibri"/>
                <a:cs typeface="Calibri"/>
              </a:rPr>
              <a:t> </a:t>
            </a:r>
            <a:r>
              <a:rPr sz="1400" spc="-90" dirty="0">
                <a:latin typeface="Calibri"/>
                <a:cs typeface="Calibri"/>
              </a:rPr>
              <a:t>Borders”</a:t>
            </a:r>
            <a:r>
              <a:rPr sz="1400" spc="-15" dirty="0">
                <a:latin typeface="Calibri"/>
                <a:cs typeface="Calibri"/>
              </a:rPr>
              <a:t> </a:t>
            </a:r>
            <a:r>
              <a:rPr sz="1400" spc="-90" dirty="0">
                <a:latin typeface="Calibri"/>
                <a:cs typeface="Calibri"/>
              </a:rPr>
              <a:t>Department</a:t>
            </a:r>
            <a:r>
              <a:rPr sz="1400" spc="-220" dirty="0">
                <a:latin typeface="Calibri"/>
                <a:cs typeface="Calibri"/>
              </a:rPr>
              <a:t> </a:t>
            </a:r>
            <a:r>
              <a:rPr sz="1400" spc="-50" dirty="0">
                <a:latin typeface="Calibri"/>
                <a:cs typeface="Calibri"/>
              </a:rPr>
              <a:t>of</a:t>
            </a:r>
            <a:r>
              <a:rPr sz="1400" spc="-220" dirty="0">
                <a:latin typeface="Calibri"/>
                <a:cs typeface="Calibri"/>
              </a:rPr>
              <a:t> </a:t>
            </a:r>
            <a:r>
              <a:rPr sz="1400" spc="-75" dirty="0">
                <a:latin typeface="Calibri"/>
                <a:cs typeface="Calibri"/>
              </a:rPr>
              <a:t>High</a:t>
            </a:r>
            <a:r>
              <a:rPr sz="1400" spc="-215" dirty="0">
                <a:latin typeface="Calibri"/>
                <a:cs typeface="Calibri"/>
              </a:rPr>
              <a:t> </a:t>
            </a:r>
            <a:r>
              <a:rPr sz="1400" spc="-90" dirty="0">
                <a:latin typeface="Calibri"/>
                <a:cs typeface="Calibri"/>
              </a:rPr>
              <a:t>Energy</a:t>
            </a:r>
            <a:r>
              <a:rPr sz="1400" spc="-210" dirty="0">
                <a:latin typeface="Calibri"/>
                <a:cs typeface="Calibri"/>
              </a:rPr>
              <a:t> </a:t>
            </a:r>
            <a:r>
              <a:rPr sz="1400" spc="-90" dirty="0">
                <a:latin typeface="Calibri"/>
                <a:cs typeface="Calibri"/>
              </a:rPr>
              <a:t>Physics</a:t>
            </a:r>
            <a:r>
              <a:rPr sz="1400" spc="-220" dirty="0">
                <a:latin typeface="Calibri"/>
                <a:cs typeface="Calibri"/>
              </a:rPr>
              <a:t> </a:t>
            </a:r>
            <a:r>
              <a:rPr sz="1400" spc="-75" dirty="0">
                <a:latin typeface="Calibri"/>
                <a:cs typeface="Calibri"/>
              </a:rPr>
              <a:t>TIFR,Mumbai.</a:t>
            </a:r>
            <a:endParaRPr sz="1400" dirty="0">
              <a:latin typeface="Calibri"/>
              <a:cs typeface="Calibri"/>
            </a:endParaRPr>
          </a:p>
        </p:txBody>
      </p:sp>
      <p:sp>
        <p:nvSpPr>
          <p:cNvPr id="6" name="Footer Placeholder 5">
            <a:extLst>
              <a:ext uri="{FF2B5EF4-FFF2-40B4-BE49-F238E27FC236}">
                <a16:creationId xmlns:a16="http://schemas.microsoft.com/office/drawing/2014/main" id="{ED42D926-1AF4-957D-50E7-C9DFBCEC464F}"/>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66560" y="869281"/>
            <a:ext cx="8229600" cy="3404937"/>
          </a:xfrm>
        </p:spPr>
        <p:txBody>
          <a:bodyPr>
            <a:noAutofit/>
          </a:bodyPr>
          <a:lstStyle/>
          <a:p>
            <a:pPr algn="just">
              <a:lnSpc>
                <a:spcPct val="150000"/>
              </a:lnSpc>
              <a:buBlip>
                <a:blip r:embed="rId2"/>
              </a:buBlip>
            </a:pPr>
            <a:r>
              <a:rPr lang="en-US" sz="1500" b="1" dirty="0"/>
              <a:t>Resource Sharing</a:t>
            </a:r>
            <a:r>
              <a:rPr lang="en-US" sz="1500" dirty="0"/>
              <a:t>: Grid computing enables the pooling and sharing of computing resources (like processors, storage, and networks) across multiple organizations or locations to solve large-scale problems.</a:t>
            </a:r>
          </a:p>
          <a:p>
            <a:pPr algn="just">
              <a:lnSpc>
                <a:spcPct val="150000"/>
              </a:lnSpc>
              <a:buBlip>
                <a:blip r:embed="rId2"/>
              </a:buBlip>
            </a:pPr>
            <a:r>
              <a:rPr lang="en-US" sz="1500" b="1" dirty="0"/>
              <a:t>Distributed Architecture</a:t>
            </a:r>
            <a:r>
              <a:rPr lang="en-US" sz="1500" dirty="0"/>
              <a:t>: It connects diverse, geographically distributed systems, creating a virtual supercomputer that allows for parallel processing, better resource utilization, and increased computational power.</a:t>
            </a:r>
          </a:p>
          <a:p>
            <a:pPr algn="just">
              <a:lnSpc>
                <a:spcPct val="150000"/>
              </a:lnSpc>
              <a:buBlip>
                <a:blip r:embed="rId2"/>
              </a:buBlip>
            </a:pPr>
            <a:r>
              <a:rPr lang="en-US" sz="1500" b="1" dirty="0"/>
              <a:t>Scalability</a:t>
            </a:r>
            <a:r>
              <a:rPr lang="en-US" sz="1500" dirty="0"/>
              <a:t>: Grid computing allows for flexible scaling, as additional resources (hardware or software) can be easily integrated into the grid to meet growing computational demands.</a:t>
            </a:r>
          </a:p>
          <a:p>
            <a:pPr algn="just">
              <a:lnSpc>
                <a:spcPct val="150000"/>
              </a:lnSpc>
              <a:buBlip>
                <a:blip r:embed="rId2"/>
              </a:buBlip>
            </a:pPr>
            <a:r>
              <a:rPr lang="en-US" sz="1500" b="1" dirty="0"/>
              <a:t>Collaboration and Efficiency</a:t>
            </a:r>
            <a:r>
              <a:rPr lang="en-US" sz="1500" dirty="0"/>
              <a:t>: It facilitates collaboration between organizations and enhances computational efficiency, often used in research, scientific simulations, data analysis, and tasks requiring high-performance computing (HPC).</a:t>
            </a:r>
            <a:endParaRPr lang="en-IN" sz="150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18</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19</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20</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TotalTime>
  <Words>1689</Words>
  <Application>Microsoft Office PowerPoint</Application>
  <PresentationFormat>On-screen Show (16:9)</PresentationFormat>
  <Paragraphs>163</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Grid Computing?</vt:lpstr>
      <vt:lpstr>Electrical Power Grid  Analogy</vt:lpstr>
      <vt:lpstr>Grid Computing</vt:lpstr>
      <vt:lpstr>Need of Grid Computing?</vt:lpstr>
      <vt:lpstr>Who uses Grid Computing?</vt:lpstr>
      <vt:lpstr>Type of Grids</vt:lpstr>
      <vt:lpstr>Type of Grids</vt:lpstr>
      <vt:lpstr>Grid Components</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12</cp:revision>
  <dcterms:created xsi:type="dcterms:W3CDTF">2024-12-06T17:10:37Z</dcterms:created>
  <dcterms:modified xsi:type="dcterms:W3CDTF">2024-12-15T15:16:22Z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