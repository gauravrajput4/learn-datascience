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19"/>
  </p:notesMasterIdLst>
  <p:sldIdLst>
    <p:sldId id="424" r:id="rId2"/>
    <p:sldId id="425" r:id="rId3"/>
    <p:sldId id="426" r:id="rId4"/>
    <p:sldId id="427" r:id="rId5"/>
    <p:sldId id="428" r:id="rId6"/>
    <p:sldId id="416" r:id="rId7"/>
    <p:sldId id="417" r:id="rId8"/>
    <p:sldId id="418" r:id="rId9"/>
    <p:sldId id="429" r:id="rId10"/>
    <p:sldId id="423" r:id="rId11"/>
    <p:sldId id="270" r:id="rId12"/>
    <p:sldId id="271" r:id="rId13"/>
    <p:sldId id="272" r:id="rId14"/>
    <p:sldId id="273" r:id="rId15"/>
    <p:sldId id="421" r:id="rId16"/>
    <p:sldId id="422" r:id="rId17"/>
    <p:sldId id="352" r:id="rId18"/>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9" d="100"/>
          <a:sy n="119" d="100"/>
        </p:scale>
        <p:origin x="418" y="120"/>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F0DC4A99-9312-4F8C-A4D7-0726CEA43945}" type="datetimeFigureOut">
              <a:rPr lang="en-US" smtClean="0"/>
              <a:t>12/15/2024</a:t>
            </a:fld>
            <a:endParaRPr lang="en-US"/>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42C608E4-73BD-4B32-A8E7-2CAA3D3FC81C}" type="slidenum">
              <a:rPr lang="en-US" smtClean="0"/>
              <a:t>‹#›</a:t>
            </a:fld>
            <a:endParaRPr lang="en-US"/>
          </a:p>
        </p:txBody>
      </p:sp>
    </p:spTree>
    <p:extLst>
      <p:ext uri="{BB962C8B-B14F-4D97-AF65-F5344CB8AC3E}">
        <p14:creationId xmlns:p14="http://schemas.microsoft.com/office/powerpoint/2010/main" val="1001225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0C3FA-956A-C0F7-4365-C5AE4B781728}"/>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7F4A5A88-40B4-D19A-7453-A65FAB84F3C8}"/>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D019B4F-0FEB-66D2-5447-15B060E46E99}"/>
              </a:ext>
            </a:extLst>
          </p:cNvPr>
          <p:cNvSpPr>
            <a:spLocks noGrp="1"/>
          </p:cNvSpPr>
          <p:nvPr>
            <p:ph type="dt" sz="half" idx="10"/>
          </p:nvPr>
        </p:nvSpPr>
        <p:spPr>
          <a:xfrm>
            <a:off x="628650" y="4767263"/>
            <a:ext cx="2057400" cy="273844"/>
          </a:xfrm>
          <a:prstGeom prst="rect">
            <a:avLst/>
          </a:prstGeom>
        </p:spPr>
        <p:txBody>
          <a:bodyPr/>
          <a:lstStyle/>
          <a:p>
            <a:fld id="{B3E38762-2AFD-486A-9C39-8C32F04FF70B}" type="datetime1">
              <a:rPr lang="en-US" smtClean="0"/>
              <a:t>12/15/2024</a:t>
            </a:fld>
            <a:endParaRPr lang="en-US"/>
          </a:p>
        </p:txBody>
      </p:sp>
      <p:sp>
        <p:nvSpPr>
          <p:cNvPr id="5" name="Footer Placeholder 4">
            <a:extLst>
              <a:ext uri="{FF2B5EF4-FFF2-40B4-BE49-F238E27FC236}">
                <a16:creationId xmlns:a16="http://schemas.microsoft.com/office/drawing/2014/main" id="{F30B03CC-E8DD-7A7F-331E-89B2E349E487}"/>
              </a:ext>
            </a:extLst>
          </p:cNvPr>
          <p:cNvSpPr>
            <a:spLocks noGrp="1"/>
          </p:cNvSpPr>
          <p:nvPr>
            <p:ph type="ftr" sz="quarter" idx="11"/>
          </p:nvPr>
        </p:nvSpPr>
        <p:spPr/>
        <p:txBody>
          <a:bodyPr/>
          <a:lstStyle/>
          <a:p>
            <a:r>
              <a:rPr lang="en-US"/>
              <a:t>Department of Computer Application </a:t>
            </a:r>
          </a:p>
        </p:txBody>
      </p:sp>
      <p:sp>
        <p:nvSpPr>
          <p:cNvPr id="6" name="Slide Number Placeholder 5">
            <a:extLst>
              <a:ext uri="{FF2B5EF4-FFF2-40B4-BE49-F238E27FC236}">
                <a16:creationId xmlns:a16="http://schemas.microsoft.com/office/drawing/2014/main" id="{C796FB3A-BE5C-CDF4-E6C4-2ABB2FA13B5C}"/>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75124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5D2B6-9442-1ACF-C0C7-A89F625A4BF6}"/>
              </a:ext>
            </a:extLst>
          </p:cNvPr>
          <p:cNvSpPr>
            <a:spLocks noGrp="1"/>
          </p:cNvSpPr>
          <p:nvPr>
            <p:ph type="title"/>
          </p:nvPr>
        </p:nvSpPr>
        <p:spPr/>
        <p:txBody>
          <a:bodyPr/>
          <a:lstStyle>
            <a:lvl1pPr>
              <a:defRPr>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23301085-2CB1-03EE-C7D1-6765656FE1F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DDD8435-3FC5-EAE9-ECFD-6BEF85FC76E5}"/>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AA28CC44-2682-D9FE-9F81-3A6CC9A4DF6C}"/>
              </a:ext>
            </a:extLst>
          </p:cNvPr>
          <p:cNvSpPr>
            <a:spLocks noGrp="1"/>
          </p:cNvSpPr>
          <p:nvPr>
            <p:ph type="sldNum" sz="quarter" idx="12"/>
          </p:nvPr>
        </p:nvSpPr>
        <p:spPr/>
        <p:txBody>
          <a:bodyPr/>
          <a:lstStyle>
            <a:lvl1pPr>
              <a:defRPr/>
            </a:lvl1pPr>
          </a:lstStyle>
          <a:p>
            <a:pPr marL="38100">
              <a:lnSpc>
                <a:spcPts val="1240"/>
              </a:lnSpc>
            </a:pPr>
            <a:r>
              <a:rPr lang="en-US" dirty="0"/>
              <a:t>12</a:t>
            </a:r>
          </a:p>
        </p:txBody>
      </p:sp>
      <p:pic>
        <p:nvPicPr>
          <p:cNvPr id="7" name="Picture 6">
            <a:extLst>
              <a:ext uri="{FF2B5EF4-FFF2-40B4-BE49-F238E27FC236}">
                <a16:creationId xmlns:a16="http://schemas.microsoft.com/office/drawing/2014/main" id="{3EB6E5F4-6304-6256-5695-7BD78A8ACC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8" name="Picture 7">
            <a:extLst>
              <a:ext uri="{FF2B5EF4-FFF2-40B4-BE49-F238E27FC236}">
                <a16:creationId xmlns:a16="http://schemas.microsoft.com/office/drawing/2014/main" id="{90F09C4B-555B-8B2F-278E-9263CE166574}"/>
              </a:ext>
            </a:extLst>
          </p:cNvPr>
          <p:cNvPicPr>
            <a:picLocks noChangeAspect="1"/>
          </p:cNvPicPr>
          <p:nvPr userDrawn="1"/>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4259739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E59CC-689E-115B-0A40-4F2898674184}"/>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695A29A-76C8-75E3-C412-D07CA2250509}"/>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E73DAFB2-01F6-148D-1378-AB6F4EEE07FD}"/>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6BA41863-4AEF-128C-9139-DFFC94B26D2A}"/>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332074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46480-4968-BC40-0399-5FC6F5D25C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D37503-6739-3552-AEBE-0C9014E535C2}"/>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C04DD6-AF84-C7DC-B0B2-E3D8E2BE9298}"/>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70C0D7-3E84-8214-1C76-BE27471A6964}"/>
              </a:ext>
            </a:extLst>
          </p:cNvPr>
          <p:cNvSpPr>
            <a:spLocks noGrp="1"/>
          </p:cNvSpPr>
          <p:nvPr>
            <p:ph type="dt" sz="half" idx="10"/>
          </p:nvPr>
        </p:nvSpPr>
        <p:spPr>
          <a:xfrm>
            <a:off x="628650" y="4767263"/>
            <a:ext cx="2057400" cy="273844"/>
          </a:xfrm>
          <a:prstGeom prst="rect">
            <a:avLst/>
          </a:prstGeom>
        </p:spPr>
        <p:txBody>
          <a:bodyPr/>
          <a:lstStyle/>
          <a:p>
            <a:fld id="{F5F93631-43AB-4E7B-972D-0F6F0C521BFB}" type="datetime1">
              <a:rPr lang="en-US" smtClean="0"/>
              <a:t>12/15/2024</a:t>
            </a:fld>
            <a:endParaRPr lang="en-US"/>
          </a:p>
        </p:txBody>
      </p:sp>
      <p:sp>
        <p:nvSpPr>
          <p:cNvPr id="6" name="Footer Placeholder 5">
            <a:extLst>
              <a:ext uri="{FF2B5EF4-FFF2-40B4-BE49-F238E27FC236}">
                <a16:creationId xmlns:a16="http://schemas.microsoft.com/office/drawing/2014/main" id="{D3DEF193-9681-F300-592A-FAB09BD9D4C6}"/>
              </a:ext>
            </a:extLst>
          </p:cNvPr>
          <p:cNvSpPr>
            <a:spLocks noGrp="1"/>
          </p:cNvSpPr>
          <p:nvPr>
            <p:ph type="ftr" sz="quarter" idx="11"/>
          </p:nvPr>
        </p:nvSpPr>
        <p:spPr/>
        <p:txBody>
          <a:bodyPr/>
          <a:lstStyle/>
          <a:p>
            <a:r>
              <a:rPr lang="en-US" dirty="0"/>
              <a:t>Department of Computer Application</a:t>
            </a:r>
          </a:p>
          <a:p>
            <a:endParaRPr lang="en-US" dirty="0"/>
          </a:p>
        </p:txBody>
      </p:sp>
      <p:sp>
        <p:nvSpPr>
          <p:cNvPr id="7" name="Slide Number Placeholder 6">
            <a:extLst>
              <a:ext uri="{FF2B5EF4-FFF2-40B4-BE49-F238E27FC236}">
                <a16:creationId xmlns:a16="http://schemas.microsoft.com/office/drawing/2014/main" id="{50021CFC-03DE-1DAC-D88C-71A4FE09439D}"/>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439837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9CE26-82D2-D25A-D9A3-E2F1C6830BD0}"/>
              </a:ext>
            </a:extLst>
          </p:cNvPr>
          <p:cNvSpPr>
            <a:spLocks noGrp="1"/>
          </p:cNvSpPr>
          <p:nvPr>
            <p:ph type="title"/>
          </p:nvPr>
        </p:nvSpPr>
        <p:spPr>
          <a:xfrm>
            <a:off x="629841" y="273844"/>
            <a:ext cx="7886700" cy="99417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AAFC2C3-1300-E112-5576-1F02EED34A6A}"/>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FB73102-13BF-362E-49F8-641DDD80D4C5}"/>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06E4CD-19F5-A034-E5CB-7B86DC91D5E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C9063A4-24CB-4E44-13A1-D065F2B82E57}"/>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09BCD1-9F6F-26DD-A2FA-3F0605B69FE3}"/>
              </a:ext>
            </a:extLst>
          </p:cNvPr>
          <p:cNvSpPr>
            <a:spLocks noGrp="1"/>
          </p:cNvSpPr>
          <p:nvPr>
            <p:ph type="dt" sz="half" idx="10"/>
          </p:nvPr>
        </p:nvSpPr>
        <p:spPr>
          <a:xfrm>
            <a:off x="628650" y="4767263"/>
            <a:ext cx="2057400" cy="273844"/>
          </a:xfrm>
          <a:prstGeom prst="rect">
            <a:avLst/>
          </a:prstGeom>
        </p:spPr>
        <p:txBody>
          <a:bodyPr/>
          <a:lstStyle/>
          <a:p>
            <a:fld id="{9D85461E-7623-4714-934A-DE2E9089A6F7}" type="datetime1">
              <a:rPr lang="en-US" smtClean="0"/>
              <a:t>12/15/2024</a:t>
            </a:fld>
            <a:endParaRPr lang="en-US"/>
          </a:p>
        </p:txBody>
      </p:sp>
      <p:sp>
        <p:nvSpPr>
          <p:cNvPr id="8" name="Footer Placeholder 7">
            <a:extLst>
              <a:ext uri="{FF2B5EF4-FFF2-40B4-BE49-F238E27FC236}">
                <a16:creationId xmlns:a16="http://schemas.microsoft.com/office/drawing/2014/main" id="{85B59446-DDFD-0C27-404A-6F34E6217A84}"/>
              </a:ext>
            </a:extLst>
          </p:cNvPr>
          <p:cNvSpPr>
            <a:spLocks noGrp="1"/>
          </p:cNvSpPr>
          <p:nvPr>
            <p:ph type="ftr" sz="quarter" idx="11"/>
          </p:nvPr>
        </p:nvSpPr>
        <p:spPr/>
        <p:txBody>
          <a:bodyPr/>
          <a:lstStyle/>
          <a:p>
            <a:r>
              <a:rPr lang="en-US"/>
              <a:t>Department of Computer Application </a:t>
            </a:r>
          </a:p>
        </p:txBody>
      </p:sp>
      <p:sp>
        <p:nvSpPr>
          <p:cNvPr id="9" name="Slide Number Placeholder 8">
            <a:extLst>
              <a:ext uri="{FF2B5EF4-FFF2-40B4-BE49-F238E27FC236}">
                <a16:creationId xmlns:a16="http://schemas.microsoft.com/office/drawing/2014/main" id="{988869AB-F99A-F176-BF8F-BABB297E5714}"/>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000149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BCE0B-4E31-0BCA-7E2D-A88C763655C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82DC94B-B89C-F4AD-9437-34AA86F6FC87}"/>
              </a:ext>
            </a:extLst>
          </p:cNvPr>
          <p:cNvSpPr>
            <a:spLocks noGrp="1"/>
          </p:cNvSpPr>
          <p:nvPr>
            <p:ph type="dt" sz="half" idx="10"/>
          </p:nvPr>
        </p:nvSpPr>
        <p:spPr>
          <a:xfrm>
            <a:off x="628650" y="4767263"/>
            <a:ext cx="2057400" cy="273844"/>
          </a:xfrm>
          <a:prstGeom prst="rect">
            <a:avLst/>
          </a:prstGeom>
        </p:spPr>
        <p:txBody>
          <a:bodyPr/>
          <a:lstStyle/>
          <a:p>
            <a:fld id="{C7F24AFF-8169-4C36-A194-98CC1E442CC2}" type="datetime1">
              <a:rPr lang="en-US" smtClean="0"/>
              <a:t>12/15/2024</a:t>
            </a:fld>
            <a:endParaRPr lang="en-US"/>
          </a:p>
        </p:txBody>
      </p:sp>
      <p:sp>
        <p:nvSpPr>
          <p:cNvPr id="4" name="Footer Placeholder 3">
            <a:extLst>
              <a:ext uri="{FF2B5EF4-FFF2-40B4-BE49-F238E27FC236}">
                <a16:creationId xmlns:a16="http://schemas.microsoft.com/office/drawing/2014/main" id="{08FB183C-E4FD-1C77-2F22-779CF59685E6}"/>
              </a:ext>
            </a:extLst>
          </p:cNvPr>
          <p:cNvSpPr>
            <a:spLocks noGrp="1"/>
          </p:cNvSpPr>
          <p:nvPr>
            <p:ph type="ftr" sz="quarter" idx="11"/>
          </p:nvPr>
        </p:nvSpPr>
        <p:spPr/>
        <p:txBody>
          <a:bodyPr/>
          <a:lstStyle/>
          <a:p>
            <a:r>
              <a:rPr lang="en-US" dirty="0"/>
              <a:t>Department of Computer Application</a:t>
            </a:r>
          </a:p>
          <a:p>
            <a:endParaRPr lang="en-US" dirty="0"/>
          </a:p>
        </p:txBody>
      </p:sp>
      <p:sp>
        <p:nvSpPr>
          <p:cNvPr id="5" name="Slide Number Placeholder 4">
            <a:extLst>
              <a:ext uri="{FF2B5EF4-FFF2-40B4-BE49-F238E27FC236}">
                <a16:creationId xmlns:a16="http://schemas.microsoft.com/office/drawing/2014/main" id="{8E74B489-3934-3E8D-ED4E-51109D373ED1}"/>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284691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9B2487-A1DE-765F-1108-4A102F465B33}"/>
              </a:ext>
            </a:extLst>
          </p:cNvPr>
          <p:cNvSpPr>
            <a:spLocks noGrp="1"/>
          </p:cNvSpPr>
          <p:nvPr>
            <p:ph type="dt" sz="half" idx="10"/>
          </p:nvPr>
        </p:nvSpPr>
        <p:spPr>
          <a:xfrm>
            <a:off x="628650" y="4767263"/>
            <a:ext cx="2057400" cy="273844"/>
          </a:xfrm>
          <a:prstGeom prst="rect">
            <a:avLst/>
          </a:prstGeom>
        </p:spPr>
        <p:txBody>
          <a:bodyPr/>
          <a:lstStyle/>
          <a:p>
            <a:fld id="{C4C4D386-518F-47DC-9491-94E830BC1CB3}" type="datetime1">
              <a:rPr lang="en-US" smtClean="0"/>
              <a:t>12/15/2024</a:t>
            </a:fld>
            <a:endParaRPr lang="en-US"/>
          </a:p>
        </p:txBody>
      </p:sp>
      <p:sp>
        <p:nvSpPr>
          <p:cNvPr id="3" name="Footer Placeholder 2">
            <a:extLst>
              <a:ext uri="{FF2B5EF4-FFF2-40B4-BE49-F238E27FC236}">
                <a16:creationId xmlns:a16="http://schemas.microsoft.com/office/drawing/2014/main" id="{E69A5B8F-A44B-75BB-32A6-422B07820607}"/>
              </a:ext>
            </a:extLst>
          </p:cNvPr>
          <p:cNvSpPr>
            <a:spLocks noGrp="1"/>
          </p:cNvSpPr>
          <p:nvPr>
            <p:ph type="ftr" sz="quarter" idx="11"/>
          </p:nvPr>
        </p:nvSpPr>
        <p:spPr/>
        <p:txBody>
          <a:bodyPr/>
          <a:lstStyle/>
          <a:p>
            <a:r>
              <a:rPr lang="en-US" dirty="0"/>
              <a:t>Department of Computer Application</a:t>
            </a:r>
          </a:p>
          <a:p>
            <a:endParaRPr lang="en-US" dirty="0"/>
          </a:p>
        </p:txBody>
      </p:sp>
      <p:sp>
        <p:nvSpPr>
          <p:cNvPr id="4" name="Slide Number Placeholder 3">
            <a:extLst>
              <a:ext uri="{FF2B5EF4-FFF2-40B4-BE49-F238E27FC236}">
                <a16:creationId xmlns:a16="http://schemas.microsoft.com/office/drawing/2014/main" id="{0727C921-34CD-31F3-20AD-0FDDCA7BE45B}"/>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909810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1DC25-48A6-087B-75D0-795092B0ADED}"/>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8BF29551-E546-6186-0EC5-D3FB705E393F}"/>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FAC003-1A92-A1C4-E849-984DDC4F6DC0}"/>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C9A1740-C096-A33D-E438-3F9AD6E86B6A}"/>
              </a:ext>
            </a:extLst>
          </p:cNvPr>
          <p:cNvSpPr>
            <a:spLocks noGrp="1"/>
          </p:cNvSpPr>
          <p:nvPr>
            <p:ph type="dt" sz="half" idx="10"/>
          </p:nvPr>
        </p:nvSpPr>
        <p:spPr>
          <a:xfrm>
            <a:off x="628650" y="4767263"/>
            <a:ext cx="2057400" cy="273844"/>
          </a:xfrm>
          <a:prstGeom prst="rect">
            <a:avLst/>
          </a:prstGeom>
        </p:spPr>
        <p:txBody>
          <a:bodyPr/>
          <a:lstStyle/>
          <a:p>
            <a:fld id="{ABC2824D-218C-424B-A77B-CC590C0C592E}" type="datetime1">
              <a:rPr lang="en-US" smtClean="0"/>
              <a:t>12/15/2024</a:t>
            </a:fld>
            <a:endParaRPr lang="en-US"/>
          </a:p>
        </p:txBody>
      </p:sp>
      <p:sp>
        <p:nvSpPr>
          <p:cNvPr id="6" name="Footer Placeholder 5">
            <a:extLst>
              <a:ext uri="{FF2B5EF4-FFF2-40B4-BE49-F238E27FC236}">
                <a16:creationId xmlns:a16="http://schemas.microsoft.com/office/drawing/2014/main" id="{46C1BB76-FD9E-3CCB-056C-2BF2335D1487}"/>
              </a:ext>
            </a:extLst>
          </p:cNvPr>
          <p:cNvSpPr>
            <a:spLocks noGrp="1"/>
          </p:cNvSpPr>
          <p:nvPr>
            <p:ph type="ftr" sz="quarter" idx="11"/>
          </p:nvPr>
        </p:nvSpPr>
        <p:spPr/>
        <p:txBody>
          <a:bodyPr/>
          <a:lstStyle/>
          <a:p>
            <a:r>
              <a:rPr lang="en-US"/>
              <a:t>Department of Computer Application </a:t>
            </a:r>
          </a:p>
        </p:txBody>
      </p:sp>
      <p:sp>
        <p:nvSpPr>
          <p:cNvPr id="7" name="Slide Number Placeholder 6">
            <a:extLst>
              <a:ext uri="{FF2B5EF4-FFF2-40B4-BE49-F238E27FC236}">
                <a16:creationId xmlns:a16="http://schemas.microsoft.com/office/drawing/2014/main" id="{BBE95265-E66D-09B4-F7BE-8475BA602C9E}"/>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4191986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818C6-7E01-7E3E-67C3-08E483C28B54}"/>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C9653A57-F481-9BBE-FCC3-EA3472686508}"/>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F115DF1C-6898-CB53-CE53-69CE4A10DF6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CABF6D0-9446-AAA4-75DB-24E8BE080189}"/>
              </a:ext>
            </a:extLst>
          </p:cNvPr>
          <p:cNvSpPr>
            <a:spLocks noGrp="1"/>
          </p:cNvSpPr>
          <p:nvPr>
            <p:ph type="dt" sz="half" idx="10"/>
          </p:nvPr>
        </p:nvSpPr>
        <p:spPr>
          <a:xfrm>
            <a:off x="628650" y="4767263"/>
            <a:ext cx="2057400" cy="273844"/>
          </a:xfrm>
          <a:prstGeom prst="rect">
            <a:avLst/>
          </a:prstGeom>
        </p:spPr>
        <p:txBody>
          <a:bodyPr/>
          <a:lstStyle/>
          <a:p>
            <a:fld id="{54DBEF21-4283-4C52-B383-45AAC0991FFA}" type="datetime1">
              <a:rPr lang="en-US" smtClean="0"/>
              <a:t>12/15/2024</a:t>
            </a:fld>
            <a:endParaRPr lang="en-US"/>
          </a:p>
        </p:txBody>
      </p:sp>
      <p:sp>
        <p:nvSpPr>
          <p:cNvPr id="6" name="Footer Placeholder 5">
            <a:extLst>
              <a:ext uri="{FF2B5EF4-FFF2-40B4-BE49-F238E27FC236}">
                <a16:creationId xmlns:a16="http://schemas.microsoft.com/office/drawing/2014/main" id="{16C622BE-5569-E1D1-FF35-0627E7C43D95}"/>
              </a:ext>
            </a:extLst>
          </p:cNvPr>
          <p:cNvSpPr>
            <a:spLocks noGrp="1"/>
          </p:cNvSpPr>
          <p:nvPr>
            <p:ph type="ftr" sz="quarter" idx="11"/>
          </p:nvPr>
        </p:nvSpPr>
        <p:spPr/>
        <p:txBody>
          <a:bodyPr/>
          <a:lstStyle/>
          <a:p>
            <a:r>
              <a:rPr lang="en-US"/>
              <a:t>Department of Computer Application </a:t>
            </a:r>
          </a:p>
        </p:txBody>
      </p:sp>
      <p:sp>
        <p:nvSpPr>
          <p:cNvPr id="7" name="Slide Number Placeholder 6">
            <a:extLst>
              <a:ext uri="{FF2B5EF4-FFF2-40B4-BE49-F238E27FC236}">
                <a16:creationId xmlns:a16="http://schemas.microsoft.com/office/drawing/2014/main" id="{A3DDB5F8-2338-5B87-A144-AC3A64B5190D}"/>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227042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E178D-6E73-89E5-A563-A6E977FBD53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598AA7-CCD0-4558-FB61-D81FEE437D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609914-B1C2-8F4C-1CA2-E44E3E92A910}"/>
              </a:ext>
            </a:extLst>
          </p:cNvPr>
          <p:cNvSpPr>
            <a:spLocks noGrp="1"/>
          </p:cNvSpPr>
          <p:nvPr>
            <p:ph type="dt" sz="half" idx="10"/>
          </p:nvPr>
        </p:nvSpPr>
        <p:spPr>
          <a:xfrm>
            <a:off x="628650" y="4767263"/>
            <a:ext cx="2057400" cy="273844"/>
          </a:xfrm>
          <a:prstGeom prst="rect">
            <a:avLst/>
          </a:prstGeom>
        </p:spPr>
        <p:txBody>
          <a:bodyPr/>
          <a:lstStyle/>
          <a:p>
            <a:fld id="{9069F578-6E95-4320-8BD4-332ABE4C5A02}" type="datetime1">
              <a:rPr lang="en-US" smtClean="0"/>
              <a:t>12/15/2024</a:t>
            </a:fld>
            <a:endParaRPr lang="en-US"/>
          </a:p>
        </p:txBody>
      </p:sp>
      <p:sp>
        <p:nvSpPr>
          <p:cNvPr id="5" name="Footer Placeholder 4">
            <a:extLst>
              <a:ext uri="{FF2B5EF4-FFF2-40B4-BE49-F238E27FC236}">
                <a16:creationId xmlns:a16="http://schemas.microsoft.com/office/drawing/2014/main" id="{525CA74A-C55F-3AC6-217B-5AC433C99DF5}"/>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DD347393-0B41-117F-D7CE-B11E68BA097F}"/>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908166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E4E15F-8303-3B0B-85A4-6FEE95BA5067}"/>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7936F1-44E8-B374-9A45-BBFB8C0E5F88}"/>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08CCF6-B925-CD5F-823A-5CDF8CC9853F}"/>
              </a:ext>
            </a:extLst>
          </p:cNvPr>
          <p:cNvSpPr>
            <a:spLocks noGrp="1"/>
          </p:cNvSpPr>
          <p:nvPr>
            <p:ph type="dt" sz="half" idx="10"/>
          </p:nvPr>
        </p:nvSpPr>
        <p:spPr>
          <a:xfrm>
            <a:off x="628650" y="4767263"/>
            <a:ext cx="2057400" cy="273844"/>
          </a:xfrm>
          <a:prstGeom prst="rect">
            <a:avLst/>
          </a:prstGeom>
        </p:spPr>
        <p:txBody>
          <a:bodyPr/>
          <a:lstStyle/>
          <a:p>
            <a:fld id="{6189F22B-29B3-4F91-8819-63933F2F32E2}" type="datetime1">
              <a:rPr lang="en-US" smtClean="0"/>
              <a:t>12/15/2024</a:t>
            </a:fld>
            <a:endParaRPr lang="en-US"/>
          </a:p>
        </p:txBody>
      </p:sp>
      <p:sp>
        <p:nvSpPr>
          <p:cNvPr id="5" name="Footer Placeholder 4">
            <a:extLst>
              <a:ext uri="{FF2B5EF4-FFF2-40B4-BE49-F238E27FC236}">
                <a16:creationId xmlns:a16="http://schemas.microsoft.com/office/drawing/2014/main" id="{370C9C9B-986B-B081-60E4-12B7B252C911}"/>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6306B517-18CB-1490-3466-0F808913A5B0}"/>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681370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9B1E53-DD21-3667-D6AA-503B34CA867E}"/>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141172-3E17-CE01-056A-EDC62007D9B8}"/>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1CB6549-DB78-C49A-D71D-305BF7E17A28}"/>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7248596B-5C5D-1E04-F02C-3B590B606A7F}"/>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38100">
              <a:lnSpc>
                <a:spcPts val="1240"/>
              </a:lnSpc>
            </a:pPr>
            <a:r>
              <a:rPr lang="en-US" dirty="0"/>
              <a:t>12</a:t>
            </a:r>
          </a:p>
        </p:txBody>
      </p:sp>
      <p:pic>
        <p:nvPicPr>
          <p:cNvPr id="7" name="Picture 6">
            <a:extLst>
              <a:ext uri="{FF2B5EF4-FFF2-40B4-BE49-F238E27FC236}">
                <a16:creationId xmlns:a16="http://schemas.microsoft.com/office/drawing/2014/main" id="{A5FD36E8-325B-C8CF-D8A4-AB15159C5946}"/>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8" name="Picture 7">
            <a:extLst>
              <a:ext uri="{FF2B5EF4-FFF2-40B4-BE49-F238E27FC236}">
                <a16:creationId xmlns:a16="http://schemas.microsoft.com/office/drawing/2014/main" id="{3FB506CE-F944-DABC-86CA-066C5644E25F}"/>
              </a:ext>
            </a:extLst>
          </p:cNvPr>
          <p:cNvPicPr>
            <a:picLocks noChangeAspect="1"/>
          </p:cNvPicPr>
          <p:nvPr userDrawn="1"/>
        </p:nvPicPr>
        <p:blipFill>
          <a:blip r:embed="rId14"/>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92638433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5.gif"/><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hyperlink" Target="https://www.youtube.com/@cloudcomputing351/videos" TargetMode="External"/><Relationship Id="rId7" Type="http://schemas.openxmlformats.org/officeDocument/2006/relationships/hyperlink" Target="https://www.edx.org/learn/cloud-computing" TargetMode="External"/><Relationship Id="rId2" Type="http://schemas.openxmlformats.org/officeDocument/2006/relationships/hyperlink" Target="https://archive.org/details/cloudcomputingbi0000sosi" TargetMode="External"/><Relationship Id="rId1" Type="http://schemas.openxmlformats.org/officeDocument/2006/relationships/slideLayout" Target="../slideLayouts/slideLayout2.xml"/><Relationship Id="rId6" Type="http://schemas.openxmlformats.org/officeDocument/2006/relationships/hyperlink" Target="https://nptel.ac.in/courses/106105167" TargetMode="External"/><Relationship Id="rId5" Type="http://schemas.openxmlformats.org/officeDocument/2006/relationships/hyperlink" Target="https://www.tutorialspoint.com/cloud_computing/index.htm" TargetMode="External"/><Relationship Id="rId4" Type="http://schemas.openxmlformats.org/officeDocument/2006/relationships/hyperlink" Target="https://www.geeksforgeeks.org/cloud-computing/" TargetMode="External"/><Relationship Id="rId9"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Slide Number Placeholder 2"/>
          <p:cNvSpPr txBox="1">
            <a:spLocks/>
          </p:cNvSpPr>
          <p:nvPr/>
        </p:nvSpPr>
        <p:spPr>
          <a:xfrm>
            <a:off x="6572250" y="4881563"/>
            <a:ext cx="2057400" cy="273844"/>
          </a:xfrm>
          <a:prstGeom prst="rect">
            <a:avLst/>
          </a:prstGeom>
        </p:spPr>
        <p:txBody>
          <a:bodyPr vert="horz" lIns="68580" tIns="34290" rIns="68580" bIns="3429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7130143" y="4454910"/>
            <a:ext cx="968829" cy="868205"/>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algn="ctr" defTabSz="685800">
              <a:defRPr/>
            </a:pPr>
            <a:endParaRPr lang="en-ID" sz="1350" kern="0">
              <a:solidFill>
                <a:srgbClr val="FFFFFF"/>
              </a:solidFill>
              <a:latin typeface="Calibri" panose="020F0502020204030204"/>
            </a:endParaRPr>
          </a:p>
        </p:txBody>
      </p:sp>
      <p:sp>
        <p:nvSpPr>
          <p:cNvPr id="45" name="Rectangle 44"/>
          <p:cNvSpPr/>
          <p:nvPr/>
        </p:nvSpPr>
        <p:spPr>
          <a:xfrm>
            <a:off x="1593056" y="1519144"/>
            <a:ext cx="5122069" cy="118550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TextBox 25"/>
          <p:cNvSpPr txBox="1">
            <a:spLocks noChangeArrowheads="1"/>
          </p:cNvSpPr>
          <p:nvPr/>
        </p:nvSpPr>
        <p:spPr bwMode="auto">
          <a:xfrm>
            <a:off x="891849" y="1238027"/>
            <a:ext cx="728662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466725">
              <a:lnSpc>
                <a:spcPct val="90000"/>
              </a:lnSpc>
              <a:spcBef>
                <a:spcPct val="0"/>
              </a:spcBef>
              <a:spcAft>
                <a:spcPct val="35000"/>
              </a:spcAft>
            </a:pPr>
            <a:endParaRPr lang="en-US" sz="2400" b="1" dirty="0">
              <a:solidFill>
                <a:prstClr val="black">
                  <a:lumMod val="85000"/>
                  <a:lumOff val="15000"/>
                </a:prstClr>
              </a:solidFill>
              <a:latin typeface="+mn-lt"/>
              <a:cs typeface="Times New Roman" pitchFamily="18" charset="0"/>
            </a:endParaRPr>
          </a:p>
          <a:p>
            <a:pPr algn="ctr" defTabSz="466725">
              <a:lnSpc>
                <a:spcPct val="90000"/>
              </a:lnSpc>
              <a:spcBef>
                <a:spcPct val="0"/>
              </a:spcBef>
              <a:spcAft>
                <a:spcPct val="35000"/>
              </a:spcAft>
            </a:pPr>
            <a:r>
              <a:rPr lang="en-US" sz="2400" b="1" dirty="0">
                <a:solidFill>
                  <a:prstClr val="black">
                    <a:lumMod val="85000"/>
                    <a:lumOff val="15000"/>
                  </a:prstClr>
                </a:solidFill>
                <a:latin typeface="+mn-lt"/>
                <a:cs typeface="Times New Roman" pitchFamily="18" charset="0"/>
              </a:rPr>
              <a:t> </a:t>
            </a:r>
          </a:p>
          <a:p>
            <a:pPr eaLnBrk="1" hangingPunct="1"/>
            <a:endParaRPr lang="en-US" sz="1200" dirty="0">
              <a:latin typeface="+mn-lt"/>
              <a:cs typeface="Times New Roman" pitchFamily="18" charset="0"/>
            </a:endParaRPr>
          </a:p>
        </p:txBody>
      </p:sp>
      <p:sp>
        <p:nvSpPr>
          <p:cNvPr id="14" name="Subtitle 2"/>
          <p:cNvSpPr txBox="1">
            <a:spLocks/>
          </p:cNvSpPr>
          <p:nvPr/>
        </p:nvSpPr>
        <p:spPr>
          <a:xfrm>
            <a:off x="6749124" y="3774566"/>
            <a:ext cx="2191305" cy="948645"/>
          </a:xfrm>
          <a:prstGeom prst="rect">
            <a:avLst/>
          </a:prstGeom>
        </p:spPr>
        <p:txBody>
          <a:bodyPr vert="horz" lIns="68580" tIns="34290" rIns="68580" bIns="34290" rtlCol="0">
            <a:normAutofit/>
          </a:bodyPr>
          <a:lstStyle/>
          <a:p>
            <a:r>
              <a:rPr lang="en-IN" sz="1050" b="1" dirty="0"/>
              <a:t> </a:t>
            </a:r>
            <a:endParaRPr lang="en-IN" sz="1050" dirty="0"/>
          </a:p>
          <a:p>
            <a:pPr algn="ctr" defTabSz="685800">
              <a:spcBef>
                <a:spcPct val="20000"/>
              </a:spcBef>
              <a:defRPr/>
            </a:pPr>
            <a:endParaRPr lang="en-US" sz="1050" b="1" dirty="0"/>
          </a:p>
        </p:txBody>
      </p:sp>
      <p:sp>
        <p:nvSpPr>
          <p:cNvPr id="5" name="Content Placeholder 4">
            <a:extLst>
              <a:ext uri="{FF2B5EF4-FFF2-40B4-BE49-F238E27FC236}">
                <a16:creationId xmlns:a16="http://schemas.microsoft.com/office/drawing/2014/main" id="{4FEB26A1-8062-1228-071E-62007D3ACD45}"/>
              </a:ext>
            </a:extLst>
          </p:cNvPr>
          <p:cNvSpPr>
            <a:spLocks noGrp="1"/>
          </p:cNvSpPr>
          <p:nvPr>
            <p:ph idx="1"/>
          </p:nvPr>
        </p:nvSpPr>
        <p:spPr>
          <a:xfrm>
            <a:off x="320374" y="1136326"/>
            <a:ext cx="8504921" cy="3516637"/>
          </a:xfrm>
        </p:spPr>
        <p:txBody>
          <a:bodyPr>
            <a:normAutofit lnSpcReduction="10000"/>
          </a:bodyPr>
          <a:lstStyle/>
          <a:p>
            <a:pPr marL="0" indent="0" algn="ctr">
              <a:buNone/>
            </a:pPr>
            <a:r>
              <a:rPr lang="en-US" sz="3600" b="1" dirty="0"/>
              <a:t>Chandigarh School of Business, Jhanjeri</a:t>
            </a:r>
          </a:p>
          <a:p>
            <a:pPr marL="0" indent="0" algn="ctr">
              <a:buNone/>
            </a:pPr>
            <a:r>
              <a:rPr lang="en-US" sz="3200" b="1" dirty="0"/>
              <a:t>Department of Computer Application </a:t>
            </a:r>
          </a:p>
          <a:p>
            <a:pPr marL="0" indent="0" algn="ctr">
              <a:buNone/>
            </a:pPr>
            <a:r>
              <a:rPr lang="en-US" sz="2400" b="1" dirty="0"/>
              <a:t>Program </a:t>
            </a:r>
            <a:r>
              <a:rPr lang="en-US" sz="2400" b="1" dirty="0" err="1"/>
              <a:t>Code:NA</a:t>
            </a:r>
            <a:endParaRPr lang="en-US" sz="2400" b="1" dirty="0"/>
          </a:p>
          <a:p>
            <a:pPr marL="0" indent="0" algn="ctr">
              <a:buNone/>
            </a:pPr>
            <a:r>
              <a:rPr lang="en-US" sz="2400" b="1" dirty="0"/>
              <a:t>Program Name: MCA</a:t>
            </a:r>
          </a:p>
          <a:p>
            <a:pPr marL="0" indent="0" algn="ctr">
              <a:buNone/>
            </a:pPr>
            <a:r>
              <a:rPr lang="en-US" sz="2400" b="1" dirty="0"/>
              <a:t>Course Code: </a:t>
            </a:r>
            <a:r>
              <a:rPr lang="en-US" sz="2400" b="1" i="0" u="none" strike="noStrike" baseline="0" dirty="0">
                <a:solidFill>
                  <a:srgbClr val="000000"/>
                </a:solidFill>
              </a:rPr>
              <a:t>PGCA1937 </a:t>
            </a:r>
            <a:r>
              <a:rPr lang="en-US" sz="2400" b="1" dirty="0">
                <a:solidFill>
                  <a:srgbClr val="000000"/>
                </a:solidFill>
              </a:rPr>
              <a:t> </a:t>
            </a:r>
            <a:endParaRPr lang="en-US" sz="2400" b="1" dirty="0"/>
          </a:p>
          <a:p>
            <a:pPr marL="0" indent="0" algn="ctr">
              <a:buNone/>
            </a:pPr>
            <a:r>
              <a:rPr lang="en-US" sz="2400" b="1" dirty="0"/>
              <a:t>Course Name: </a:t>
            </a:r>
            <a:r>
              <a:rPr lang="en-US" sz="2400" b="1" i="0" u="none" strike="noStrike" baseline="0" dirty="0">
                <a:solidFill>
                  <a:srgbClr val="000000"/>
                </a:solidFill>
              </a:rPr>
              <a:t>Cloud Computing </a:t>
            </a:r>
            <a:endParaRPr lang="en-US" sz="2400" b="1" dirty="0"/>
          </a:p>
          <a:p>
            <a:pPr marL="0" indent="0" algn="ctr">
              <a:buNone/>
            </a:pPr>
            <a:endParaRPr lang="en-US" sz="1500" b="1" dirty="0">
              <a:cs typeface="Times New Roman" pitchFamily="18" charset="0"/>
            </a:endParaRPr>
          </a:p>
          <a:p>
            <a:pPr marL="0" indent="0" algn="ctr">
              <a:buNone/>
            </a:pPr>
            <a:endParaRPr lang="en-US" sz="1500" b="1" dirty="0">
              <a:cs typeface="Times New Roman" pitchFamily="18" charset="0"/>
            </a:endParaRPr>
          </a:p>
          <a:p>
            <a:pPr marL="0" indent="0" algn="ctr">
              <a:buNone/>
            </a:pPr>
            <a:r>
              <a:rPr lang="en-US" sz="1500" b="1" dirty="0">
                <a:cs typeface="Times New Roman" pitchFamily="18" charset="0"/>
              </a:rPr>
              <a:t>Prepared by: Dr. Gurvir Kaur</a:t>
            </a:r>
            <a:endParaRPr lang="en-US" sz="1500" b="1" dirty="0"/>
          </a:p>
          <a:p>
            <a:pPr marL="0" indent="0" algn="r">
              <a:buNone/>
            </a:pPr>
            <a:endParaRPr lang="en-IN" sz="1500" b="1" dirty="0"/>
          </a:p>
        </p:txBody>
      </p:sp>
      <p:sp>
        <p:nvSpPr>
          <p:cNvPr id="11" name="Footer Placeholder 10">
            <a:extLst>
              <a:ext uri="{FF2B5EF4-FFF2-40B4-BE49-F238E27FC236}">
                <a16:creationId xmlns:a16="http://schemas.microsoft.com/office/drawing/2014/main" id="{568278E7-5BB2-37C5-B8F9-D97E539F4AB5}"/>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1</a:t>
            </a:fld>
            <a:endParaRPr lang="en-US" dirty="0"/>
          </a:p>
        </p:txBody>
      </p:sp>
      <p:pic>
        <p:nvPicPr>
          <p:cNvPr id="3" name="Picture 2">
            <a:extLst>
              <a:ext uri="{FF2B5EF4-FFF2-40B4-BE49-F238E27FC236}">
                <a16:creationId xmlns:a16="http://schemas.microsoft.com/office/drawing/2014/main" id="{CD3EB1A6-EDF0-5BBF-94AD-51552627D4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spTree>
    <p:extLst>
      <p:ext uri="{BB962C8B-B14F-4D97-AF65-F5344CB8AC3E}">
        <p14:creationId xmlns:p14="http://schemas.microsoft.com/office/powerpoint/2010/main" val="525622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027762C-969A-0E13-AB80-F2139439FB53}"/>
              </a:ext>
            </a:extLst>
          </p:cNvPr>
          <p:cNvSpPr>
            <a:spLocks noGrp="1"/>
          </p:cNvSpPr>
          <p:nvPr>
            <p:ph type="title"/>
          </p:nvPr>
        </p:nvSpPr>
        <p:spPr>
          <a:xfrm>
            <a:off x="2757197" y="102395"/>
            <a:ext cx="3491204" cy="530631"/>
          </a:xfrm>
        </p:spPr>
        <p:txBody>
          <a:bodyPr>
            <a:normAutofit/>
          </a:bodyPr>
          <a:lstStyle/>
          <a:p>
            <a:pPr algn="ctr"/>
            <a:r>
              <a:rPr lang="en-IN" sz="3200" b="1" dirty="0">
                <a:latin typeface="+mn-lt"/>
              </a:rPr>
              <a:t>Outlines</a:t>
            </a:r>
            <a:endParaRPr lang="en-IN" sz="3200" dirty="0"/>
          </a:p>
        </p:txBody>
      </p:sp>
      <p:sp>
        <p:nvSpPr>
          <p:cNvPr id="8" name="Content Placeholder 7">
            <a:extLst>
              <a:ext uri="{FF2B5EF4-FFF2-40B4-BE49-F238E27FC236}">
                <a16:creationId xmlns:a16="http://schemas.microsoft.com/office/drawing/2014/main" id="{726BFAF0-D90E-2EEA-38D0-4ECEDF637887}"/>
              </a:ext>
            </a:extLst>
          </p:cNvPr>
          <p:cNvSpPr>
            <a:spLocks noGrp="1"/>
          </p:cNvSpPr>
          <p:nvPr>
            <p:ph idx="1"/>
          </p:nvPr>
        </p:nvSpPr>
        <p:spPr/>
        <p:txBody>
          <a:bodyPr>
            <a:normAutofit lnSpcReduction="10000"/>
          </a:bodyPr>
          <a:lstStyle/>
          <a:p>
            <a:r>
              <a:rPr lang="en-US" sz="2400" b="1" dirty="0"/>
              <a:t>PTU Syllabus of Unit-I</a:t>
            </a:r>
          </a:p>
          <a:p>
            <a:r>
              <a:rPr lang="en-US" sz="2400" b="1" dirty="0"/>
              <a:t>CO’s Introduction</a:t>
            </a:r>
          </a:p>
          <a:p>
            <a:r>
              <a:rPr lang="en-US" sz="2400" b="1" dirty="0"/>
              <a:t>Topic Overview</a:t>
            </a:r>
          </a:p>
          <a:p>
            <a:r>
              <a:rPr lang="en-US" sz="2400" b="1" dirty="0"/>
              <a:t>Brief description of what the presentation will cover</a:t>
            </a:r>
          </a:p>
          <a:p>
            <a:r>
              <a:rPr lang="en-US" sz="2400" b="1" dirty="0"/>
              <a:t>Importance or relevance of the topic</a:t>
            </a:r>
          </a:p>
          <a:p>
            <a:r>
              <a:rPr lang="en-US" sz="2400" b="1" dirty="0"/>
              <a:t>Key objectives or learning outcomes</a:t>
            </a:r>
          </a:p>
          <a:p>
            <a:r>
              <a:rPr lang="en-US" sz="2400" b="1" dirty="0"/>
              <a:t>Summary</a:t>
            </a:r>
          </a:p>
          <a:p>
            <a:r>
              <a:rPr lang="en-US" sz="2400" b="1" dirty="0"/>
              <a:t>References </a:t>
            </a:r>
          </a:p>
          <a:p>
            <a:endParaRPr lang="en-IN" sz="1800" dirty="0"/>
          </a:p>
        </p:txBody>
      </p:sp>
      <p:sp>
        <p:nvSpPr>
          <p:cNvPr id="5" name="Footer Placeholder 4">
            <a:extLst>
              <a:ext uri="{FF2B5EF4-FFF2-40B4-BE49-F238E27FC236}">
                <a16:creationId xmlns:a16="http://schemas.microsoft.com/office/drawing/2014/main" id="{5E679B33-ABD1-461E-797D-C46F7E70F94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4EE8908C-58B2-4982-0A1F-466E6873A277}"/>
              </a:ext>
            </a:extLst>
          </p:cNvPr>
          <p:cNvSpPr>
            <a:spLocks noGrp="1"/>
          </p:cNvSpPr>
          <p:nvPr>
            <p:ph type="sldNum" sz="quarter" idx="12"/>
          </p:nvPr>
        </p:nvSpPr>
        <p:spPr/>
        <p:txBody>
          <a:bodyPr/>
          <a:lstStyle/>
          <a:p>
            <a:fld id="{7B69A187-1465-481C-91D5-B2B7D79C567F}" type="slidenum">
              <a:rPr lang="en-US" smtClean="0"/>
              <a:pPr/>
              <a:t>2</a:t>
            </a:fld>
            <a:endParaRPr lang="en-US"/>
          </a:p>
        </p:txBody>
      </p:sp>
      <p:pic>
        <p:nvPicPr>
          <p:cNvPr id="2" name="Picture 1">
            <a:extLst>
              <a:ext uri="{FF2B5EF4-FFF2-40B4-BE49-F238E27FC236}">
                <a16:creationId xmlns:a16="http://schemas.microsoft.com/office/drawing/2014/main" id="{197C24A2-13CD-BC24-0213-7A3B72F4A1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3" name="Picture 2">
            <a:extLst>
              <a:ext uri="{FF2B5EF4-FFF2-40B4-BE49-F238E27FC236}">
                <a16:creationId xmlns:a16="http://schemas.microsoft.com/office/drawing/2014/main" id="{C7F959F7-EE60-1EE2-78FB-32CACB202B8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061778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D39D3-F070-9902-1E0F-F7E4C6E76ACD}"/>
              </a:ext>
            </a:extLst>
          </p:cNvPr>
          <p:cNvSpPr>
            <a:spLocks noGrp="1"/>
          </p:cNvSpPr>
          <p:nvPr>
            <p:ph type="title"/>
          </p:nvPr>
        </p:nvSpPr>
        <p:spPr>
          <a:xfrm>
            <a:off x="2676832" y="69056"/>
            <a:ext cx="4613882" cy="479822"/>
          </a:xfrm>
        </p:spPr>
        <p:txBody>
          <a:bodyPr>
            <a:noAutofit/>
          </a:bodyPr>
          <a:lstStyle/>
          <a:p>
            <a:r>
              <a:rPr lang="en-US" sz="3200" b="1" dirty="0">
                <a:latin typeface="+mn-lt"/>
              </a:rPr>
              <a:t>PTU Syllabus of Unit-I</a:t>
            </a:r>
            <a:endParaRPr lang="en-IN" sz="3200" b="1" dirty="0">
              <a:latin typeface="+mn-lt"/>
            </a:endParaRPr>
          </a:p>
        </p:txBody>
      </p:sp>
      <p:sp>
        <p:nvSpPr>
          <p:cNvPr id="7" name="Content Placeholder 6">
            <a:extLst>
              <a:ext uri="{FF2B5EF4-FFF2-40B4-BE49-F238E27FC236}">
                <a16:creationId xmlns:a16="http://schemas.microsoft.com/office/drawing/2014/main" id="{C7F45338-18AF-3BEB-42E0-7EFF6F98942E}"/>
              </a:ext>
            </a:extLst>
          </p:cNvPr>
          <p:cNvSpPr>
            <a:spLocks noGrp="1"/>
          </p:cNvSpPr>
          <p:nvPr>
            <p:ph idx="1"/>
          </p:nvPr>
        </p:nvSpPr>
        <p:spPr>
          <a:xfrm>
            <a:off x="628650" y="1113597"/>
            <a:ext cx="7886700" cy="3508773"/>
          </a:xfrm>
        </p:spPr>
        <p:txBody>
          <a:bodyPr>
            <a:normAutofit fontScale="40000" lnSpcReduction="20000"/>
          </a:bodyPr>
          <a:lstStyle/>
          <a:p>
            <a:pPr marL="0" indent="0" algn="ctr">
              <a:buNone/>
            </a:pPr>
            <a:r>
              <a:rPr lang="en-US" sz="3800" b="1" dirty="0">
                <a:solidFill>
                  <a:srgbClr val="000000"/>
                </a:solidFill>
              </a:rPr>
              <a:t>Part-A</a:t>
            </a:r>
            <a:endParaRPr lang="en-US" sz="3800" dirty="0">
              <a:solidFill>
                <a:srgbClr val="000000"/>
              </a:solidFill>
            </a:endParaRPr>
          </a:p>
          <a:p>
            <a:pPr algn="just">
              <a:lnSpc>
                <a:spcPct val="120000"/>
              </a:lnSpc>
            </a:pPr>
            <a:r>
              <a:rPr lang="en-US" sz="3800" b="1" i="0" u="none" strike="noStrike" baseline="0" dirty="0">
                <a:solidFill>
                  <a:srgbClr val="000000"/>
                </a:solidFill>
              </a:rPr>
              <a:t>Overview of Computing Paradigm: </a:t>
            </a:r>
            <a:r>
              <a:rPr lang="en-US" sz="3800" b="0" i="0" u="none" strike="noStrike" baseline="0" dirty="0">
                <a:solidFill>
                  <a:srgbClr val="000000"/>
                </a:solidFill>
              </a:rPr>
              <a:t>Recent trends in Computing -Grid Computing, Cluster Computing, Distributed Computing, Utility Computing, Cloud Computing. </a:t>
            </a:r>
          </a:p>
          <a:p>
            <a:pPr algn="just">
              <a:lnSpc>
                <a:spcPct val="120000"/>
              </a:lnSpc>
            </a:pPr>
            <a:r>
              <a:rPr lang="en-US" sz="3800" b="1" i="0" u="none" strike="noStrike" baseline="0" dirty="0">
                <a:solidFill>
                  <a:srgbClr val="000000"/>
                </a:solidFill>
              </a:rPr>
              <a:t>Introduction to Cloud Computing: </a:t>
            </a:r>
            <a:r>
              <a:rPr lang="en-US" sz="3800" b="0" i="0" u="none" strike="noStrike" baseline="0" dirty="0">
                <a:solidFill>
                  <a:srgbClr val="000000"/>
                </a:solidFill>
              </a:rPr>
              <a:t>Vision of Cloud Computing, Defining a Cloud, Cloud Reference Model, Deployment Model, Characteristics, Benefits of Cloud Computing, Challenges ahead. Cloud computing vs. Cluster computing vs. Grid computing. </a:t>
            </a:r>
          </a:p>
          <a:p>
            <a:pPr algn="just">
              <a:lnSpc>
                <a:spcPct val="120000"/>
              </a:lnSpc>
            </a:pPr>
            <a:r>
              <a:rPr lang="en-US" sz="3800" b="1" i="0" u="none" strike="noStrike" baseline="0" dirty="0">
                <a:solidFill>
                  <a:srgbClr val="000000"/>
                </a:solidFill>
              </a:rPr>
              <a:t>Migrating into a Cloud: </a:t>
            </a:r>
            <a:r>
              <a:rPr lang="en-US" sz="3800" b="0" i="0" u="none" strike="noStrike" baseline="0" dirty="0">
                <a:solidFill>
                  <a:srgbClr val="000000"/>
                </a:solidFill>
              </a:rPr>
              <a:t>Introduction, Broad approaches to Migrating into the Cloud, The Seven-Step Model of Migration Into a Cloud. </a:t>
            </a:r>
          </a:p>
          <a:p>
            <a:pPr algn="just">
              <a:lnSpc>
                <a:spcPct val="120000"/>
              </a:lnSpc>
            </a:pPr>
            <a:r>
              <a:rPr lang="en-US" sz="3800" b="1" i="0" u="none" strike="noStrike" baseline="0" dirty="0">
                <a:solidFill>
                  <a:srgbClr val="000000"/>
                </a:solidFill>
              </a:rPr>
              <a:t>Virtualization: </a:t>
            </a:r>
            <a:r>
              <a:rPr lang="en-US" sz="3800" b="0" i="0" u="none" strike="noStrike" baseline="0" dirty="0">
                <a:solidFill>
                  <a:srgbClr val="000000"/>
                </a:solidFill>
              </a:rPr>
              <a:t>Introduction, Characteristics of Virtualized environment, Taxonomy of Virtualization techniques, Virtualization and Cloud Computing, Pros and Cons of Virtualization, Technology Examples- Xen, VMware, Microsoft Hyper-V. </a:t>
            </a:r>
          </a:p>
          <a:p>
            <a:pPr algn="just">
              <a:lnSpc>
                <a:spcPct val="120000"/>
              </a:lnSpc>
            </a:pPr>
            <a:r>
              <a:rPr lang="en-US" sz="3800" b="1" i="0" u="none" strike="noStrike" baseline="0" dirty="0">
                <a:solidFill>
                  <a:srgbClr val="000000"/>
                </a:solidFill>
              </a:rPr>
              <a:t>Capacity Planning: </a:t>
            </a:r>
            <a:r>
              <a:rPr lang="en-US" sz="3800" b="0" i="0" u="none" strike="noStrike" baseline="0" dirty="0">
                <a:solidFill>
                  <a:srgbClr val="000000"/>
                </a:solidFill>
              </a:rPr>
              <a:t>Introduction, Defining Baseline and Metrics-Baseline Measurements, System Metrics, Load Testing, Resource Ceilings, Server and Instance types; Network Capacity, Scaling. 	</a:t>
            </a:r>
          </a:p>
          <a:p>
            <a:pPr marL="0" indent="0">
              <a:buNone/>
            </a:pPr>
            <a:endParaRPr lang="en-IN" sz="1800" dirty="0"/>
          </a:p>
        </p:txBody>
      </p:sp>
      <p:sp>
        <p:nvSpPr>
          <p:cNvPr id="5" name="Footer Placeholder 4">
            <a:extLst>
              <a:ext uri="{FF2B5EF4-FFF2-40B4-BE49-F238E27FC236}">
                <a16:creationId xmlns:a16="http://schemas.microsoft.com/office/drawing/2014/main" id="{F079BEF9-C94B-8C47-8076-55546DF3311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CB8F9CB9-9068-828A-ECDA-FAAF3FDC09A8}"/>
              </a:ext>
            </a:extLst>
          </p:cNvPr>
          <p:cNvSpPr>
            <a:spLocks noGrp="1"/>
          </p:cNvSpPr>
          <p:nvPr>
            <p:ph type="sldNum" sz="quarter" idx="12"/>
          </p:nvPr>
        </p:nvSpPr>
        <p:spPr/>
        <p:txBody>
          <a:bodyPr/>
          <a:lstStyle/>
          <a:p>
            <a:fld id="{7B69A187-1465-481C-91D5-B2B7D79C567F}" type="slidenum">
              <a:rPr lang="en-US" smtClean="0"/>
              <a:pPr/>
              <a:t>3</a:t>
            </a:fld>
            <a:endParaRPr lang="en-US"/>
          </a:p>
        </p:txBody>
      </p:sp>
      <p:pic>
        <p:nvPicPr>
          <p:cNvPr id="3" name="Picture 2">
            <a:extLst>
              <a:ext uri="{FF2B5EF4-FFF2-40B4-BE49-F238E27FC236}">
                <a16:creationId xmlns:a16="http://schemas.microsoft.com/office/drawing/2014/main" id="{FDC12338-17A6-A70B-A692-8054037957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CC574DE1-D8F5-0929-5361-0C9697D015BA}"/>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609995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BCE61-23CC-B4A6-7670-DE842F173E6D}"/>
              </a:ext>
            </a:extLst>
          </p:cNvPr>
          <p:cNvSpPr>
            <a:spLocks noGrp="1"/>
          </p:cNvSpPr>
          <p:nvPr>
            <p:ph type="title"/>
          </p:nvPr>
        </p:nvSpPr>
        <p:spPr>
          <a:xfrm>
            <a:off x="2771192" y="205979"/>
            <a:ext cx="4436707" cy="451830"/>
          </a:xfrm>
        </p:spPr>
        <p:txBody>
          <a:bodyPr>
            <a:noAutofit/>
          </a:bodyPr>
          <a:lstStyle/>
          <a:p>
            <a:pPr algn="ctr"/>
            <a:r>
              <a:rPr lang="en-US" altLang="en-US" sz="3200" b="1" kern="0" dirty="0">
                <a:latin typeface="+mj-lt"/>
              </a:rPr>
              <a:t>Key objectives or learning outcomes</a:t>
            </a:r>
            <a:endParaRPr lang="en-IN" sz="3200" dirty="0">
              <a:latin typeface="+mj-lt"/>
            </a:endParaRPr>
          </a:p>
        </p:txBody>
      </p:sp>
      <p:sp>
        <p:nvSpPr>
          <p:cNvPr id="7" name="Content Placeholder 6">
            <a:extLst>
              <a:ext uri="{FF2B5EF4-FFF2-40B4-BE49-F238E27FC236}">
                <a16:creationId xmlns:a16="http://schemas.microsoft.com/office/drawing/2014/main" id="{979FA4CE-34FC-460D-480A-F5084E266F33}"/>
              </a:ext>
            </a:extLst>
          </p:cNvPr>
          <p:cNvSpPr>
            <a:spLocks noGrp="1"/>
          </p:cNvSpPr>
          <p:nvPr>
            <p:ph idx="1"/>
          </p:nvPr>
        </p:nvSpPr>
        <p:spPr>
          <a:xfrm>
            <a:off x="457200" y="1200150"/>
            <a:ext cx="8305800" cy="2590800"/>
          </a:xfrm>
        </p:spPr>
        <p:txBody>
          <a:bodyPr>
            <a:noAutofit/>
          </a:bodyPr>
          <a:lstStyle/>
          <a:p>
            <a:pPr algn="just"/>
            <a:r>
              <a:rPr lang="en-US" sz="2000" b="0" i="0" u="none" strike="noStrike" baseline="0" dirty="0">
                <a:solidFill>
                  <a:srgbClr val="000000"/>
                </a:solidFill>
              </a:rPr>
              <a:t>CO1 	Understand the basic concept and importance of cloud computing. </a:t>
            </a:r>
          </a:p>
          <a:p>
            <a:pPr algn="just"/>
            <a:r>
              <a:rPr lang="en-US" sz="2000" b="0" i="0" u="none" strike="noStrike" baseline="0" dirty="0">
                <a:solidFill>
                  <a:srgbClr val="000000"/>
                </a:solidFill>
              </a:rPr>
              <a:t>CO2 	Access the suitability of migrating to a cloud solution for different applications.</a:t>
            </a:r>
          </a:p>
          <a:p>
            <a:pPr algn="just"/>
            <a:r>
              <a:rPr lang="en-US" sz="2000" b="0" i="0" u="none" strike="noStrike" baseline="0" dirty="0">
                <a:solidFill>
                  <a:srgbClr val="000000"/>
                </a:solidFill>
              </a:rPr>
              <a:t>CO3 	Compare and evaluate the virtualization technologies. 	</a:t>
            </a:r>
          </a:p>
          <a:p>
            <a:pPr algn="just"/>
            <a:r>
              <a:rPr lang="en-US" sz="2000" b="0" i="0" u="none" strike="noStrike" baseline="0" dirty="0">
                <a:solidFill>
                  <a:srgbClr val="000000"/>
                </a:solidFill>
              </a:rPr>
              <a:t>CO4 	Monitor and manage the cloud resources, applications and data while addressing 	the security concerns. 	</a:t>
            </a:r>
            <a:endParaRPr lang="en-US" sz="2000" dirty="0">
              <a:solidFill>
                <a:srgbClr val="000000"/>
              </a:solidFill>
            </a:endParaRPr>
          </a:p>
          <a:p>
            <a:pPr algn="just"/>
            <a:r>
              <a:rPr lang="en-US" sz="2000" b="0" i="0" u="none" strike="noStrike" baseline="0" dirty="0">
                <a:solidFill>
                  <a:srgbClr val="000000"/>
                </a:solidFill>
              </a:rPr>
              <a:t>CO5 	Use cloud solutions offered by industry leaders for various applications. 	</a:t>
            </a:r>
          </a:p>
          <a:p>
            <a:pPr algn="just"/>
            <a:endParaRPr lang="en-US" sz="1600" b="0" i="0" u="none" strike="noStrike" baseline="0" dirty="0">
              <a:solidFill>
                <a:srgbClr val="000000"/>
              </a:solidFill>
            </a:endParaRPr>
          </a:p>
        </p:txBody>
      </p:sp>
      <p:sp>
        <p:nvSpPr>
          <p:cNvPr id="5" name="Footer Placeholder 4">
            <a:extLst>
              <a:ext uri="{FF2B5EF4-FFF2-40B4-BE49-F238E27FC236}">
                <a16:creationId xmlns:a16="http://schemas.microsoft.com/office/drawing/2014/main" id="{C3788263-C36D-6C08-9C90-8B3A8CD30DD1}"/>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B4B6A8A6-4F74-624C-8484-B814A5B255E9}"/>
              </a:ext>
            </a:extLst>
          </p:cNvPr>
          <p:cNvSpPr>
            <a:spLocks noGrp="1"/>
          </p:cNvSpPr>
          <p:nvPr>
            <p:ph type="sldNum" sz="quarter" idx="12"/>
          </p:nvPr>
        </p:nvSpPr>
        <p:spPr/>
        <p:txBody>
          <a:bodyPr/>
          <a:lstStyle/>
          <a:p>
            <a:fld id="{7B69A187-1465-481C-91D5-B2B7D79C567F}" type="slidenum">
              <a:rPr lang="en-US" smtClean="0"/>
              <a:pPr/>
              <a:t>4</a:t>
            </a:fld>
            <a:endParaRPr lang="en-US"/>
          </a:p>
        </p:txBody>
      </p:sp>
      <p:pic>
        <p:nvPicPr>
          <p:cNvPr id="3" name="Picture 2">
            <a:extLst>
              <a:ext uri="{FF2B5EF4-FFF2-40B4-BE49-F238E27FC236}">
                <a16:creationId xmlns:a16="http://schemas.microsoft.com/office/drawing/2014/main" id="{93E7ADFB-5888-F92B-00A1-5C8F64D34F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A708A957-11AB-AF28-3AF4-480F30BDD48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293599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119FC-4CED-7469-8759-EAC459915462}"/>
              </a:ext>
            </a:extLst>
          </p:cNvPr>
          <p:cNvSpPr>
            <a:spLocks noGrp="1"/>
          </p:cNvSpPr>
          <p:nvPr>
            <p:ph type="title"/>
          </p:nvPr>
        </p:nvSpPr>
        <p:spPr>
          <a:xfrm>
            <a:off x="2750198" y="102394"/>
            <a:ext cx="4457701" cy="743593"/>
          </a:xfrm>
        </p:spPr>
        <p:txBody>
          <a:bodyPr>
            <a:normAutofit/>
          </a:bodyPr>
          <a:lstStyle/>
          <a:p>
            <a:pPr algn="ctr"/>
            <a:r>
              <a:rPr lang="en-US" sz="3200" b="1" kern="0" dirty="0"/>
              <a:t>CO Introduction</a:t>
            </a:r>
            <a:endParaRPr lang="en-IN" sz="3200" dirty="0"/>
          </a:p>
        </p:txBody>
      </p:sp>
      <p:graphicFrame>
        <p:nvGraphicFramePr>
          <p:cNvPr id="10" name="Content Placeholder 9"/>
          <p:cNvGraphicFramePr>
            <a:graphicFrameLocks noGrp="1"/>
          </p:cNvGraphicFramePr>
          <p:nvPr>
            <p:ph idx="1"/>
          </p:nvPr>
        </p:nvGraphicFramePr>
        <p:xfrm>
          <a:off x="635741" y="1056233"/>
          <a:ext cx="7764059" cy="3370878"/>
        </p:xfrm>
        <a:graphic>
          <a:graphicData uri="http://schemas.openxmlformats.org/drawingml/2006/table">
            <a:tbl>
              <a:tblPr firstRow="1" bandRow="1">
                <a:tableStyleId>{5940675A-B579-460E-94D1-54222C63F5DA}</a:tableStyleId>
              </a:tblPr>
              <a:tblGrid>
                <a:gridCol w="1360799">
                  <a:extLst>
                    <a:ext uri="{9D8B030D-6E8A-4147-A177-3AD203B41FA5}">
                      <a16:colId xmlns:a16="http://schemas.microsoft.com/office/drawing/2014/main" val="353814041"/>
                    </a:ext>
                  </a:extLst>
                </a:gridCol>
                <a:gridCol w="5021698">
                  <a:extLst>
                    <a:ext uri="{9D8B030D-6E8A-4147-A177-3AD203B41FA5}">
                      <a16:colId xmlns:a16="http://schemas.microsoft.com/office/drawing/2014/main" val="3522618998"/>
                    </a:ext>
                  </a:extLst>
                </a:gridCol>
                <a:gridCol w="1381562">
                  <a:extLst>
                    <a:ext uri="{9D8B030D-6E8A-4147-A177-3AD203B41FA5}">
                      <a16:colId xmlns:a16="http://schemas.microsoft.com/office/drawing/2014/main" val="2807256984"/>
                    </a:ext>
                  </a:extLst>
                </a:gridCol>
              </a:tblGrid>
              <a:tr h="559098">
                <a:tc>
                  <a:txBody>
                    <a:bodyPr/>
                    <a:lstStyle/>
                    <a:p>
                      <a:pPr algn="ctr"/>
                      <a:r>
                        <a:rPr lang="en-IN" sz="1800" b="1" dirty="0"/>
                        <a:t>CO</a:t>
                      </a:r>
                      <a:r>
                        <a:rPr lang="en-IN" sz="1800" b="1" baseline="0" dirty="0"/>
                        <a:t> NUMBER </a:t>
                      </a:r>
                      <a:endParaRPr lang="en-IN" sz="1800" b="1" dirty="0">
                        <a:latin typeface="+mn-lt"/>
                      </a:endParaRPr>
                    </a:p>
                  </a:txBody>
                  <a:tcPr marL="68580" marR="68580" marT="34290" marB="34290"/>
                </a:tc>
                <a:tc>
                  <a:txBody>
                    <a:bodyPr/>
                    <a:lstStyle/>
                    <a:p>
                      <a:pPr algn="ctr"/>
                      <a:r>
                        <a:rPr lang="en-IN" sz="1800" b="1" dirty="0"/>
                        <a:t>TOPICS</a:t>
                      </a:r>
                    </a:p>
                  </a:txBody>
                  <a:tcPr marL="68580" marR="68580" marT="34290" marB="34290"/>
                </a:tc>
                <a:tc>
                  <a:txBody>
                    <a:bodyPr/>
                    <a:lstStyle/>
                    <a:p>
                      <a:pPr algn="ctr"/>
                      <a:r>
                        <a:rPr lang="en-IN" sz="1800" b="1" dirty="0"/>
                        <a:t>LEVEL</a:t>
                      </a:r>
                    </a:p>
                  </a:txBody>
                  <a:tcPr marL="68580" marR="68580" marT="34290" marB="34290"/>
                </a:tc>
                <a:extLst>
                  <a:ext uri="{0D108BD9-81ED-4DB2-BD59-A6C34878D82A}">
                    <a16:rowId xmlns:a16="http://schemas.microsoft.com/office/drawing/2014/main" val="1716712591"/>
                  </a:ext>
                </a:extLst>
              </a:tr>
              <a:tr h="590692">
                <a:tc>
                  <a:txBody>
                    <a:bodyPr/>
                    <a:lstStyle/>
                    <a:p>
                      <a:pPr algn="ctr"/>
                      <a:r>
                        <a:rPr lang="en-IN" sz="1800" b="1" dirty="0"/>
                        <a:t>CO1</a:t>
                      </a:r>
                      <a:endParaRPr lang="en-IN" sz="1800" b="1" dirty="0">
                        <a:latin typeface="+mn-lt"/>
                      </a:endParaRPr>
                    </a:p>
                  </a:txBody>
                  <a:tcPr marL="68580" marR="68580" marT="34290" marB="34290"/>
                </a:tc>
                <a:tc>
                  <a:txBody>
                    <a:bodyPr/>
                    <a:lstStyle/>
                    <a:p>
                      <a:pPr algn="just"/>
                      <a:r>
                        <a:rPr lang="en-US" sz="1800" b="1" i="0" u="none" strike="noStrike" kern="1200" baseline="0" dirty="0">
                          <a:solidFill>
                            <a:schemeClr val="tx1"/>
                          </a:solidFill>
                          <a:latin typeface="+mn-lt"/>
                          <a:ea typeface="+mn-ea"/>
                          <a:cs typeface="+mn-cs"/>
                        </a:rPr>
                        <a:t>Overview of Computing Paradigm: </a:t>
                      </a:r>
                      <a:r>
                        <a:rPr lang="en-US" sz="1800" b="0" i="0" u="none" strike="noStrike" kern="1200" baseline="0" dirty="0">
                          <a:solidFill>
                            <a:schemeClr val="tx1"/>
                          </a:solidFill>
                          <a:latin typeface="+mn-lt"/>
                          <a:ea typeface="+mn-ea"/>
                          <a:cs typeface="+mn-cs"/>
                        </a:rPr>
                        <a:t>Recent trends in Computing -Grid Computing, Cluster Computing, Distributed Computing, Utility Computing, Cloud Computing. </a:t>
                      </a:r>
                    </a:p>
                    <a:p>
                      <a:pPr algn="just"/>
                      <a:r>
                        <a:rPr lang="en-US" sz="1800" b="1" i="0" u="none" strike="noStrike" kern="1200" baseline="0" dirty="0">
                          <a:solidFill>
                            <a:schemeClr val="tx1"/>
                          </a:solidFill>
                          <a:latin typeface="+mn-lt"/>
                          <a:ea typeface="+mn-ea"/>
                          <a:cs typeface="+mn-cs"/>
                        </a:rPr>
                        <a:t>Introduction to Cloud Computing: </a:t>
                      </a:r>
                      <a:r>
                        <a:rPr lang="en-US" sz="1800" b="0" i="0" u="none" strike="noStrike" kern="1200" baseline="0" dirty="0">
                          <a:solidFill>
                            <a:schemeClr val="tx1"/>
                          </a:solidFill>
                          <a:latin typeface="+mn-lt"/>
                          <a:ea typeface="+mn-ea"/>
                          <a:cs typeface="+mn-cs"/>
                        </a:rPr>
                        <a:t>Vision of Cloud Computing, Defining a Cloud, Cloud Reference Model, Deployment Model, Characteristics, Benefits of Cloud Computing, Challenges ahead. Cloud computing vs. Cluster computing vs. Grid computing. </a:t>
                      </a:r>
                      <a:r>
                        <a:rPr lang="en-US" sz="1350" b="0" i="0" u="none" strike="noStrike" kern="1200" baseline="0" dirty="0">
                          <a:solidFill>
                            <a:schemeClr val="tx1"/>
                          </a:solidFill>
                          <a:latin typeface="+mn-lt"/>
                          <a:ea typeface="+mn-ea"/>
                          <a:cs typeface="+mn-cs"/>
                        </a:rPr>
                        <a:t>	</a:t>
                      </a:r>
                    </a:p>
                  </a:txBody>
                  <a:tcPr marL="68580" marR="68580" marT="34290" marB="34290"/>
                </a:tc>
                <a:tc>
                  <a:txBody>
                    <a:bodyPr/>
                    <a:lstStyle/>
                    <a:p>
                      <a:r>
                        <a:rPr lang="en-IN" sz="1800" b="1" dirty="0"/>
                        <a:t>2</a:t>
                      </a:r>
                    </a:p>
                  </a:txBody>
                  <a:tcPr marL="68580" marR="68580" marT="34290" marB="34290"/>
                </a:tc>
                <a:extLst>
                  <a:ext uri="{0D108BD9-81ED-4DB2-BD59-A6C34878D82A}">
                    <a16:rowId xmlns:a16="http://schemas.microsoft.com/office/drawing/2014/main" val="4021715395"/>
                  </a:ext>
                </a:extLst>
              </a:tr>
            </a:tbl>
          </a:graphicData>
        </a:graphic>
      </p:graphicFrame>
      <p:sp>
        <p:nvSpPr>
          <p:cNvPr id="5" name="Footer Placeholder 4">
            <a:extLst>
              <a:ext uri="{FF2B5EF4-FFF2-40B4-BE49-F238E27FC236}">
                <a16:creationId xmlns:a16="http://schemas.microsoft.com/office/drawing/2014/main" id="{3D2196E9-BAFA-D5BC-9517-3A1055A38754}"/>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52005296-6F48-66B9-DA0C-69C879BC0DF7}"/>
              </a:ext>
            </a:extLst>
          </p:cNvPr>
          <p:cNvSpPr>
            <a:spLocks noGrp="1"/>
          </p:cNvSpPr>
          <p:nvPr>
            <p:ph type="sldNum" sz="quarter" idx="12"/>
          </p:nvPr>
        </p:nvSpPr>
        <p:spPr/>
        <p:txBody>
          <a:bodyPr/>
          <a:lstStyle/>
          <a:p>
            <a:fld id="{7B69A187-1465-481C-91D5-B2B7D79C567F}" type="slidenum">
              <a:rPr lang="en-US" smtClean="0"/>
              <a:pPr/>
              <a:t>5</a:t>
            </a:fld>
            <a:endParaRPr lang="en-US"/>
          </a:p>
        </p:txBody>
      </p:sp>
      <p:pic>
        <p:nvPicPr>
          <p:cNvPr id="3" name="Picture 2">
            <a:extLst>
              <a:ext uri="{FF2B5EF4-FFF2-40B4-BE49-F238E27FC236}">
                <a16:creationId xmlns:a16="http://schemas.microsoft.com/office/drawing/2014/main" id="{1F0D813D-BF95-D3C8-8DD2-A48259B2A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8666B9C3-9EA4-DAB9-68E1-E8F4E8C813B4}"/>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3832102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6E06-F0DB-E329-38B3-A0C6469B322C}"/>
              </a:ext>
            </a:extLst>
          </p:cNvPr>
          <p:cNvSpPr>
            <a:spLocks noGrp="1"/>
          </p:cNvSpPr>
          <p:nvPr>
            <p:ph type="title"/>
          </p:nvPr>
        </p:nvSpPr>
        <p:spPr>
          <a:xfrm>
            <a:off x="3352800" y="0"/>
            <a:ext cx="3047999" cy="857250"/>
          </a:xfrm>
        </p:spPr>
        <p:txBody>
          <a:bodyPr>
            <a:noAutofit/>
          </a:bodyPr>
          <a:lstStyle/>
          <a:p>
            <a:r>
              <a:rPr lang="en-IN" sz="3200" b="1" kern="0" dirty="0">
                <a:latin typeface="+mn-lt"/>
              </a:rPr>
              <a:t>Topic Overview</a:t>
            </a:r>
            <a:endParaRPr lang="en-IN" sz="3200" dirty="0">
              <a:latin typeface="+mn-lt"/>
            </a:endParaRPr>
          </a:p>
        </p:txBody>
      </p:sp>
      <p:sp>
        <p:nvSpPr>
          <p:cNvPr id="8" name="Content Placeholder 7">
            <a:extLst>
              <a:ext uri="{FF2B5EF4-FFF2-40B4-BE49-F238E27FC236}">
                <a16:creationId xmlns:a16="http://schemas.microsoft.com/office/drawing/2014/main" id="{6ECD11FB-92DA-BAB7-B630-7C53F9B803A1}"/>
              </a:ext>
            </a:extLst>
          </p:cNvPr>
          <p:cNvSpPr>
            <a:spLocks noGrp="1"/>
          </p:cNvSpPr>
          <p:nvPr>
            <p:ph idx="1"/>
          </p:nvPr>
        </p:nvSpPr>
        <p:spPr>
          <a:xfrm>
            <a:off x="457200" y="1046748"/>
            <a:ext cx="8229600" cy="3547875"/>
          </a:xfrm>
        </p:spPr>
        <p:txBody>
          <a:bodyPr>
            <a:normAutofit/>
          </a:bodyPr>
          <a:lstStyle/>
          <a:p>
            <a:pPr algn="just">
              <a:lnSpc>
                <a:spcPct val="150000"/>
              </a:lnSpc>
            </a:pPr>
            <a:r>
              <a:rPr lang="en-US" sz="1800" b="1" dirty="0"/>
              <a:t>Evolution and Integration</a:t>
            </a:r>
            <a:r>
              <a:rPr lang="en-US" sz="1800" dirty="0"/>
              <a:t>: Recent trends in computing, such as Grid Computing, Cluster Computing, and Distributed Computing, focus on optimizing resource utilization across multiple systems. </a:t>
            </a:r>
          </a:p>
          <a:p>
            <a:pPr algn="just">
              <a:lnSpc>
                <a:spcPct val="150000"/>
              </a:lnSpc>
            </a:pPr>
            <a:r>
              <a:rPr lang="en-US" sz="1800" dirty="0"/>
              <a:t>These paradigms enable parallel processing and resource sharing, improving performance, scalability, and fault tolerance. </a:t>
            </a:r>
          </a:p>
          <a:p>
            <a:pPr algn="just">
              <a:lnSpc>
                <a:spcPct val="150000"/>
              </a:lnSpc>
            </a:pPr>
            <a:r>
              <a:rPr lang="en-US" sz="1800" dirty="0"/>
              <a:t>Grid Computing uses distributed resources to solve complex tasks, Cluster Computing groups tightly coupled systems for enhanced performance, and Distributed Computing splits workloads across geographically dispersed networks.</a:t>
            </a:r>
          </a:p>
        </p:txBody>
      </p:sp>
      <p:sp>
        <p:nvSpPr>
          <p:cNvPr id="5" name="Footer Placeholder 4">
            <a:extLst>
              <a:ext uri="{FF2B5EF4-FFF2-40B4-BE49-F238E27FC236}">
                <a16:creationId xmlns:a16="http://schemas.microsoft.com/office/drawing/2014/main" id="{F6EC1B49-59F2-DE81-19E5-79EEC973966F}"/>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B7661E5A-2CC5-9A09-3921-68618B7D2D8C}"/>
              </a:ext>
            </a:extLst>
          </p:cNvPr>
          <p:cNvSpPr>
            <a:spLocks noGrp="1"/>
          </p:cNvSpPr>
          <p:nvPr>
            <p:ph type="sldNum" sz="quarter" idx="12"/>
          </p:nvPr>
        </p:nvSpPr>
        <p:spPr/>
        <p:txBody>
          <a:bodyPr/>
          <a:lstStyle/>
          <a:p>
            <a:fld id="{7B69A187-1465-481C-91D5-B2B7D79C567F}" type="slidenum">
              <a:rPr lang="en-US" smtClean="0"/>
              <a:pPr/>
              <a:t>6</a:t>
            </a:fld>
            <a:endParaRPr lang="en-US"/>
          </a:p>
        </p:txBody>
      </p:sp>
      <p:pic>
        <p:nvPicPr>
          <p:cNvPr id="3" name="Picture 2">
            <a:extLst>
              <a:ext uri="{FF2B5EF4-FFF2-40B4-BE49-F238E27FC236}">
                <a16:creationId xmlns:a16="http://schemas.microsoft.com/office/drawing/2014/main" id="{26956DD8-189F-6B97-CD94-A835937D38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B1C9A958-9808-A784-10D7-CC7C67775944}"/>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846062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0FBBE-7C83-1FEE-F301-70AE420E8AB5}"/>
              </a:ext>
            </a:extLst>
          </p:cNvPr>
          <p:cNvSpPr>
            <a:spLocks noGrp="1"/>
          </p:cNvSpPr>
          <p:nvPr>
            <p:ph type="title"/>
          </p:nvPr>
        </p:nvSpPr>
        <p:spPr>
          <a:xfrm>
            <a:off x="2743200" y="205979"/>
            <a:ext cx="4436706" cy="857250"/>
          </a:xfrm>
        </p:spPr>
        <p:txBody>
          <a:bodyPr>
            <a:noAutofit/>
          </a:bodyPr>
          <a:lstStyle/>
          <a:p>
            <a:pPr algn="ctr"/>
            <a:r>
              <a:rPr lang="en-US" altLang="en-US" sz="3200" b="1" kern="0" dirty="0"/>
              <a:t>Brief of what the presentation will</a:t>
            </a:r>
            <a:endParaRPr lang="en-IN" sz="3200" dirty="0"/>
          </a:p>
        </p:txBody>
      </p:sp>
      <p:sp>
        <p:nvSpPr>
          <p:cNvPr id="8" name="Content Placeholder 7">
            <a:extLst>
              <a:ext uri="{FF2B5EF4-FFF2-40B4-BE49-F238E27FC236}">
                <a16:creationId xmlns:a16="http://schemas.microsoft.com/office/drawing/2014/main" id="{8B900F9C-52E2-DC4F-B92B-FECF167EF289}"/>
              </a:ext>
            </a:extLst>
          </p:cNvPr>
          <p:cNvSpPr>
            <a:spLocks noGrp="1"/>
          </p:cNvSpPr>
          <p:nvPr>
            <p:ph idx="1"/>
          </p:nvPr>
        </p:nvSpPr>
        <p:spPr/>
        <p:txBody>
          <a:bodyPr>
            <a:normAutofit/>
          </a:bodyPr>
          <a:lstStyle/>
          <a:p>
            <a:pPr marL="0" indent="0">
              <a:buNone/>
            </a:pPr>
            <a:r>
              <a:rPr lang="en-US" sz="2400" dirty="0"/>
              <a:t>The presentation will cover the following points:</a:t>
            </a:r>
          </a:p>
          <a:p>
            <a:pPr>
              <a:buFont typeface="+mj-lt"/>
              <a:buAutoNum type="arabicPeriod"/>
            </a:pPr>
            <a:r>
              <a:rPr lang="en-US" sz="2400" b="1" spc="-55" dirty="0">
                <a:solidFill>
                  <a:srgbClr val="000000"/>
                </a:solidFill>
                <a:cs typeface="Calibri"/>
              </a:rPr>
              <a:t>Trends</a:t>
            </a:r>
            <a:r>
              <a:rPr lang="en-US" sz="2400" b="1" spc="-10" dirty="0">
                <a:solidFill>
                  <a:srgbClr val="000000"/>
                </a:solidFill>
                <a:cs typeface="Calibri"/>
              </a:rPr>
              <a:t> </a:t>
            </a:r>
            <a:r>
              <a:rPr lang="en-US" sz="2400" b="1" dirty="0">
                <a:solidFill>
                  <a:srgbClr val="000000"/>
                </a:solidFill>
                <a:cs typeface="Calibri"/>
              </a:rPr>
              <a:t>in</a:t>
            </a:r>
            <a:r>
              <a:rPr lang="en-US" sz="2400" b="1" spc="-30" dirty="0">
                <a:solidFill>
                  <a:srgbClr val="000000"/>
                </a:solidFill>
                <a:cs typeface="Calibri"/>
              </a:rPr>
              <a:t> </a:t>
            </a:r>
            <a:r>
              <a:rPr lang="en-US" sz="2400" b="1" spc="-5" dirty="0">
                <a:solidFill>
                  <a:srgbClr val="000000"/>
                </a:solidFill>
                <a:cs typeface="Calibri"/>
              </a:rPr>
              <a:t>Computing</a:t>
            </a:r>
          </a:p>
          <a:p>
            <a:pPr>
              <a:buFont typeface="+mj-lt"/>
              <a:buAutoNum type="arabicPeriod"/>
            </a:pPr>
            <a:r>
              <a:rPr lang="en-US" sz="2400" b="1" spc="-25" dirty="0">
                <a:cs typeface="Calibri"/>
              </a:rPr>
              <a:t> </a:t>
            </a:r>
            <a:r>
              <a:rPr lang="en-US" sz="2400" b="1" spc="-15" dirty="0">
                <a:solidFill>
                  <a:srgbClr val="000000"/>
                </a:solidFill>
                <a:cs typeface="Calibri"/>
              </a:rPr>
              <a:t>Distributed </a:t>
            </a:r>
            <a:r>
              <a:rPr lang="en-US" sz="2400" b="1" spc="-5" dirty="0">
                <a:cs typeface="Calibri"/>
              </a:rPr>
              <a:t>Computing</a:t>
            </a:r>
          </a:p>
          <a:p>
            <a:pPr>
              <a:buFont typeface="+mj-lt"/>
              <a:buAutoNum type="arabicPeriod"/>
            </a:pPr>
            <a:r>
              <a:rPr lang="en-US" sz="2400" b="1" spc="-5" dirty="0">
                <a:cs typeface="Calibri"/>
              </a:rPr>
              <a:t>Need</a:t>
            </a:r>
          </a:p>
          <a:p>
            <a:pPr>
              <a:buFont typeface="+mj-lt"/>
              <a:buAutoNum type="arabicPeriod"/>
            </a:pPr>
            <a:r>
              <a:rPr lang="en-US" sz="2400" b="1" spc="-5" dirty="0">
                <a:cs typeface="Calibri"/>
              </a:rPr>
              <a:t>Applications</a:t>
            </a:r>
          </a:p>
          <a:p>
            <a:pPr>
              <a:buFont typeface="+mj-lt"/>
              <a:buAutoNum type="arabicPeriod"/>
            </a:pPr>
            <a:endParaRPr lang="en-US" sz="2400" b="1" dirty="0">
              <a:latin typeface="Calibri"/>
              <a:cs typeface="Calibri"/>
            </a:endParaRPr>
          </a:p>
        </p:txBody>
      </p:sp>
      <p:sp>
        <p:nvSpPr>
          <p:cNvPr id="5" name="Footer Placeholder 4">
            <a:extLst>
              <a:ext uri="{FF2B5EF4-FFF2-40B4-BE49-F238E27FC236}">
                <a16:creationId xmlns:a16="http://schemas.microsoft.com/office/drawing/2014/main" id="{42F3D1A0-34F9-4BA5-39D2-26EC7CF157A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21C4380D-987B-E4FA-611D-35498E236EA0}"/>
              </a:ext>
            </a:extLst>
          </p:cNvPr>
          <p:cNvSpPr>
            <a:spLocks noGrp="1"/>
          </p:cNvSpPr>
          <p:nvPr>
            <p:ph type="sldNum" sz="quarter" idx="12"/>
          </p:nvPr>
        </p:nvSpPr>
        <p:spPr/>
        <p:txBody>
          <a:bodyPr/>
          <a:lstStyle/>
          <a:p>
            <a:fld id="{7B69A187-1465-481C-91D5-B2B7D79C567F}" type="slidenum">
              <a:rPr lang="en-US" smtClean="0"/>
              <a:pPr/>
              <a:t>7</a:t>
            </a:fld>
            <a:endParaRPr lang="en-US"/>
          </a:p>
        </p:txBody>
      </p:sp>
      <p:pic>
        <p:nvPicPr>
          <p:cNvPr id="3" name="Picture 2">
            <a:extLst>
              <a:ext uri="{FF2B5EF4-FFF2-40B4-BE49-F238E27FC236}">
                <a16:creationId xmlns:a16="http://schemas.microsoft.com/office/drawing/2014/main" id="{7B2E8D4E-6D07-8237-CA2C-C705278696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EE444A5A-D3AE-D5BE-39FB-ECBD811735A7}"/>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161772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617AB-1058-84F2-6310-369164631DC8}"/>
              </a:ext>
            </a:extLst>
          </p:cNvPr>
          <p:cNvSpPr>
            <a:spLocks noGrp="1"/>
          </p:cNvSpPr>
          <p:nvPr>
            <p:ph type="title"/>
          </p:nvPr>
        </p:nvSpPr>
        <p:spPr>
          <a:xfrm>
            <a:off x="2744426" y="70037"/>
            <a:ext cx="4478695" cy="530631"/>
          </a:xfrm>
        </p:spPr>
        <p:txBody>
          <a:bodyPr>
            <a:normAutofit/>
          </a:bodyPr>
          <a:lstStyle/>
          <a:p>
            <a:pPr algn="ctr"/>
            <a:r>
              <a:rPr lang="en-US" altLang="en-US" sz="3200" b="1" kern="0" dirty="0">
                <a:latin typeface="+mn-lt"/>
              </a:rPr>
              <a:t>Importance of the topic</a:t>
            </a:r>
            <a:endParaRPr lang="en-IN" sz="3200" dirty="0">
              <a:latin typeface="+mn-lt"/>
            </a:endParaRPr>
          </a:p>
        </p:txBody>
      </p:sp>
      <p:sp>
        <p:nvSpPr>
          <p:cNvPr id="7" name="Content Placeholder 6">
            <a:extLst>
              <a:ext uri="{FF2B5EF4-FFF2-40B4-BE49-F238E27FC236}">
                <a16:creationId xmlns:a16="http://schemas.microsoft.com/office/drawing/2014/main" id="{C05D211D-56BC-A519-0A90-7523B1284AAC}"/>
              </a:ext>
            </a:extLst>
          </p:cNvPr>
          <p:cNvSpPr>
            <a:spLocks noGrp="1"/>
          </p:cNvSpPr>
          <p:nvPr>
            <p:ph idx="1"/>
          </p:nvPr>
        </p:nvSpPr>
        <p:spPr>
          <a:xfrm>
            <a:off x="457200" y="1046747"/>
            <a:ext cx="8229600" cy="3723425"/>
          </a:xfrm>
        </p:spPr>
        <p:txBody>
          <a:bodyPr>
            <a:noAutofit/>
          </a:bodyPr>
          <a:lstStyle/>
          <a:p>
            <a:pPr algn="just"/>
            <a:r>
              <a:rPr lang="en-US" sz="2200" b="1" dirty="0"/>
              <a:t>Scalability and Flexibility</a:t>
            </a:r>
            <a:r>
              <a:rPr lang="en-US" sz="2200" dirty="0"/>
              <a:t>: Cloud computing provides on-demand access to a vast range of resources, enabling businesses to scale up or down based on their needs.</a:t>
            </a:r>
          </a:p>
          <a:p>
            <a:pPr algn="just"/>
            <a:r>
              <a:rPr lang="en-US" sz="2200" b="1" dirty="0"/>
              <a:t>Cost Efficiency</a:t>
            </a:r>
            <a:r>
              <a:rPr lang="en-US" sz="2200" dirty="0"/>
              <a:t>: By using cloud services, businesses can significantly reduce costs associated with maintaining and upgrading physical hardware.</a:t>
            </a:r>
          </a:p>
          <a:p>
            <a:pPr algn="just"/>
            <a:r>
              <a:rPr lang="en-US" sz="2200" b="1" dirty="0"/>
              <a:t>Accessibility and Collaboration</a:t>
            </a:r>
            <a:r>
              <a:rPr lang="en-US" sz="2200" dirty="0"/>
              <a:t>: Cloud computing allows users to access data and applications from any device with an internet connection, facilitating remote work and global collaboration. This enhances productivity, supports flexible work environments, and enables real-time collaboration across teams and locations.</a:t>
            </a:r>
            <a:endParaRPr lang="en-IN" sz="2200" dirty="0"/>
          </a:p>
        </p:txBody>
      </p:sp>
      <p:sp>
        <p:nvSpPr>
          <p:cNvPr id="5" name="Footer Placeholder 4">
            <a:extLst>
              <a:ext uri="{FF2B5EF4-FFF2-40B4-BE49-F238E27FC236}">
                <a16:creationId xmlns:a16="http://schemas.microsoft.com/office/drawing/2014/main" id="{F944A2B2-5C07-0B66-78DF-A6A289556E97}"/>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FFDAD9F8-2B89-E89E-F744-9A302202339C}"/>
              </a:ext>
            </a:extLst>
          </p:cNvPr>
          <p:cNvSpPr>
            <a:spLocks noGrp="1"/>
          </p:cNvSpPr>
          <p:nvPr>
            <p:ph type="sldNum" sz="quarter" idx="12"/>
          </p:nvPr>
        </p:nvSpPr>
        <p:spPr/>
        <p:txBody>
          <a:bodyPr/>
          <a:lstStyle/>
          <a:p>
            <a:fld id="{7B69A187-1465-481C-91D5-B2B7D79C567F}" type="slidenum">
              <a:rPr lang="en-US" smtClean="0"/>
              <a:pPr/>
              <a:t>8</a:t>
            </a:fld>
            <a:endParaRPr lang="en-US"/>
          </a:p>
        </p:txBody>
      </p:sp>
      <p:pic>
        <p:nvPicPr>
          <p:cNvPr id="3" name="Picture 2">
            <a:extLst>
              <a:ext uri="{FF2B5EF4-FFF2-40B4-BE49-F238E27FC236}">
                <a16:creationId xmlns:a16="http://schemas.microsoft.com/office/drawing/2014/main" id="{FD70ED2B-727D-50EB-2310-D83584E19D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FF8AA71D-A967-DA93-697C-C57147248EB6}"/>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011551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89529-E5EC-AB2F-A33A-578AB9C4F07D}"/>
              </a:ext>
            </a:extLst>
          </p:cNvPr>
          <p:cNvSpPr>
            <a:spLocks noGrp="1"/>
          </p:cNvSpPr>
          <p:nvPr>
            <p:ph type="title"/>
          </p:nvPr>
        </p:nvSpPr>
        <p:spPr>
          <a:xfrm>
            <a:off x="2744426" y="70036"/>
            <a:ext cx="4478695" cy="594770"/>
          </a:xfrm>
        </p:spPr>
        <p:txBody>
          <a:bodyPr>
            <a:normAutofit/>
          </a:bodyPr>
          <a:lstStyle/>
          <a:p>
            <a:pPr algn="ctr"/>
            <a:r>
              <a:rPr lang="en-US" altLang="en-US" sz="3200" b="1" kern="0" dirty="0">
                <a:latin typeface="+mn-lt"/>
              </a:rPr>
              <a:t>Detail Topics</a:t>
            </a:r>
            <a:endParaRPr lang="en-IN" sz="3200" dirty="0">
              <a:latin typeface="+mn-lt"/>
            </a:endParaRPr>
          </a:p>
        </p:txBody>
      </p:sp>
      <p:sp>
        <p:nvSpPr>
          <p:cNvPr id="8" name="Content Placeholder 7">
            <a:extLst>
              <a:ext uri="{FF2B5EF4-FFF2-40B4-BE49-F238E27FC236}">
                <a16:creationId xmlns:a16="http://schemas.microsoft.com/office/drawing/2014/main" id="{4D2FBB5B-A900-E331-6F3D-85F861C3ECF9}"/>
              </a:ext>
            </a:extLst>
          </p:cNvPr>
          <p:cNvSpPr>
            <a:spLocks noGrp="1"/>
          </p:cNvSpPr>
          <p:nvPr>
            <p:ph idx="1"/>
          </p:nvPr>
        </p:nvSpPr>
        <p:spPr>
          <a:xfrm>
            <a:off x="618991" y="1200150"/>
            <a:ext cx="7886700" cy="3541570"/>
          </a:xfrm>
        </p:spPr>
        <p:txBody>
          <a:bodyPr>
            <a:normAutofit fontScale="32500" lnSpcReduction="20000"/>
          </a:bodyPr>
          <a:lstStyle/>
          <a:p>
            <a:pPr marL="12065" indent="0">
              <a:lnSpc>
                <a:spcPct val="100000"/>
              </a:lnSpc>
              <a:spcBef>
                <a:spcPts val="95"/>
              </a:spcBef>
              <a:buNone/>
              <a:tabLst>
                <a:tab pos="355600" algn="l"/>
                <a:tab pos="356235" algn="l"/>
              </a:tabLst>
            </a:pPr>
            <a:r>
              <a:rPr lang="en-US" sz="4900" spc="-10" dirty="0">
                <a:latin typeface="Calibri"/>
                <a:cs typeface="Calibri"/>
              </a:rPr>
              <a:t>The</a:t>
            </a:r>
            <a:r>
              <a:rPr lang="en-US" sz="4900" spc="20" dirty="0">
                <a:latin typeface="Calibri"/>
                <a:cs typeface="Calibri"/>
              </a:rPr>
              <a:t> </a:t>
            </a:r>
            <a:r>
              <a:rPr lang="en-US" sz="4900" spc="-10" dirty="0">
                <a:latin typeface="Calibri"/>
                <a:cs typeface="Calibri"/>
              </a:rPr>
              <a:t>ACM</a:t>
            </a:r>
            <a:r>
              <a:rPr lang="en-US" sz="4900" spc="-5" dirty="0">
                <a:latin typeface="Calibri"/>
                <a:cs typeface="Calibri"/>
              </a:rPr>
              <a:t> </a:t>
            </a:r>
            <a:r>
              <a:rPr lang="en-US" sz="4900" i="1" spc="-5" dirty="0">
                <a:latin typeface="Calibri"/>
                <a:cs typeface="Calibri"/>
              </a:rPr>
              <a:t>Computing</a:t>
            </a:r>
            <a:r>
              <a:rPr lang="en-US" sz="4900" i="1" spc="-10" dirty="0">
                <a:latin typeface="Calibri"/>
                <a:cs typeface="Calibri"/>
              </a:rPr>
              <a:t> </a:t>
            </a:r>
            <a:r>
              <a:rPr lang="en-US" sz="4900" i="1" spc="-5" dirty="0">
                <a:latin typeface="Calibri"/>
                <a:cs typeface="Calibri"/>
              </a:rPr>
              <a:t>Curricula</a:t>
            </a:r>
            <a:r>
              <a:rPr lang="en-US" sz="4900" i="1" spc="-35" dirty="0">
                <a:latin typeface="Calibri"/>
                <a:cs typeface="Calibri"/>
              </a:rPr>
              <a:t> </a:t>
            </a:r>
            <a:r>
              <a:rPr lang="en-US" sz="4900" i="1" spc="-5" dirty="0">
                <a:latin typeface="Calibri"/>
                <a:cs typeface="Calibri"/>
              </a:rPr>
              <a:t>2005</a:t>
            </a:r>
            <a:r>
              <a:rPr lang="en-US" sz="4900" i="1" spc="-170" dirty="0">
                <a:latin typeface="Calibri"/>
                <a:cs typeface="Calibri"/>
              </a:rPr>
              <a:t> </a:t>
            </a:r>
            <a:r>
              <a:rPr lang="en-US" sz="4900" spc="-10" dirty="0">
                <a:latin typeface="Calibri"/>
                <a:cs typeface="Calibri"/>
              </a:rPr>
              <a:t>defined</a:t>
            </a:r>
            <a:r>
              <a:rPr lang="en-US" sz="4900" spc="15" dirty="0">
                <a:latin typeface="Calibri"/>
                <a:cs typeface="Calibri"/>
              </a:rPr>
              <a:t> </a:t>
            </a:r>
            <a:r>
              <a:rPr lang="en-US" sz="4900" spc="-10" dirty="0">
                <a:latin typeface="Calibri"/>
                <a:cs typeface="Calibri"/>
              </a:rPr>
              <a:t>"computing"</a:t>
            </a:r>
            <a:r>
              <a:rPr lang="en-US" sz="4900" spc="40" dirty="0">
                <a:latin typeface="Calibri"/>
                <a:cs typeface="Calibri"/>
              </a:rPr>
              <a:t> </a:t>
            </a:r>
            <a:r>
              <a:rPr lang="en-US" sz="4900" spc="-5" dirty="0">
                <a:latin typeface="Calibri"/>
                <a:cs typeface="Calibri"/>
              </a:rPr>
              <a:t>as</a:t>
            </a:r>
            <a:endParaRPr lang="en-US" sz="4900" dirty="0">
              <a:latin typeface="Calibri"/>
              <a:cs typeface="Calibri"/>
            </a:endParaRPr>
          </a:p>
          <a:p>
            <a:pPr>
              <a:lnSpc>
                <a:spcPct val="100000"/>
              </a:lnSpc>
              <a:spcBef>
                <a:spcPts val="55"/>
              </a:spcBef>
            </a:pPr>
            <a:endParaRPr lang="en-US" sz="4900" dirty="0">
              <a:latin typeface="Calibri"/>
              <a:cs typeface="Calibri"/>
            </a:endParaRPr>
          </a:p>
          <a:p>
            <a:pPr marL="12700" marR="5080" algn="just">
              <a:lnSpc>
                <a:spcPct val="170000"/>
              </a:lnSpc>
            </a:pPr>
            <a:r>
              <a:rPr lang="en-US" sz="4900" spc="-5" dirty="0">
                <a:cs typeface="Calibri"/>
              </a:rPr>
              <a:t>"In a </a:t>
            </a:r>
            <a:r>
              <a:rPr lang="en-US" sz="4900" spc="-15" dirty="0">
                <a:cs typeface="Calibri"/>
              </a:rPr>
              <a:t>general </a:t>
            </a:r>
            <a:r>
              <a:rPr lang="en-US" sz="4900" spc="-60" dirty="0">
                <a:cs typeface="Calibri"/>
              </a:rPr>
              <a:t>way, </a:t>
            </a:r>
            <a:r>
              <a:rPr lang="en-US" sz="4900" spc="-15" dirty="0">
                <a:cs typeface="Calibri"/>
              </a:rPr>
              <a:t>we can </a:t>
            </a:r>
            <a:r>
              <a:rPr lang="en-US" sz="4900" spc="-10" dirty="0">
                <a:cs typeface="Calibri"/>
              </a:rPr>
              <a:t>define </a:t>
            </a:r>
            <a:r>
              <a:rPr lang="en-US" sz="4900" spc="-5" dirty="0">
                <a:uFill>
                  <a:solidFill>
                    <a:srgbClr val="000000"/>
                  </a:solidFill>
                </a:uFill>
                <a:cs typeface="Calibri"/>
              </a:rPr>
              <a:t>computing </a:t>
            </a:r>
            <a:r>
              <a:rPr lang="en-US" sz="4900" spc="-20" dirty="0">
                <a:uFill>
                  <a:solidFill>
                    <a:srgbClr val="000000"/>
                  </a:solidFill>
                </a:uFill>
                <a:cs typeface="Calibri"/>
              </a:rPr>
              <a:t>to </a:t>
            </a:r>
            <a:r>
              <a:rPr lang="en-US" sz="4900" spc="-5" dirty="0">
                <a:uFill>
                  <a:solidFill>
                    <a:srgbClr val="000000"/>
                  </a:solidFill>
                </a:uFill>
                <a:cs typeface="Calibri"/>
              </a:rPr>
              <a:t>mean </a:t>
            </a:r>
            <a:r>
              <a:rPr lang="en-US" sz="4900" spc="-15" dirty="0">
                <a:uFill>
                  <a:solidFill>
                    <a:srgbClr val="000000"/>
                  </a:solidFill>
                </a:uFill>
                <a:cs typeface="Calibri"/>
              </a:rPr>
              <a:t>any </a:t>
            </a:r>
            <a:r>
              <a:rPr lang="en-US" sz="4900" spc="-10" dirty="0">
                <a:uFill>
                  <a:solidFill>
                    <a:srgbClr val="000000"/>
                  </a:solidFill>
                </a:uFill>
                <a:cs typeface="Calibri"/>
              </a:rPr>
              <a:t>goal-oriented </a:t>
            </a:r>
            <a:r>
              <a:rPr lang="en-US" sz="4900" spc="-5" dirty="0">
                <a:cs typeface="Calibri"/>
              </a:rPr>
              <a:t> </a:t>
            </a:r>
            <a:r>
              <a:rPr lang="en-US" sz="4900" spc="-5" dirty="0">
                <a:uFill>
                  <a:solidFill>
                    <a:srgbClr val="000000"/>
                  </a:solidFill>
                </a:uFill>
                <a:cs typeface="Calibri"/>
              </a:rPr>
              <a:t>activity</a:t>
            </a:r>
            <a:r>
              <a:rPr lang="en-US" sz="4900" dirty="0">
                <a:uFill>
                  <a:solidFill>
                    <a:srgbClr val="000000"/>
                  </a:solidFill>
                </a:uFill>
                <a:cs typeface="Calibri"/>
              </a:rPr>
              <a:t> </a:t>
            </a:r>
            <a:r>
              <a:rPr lang="en-US" sz="4900" spc="-5" dirty="0">
                <a:uFill>
                  <a:solidFill>
                    <a:srgbClr val="000000"/>
                  </a:solidFill>
                </a:uFill>
                <a:cs typeface="Calibri"/>
              </a:rPr>
              <a:t>requiring</a:t>
            </a:r>
            <a:r>
              <a:rPr lang="en-US" sz="4900" spc="-5" dirty="0">
                <a:cs typeface="Calibri"/>
              </a:rPr>
              <a:t>,</a:t>
            </a:r>
            <a:r>
              <a:rPr lang="en-US" sz="4900" dirty="0">
                <a:cs typeface="Calibri"/>
              </a:rPr>
              <a:t> </a:t>
            </a:r>
            <a:r>
              <a:rPr lang="en-US" sz="4900" spc="-10" dirty="0">
                <a:cs typeface="Calibri"/>
              </a:rPr>
              <a:t>benefiting</a:t>
            </a:r>
            <a:r>
              <a:rPr lang="en-US" sz="4900" spc="-5" dirty="0">
                <a:cs typeface="Calibri"/>
              </a:rPr>
              <a:t> </a:t>
            </a:r>
            <a:r>
              <a:rPr lang="en-US" sz="4900" spc="-15" dirty="0">
                <a:cs typeface="Calibri"/>
              </a:rPr>
              <a:t>from,</a:t>
            </a:r>
            <a:r>
              <a:rPr lang="en-US" sz="4900" spc="-10" dirty="0">
                <a:cs typeface="Calibri"/>
              </a:rPr>
              <a:t> </a:t>
            </a:r>
            <a:r>
              <a:rPr lang="en-US" sz="4900" spc="-5" dirty="0">
                <a:cs typeface="Calibri"/>
              </a:rPr>
              <a:t>or</a:t>
            </a:r>
            <a:r>
              <a:rPr lang="en-US" sz="4900" dirty="0">
                <a:cs typeface="Calibri"/>
              </a:rPr>
              <a:t> </a:t>
            </a:r>
            <a:r>
              <a:rPr lang="en-US" sz="4900" spc="-10" dirty="0">
                <a:cs typeface="Calibri"/>
              </a:rPr>
              <a:t>creating</a:t>
            </a:r>
            <a:r>
              <a:rPr lang="en-US" sz="4900" spc="-5" dirty="0">
                <a:cs typeface="Calibri"/>
              </a:rPr>
              <a:t> </a:t>
            </a:r>
            <a:r>
              <a:rPr lang="en-US" sz="4900" spc="-15" dirty="0">
                <a:cs typeface="Calibri"/>
              </a:rPr>
              <a:t>computers.</a:t>
            </a:r>
            <a:r>
              <a:rPr lang="en-US" sz="4900" spc="-10" dirty="0">
                <a:cs typeface="Calibri"/>
              </a:rPr>
              <a:t> Thus, </a:t>
            </a:r>
            <a:r>
              <a:rPr lang="en-US" sz="4900" spc="-484" dirty="0">
                <a:cs typeface="Calibri"/>
              </a:rPr>
              <a:t> </a:t>
            </a:r>
            <a:r>
              <a:rPr lang="en-US" sz="4900" spc="-10" dirty="0">
                <a:cs typeface="Calibri"/>
              </a:rPr>
              <a:t>computing</a:t>
            </a:r>
            <a:r>
              <a:rPr lang="en-US" sz="4900" spc="-5" dirty="0">
                <a:cs typeface="Calibri"/>
              </a:rPr>
              <a:t> </a:t>
            </a:r>
            <a:r>
              <a:rPr lang="en-US" sz="4900" spc="-10" dirty="0">
                <a:cs typeface="Calibri"/>
              </a:rPr>
              <a:t>includes</a:t>
            </a:r>
            <a:r>
              <a:rPr lang="en-US" sz="4900" spc="-5" dirty="0">
                <a:cs typeface="Calibri"/>
              </a:rPr>
              <a:t> designing</a:t>
            </a:r>
            <a:r>
              <a:rPr lang="en-US" sz="4900" dirty="0">
                <a:cs typeface="Calibri"/>
              </a:rPr>
              <a:t> </a:t>
            </a:r>
            <a:r>
              <a:rPr lang="en-US" sz="4900" spc="-5" dirty="0">
                <a:cs typeface="Calibri"/>
              </a:rPr>
              <a:t>and</a:t>
            </a:r>
            <a:r>
              <a:rPr lang="en-US" sz="4900" dirty="0">
                <a:cs typeface="Calibri"/>
              </a:rPr>
              <a:t> </a:t>
            </a:r>
            <a:r>
              <a:rPr lang="en-US" sz="4900" spc="-10" dirty="0">
                <a:cs typeface="Calibri"/>
              </a:rPr>
              <a:t>building</a:t>
            </a:r>
            <a:r>
              <a:rPr lang="en-US" sz="4900" spc="-5" dirty="0">
                <a:cs typeface="Calibri"/>
              </a:rPr>
              <a:t> </a:t>
            </a:r>
            <a:r>
              <a:rPr lang="en-US" sz="4900" spc="-15" dirty="0">
                <a:cs typeface="Calibri"/>
              </a:rPr>
              <a:t>hardware</a:t>
            </a:r>
            <a:r>
              <a:rPr lang="en-US" sz="4900" spc="-10" dirty="0">
                <a:cs typeface="Calibri"/>
              </a:rPr>
              <a:t> </a:t>
            </a:r>
            <a:r>
              <a:rPr lang="en-US" sz="4900" spc="-5" dirty="0">
                <a:cs typeface="Calibri"/>
              </a:rPr>
              <a:t>and</a:t>
            </a:r>
            <a:r>
              <a:rPr lang="en-US" sz="4900" dirty="0">
                <a:cs typeface="Calibri"/>
              </a:rPr>
              <a:t> </a:t>
            </a:r>
            <a:r>
              <a:rPr lang="en-US" sz="4900" spc="-10" dirty="0">
                <a:cs typeface="Calibri"/>
              </a:rPr>
              <a:t>software </a:t>
            </a:r>
            <a:r>
              <a:rPr lang="en-US" sz="4900" spc="-5" dirty="0">
                <a:cs typeface="Calibri"/>
              </a:rPr>
              <a:t> </a:t>
            </a:r>
            <a:r>
              <a:rPr lang="en-US" sz="4900" spc="-20" dirty="0">
                <a:cs typeface="Calibri"/>
              </a:rPr>
              <a:t>systems</a:t>
            </a:r>
            <a:r>
              <a:rPr lang="en-US" sz="4900" spc="-15" dirty="0">
                <a:cs typeface="Calibri"/>
              </a:rPr>
              <a:t> </a:t>
            </a:r>
            <a:r>
              <a:rPr lang="en-US" sz="4900" spc="-20" dirty="0">
                <a:cs typeface="Calibri"/>
              </a:rPr>
              <a:t>for</a:t>
            </a:r>
            <a:r>
              <a:rPr lang="en-US" sz="4900" spc="-15" dirty="0">
                <a:cs typeface="Calibri"/>
              </a:rPr>
              <a:t> </a:t>
            </a:r>
            <a:r>
              <a:rPr lang="en-US" sz="4900" spc="-5" dirty="0">
                <a:cs typeface="Calibri"/>
              </a:rPr>
              <a:t>a</a:t>
            </a:r>
            <a:r>
              <a:rPr lang="en-US" sz="4900" dirty="0">
                <a:cs typeface="Calibri"/>
              </a:rPr>
              <a:t> </a:t>
            </a:r>
            <a:r>
              <a:rPr lang="en-US" sz="4900" spc="-5" dirty="0">
                <a:cs typeface="Calibri"/>
              </a:rPr>
              <a:t>wide</a:t>
            </a:r>
            <a:r>
              <a:rPr lang="en-US" sz="4900" dirty="0">
                <a:cs typeface="Calibri"/>
              </a:rPr>
              <a:t> </a:t>
            </a:r>
            <a:r>
              <a:rPr lang="en-US" sz="4900" spc="-15" dirty="0">
                <a:cs typeface="Calibri"/>
              </a:rPr>
              <a:t>range</a:t>
            </a:r>
            <a:r>
              <a:rPr lang="en-US" sz="4900" spc="-10" dirty="0">
                <a:cs typeface="Calibri"/>
              </a:rPr>
              <a:t> </a:t>
            </a:r>
            <a:r>
              <a:rPr lang="en-US" sz="4900" dirty="0">
                <a:cs typeface="Calibri"/>
              </a:rPr>
              <a:t>of</a:t>
            </a:r>
            <a:r>
              <a:rPr lang="en-US" sz="4900" spc="5" dirty="0">
                <a:cs typeface="Calibri"/>
              </a:rPr>
              <a:t> </a:t>
            </a:r>
            <a:r>
              <a:rPr lang="en-US" sz="4900" spc="-5" dirty="0">
                <a:cs typeface="Calibri"/>
              </a:rPr>
              <a:t>purposes;</a:t>
            </a:r>
            <a:r>
              <a:rPr lang="en-US" sz="4900" dirty="0">
                <a:cs typeface="Calibri"/>
              </a:rPr>
              <a:t> </a:t>
            </a:r>
            <a:r>
              <a:rPr lang="en-US" sz="4900" spc="-5" dirty="0">
                <a:cs typeface="Calibri"/>
              </a:rPr>
              <a:t>processing,</a:t>
            </a:r>
            <a:r>
              <a:rPr lang="en-US" sz="4900" dirty="0">
                <a:cs typeface="Calibri"/>
              </a:rPr>
              <a:t> </a:t>
            </a:r>
            <a:r>
              <a:rPr lang="en-US" sz="4900" spc="-5" dirty="0">
                <a:cs typeface="Calibri"/>
              </a:rPr>
              <a:t>structuring,</a:t>
            </a:r>
            <a:r>
              <a:rPr lang="en-US" sz="4900" dirty="0">
                <a:cs typeface="Calibri"/>
              </a:rPr>
              <a:t> </a:t>
            </a:r>
            <a:r>
              <a:rPr lang="en-US" sz="4900" spc="-5" dirty="0">
                <a:cs typeface="Calibri"/>
              </a:rPr>
              <a:t>and </a:t>
            </a:r>
            <a:r>
              <a:rPr lang="en-US" sz="4900" spc="-484" dirty="0">
                <a:cs typeface="Calibri"/>
              </a:rPr>
              <a:t> </a:t>
            </a:r>
            <a:r>
              <a:rPr lang="en-US" sz="4900" spc="-5" dirty="0">
                <a:cs typeface="Calibri"/>
              </a:rPr>
              <a:t>managing </a:t>
            </a:r>
            <a:r>
              <a:rPr lang="en-US" sz="4900" spc="-10" dirty="0">
                <a:cs typeface="Calibri"/>
              </a:rPr>
              <a:t>various </a:t>
            </a:r>
            <a:r>
              <a:rPr lang="en-US" sz="4900" spc="-5" dirty="0">
                <a:cs typeface="Calibri"/>
              </a:rPr>
              <a:t>kinds </a:t>
            </a:r>
            <a:r>
              <a:rPr lang="en-US" sz="4900" spc="-10" dirty="0">
                <a:cs typeface="Calibri"/>
              </a:rPr>
              <a:t>of information; </a:t>
            </a:r>
            <a:r>
              <a:rPr lang="en-US" sz="4900" spc="-5" dirty="0">
                <a:cs typeface="Calibri"/>
              </a:rPr>
              <a:t>doing scientific </a:t>
            </a:r>
            <a:r>
              <a:rPr lang="en-US" sz="4900" spc="-10" dirty="0">
                <a:cs typeface="Calibri"/>
              </a:rPr>
              <a:t>studies using </a:t>
            </a:r>
            <a:r>
              <a:rPr lang="en-US" sz="4900" spc="-5" dirty="0">
                <a:cs typeface="Calibri"/>
              </a:rPr>
              <a:t> </a:t>
            </a:r>
            <a:r>
              <a:rPr lang="en-US" sz="4900" spc="-10" dirty="0">
                <a:cs typeface="Calibri"/>
              </a:rPr>
              <a:t>computers;</a:t>
            </a:r>
            <a:r>
              <a:rPr lang="en-US" sz="4900" spc="-5" dirty="0">
                <a:cs typeface="Calibri"/>
              </a:rPr>
              <a:t> making</a:t>
            </a:r>
            <a:r>
              <a:rPr lang="en-US" sz="4900" dirty="0">
                <a:cs typeface="Calibri"/>
              </a:rPr>
              <a:t> </a:t>
            </a:r>
            <a:r>
              <a:rPr lang="en-US" sz="4900" spc="-15" dirty="0">
                <a:cs typeface="Calibri"/>
              </a:rPr>
              <a:t>computer</a:t>
            </a:r>
            <a:r>
              <a:rPr lang="en-US" sz="4900" spc="-10" dirty="0">
                <a:cs typeface="Calibri"/>
              </a:rPr>
              <a:t> </a:t>
            </a:r>
            <a:r>
              <a:rPr lang="en-US" sz="4900" spc="-15" dirty="0">
                <a:cs typeface="Calibri"/>
              </a:rPr>
              <a:t>systems</a:t>
            </a:r>
            <a:r>
              <a:rPr lang="en-US" sz="4900" spc="-10" dirty="0">
                <a:cs typeface="Calibri"/>
              </a:rPr>
              <a:t> </a:t>
            </a:r>
            <a:r>
              <a:rPr lang="en-US" sz="4900" spc="-15" dirty="0">
                <a:cs typeface="Calibri"/>
              </a:rPr>
              <a:t>behave</a:t>
            </a:r>
            <a:r>
              <a:rPr lang="en-US" sz="4900" spc="-10" dirty="0">
                <a:cs typeface="Calibri"/>
              </a:rPr>
              <a:t> intelligently;</a:t>
            </a:r>
            <a:r>
              <a:rPr lang="en-US" sz="4900" spc="475" dirty="0">
                <a:cs typeface="Calibri"/>
              </a:rPr>
              <a:t> </a:t>
            </a:r>
            <a:r>
              <a:rPr lang="en-US" sz="4900" spc="-10" dirty="0">
                <a:cs typeface="Calibri"/>
              </a:rPr>
              <a:t>creating </a:t>
            </a:r>
            <a:r>
              <a:rPr lang="en-US" sz="4900" spc="-5" dirty="0">
                <a:cs typeface="Calibri"/>
              </a:rPr>
              <a:t> and</a:t>
            </a:r>
            <a:r>
              <a:rPr lang="en-US" sz="4900" dirty="0">
                <a:cs typeface="Calibri"/>
              </a:rPr>
              <a:t> </a:t>
            </a:r>
            <a:r>
              <a:rPr lang="en-US" sz="4900" spc="-5" dirty="0">
                <a:cs typeface="Calibri"/>
              </a:rPr>
              <a:t>using</a:t>
            </a:r>
            <a:r>
              <a:rPr lang="en-US" sz="4900" dirty="0">
                <a:cs typeface="Calibri"/>
              </a:rPr>
              <a:t> </a:t>
            </a:r>
            <a:r>
              <a:rPr lang="en-US" sz="4900" spc="-10" dirty="0">
                <a:cs typeface="Calibri"/>
              </a:rPr>
              <a:t>communications</a:t>
            </a:r>
            <a:r>
              <a:rPr lang="en-US" sz="4900" spc="-5" dirty="0">
                <a:cs typeface="Calibri"/>
              </a:rPr>
              <a:t> and</a:t>
            </a:r>
            <a:r>
              <a:rPr lang="en-US" sz="4900" dirty="0">
                <a:cs typeface="Calibri"/>
              </a:rPr>
              <a:t> </a:t>
            </a:r>
            <a:r>
              <a:rPr lang="en-US" sz="4900" spc="-15" dirty="0">
                <a:cs typeface="Calibri"/>
              </a:rPr>
              <a:t>entertainment</a:t>
            </a:r>
            <a:r>
              <a:rPr lang="en-US" sz="4900" spc="-10" dirty="0">
                <a:cs typeface="Calibri"/>
              </a:rPr>
              <a:t> </a:t>
            </a:r>
            <a:r>
              <a:rPr lang="en-US" sz="4900" spc="-5" dirty="0">
                <a:cs typeface="Calibri"/>
              </a:rPr>
              <a:t>media;</a:t>
            </a:r>
            <a:r>
              <a:rPr lang="en-US" sz="4900" dirty="0">
                <a:cs typeface="Calibri"/>
              </a:rPr>
              <a:t> </a:t>
            </a:r>
            <a:r>
              <a:rPr lang="en-US" sz="4900" spc="-5" dirty="0">
                <a:cs typeface="Calibri"/>
              </a:rPr>
              <a:t>finding</a:t>
            </a:r>
            <a:r>
              <a:rPr lang="en-US" sz="4900" dirty="0">
                <a:cs typeface="Calibri"/>
              </a:rPr>
              <a:t> </a:t>
            </a:r>
            <a:r>
              <a:rPr lang="en-US" sz="4900" spc="-5" dirty="0">
                <a:cs typeface="Calibri"/>
              </a:rPr>
              <a:t>and </a:t>
            </a:r>
            <a:r>
              <a:rPr lang="en-US" sz="4900" dirty="0">
                <a:cs typeface="Calibri"/>
              </a:rPr>
              <a:t> </a:t>
            </a:r>
            <a:r>
              <a:rPr lang="en-US" sz="4900" spc="-10" dirty="0">
                <a:cs typeface="Calibri"/>
              </a:rPr>
              <a:t>gathering information </a:t>
            </a:r>
            <a:r>
              <a:rPr lang="en-US" sz="4900" spc="-15" dirty="0">
                <a:cs typeface="Calibri"/>
              </a:rPr>
              <a:t>relevant </a:t>
            </a:r>
            <a:r>
              <a:rPr lang="en-US" sz="4900" spc="-20" dirty="0">
                <a:cs typeface="Calibri"/>
              </a:rPr>
              <a:t>to </a:t>
            </a:r>
            <a:r>
              <a:rPr lang="en-US" sz="4900" spc="-15" dirty="0">
                <a:cs typeface="Calibri"/>
              </a:rPr>
              <a:t>any </a:t>
            </a:r>
            <a:r>
              <a:rPr lang="en-US" sz="4900" spc="-10" dirty="0">
                <a:cs typeface="Calibri"/>
              </a:rPr>
              <a:t>particular </a:t>
            </a:r>
            <a:r>
              <a:rPr lang="en-US" sz="4900" spc="-5" dirty="0">
                <a:cs typeface="Calibri"/>
              </a:rPr>
              <a:t>purpose, and </a:t>
            </a:r>
            <a:r>
              <a:rPr lang="en-US" sz="4900" dirty="0">
                <a:cs typeface="Calibri"/>
              </a:rPr>
              <a:t>so </a:t>
            </a:r>
            <a:r>
              <a:rPr lang="en-US" sz="4900" spc="-5" dirty="0">
                <a:cs typeface="Calibri"/>
              </a:rPr>
              <a:t>on. </a:t>
            </a:r>
            <a:r>
              <a:rPr lang="en-US" sz="4900" dirty="0">
                <a:cs typeface="Calibri"/>
              </a:rPr>
              <a:t> </a:t>
            </a:r>
            <a:r>
              <a:rPr lang="en-US" sz="4900" spc="-10" dirty="0">
                <a:cs typeface="Calibri"/>
              </a:rPr>
              <a:t>The</a:t>
            </a:r>
            <a:r>
              <a:rPr lang="en-US" sz="4900" spc="15" dirty="0">
                <a:cs typeface="Calibri"/>
              </a:rPr>
              <a:t> </a:t>
            </a:r>
            <a:r>
              <a:rPr lang="en-US" sz="4900" spc="-10" dirty="0">
                <a:cs typeface="Calibri"/>
              </a:rPr>
              <a:t>list </a:t>
            </a:r>
            <a:r>
              <a:rPr lang="en-US" sz="4900" spc="-5" dirty="0">
                <a:cs typeface="Calibri"/>
              </a:rPr>
              <a:t>is</a:t>
            </a:r>
            <a:r>
              <a:rPr lang="en-US" sz="4900" dirty="0">
                <a:cs typeface="Calibri"/>
              </a:rPr>
              <a:t> </a:t>
            </a:r>
            <a:r>
              <a:rPr lang="en-US" sz="4900" spc="-5" dirty="0">
                <a:cs typeface="Calibri"/>
              </a:rPr>
              <a:t>virtually</a:t>
            </a:r>
            <a:r>
              <a:rPr lang="en-US" sz="4900" spc="-15" dirty="0">
                <a:cs typeface="Calibri"/>
              </a:rPr>
              <a:t> </a:t>
            </a:r>
            <a:r>
              <a:rPr lang="en-US" sz="4900" spc="-5" dirty="0">
                <a:cs typeface="Calibri"/>
              </a:rPr>
              <a:t>endless,</a:t>
            </a:r>
            <a:r>
              <a:rPr lang="en-US" sz="4900" spc="20" dirty="0">
                <a:cs typeface="Calibri"/>
              </a:rPr>
              <a:t> </a:t>
            </a:r>
            <a:r>
              <a:rPr lang="en-US" sz="4900" spc="-5" dirty="0">
                <a:cs typeface="Calibri"/>
              </a:rPr>
              <a:t>and the</a:t>
            </a:r>
            <a:r>
              <a:rPr lang="en-US" sz="4900" dirty="0">
                <a:cs typeface="Calibri"/>
              </a:rPr>
              <a:t> </a:t>
            </a:r>
            <a:r>
              <a:rPr lang="en-US" sz="4900" spc="-5" dirty="0">
                <a:cs typeface="Calibri"/>
              </a:rPr>
              <a:t>possibilities </a:t>
            </a:r>
            <a:r>
              <a:rPr lang="en-US" sz="4900" spc="-10" dirty="0">
                <a:cs typeface="Calibri"/>
              </a:rPr>
              <a:t>are</a:t>
            </a:r>
            <a:r>
              <a:rPr lang="en-US" sz="4900" spc="-5" dirty="0">
                <a:cs typeface="Calibri"/>
              </a:rPr>
              <a:t> </a:t>
            </a:r>
            <a:r>
              <a:rPr lang="en-US" sz="4900" spc="-15" dirty="0">
                <a:cs typeface="Calibri"/>
              </a:rPr>
              <a:t>vast."</a:t>
            </a:r>
            <a:endParaRPr lang="en-US" sz="4900" dirty="0">
              <a:cs typeface="Calibri"/>
            </a:endParaRPr>
          </a:p>
          <a:p>
            <a:endParaRPr lang="en-IN" sz="1800" dirty="0"/>
          </a:p>
        </p:txBody>
      </p:sp>
      <p:sp>
        <p:nvSpPr>
          <p:cNvPr id="5" name="Footer Placeholder 4">
            <a:extLst>
              <a:ext uri="{FF2B5EF4-FFF2-40B4-BE49-F238E27FC236}">
                <a16:creationId xmlns:a16="http://schemas.microsoft.com/office/drawing/2014/main" id="{D496E4C3-F586-0F54-F0EF-44F54F4866EF}"/>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FE6E147F-08C4-C72F-F71C-93C3DC17C7E1}"/>
              </a:ext>
            </a:extLst>
          </p:cNvPr>
          <p:cNvSpPr>
            <a:spLocks noGrp="1"/>
          </p:cNvSpPr>
          <p:nvPr>
            <p:ph type="sldNum" sz="quarter" idx="12"/>
          </p:nvPr>
        </p:nvSpPr>
        <p:spPr/>
        <p:txBody>
          <a:bodyPr/>
          <a:lstStyle/>
          <a:p>
            <a:fld id="{7B69A187-1465-481C-91D5-B2B7D79C567F}" type="slidenum">
              <a:rPr lang="en-US" smtClean="0"/>
              <a:pPr/>
              <a:t>9</a:t>
            </a:fld>
            <a:endParaRPr lang="en-US" dirty="0"/>
          </a:p>
        </p:txBody>
      </p:sp>
      <p:pic>
        <p:nvPicPr>
          <p:cNvPr id="3" name="Picture 2">
            <a:extLst>
              <a:ext uri="{FF2B5EF4-FFF2-40B4-BE49-F238E27FC236}">
                <a16:creationId xmlns:a16="http://schemas.microsoft.com/office/drawing/2014/main" id="{C9DFFC85-E021-027B-3318-9CB8985658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75F5F606-7026-E1F5-FFA3-FFF6E984D632}"/>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3269164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39513-E6F8-262F-3C03-C3DBAAF25B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5721E-79A6-4172-0878-42FAEA0D1231}"/>
              </a:ext>
            </a:extLst>
          </p:cNvPr>
          <p:cNvSpPr>
            <a:spLocks noGrp="1"/>
          </p:cNvSpPr>
          <p:nvPr>
            <p:ph type="title"/>
          </p:nvPr>
        </p:nvSpPr>
        <p:spPr>
          <a:xfrm>
            <a:off x="2744426" y="70036"/>
            <a:ext cx="4478695" cy="594770"/>
          </a:xfrm>
        </p:spPr>
        <p:txBody>
          <a:bodyPr>
            <a:normAutofit/>
          </a:bodyPr>
          <a:lstStyle/>
          <a:p>
            <a:pPr algn="ctr"/>
            <a:r>
              <a:rPr lang="en-US" altLang="en-US" sz="3200" b="1" kern="0" dirty="0">
                <a:latin typeface="+mn-lt"/>
              </a:rPr>
              <a:t>Detail Topics</a:t>
            </a:r>
            <a:endParaRPr lang="en-IN" sz="3200" dirty="0">
              <a:latin typeface="+mn-lt"/>
            </a:endParaRPr>
          </a:p>
        </p:txBody>
      </p:sp>
      <p:sp>
        <p:nvSpPr>
          <p:cNvPr id="8" name="Content Placeholder 7">
            <a:extLst>
              <a:ext uri="{FF2B5EF4-FFF2-40B4-BE49-F238E27FC236}">
                <a16:creationId xmlns:a16="http://schemas.microsoft.com/office/drawing/2014/main" id="{8E841531-BFD4-8C2F-8BAB-4C1788D1F97F}"/>
              </a:ext>
            </a:extLst>
          </p:cNvPr>
          <p:cNvSpPr>
            <a:spLocks noGrp="1"/>
          </p:cNvSpPr>
          <p:nvPr>
            <p:ph idx="1"/>
          </p:nvPr>
        </p:nvSpPr>
        <p:spPr>
          <a:xfrm>
            <a:off x="628650" y="1047750"/>
            <a:ext cx="7886700" cy="3584973"/>
          </a:xfrm>
        </p:spPr>
        <p:txBody>
          <a:bodyPr>
            <a:noAutofit/>
          </a:bodyPr>
          <a:lstStyle/>
          <a:p>
            <a:pPr marL="469265" indent="-457200" algn="just">
              <a:lnSpc>
                <a:spcPct val="120000"/>
              </a:lnSpc>
              <a:spcBef>
                <a:spcPts val="95"/>
              </a:spcBef>
              <a:tabLst>
                <a:tab pos="355600" algn="l"/>
                <a:tab pos="356235" algn="l"/>
              </a:tabLst>
            </a:pPr>
            <a:r>
              <a:rPr lang="en-US" sz="1600" dirty="0">
                <a:cs typeface="Calibri"/>
              </a:rPr>
              <a:t>Distributed computing refers to a computing model in which a system consists of multiple independent computers, or nodes, that work together to achieve a common goal. </a:t>
            </a:r>
          </a:p>
          <a:p>
            <a:pPr marL="469265" indent="-457200" algn="just">
              <a:lnSpc>
                <a:spcPct val="120000"/>
              </a:lnSpc>
              <a:spcBef>
                <a:spcPts val="95"/>
              </a:spcBef>
              <a:tabLst>
                <a:tab pos="355600" algn="l"/>
                <a:tab pos="356235" algn="l"/>
              </a:tabLst>
            </a:pPr>
            <a:r>
              <a:rPr lang="en-US" sz="1600" dirty="0">
                <a:cs typeface="Calibri"/>
              </a:rPr>
              <a:t>These computers are connected via a network and collaborate by sharing tasks and resources, with each node performing a specific part of the overall computation. </a:t>
            </a:r>
          </a:p>
          <a:p>
            <a:pPr marL="469265" indent="-457200" algn="just">
              <a:lnSpc>
                <a:spcPct val="120000"/>
              </a:lnSpc>
              <a:spcBef>
                <a:spcPts val="95"/>
              </a:spcBef>
              <a:tabLst>
                <a:tab pos="355600" algn="l"/>
                <a:tab pos="356235" algn="l"/>
              </a:tabLst>
            </a:pPr>
            <a:r>
              <a:rPr lang="en-US" sz="1600" dirty="0">
                <a:cs typeface="Calibri"/>
              </a:rPr>
              <a:t>The nodes may be geographically dispersed and operate autonomously, but they communicate and coordinate to solve problems or process data.</a:t>
            </a:r>
          </a:p>
          <a:p>
            <a:pPr marL="469265" indent="-457200" algn="just">
              <a:lnSpc>
                <a:spcPct val="120000"/>
              </a:lnSpc>
              <a:spcBef>
                <a:spcPts val="95"/>
              </a:spcBef>
              <a:tabLst>
                <a:tab pos="355600" algn="l"/>
                <a:tab pos="356235" algn="l"/>
              </a:tabLst>
            </a:pPr>
            <a:r>
              <a:rPr lang="en-US" sz="1600" dirty="0">
                <a:cs typeface="Calibri"/>
              </a:rPr>
              <a:t>In distributed computing, the workload is divided into smaller chunks and distributed across various machines (sometimes referred to as workers or nodes). These nodes can either be in the same physical location or spread across different locations globally. </a:t>
            </a:r>
          </a:p>
          <a:p>
            <a:pPr marL="469265" indent="-457200" algn="just">
              <a:lnSpc>
                <a:spcPct val="120000"/>
              </a:lnSpc>
              <a:spcBef>
                <a:spcPts val="95"/>
              </a:spcBef>
              <a:tabLst>
                <a:tab pos="355600" algn="l"/>
                <a:tab pos="356235" algn="l"/>
              </a:tabLst>
            </a:pPr>
            <a:r>
              <a:rPr lang="en-US" sz="1600" dirty="0">
                <a:cs typeface="Calibri"/>
              </a:rPr>
              <a:t>The main idea is to combine the processing power of multiple computers to handle large tasks more efficiently than a single machine could on its own.</a:t>
            </a:r>
          </a:p>
        </p:txBody>
      </p:sp>
      <p:sp>
        <p:nvSpPr>
          <p:cNvPr id="5" name="Footer Placeholder 4">
            <a:extLst>
              <a:ext uri="{FF2B5EF4-FFF2-40B4-BE49-F238E27FC236}">
                <a16:creationId xmlns:a16="http://schemas.microsoft.com/office/drawing/2014/main" id="{A84957CB-7949-7C85-DBE5-5B8D1CB59B39}"/>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15B26EA3-A174-4533-FE31-85A8B081F39F}"/>
              </a:ext>
            </a:extLst>
          </p:cNvPr>
          <p:cNvSpPr>
            <a:spLocks noGrp="1"/>
          </p:cNvSpPr>
          <p:nvPr>
            <p:ph type="sldNum" sz="quarter" idx="12"/>
          </p:nvPr>
        </p:nvSpPr>
        <p:spPr/>
        <p:txBody>
          <a:bodyPr/>
          <a:lstStyle/>
          <a:p>
            <a:fld id="{7B69A187-1465-481C-91D5-B2B7D79C567F}" type="slidenum">
              <a:rPr lang="en-US" smtClean="0"/>
              <a:pPr/>
              <a:t>10</a:t>
            </a:fld>
            <a:endParaRPr lang="en-US" dirty="0"/>
          </a:p>
        </p:txBody>
      </p:sp>
      <p:pic>
        <p:nvPicPr>
          <p:cNvPr id="3" name="Picture 2">
            <a:extLst>
              <a:ext uri="{FF2B5EF4-FFF2-40B4-BE49-F238E27FC236}">
                <a16:creationId xmlns:a16="http://schemas.microsoft.com/office/drawing/2014/main" id="{5D5D95A1-508A-2926-4170-AFBED05A84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EA1DA168-E67B-D0F4-AF97-2D055F350368}"/>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3139230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3200" y="-18779"/>
            <a:ext cx="4396765" cy="997068"/>
          </a:xfrm>
          <a:prstGeom prst="rect">
            <a:avLst/>
          </a:prstGeom>
        </p:spPr>
        <p:txBody>
          <a:bodyPr vert="horz" wrap="square" lIns="0" tIns="12065" rIns="0" bIns="0" rtlCol="0">
            <a:spAutoFit/>
          </a:bodyPr>
          <a:lstStyle/>
          <a:p>
            <a:pPr marL="12700" algn="ctr">
              <a:lnSpc>
                <a:spcPct val="100000"/>
              </a:lnSpc>
              <a:spcBef>
                <a:spcPts val="95"/>
              </a:spcBef>
            </a:pPr>
            <a:r>
              <a:rPr sz="3200" b="1" spc="-30" dirty="0">
                <a:solidFill>
                  <a:srgbClr val="000000"/>
                </a:solidFill>
                <a:latin typeface="Calibri"/>
                <a:cs typeface="Calibri"/>
              </a:rPr>
              <a:t>Why</a:t>
            </a:r>
            <a:r>
              <a:rPr sz="3200" b="1" dirty="0">
                <a:solidFill>
                  <a:srgbClr val="000000"/>
                </a:solidFill>
                <a:latin typeface="Calibri"/>
                <a:cs typeface="Calibri"/>
              </a:rPr>
              <a:t> </a:t>
            </a:r>
            <a:r>
              <a:rPr sz="3200" b="1" spc="-15" dirty="0">
                <a:solidFill>
                  <a:srgbClr val="000000"/>
                </a:solidFill>
                <a:latin typeface="Calibri"/>
                <a:cs typeface="Calibri"/>
              </a:rPr>
              <a:t>Distributed</a:t>
            </a:r>
            <a:r>
              <a:rPr sz="3200" b="1" dirty="0">
                <a:solidFill>
                  <a:srgbClr val="000000"/>
                </a:solidFill>
                <a:latin typeface="Calibri"/>
                <a:cs typeface="Calibri"/>
              </a:rPr>
              <a:t> </a:t>
            </a:r>
            <a:r>
              <a:rPr sz="3200" b="1" spc="-10" dirty="0">
                <a:solidFill>
                  <a:srgbClr val="000000"/>
                </a:solidFill>
                <a:latin typeface="Calibri"/>
                <a:cs typeface="Calibri"/>
              </a:rPr>
              <a:t>Computing?</a:t>
            </a:r>
            <a:endParaRPr sz="3200"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2</a:t>
            </a:r>
          </a:p>
        </p:txBody>
      </p:sp>
      <p:sp>
        <p:nvSpPr>
          <p:cNvPr id="3" name="object 3"/>
          <p:cNvSpPr txBox="1"/>
          <p:nvPr/>
        </p:nvSpPr>
        <p:spPr>
          <a:xfrm>
            <a:off x="690470" y="971751"/>
            <a:ext cx="7824879" cy="3288665"/>
          </a:xfrm>
          <a:prstGeom prst="rect">
            <a:avLst/>
          </a:prstGeom>
        </p:spPr>
        <p:txBody>
          <a:bodyPr vert="horz" wrap="square" lIns="0" tIns="13335" rIns="0" bIns="0" rtlCol="0">
            <a:spAutoFit/>
          </a:bodyPr>
          <a:lstStyle/>
          <a:p>
            <a:pPr marL="355600" indent="-342900">
              <a:lnSpc>
                <a:spcPct val="100000"/>
              </a:lnSpc>
              <a:spcBef>
                <a:spcPts val="105"/>
              </a:spcBef>
              <a:buFont typeface="Arial MT"/>
              <a:buChar char="•"/>
              <a:tabLst>
                <a:tab pos="354965" algn="l"/>
                <a:tab pos="355600" algn="l"/>
              </a:tabLst>
            </a:pPr>
            <a:r>
              <a:rPr sz="1700" spc="-5" dirty="0">
                <a:latin typeface="Calibri"/>
                <a:cs typeface="Calibri"/>
              </a:rPr>
              <a:t>Nature</a:t>
            </a:r>
            <a:r>
              <a:rPr sz="1700" spc="-45" dirty="0">
                <a:latin typeface="Calibri"/>
                <a:cs typeface="Calibri"/>
              </a:rPr>
              <a:t> </a:t>
            </a:r>
            <a:r>
              <a:rPr sz="1700" dirty="0">
                <a:latin typeface="Calibri"/>
                <a:cs typeface="Calibri"/>
              </a:rPr>
              <a:t>of</a:t>
            </a:r>
            <a:r>
              <a:rPr sz="1700" spc="-10" dirty="0">
                <a:latin typeface="Calibri"/>
                <a:cs typeface="Calibri"/>
              </a:rPr>
              <a:t> </a:t>
            </a:r>
            <a:r>
              <a:rPr sz="1700" spc="-5" dirty="0">
                <a:latin typeface="Calibri"/>
                <a:cs typeface="Calibri"/>
              </a:rPr>
              <a:t>application</a:t>
            </a:r>
            <a:endParaRPr sz="1700" dirty="0">
              <a:latin typeface="Calibri"/>
              <a:cs typeface="Calibri"/>
            </a:endParaRPr>
          </a:p>
          <a:p>
            <a:pPr marL="355600" indent="-342900">
              <a:lnSpc>
                <a:spcPts val="2030"/>
              </a:lnSpc>
              <a:buFont typeface="Arial MT"/>
              <a:buChar char="•"/>
              <a:tabLst>
                <a:tab pos="354965" algn="l"/>
                <a:tab pos="355600" algn="l"/>
              </a:tabLst>
            </a:pPr>
            <a:r>
              <a:rPr sz="1700" spc="-10" dirty="0">
                <a:latin typeface="Calibri"/>
                <a:cs typeface="Calibri"/>
              </a:rPr>
              <a:t>Performance</a:t>
            </a:r>
            <a:endParaRPr sz="1700" dirty="0">
              <a:latin typeface="Calibri"/>
              <a:cs typeface="Calibri"/>
            </a:endParaRPr>
          </a:p>
          <a:p>
            <a:pPr marL="756285" lvl="1" indent="-287020">
              <a:lnSpc>
                <a:spcPts val="2630"/>
              </a:lnSpc>
              <a:buFont typeface="Arial MT"/>
              <a:buChar char="–"/>
              <a:tabLst>
                <a:tab pos="756285" algn="l"/>
                <a:tab pos="756920" algn="l"/>
              </a:tabLst>
            </a:pPr>
            <a:r>
              <a:rPr sz="2200" spc="-5" dirty="0">
                <a:latin typeface="Calibri"/>
                <a:cs typeface="Calibri"/>
              </a:rPr>
              <a:t>Computing</a:t>
            </a:r>
            <a:r>
              <a:rPr sz="2200" spc="-45" dirty="0">
                <a:latin typeface="Calibri"/>
                <a:cs typeface="Calibri"/>
              </a:rPr>
              <a:t> </a:t>
            </a:r>
            <a:r>
              <a:rPr sz="2200" spc="-10" dirty="0">
                <a:latin typeface="Calibri"/>
                <a:cs typeface="Calibri"/>
              </a:rPr>
              <a:t>intensive</a:t>
            </a:r>
            <a:endParaRPr sz="2200" dirty="0">
              <a:latin typeface="Calibri"/>
              <a:cs typeface="Calibri"/>
            </a:endParaRPr>
          </a:p>
          <a:p>
            <a:pPr marL="1155700" marR="825500" lvl="2" indent="-228600">
              <a:lnSpc>
                <a:spcPts val="1540"/>
              </a:lnSpc>
              <a:spcBef>
                <a:spcPts val="390"/>
              </a:spcBef>
              <a:buFont typeface="Arial MT"/>
              <a:buChar char="•"/>
              <a:tabLst>
                <a:tab pos="1155065" algn="l"/>
                <a:tab pos="1156335" algn="l"/>
              </a:tabLst>
            </a:pPr>
            <a:r>
              <a:rPr sz="1600" spc="-5" dirty="0">
                <a:latin typeface="Calibri"/>
                <a:cs typeface="Calibri"/>
              </a:rPr>
              <a:t>The</a:t>
            </a:r>
            <a:r>
              <a:rPr sz="1600" dirty="0">
                <a:latin typeface="Calibri"/>
                <a:cs typeface="Calibri"/>
              </a:rPr>
              <a:t> </a:t>
            </a:r>
            <a:r>
              <a:rPr sz="1600" spc="-10" dirty="0">
                <a:latin typeface="Calibri"/>
                <a:cs typeface="Calibri"/>
              </a:rPr>
              <a:t>task</a:t>
            </a:r>
            <a:r>
              <a:rPr sz="1600" spc="10" dirty="0">
                <a:latin typeface="Calibri"/>
                <a:cs typeface="Calibri"/>
              </a:rPr>
              <a:t> </a:t>
            </a:r>
            <a:r>
              <a:rPr sz="1600" spc="-10" dirty="0">
                <a:latin typeface="Calibri"/>
                <a:cs typeface="Calibri"/>
              </a:rPr>
              <a:t>could</a:t>
            </a:r>
            <a:r>
              <a:rPr sz="1600" spc="-5" dirty="0">
                <a:latin typeface="Calibri"/>
                <a:cs typeface="Calibri"/>
              </a:rPr>
              <a:t> </a:t>
            </a:r>
            <a:r>
              <a:rPr sz="1600" spc="-10" dirty="0">
                <a:latin typeface="Calibri"/>
                <a:cs typeface="Calibri"/>
              </a:rPr>
              <a:t>consume</a:t>
            </a:r>
            <a:r>
              <a:rPr sz="1600" spc="10" dirty="0">
                <a:latin typeface="Calibri"/>
                <a:cs typeface="Calibri"/>
              </a:rPr>
              <a:t> </a:t>
            </a:r>
            <a:r>
              <a:rPr sz="1600" spc="-5" dirty="0">
                <a:latin typeface="Calibri"/>
                <a:cs typeface="Calibri"/>
              </a:rPr>
              <a:t>a</a:t>
            </a:r>
            <a:r>
              <a:rPr sz="1600" dirty="0">
                <a:latin typeface="Calibri"/>
                <a:cs typeface="Calibri"/>
              </a:rPr>
              <a:t> </a:t>
            </a:r>
            <a:r>
              <a:rPr sz="1600" spc="-5" dirty="0">
                <a:latin typeface="Calibri"/>
                <a:cs typeface="Calibri"/>
              </a:rPr>
              <a:t>lot</a:t>
            </a:r>
            <a:r>
              <a:rPr sz="1600" dirty="0">
                <a:latin typeface="Calibri"/>
                <a:cs typeface="Calibri"/>
              </a:rPr>
              <a:t> </a:t>
            </a:r>
            <a:r>
              <a:rPr sz="1600" spc="-5" dirty="0">
                <a:latin typeface="Calibri"/>
                <a:cs typeface="Calibri"/>
              </a:rPr>
              <a:t>of</a:t>
            </a:r>
            <a:r>
              <a:rPr sz="1600" spc="15" dirty="0">
                <a:latin typeface="Calibri"/>
                <a:cs typeface="Calibri"/>
              </a:rPr>
              <a:t> </a:t>
            </a:r>
            <a:r>
              <a:rPr sz="1600" spc="-5" dirty="0">
                <a:latin typeface="Calibri"/>
                <a:cs typeface="Calibri"/>
              </a:rPr>
              <a:t>time on</a:t>
            </a:r>
            <a:r>
              <a:rPr sz="1600" spc="5" dirty="0">
                <a:latin typeface="Calibri"/>
                <a:cs typeface="Calibri"/>
              </a:rPr>
              <a:t> </a:t>
            </a:r>
            <a:r>
              <a:rPr sz="1600" spc="-10" dirty="0">
                <a:latin typeface="Calibri"/>
                <a:cs typeface="Calibri"/>
              </a:rPr>
              <a:t>computing.</a:t>
            </a:r>
            <a:r>
              <a:rPr sz="1600" spc="-15" dirty="0">
                <a:latin typeface="Calibri"/>
                <a:cs typeface="Calibri"/>
              </a:rPr>
              <a:t> For</a:t>
            </a:r>
            <a:r>
              <a:rPr sz="1600" spc="25" dirty="0">
                <a:latin typeface="Calibri"/>
                <a:cs typeface="Calibri"/>
              </a:rPr>
              <a:t> </a:t>
            </a:r>
            <a:r>
              <a:rPr sz="1600" spc="-10" dirty="0">
                <a:latin typeface="Calibri"/>
                <a:cs typeface="Calibri"/>
              </a:rPr>
              <a:t>example, </a:t>
            </a:r>
            <a:r>
              <a:rPr sz="1600" spc="-345" dirty="0">
                <a:latin typeface="Calibri"/>
                <a:cs typeface="Calibri"/>
              </a:rPr>
              <a:t> </a:t>
            </a:r>
            <a:r>
              <a:rPr sz="1600" spc="-10" dirty="0">
                <a:latin typeface="Calibri"/>
                <a:cs typeface="Calibri"/>
              </a:rPr>
              <a:t>Computation </a:t>
            </a:r>
            <a:r>
              <a:rPr sz="1600" spc="-5" dirty="0">
                <a:latin typeface="Calibri"/>
                <a:cs typeface="Calibri"/>
              </a:rPr>
              <a:t>of </a:t>
            </a:r>
            <a:r>
              <a:rPr sz="1600" dirty="0">
                <a:latin typeface="Calibri"/>
                <a:cs typeface="Calibri"/>
              </a:rPr>
              <a:t>Pi</a:t>
            </a:r>
            <a:r>
              <a:rPr sz="1600" spc="-5" dirty="0">
                <a:latin typeface="Calibri"/>
                <a:cs typeface="Calibri"/>
              </a:rPr>
              <a:t> </a:t>
            </a:r>
            <a:r>
              <a:rPr sz="1600" spc="-10" dirty="0">
                <a:latin typeface="Calibri"/>
                <a:cs typeface="Calibri"/>
              </a:rPr>
              <a:t>value</a:t>
            </a:r>
            <a:r>
              <a:rPr sz="1600" spc="-5" dirty="0">
                <a:latin typeface="Calibri"/>
                <a:cs typeface="Calibri"/>
              </a:rPr>
              <a:t> using</a:t>
            </a:r>
            <a:r>
              <a:rPr sz="1600" spc="-20" dirty="0">
                <a:latin typeface="Calibri"/>
                <a:cs typeface="Calibri"/>
              </a:rPr>
              <a:t> </a:t>
            </a:r>
            <a:r>
              <a:rPr sz="1600" spc="-10" dirty="0">
                <a:latin typeface="Calibri"/>
                <a:cs typeface="Calibri"/>
              </a:rPr>
              <a:t>Monte</a:t>
            </a:r>
            <a:r>
              <a:rPr sz="1600" spc="-5" dirty="0">
                <a:latin typeface="Calibri"/>
                <a:cs typeface="Calibri"/>
              </a:rPr>
              <a:t> Carlo</a:t>
            </a:r>
            <a:r>
              <a:rPr sz="1600" spc="5" dirty="0">
                <a:latin typeface="Calibri"/>
                <a:cs typeface="Calibri"/>
              </a:rPr>
              <a:t> </a:t>
            </a:r>
            <a:r>
              <a:rPr sz="1600" spc="-5" dirty="0">
                <a:latin typeface="Calibri"/>
                <a:cs typeface="Calibri"/>
              </a:rPr>
              <a:t>simulation</a:t>
            </a:r>
            <a:endParaRPr sz="1600" dirty="0">
              <a:latin typeface="Calibri"/>
              <a:cs typeface="Calibri"/>
            </a:endParaRPr>
          </a:p>
          <a:p>
            <a:pPr marL="756285" lvl="1" indent="-287020">
              <a:lnSpc>
                <a:spcPts val="2625"/>
              </a:lnSpc>
              <a:buFont typeface="Arial MT"/>
              <a:buChar char="–"/>
              <a:tabLst>
                <a:tab pos="756285" algn="l"/>
                <a:tab pos="756920" algn="l"/>
              </a:tabLst>
            </a:pPr>
            <a:r>
              <a:rPr sz="2200" spc="-15" dirty="0">
                <a:latin typeface="Calibri"/>
                <a:cs typeface="Calibri"/>
              </a:rPr>
              <a:t>Data</a:t>
            </a:r>
            <a:r>
              <a:rPr sz="2200" spc="-25" dirty="0">
                <a:latin typeface="Calibri"/>
                <a:cs typeface="Calibri"/>
              </a:rPr>
              <a:t> </a:t>
            </a:r>
            <a:r>
              <a:rPr sz="2200" spc="-15" dirty="0">
                <a:latin typeface="Calibri"/>
                <a:cs typeface="Calibri"/>
              </a:rPr>
              <a:t>intensive</a:t>
            </a:r>
            <a:endParaRPr sz="2200" dirty="0">
              <a:latin typeface="Calibri"/>
              <a:cs typeface="Calibri"/>
            </a:endParaRPr>
          </a:p>
          <a:p>
            <a:pPr marL="1155700" marR="170180" lvl="2" indent="-228600">
              <a:lnSpc>
                <a:spcPts val="1540"/>
              </a:lnSpc>
              <a:spcBef>
                <a:spcPts val="395"/>
              </a:spcBef>
              <a:buFont typeface="Arial MT"/>
              <a:buChar char="•"/>
              <a:tabLst>
                <a:tab pos="1155065" algn="l"/>
                <a:tab pos="1156335" algn="l"/>
              </a:tabLst>
            </a:pPr>
            <a:r>
              <a:rPr sz="1600" spc="-5" dirty="0">
                <a:latin typeface="Calibri"/>
                <a:cs typeface="Calibri"/>
              </a:rPr>
              <a:t>The</a:t>
            </a:r>
            <a:r>
              <a:rPr sz="1600" dirty="0">
                <a:latin typeface="Calibri"/>
                <a:cs typeface="Calibri"/>
              </a:rPr>
              <a:t> </a:t>
            </a:r>
            <a:r>
              <a:rPr sz="1600" spc="-10" dirty="0">
                <a:latin typeface="Calibri"/>
                <a:cs typeface="Calibri"/>
              </a:rPr>
              <a:t>task</a:t>
            </a:r>
            <a:r>
              <a:rPr sz="1600" spc="5" dirty="0">
                <a:latin typeface="Calibri"/>
                <a:cs typeface="Calibri"/>
              </a:rPr>
              <a:t> </a:t>
            </a:r>
            <a:r>
              <a:rPr sz="1600" spc="-10" dirty="0">
                <a:latin typeface="Calibri"/>
                <a:cs typeface="Calibri"/>
              </a:rPr>
              <a:t>that </a:t>
            </a:r>
            <a:r>
              <a:rPr sz="1600" spc="-5" dirty="0">
                <a:latin typeface="Calibri"/>
                <a:cs typeface="Calibri"/>
              </a:rPr>
              <a:t>deals</a:t>
            </a:r>
            <a:r>
              <a:rPr sz="1600" spc="-10" dirty="0">
                <a:latin typeface="Calibri"/>
                <a:cs typeface="Calibri"/>
              </a:rPr>
              <a:t> </a:t>
            </a:r>
            <a:r>
              <a:rPr sz="1600" spc="-5" dirty="0">
                <a:latin typeface="Calibri"/>
                <a:cs typeface="Calibri"/>
              </a:rPr>
              <a:t>with a</a:t>
            </a:r>
            <a:r>
              <a:rPr sz="1600" dirty="0">
                <a:latin typeface="Calibri"/>
                <a:cs typeface="Calibri"/>
              </a:rPr>
              <a:t> </a:t>
            </a:r>
            <a:r>
              <a:rPr sz="1600" spc="-10" dirty="0">
                <a:latin typeface="Calibri"/>
                <a:cs typeface="Calibri"/>
              </a:rPr>
              <a:t>large</a:t>
            </a:r>
            <a:r>
              <a:rPr sz="1600" dirty="0">
                <a:latin typeface="Calibri"/>
                <a:cs typeface="Calibri"/>
              </a:rPr>
              <a:t> </a:t>
            </a:r>
            <a:r>
              <a:rPr sz="1600" spc="-5" dirty="0">
                <a:latin typeface="Calibri"/>
                <a:cs typeface="Calibri"/>
              </a:rPr>
              <a:t>amount</a:t>
            </a:r>
            <a:r>
              <a:rPr sz="1600" spc="5" dirty="0">
                <a:latin typeface="Calibri"/>
                <a:cs typeface="Calibri"/>
              </a:rPr>
              <a:t> </a:t>
            </a:r>
            <a:r>
              <a:rPr sz="1600" spc="-5" dirty="0">
                <a:latin typeface="Calibri"/>
                <a:cs typeface="Calibri"/>
              </a:rPr>
              <a:t>or</a:t>
            </a:r>
            <a:r>
              <a:rPr sz="1600" spc="15" dirty="0">
                <a:latin typeface="Calibri"/>
                <a:cs typeface="Calibri"/>
              </a:rPr>
              <a:t> </a:t>
            </a:r>
            <a:r>
              <a:rPr sz="1600" spc="-10" dirty="0">
                <a:latin typeface="Calibri"/>
                <a:cs typeface="Calibri"/>
              </a:rPr>
              <a:t>large</a:t>
            </a:r>
            <a:r>
              <a:rPr sz="1600" dirty="0">
                <a:latin typeface="Calibri"/>
                <a:cs typeface="Calibri"/>
              </a:rPr>
              <a:t> </a:t>
            </a:r>
            <a:r>
              <a:rPr sz="1600" spc="-15" dirty="0">
                <a:latin typeface="Calibri"/>
                <a:cs typeface="Calibri"/>
              </a:rPr>
              <a:t>size</a:t>
            </a:r>
            <a:r>
              <a:rPr sz="1600" dirty="0">
                <a:latin typeface="Calibri"/>
                <a:cs typeface="Calibri"/>
              </a:rPr>
              <a:t> </a:t>
            </a:r>
            <a:r>
              <a:rPr sz="1600" spc="-5" dirty="0">
                <a:latin typeface="Calibri"/>
                <a:cs typeface="Calibri"/>
              </a:rPr>
              <a:t>of</a:t>
            </a:r>
            <a:r>
              <a:rPr sz="1600" spc="10" dirty="0">
                <a:latin typeface="Calibri"/>
                <a:cs typeface="Calibri"/>
              </a:rPr>
              <a:t> </a:t>
            </a:r>
            <a:r>
              <a:rPr sz="1600" spc="-5" dirty="0">
                <a:latin typeface="Calibri"/>
                <a:cs typeface="Calibri"/>
              </a:rPr>
              <a:t>files.</a:t>
            </a:r>
            <a:r>
              <a:rPr sz="1600" spc="-25" dirty="0">
                <a:latin typeface="Calibri"/>
                <a:cs typeface="Calibri"/>
              </a:rPr>
              <a:t> </a:t>
            </a:r>
            <a:r>
              <a:rPr sz="1600" spc="-15" dirty="0">
                <a:latin typeface="Calibri"/>
                <a:cs typeface="Calibri"/>
              </a:rPr>
              <a:t>For</a:t>
            </a:r>
            <a:r>
              <a:rPr sz="1600" spc="15" dirty="0">
                <a:latin typeface="Calibri"/>
                <a:cs typeface="Calibri"/>
              </a:rPr>
              <a:t> </a:t>
            </a:r>
            <a:r>
              <a:rPr sz="1600" spc="-10" dirty="0">
                <a:latin typeface="Calibri"/>
                <a:cs typeface="Calibri"/>
              </a:rPr>
              <a:t>example, </a:t>
            </a:r>
            <a:r>
              <a:rPr sz="1600" spc="-345" dirty="0">
                <a:latin typeface="Calibri"/>
                <a:cs typeface="Calibri"/>
              </a:rPr>
              <a:t> </a:t>
            </a:r>
            <a:r>
              <a:rPr sz="1600" spc="-10" dirty="0">
                <a:latin typeface="Calibri"/>
                <a:cs typeface="Calibri"/>
              </a:rPr>
              <a:t>Facebook,</a:t>
            </a:r>
            <a:r>
              <a:rPr sz="1600" spc="40" dirty="0">
                <a:latin typeface="Calibri"/>
                <a:cs typeface="Calibri"/>
              </a:rPr>
              <a:t> </a:t>
            </a:r>
            <a:r>
              <a:rPr sz="1600" spc="-10" dirty="0">
                <a:latin typeface="Calibri"/>
                <a:cs typeface="Calibri"/>
              </a:rPr>
              <a:t>LHC(Large</a:t>
            </a:r>
            <a:r>
              <a:rPr sz="1600" spc="15" dirty="0">
                <a:latin typeface="Calibri"/>
                <a:cs typeface="Calibri"/>
              </a:rPr>
              <a:t> </a:t>
            </a:r>
            <a:r>
              <a:rPr sz="1600" spc="-10" dirty="0">
                <a:latin typeface="Calibri"/>
                <a:cs typeface="Calibri"/>
              </a:rPr>
              <a:t>Hadron</a:t>
            </a:r>
            <a:r>
              <a:rPr sz="1600" spc="5" dirty="0">
                <a:latin typeface="Calibri"/>
                <a:cs typeface="Calibri"/>
              </a:rPr>
              <a:t> </a:t>
            </a:r>
            <a:r>
              <a:rPr sz="1600" spc="-5" dirty="0">
                <a:latin typeface="Calibri"/>
                <a:cs typeface="Calibri"/>
              </a:rPr>
              <a:t>Collider)</a:t>
            </a:r>
            <a:r>
              <a:rPr sz="1600" dirty="0">
                <a:latin typeface="Calibri"/>
                <a:cs typeface="Calibri"/>
              </a:rPr>
              <a:t> </a:t>
            </a:r>
            <a:r>
              <a:rPr sz="1600" spc="-10" dirty="0">
                <a:latin typeface="Calibri"/>
                <a:cs typeface="Calibri"/>
              </a:rPr>
              <a:t>experimental</a:t>
            </a:r>
            <a:r>
              <a:rPr sz="1600" spc="5" dirty="0">
                <a:latin typeface="Calibri"/>
                <a:cs typeface="Calibri"/>
              </a:rPr>
              <a:t> </a:t>
            </a:r>
            <a:r>
              <a:rPr sz="1600" spc="-15" dirty="0">
                <a:latin typeface="Calibri"/>
                <a:cs typeface="Calibri"/>
              </a:rPr>
              <a:t>data </a:t>
            </a:r>
            <a:r>
              <a:rPr sz="1600" spc="-10" dirty="0">
                <a:latin typeface="Calibri"/>
                <a:cs typeface="Calibri"/>
              </a:rPr>
              <a:t>processing.</a:t>
            </a:r>
            <a:endParaRPr sz="1600" dirty="0">
              <a:latin typeface="Calibri"/>
              <a:cs typeface="Calibri"/>
            </a:endParaRPr>
          </a:p>
          <a:p>
            <a:pPr marL="355600" indent="-342900">
              <a:lnSpc>
                <a:spcPts val="2030"/>
              </a:lnSpc>
              <a:spcBef>
                <a:spcPts val="5"/>
              </a:spcBef>
              <a:buFont typeface="Arial MT"/>
              <a:buChar char="•"/>
              <a:tabLst>
                <a:tab pos="354965" algn="l"/>
                <a:tab pos="355600" algn="l"/>
              </a:tabLst>
            </a:pPr>
            <a:r>
              <a:rPr sz="1700" spc="-10" dirty="0">
                <a:latin typeface="Calibri"/>
                <a:cs typeface="Calibri"/>
              </a:rPr>
              <a:t>Robustness</a:t>
            </a:r>
            <a:endParaRPr sz="1700" dirty="0">
              <a:latin typeface="Calibri"/>
              <a:cs typeface="Calibri"/>
            </a:endParaRPr>
          </a:p>
          <a:p>
            <a:pPr marL="756285" lvl="1" indent="-287020">
              <a:lnSpc>
                <a:spcPts val="2630"/>
              </a:lnSpc>
              <a:buFont typeface="Arial MT"/>
              <a:buChar char="–"/>
              <a:tabLst>
                <a:tab pos="756285" algn="l"/>
                <a:tab pos="756920" algn="l"/>
              </a:tabLst>
            </a:pPr>
            <a:r>
              <a:rPr sz="2200" spc="-5" dirty="0">
                <a:latin typeface="Calibri"/>
                <a:cs typeface="Calibri"/>
              </a:rPr>
              <a:t>No</a:t>
            </a:r>
            <a:r>
              <a:rPr sz="2200" dirty="0">
                <a:latin typeface="Calibri"/>
                <a:cs typeface="Calibri"/>
              </a:rPr>
              <a:t> </a:t>
            </a:r>
            <a:r>
              <a:rPr sz="2200" spc="-5" dirty="0">
                <a:latin typeface="Calibri"/>
                <a:cs typeface="Calibri"/>
              </a:rPr>
              <a:t>SPOF</a:t>
            </a:r>
            <a:r>
              <a:rPr sz="2200" dirty="0">
                <a:latin typeface="Calibri"/>
                <a:cs typeface="Calibri"/>
              </a:rPr>
              <a:t> </a:t>
            </a:r>
            <a:r>
              <a:rPr sz="2200" spc="-5" dirty="0">
                <a:latin typeface="Calibri"/>
                <a:cs typeface="Calibri"/>
              </a:rPr>
              <a:t>(Single</a:t>
            </a:r>
            <a:r>
              <a:rPr sz="2200" spc="5" dirty="0">
                <a:latin typeface="Calibri"/>
                <a:cs typeface="Calibri"/>
              </a:rPr>
              <a:t> </a:t>
            </a:r>
            <a:r>
              <a:rPr sz="2200" spc="-20" dirty="0">
                <a:latin typeface="Calibri"/>
                <a:cs typeface="Calibri"/>
              </a:rPr>
              <a:t>Point</a:t>
            </a:r>
            <a:r>
              <a:rPr sz="2200" spc="-10" dirty="0">
                <a:latin typeface="Calibri"/>
                <a:cs typeface="Calibri"/>
              </a:rPr>
              <a:t> </a:t>
            </a:r>
            <a:r>
              <a:rPr sz="2200" spc="-5" dirty="0">
                <a:latin typeface="Calibri"/>
                <a:cs typeface="Calibri"/>
              </a:rPr>
              <a:t>Of</a:t>
            </a:r>
            <a:r>
              <a:rPr sz="2200" spc="5" dirty="0">
                <a:latin typeface="Calibri"/>
                <a:cs typeface="Calibri"/>
              </a:rPr>
              <a:t> </a:t>
            </a:r>
            <a:r>
              <a:rPr sz="2200" spc="-15" dirty="0">
                <a:latin typeface="Calibri"/>
                <a:cs typeface="Calibri"/>
              </a:rPr>
              <a:t>Failure)</a:t>
            </a:r>
            <a:endParaRPr sz="2200" dirty="0">
              <a:latin typeface="Calibri"/>
              <a:cs typeface="Calibri"/>
            </a:endParaRPr>
          </a:p>
          <a:p>
            <a:pPr marL="756285" marR="5080" lvl="1" indent="-287020">
              <a:lnSpc>
                <a:spcPct val="80000"/>
              </a:lnSpc>
              <a:spcBef>
                <a:spcPts val="525"/>
              </a:spcBef>
              <a:buFont typeface="Arial MT"/>
              <a:buChar char="–"/>
              <a:tabLst>
                <a:tab pos="756285" algn="l"/>
                <a:tab pos="756920" algn="l"/>
              </a:tabLst>
            </a:pPr>
            <a:r>
              <a:rPr sz="2200" spc="-10" dirty="0">
                <a:latin typeface="Calibri"/>
                <a:cs typeface="Calibri"/>
              </a:rPr>
              <a:t>Other</a:t>
            </a:r>
            <a:r>
              <a:rPr sz="2200" spc="15" dirty="0">
                <a:latin typeface="Calibri"/>
                <a:cs typeface="Calibri"/>
              </a:rPr>
              <a:t> </a:t>
            </a:r>
            <a:r>
              <a:rPr sz="2200" spc="-10" dirty="0">
                <a:latin typeface="Calibri"/>
                <a:cs typeface="Calibri"/>
              </a:rPr>
              <a:t>nodes</a:t>
            </a:r>
            <a:r>
              <a:rPr sz="2200" spc="10" dirty="0">
                <a:latin typeface="Calibri"/>
                <a:cs typeface="Calibri"/>
              </a:rPr>
              <a:t> </a:t>
            </a:r>
            <a:r>
              <a:rPr sz="2200" spc="-15" dirty="0">
                <a:latin typeface="Calibri"/>
                <a:cs typeface="Calibri"/>
              </a:rPr>
              <a:t>can</a:t>
            </a:r>
            <a:r>
              <a:rPr sz="2200" dirty="0">
                <a:latin typeface="Calibri"/>
                <a:cs typeface="Calibri"/>
              </a:rPr>
              <a:t> </a:t>
            </a:r>
            <a:r>
              <a:rPr sz="2200" spc="-25" dirty="0">
                <a:latin typeface="Calibri"/>
                <a:cs typeface="Calibri"/>
              </a:rPr>
              <a:t>execute</a:t>
            </a:r>
            <a:r>
              <a:rPr sz="2200" spc="35" dirty="0">
                <a:latin typeface="Calibri"/>
                <a:cs typeface="Calibri"/>
              </a:rPr>
              <a:t> </a:t>
            </a:r>
            <a:r>
              <a:rPr sz="2200" spc="-5" dirty="0">
                <a:latin typeface="Calibri"/>
                <a:cs typeface="Calibri"/>
              </a:rPr>
              <a:t>the</a:t>
            </a:r>
            <a:r>
              <a:rPr sz="2200" spc="10" dirty="0">
                <a:latin typeface="Calibri"/>
                <a:cs typeface="Calibri"/>
              </a:rPr>
              <a:t> </a:t>
            </a:r>
            <a:r>
              <a:rPr sz="2200" spc="-5" dirty="0">
                <a:latin typeface="Calibri"/>
                <a:cs typeface="Calibri"/>
              </a:rPr>
              <a:t>same</a:t>
            </a:r>
            <a:r>
              <a:rPr sz="2200" dirty="0">
                <a:latin typeface="Calibri"/>
                <a:cs typeface="Calibri"/>
              </a:rPr>
              <a:t> </a:t>
            </a:r>
            <a:r>
              <a:rPr sz="2200" spc="-10" dirty="0">
                <a:latin typeface="Calibri"/>
                <a:cs typeface="Calibri"/>
              </a:rPr>
              <a:t>task</a:t>
            </a:r>
            <a:r>
              <a:rPr sz="2200" spc="-5" dirty="0">
                <a:latin typeface="Calibri"/>
                <a:cs typeface="Calibri"/>
              </a:rPr>
              <a:t> </a:t>
            </a:r>
            <a:r>
              <a:rPr sz="2200" spc="-20" dirty="0">
                <a:latin typeface="Calibri"/>
                <a:cs typeface="Calibri"/>
              </a:rPr>
              <a:t>executed</a:t>
            </a:r>
            <a:r>
              <a:rPr sz="2200" spc="25" dirty="0">
                <a:latin typeface="Calibri"/>
                <a:cs typeface="Calibri"/>
              </a:rPr>
              <a:t> </a:t>
            </a:r>
            <a:r>
              <a:rPr sz="2200" spc="-5" dirty="0">
                <a:latin typeface="Calibri"/>
                <a:cs typeface="Calibri"/>
              </a:rPr>
              <a:t>on</a:t>
            </a:r>
            <a:r>
              <a:rPr sz="2200" dirty="0">
                <a:latin typeface="Calibri"/>
                <a:cs typeface="Calibri"/>
              </a:rPr>
              <a:t> </a:t>
            </a:r>
            <a:r>
              <a:rPr sz="2200" spc="-10" dirty="0">
                <a:latin typeface="Calibri"/>
                <a:cs typeface="Calibri"/>
              </a:rPr>
              <a:t>failed </a:t>
            </a:r>
            <a:r>
              <a:rPr sz="2200" spc="-484" dirty="0">
                <a:latin typeface="Calibri"/>
                <a:cs typeface="Calibri"/>
              </a:rPr>
              <a:t> </a:t>
            </a:r>
            <a:r>
              <a:rPr sz="2200" spc="-10" dirty="0">
                <a:latin typeface="Calibri"/>
                <a:cs typeface="Calibri"/>
              </a:rPr>
              <a:t>node.</a:t>
            </a:r>
            <a:endParaRPr sz="2200" dirty="0">
              <a:latin typeface="Calibri"/>
              <a:cs typeface="Calibri"/>
            </a:endParaRPr>
          </a:p>
        </p:txBody>
      </p:sp>
      <p:sp>
        <p:nvSpPr>
          <p:cNvPr id="5" name="Footer Placeholder 4">
            <a:extLst>
              <a:ext uri="{FF2B5EF4-FFF2-40B4-BE49-F238E27FC236}">
                <a16:creationId xmlns:a16="http://schemas.microsoft.com/office/drawing/2014/main" id="{280A1D35-009F-2D69-CF8B-B22A0C6D2C16}"/>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21428" y="97295"/>
            <a:ext cx="5022723" cy="505908"/>
          </a:xfrm>
          <a:prstGeom prst="rect">
            <a:avLst/>
          </a:prstGeom>
        </p:spPr>
        <p:txBody>
          <a:bodyPr vert="horz" wrap="square" lIns="0" tIns="13335" rIns="0" bIns="0" rtlCol="0">
            <a:spAutoFit/>
          </a:bodyPr>
          <a:lstStyle/>
          <a:p>
            <a:pPr marL="12700" algn="ctr">
              <a:lnSpc>
                <a:spcPct val="100000"/>
              </a:lnSpc>
              <a:spcBef>
                <a:spcPts val="105"/>
              </a:spcBef>
            </a:pPr>
            <a:r>
              <a:rPr sz="3200" b="1" spc="-10" dirty="0">
                <a:solidFill>
                  <a:srgbClr val="000000"/>
                </a:solidFill>
                <a:latin typeface="Calibri"/>
                <a:cs typeface="Calibri"/>
              </a:rPr>
              <a:t>Distributed</a:t>
            </a:r>
            <a:r>
              <a:rPr sz="3200" b="1" spc="-40" dirty="0">
                <a:solidFill>
                  <a:srgbClr val="000000"/>
                </a:solidFill>
                <a:latin typeface="Calibri"/>
                <a:cs typeface="Calibri"/>
              </a:rPr>
              <a:t> </a:t>
            </a:r>
            <a:r>
              <a:rPr sz="3200" b="1" spc="-10" dirty="0">
                <a:solidFill>
                  <a:srgbClr val="000000"/>
                </a:solidFill>
                <a:latin typeface="Calibri"/>
                <a:cs typeface="Calibri"/>
              </a:rPr>
              <a:t>applications</a:t>
            </a:r>
            <a:endParaRPr sz="3200"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3</a:t>
            </a:r>
          </a:p>
        </p:txBody>
      </p:sp>
      <p:sp>
        <p:nvSpPr>
          <p:cNvPr id="3" name="object 3"/>
          <p:cNvSpPr txBox="1"/>
          <p:nvPr/>
        </p:nvSpPr>
        <p:spPr>
          <a:xfrm>
            <a:off x="543257" y="1099820"/>
            <a:ext cx="7830820" cy="3289811"/>
          </a:xfrm>
          <a:prstGeom prst="rect">
            <a:avLst/>
          </a:prstGeom>
        </p:spPr>
        <p:txBody>
          <a:bodyPr vert="horz" wrap="square" lIns="0" tIns="47625" rIns="0" bIns="0" rtlCol="0">
            <a:spAutoFit/>
          </a:bodyPr>
          <a:lstStyle/>
          <a:p>
            <a:pPr marL="194945" marR="5080" indent="-182880" algn="just">
              <a:lnSpc>
                <a:spcPts val="2160"/>
              </a:lnSpc>
              <a:spcBef>
                <a:spcPts val="375"/>
              </a:spcBef>
              <a:buClr>
                <a:srgbClr val="4F80BC"/>
              </a:buClr>
              <a:buSzPct val="85000"/>
              <a:buFont typeface="Arial MT"/>
              <a:buChar char="•"/>
              <a:tabLst>
                <a:tab pos="195580" algn="l"/>
              </a:tabLst>
            </a:pPr>
            <a:r>
              <a:rPr sz="2400" spc="-5" dirty="0">
                <a:latin typeface="Calibri"/>
                <a:cs typeface="Calibri"/>
              </a:rPr>
              <a:t>Applications</a:t>
            </a:r>
            <a:r>
              <a:rPr sz="2400" dirty="0">
                <a:latin typeface="Calibri"/>
                <a:cs typeface="Calibri"/>
              </a:rPr>
              <a:t> </a:t>
            </a:r>
            <a:r>
              <a:rPr sz="2400" spc="-5" dirty="0">
                <a:latin typeface="Calibri"/>
                <a:cs typeface="Calibri"/>
              </a:rPr>
              <a:t>that</a:t>
            </a:r>
            <a:r>
              <a:rPr sz="2400" dirty="0">
                <a:latin typeface="Calibri"/>
                <a:cs typeface="Calibri"/>
              </a:rPr>
              <a:t> </a:t>
            </a:r>
            <a:r>
              <a:rPr sz="2400" spc="-5" dirty="0">
                <a:latin typeface="Calibri"/>
                <a:cs typeface="Calibri"/>
              </a:rPr>
              <a:t>consist</a:t>
            </a:r>
            <a:r>
              <a:rPr sz="2400" dirty="0">
                <a:latin typeface="Calibri"/>
                <a:cs typeface="Calibri"/>
              </a:rPr>
              <a:t> </a:t>
            </a:r>
            <a:r>
              <a:rPr sz="2400" spc="-5" dirty="0">
                <a:latin typeface="Calibri"/>
                <a:cs typeface="Calibri"/>
              </a:rPr>
              <a:t>of</a:t>
            </a:r>
            <a:r>
              <a:rPr sz="2400" dirty="0">
                <a:latin typeface="Calibri"/>
                <a:cs typeface="Calibri"/>
              </a:rPr>
              <a:t> a</a:t>
            </a:r>
            <a:r>
              <a:rPr sz="2400" spc="5" dirty="0">
                <a:latin typeface="Calibri"/>
                <a:cs typeface="Calibri"/>
              </a:rPr>
              <a:t> </a:t>
            </a:r>
            <a:r>
              <a:rPr sz="2400" spc="-10" dirty="0">
                <a:latin typeface="Calibri"/>
                <a:cs typeface="Calibri"/>
              </a:rPr>
              <a:t>set</a:t>
            </a:r>
            <a:r>
              <a:rPr sz="2400" spc="15" dirty="0">
                <a:latin typeface="Calibri"/>
                <a:cs typeface="Calibri"/>
              </a:rPr>
              <a:t> </a:t>
            </a:r>
            <a:r>
              <a:rPr sz="2400" spc="-5" dirty="0">
                <a:latin typeface="Calibri"/>
                <a:cs typeface="Calibri"/>
              </a:rPr>
              <a:t>of</a:t>
            </a:r>
            <a:r>
              <a:rPr sz="2400" spc="-10" dirty="0">
                <a:latin typeface="Calibri"/>
                <a:cs typeface="Calibri"/>
              </a:rPr>
              <a:t> processes</a:t>
            </a:r>
            <a:r>
              <a:rPr sz="2400" spc="10" dirty="0">
                <a:latin typeface="Calibri"/>
                <a:cs typeface="Calibri"/>
              </a:rPr>
              <a:t> </a:t>
            </a:r>
            <a:r>
              <a:rPr sz="2400" spc="-5" dirty="0">
                <a:latin typeface="Calibri"/>
                <a:cs typeface="Calibri"/>
              </a:rPr>
              <a:t>that</a:t>
            </a:r>
            <a:r>
              <a:rPr sz="2400" spc="15" dirty="0">
                <a:latin typeface="Calibri"/>
                <a:cs typeface="Calibri"/>
              </a:rPr>
              <a:t> </a:t>
            </a:r>
            <a:r>
              <a:rPr sz="2400" spc="-10" dirty="0">
                <a:latin typeface="Calibri"/>
                <a:cs typeface="Calibri"/>
              </a:rPr>
              <a:t>are</a:t>
            </a:r>
            <a:r>
              <a:rPr sz="2400" spc="5" dirty="0">
                <a:latin typeface="Calibri"/>
                <a:cs typeface="Calibri"/>
              </a:rPr>
              <a:t> </a:t>
            </a:r>
            <a:r>
              <a:rPr sz="2400" spc="-5" dirty="0">
                <a:latin typeface="Calibri"/>
                <a:cs typeface="Calibri"/>
              </a:rPr>
              <a:t>distributed</a:t>
            </a:r>
            <a:r>
              <a:rPr sz="2400" spc="15" dirty="0">
                <a:latin typeface="Calibri"/>
                <a:cs typeface="Calibri"/>
              </a:rPr>
              <a:t> </a:t>
            </a:r>
            <a:r>
              <a:rPr sz="2400" spc="-10" dirty="0">
                <a:latin typeface="Calibri"/>
                <a:cs typeface="Calibri"/>
              </a:rPr>
              <a:t>across </a:t>
            </a:r>
            <a:r>
              <a:rPr sz="2400" dirty="0">
                <a:latin typeface="Calibri"/>
                <a:cs typeface="Calibri"/>
              </a:rPr>
              <a:t>a </a:t>
            </a:r>
            <a:r>
              <a:rPr sz="2400" spc="-434" dirty="0">
                <a:latin typeface="Calibri"/>
                <a:cs typeface="Calibri"/>
              </a:rPr>
              <a:t> </a:t>
            </a:r>
            <a:r>
              <a:rPr sz="2400" spc="-10" dirty="0">
                <a:latin typeface="Calibri"/>
                <a:cs typeface="Calibri"/>
              </a:rPr>
              <a:t>network</a:t>
            </a:r>
            <a:r>
              <a:rPr sz="2400" spc="-5" dirty="0">
                <a:latin typeface="Calibri"/>
                <a:cs typeface="Calibri"/>
              </a:rPr>
              <a:t> of</a:t>
            </a:r>
            <a:r>
              <a:rPr sz="2400" spc="-10" dirty="0">
                <a:latin typeface="Calibri"/>
                <a:cs typeface="Calibri"/>
              </a:rPr>
              <a:t> </a:t>
            </a:r>
            <a:r>
              <a:rPr sz="2400" dirty="0">
                <a:latin typeface="Calibri"/>
                <a:cs typeface="Calibri"/>
              </a:rPr>
              <a:t>machines and </a:t>
            </a:r>
            <a:r>
              <a:rPr sz="2400" spc="-10" dirty="0">
                <a:latin typeface="Calibri"/>
                <a:cs typeface="Calibri"/>
              </a:rPr>
              <a:t>work</a:t>
            </a:r>
            <a:r>
              <a:rPr sz="2400" dirty="0">
                <a:latin typeface="Calibri"/>
                <a:cs typeface="Calibri"/>
              </a:rPr>
              <a:t> </a:t>
            </a:r>
            <a:r>
              <a:rPr sz="2400" spc="-10" dirty="0">
                <a:latin typeface="Calibri"/>
                <a:cs typeface="Calibri"/>
              </a:rPr>
              <a:t>together </a:t>
            </a:r>
            <a:r>
              <a:rPr sz="2400" dirty="0">
                <a:latin typeface="Calibri"/>
                <a:cs typeface="Calibri"/>
              </a:rPr>
              <a:t>as</a:t>
            </a:r>
            <a:r>
              <a:rPr sz="2400" spc="-5" dirty="0">
                <a:latin typeface="Calibri"/>
                <a:cs typeface="Calibri"/>
              </a:rPr>
              <a:t> </a:t>
            </a:r>
            <a:r>
              <a:rPr sz="2400" dirty="0">
                <a:latin typeface="Calibri"/>
                <a:cs typeface="Calibri"/>
              </a:rPr>
              <a:t>an </a:t>
            </a:r>
            <a:r>
              <a:rPr sz="2400" spc="-5" dirty="0">
                <a:latin typeface="Calibri"/>
                <a:cs typeface="Calibri"/>
              </a:rPr>
              <a:t>ensemble</a:t>
            </a:r>
            <a:r>
              <a:rPr sz="2400" spc="10" dirty="0">
                <a:latin typeface="Calibri"/>
                <a:cs typeface="Calibri"/>
              </a:rPr>
              <a:t> </a:t>
            </a:r>
            <a:r>
              <a:rPr sz="2400" spc="-15" dirty="0">
                <a:latin typeface="Calibri"/>
                <a:cs typeface="Calibri"/>
              </a:rPr>
              <a:t>to</a:t>
            </a:r>
            <a:r>
              <a:rPr sz="2400" dirty="0">
                <a:latin typeface="Calibri"/>
                <a:cs typeface="Calibri"/>
              </a:rPr>
              <a:t> </a:t>
            </a:r>
            <a:r>
              <a:rPr sz="2400" spc="-10" dirty="0">
                <a:latin typeface="Calibri"/>
                <a:cs typeface="Calibri"/>
              </a:rPr>
              <a:t>solve</a:t>
            </a:r>
            <a:r>
              <a:rPr sz="2400" spc="15" dirty="0">
                <a:latin typeface="Calibri"/>
                <a:cs typeface="Calibri"/>
              </a:rPr>
              <a:t> </a:t>
            </a:r>
            <a:r>
              <a:rPr sz="2400" dirty="0">
                <a:latin typeface="Calibri"/>
                <a:cs typeface="Calibri"/>
              </a:rPr>
              <a:t>a </a:t>
            </a:r>
            <a:r>
              <a:rPr sz="2400" spc="5" dirty="0">
                <a:latin typeface="Calibri"/>
                <a:cs typeface="Calibri"/>
              </a:rPr>
              <a:t> </a:t>
            </a:r>
            <a:r>
              <a:rPr sz="2400" spc="-5" dirty="0">
                <a:latin typeface="Calibri"/>
                <a:cs typeface="Calibri"/>
              </a:rPr>
              <a:t>common</a:t>
            </a:r>
            <a:r>
              <a:rPr sz="2400" spc="-25" dirty="0">
                <a:latin typeface="Calibri"/>
                <a:cs typeface="Calibri"/>
              </a:rPr>
              <a:t> </a:t>
            </a:r>
            <a:r>
              <a:rPr sz="2400" spc="-10" dirty="0">
                <a:latin typeface="Calibri"/>
                <a:cs typeface="Calibri"/>
              </a:rPr>
              <a:t>problem</a:t>
            </a:r>
            <a:endParaRPr sz="2400" dirty="0">
              <a:latin typeface="Calibri"/>
              <a:cs typeface="Calibri"/>
            </a:endParaRPr>
          </a:p>
          <a:p>
            <a:pPr algn="just">
              <a:lnSpc>
                <a:spcPct val="100000"/>
              </a:lnSpc>
              <a:spcBef>
                <a:spcPts val="40"/>
              </a:spcBef>
              <a:buClr>
                <a:srgbClr val="4F80BC"/>
              </a:buClr>
              <a:buFont typeface="Arial MT"/>
              <a:buChar char="•"/>
            </a:pPr>
            <a:endParaRPr sz="2400" dirty="0">
              <a:latin typeface="Calibri"/>
              <a:cs typeface="Calibri"/>
            </a:endParaRPr>
          </a:p>
          <a:p>
            <a:pPr marL="195580" indent="-182880" algn="just">
              <a:lnSpc>
                <a:spcPct val="100000"/>
              </a:lnSpc>
              <a:buClr>
                <a:srgbClr val="4F80BC"/>
              </a:buClr>
              <a:buSzPct val="85000"/>
              <a:buFont typeface="Arial MT"/>
              <a:buChar char="•"/>
              <a:tabLst>
                <a:tab pos="195580" algn="l"/>
              </a:tabLst>
            </a:pPr>
            <a:r>
              <a:rPr sz="2400" dirty="0">
                <a:latin typeface="Calibri"/>
                <a:cs typeface="Calibri"/>
              </a:rPr>
              <a:t>In</a:t>
            </a:r>
            <a:r>
              <a:rPr sz="2400" spc="-10" dirty="0">
                <a:latin typeface="Calibri"/>
                <a:cs typeface="Calibri"/>
              </a:rPr>
              <a:t> </a:t>
            </a:r>
            <a:r>
              <a:rPr sz="2400" dirty="0">
                <a:latin typeface="Calibri"/>
                <a:cs typeface="Calibri"/>
              </a:rPr>
              <a:t>the</a:t>
            </a:r>
            <a:r>
              <a:rPr sz="2400" spc="-25" dirty="0">
                <a:latin typeface="Calibri"/>
                <a:cs typeface="Calibri"/>
              </a:rPr>
              <a:t> </a:t>
            </a:r>
            <a:r>
              <a:rPr sz="2400" spc="-10" dirty="0">
                <a:latin typeface="Calibri"/>
                <a:cs typeface="Calibri"/>
              </a:rPr>
              <a:t>past, </a:t>
            </a:r>
            <a:r>
              <a:rPr sz="2400" spc="-5" dirty="0">
                <a:latin typeface="Calibri"/>
                <a:cs typeface="Calibri"/>
              </a:rPr>
              <a:t>mostly</a:t>
            </a:r>
            <a:r>
              <a:rPr sz="2400" spc="-10" dirty="0">
                <a:latin typeface="Calibri"/>
                <a:cs typeface="Calibri"/>
              </a:rPr>
              <a:t> </a:t>
            </a:r>
            <a:r>
              <a:rPr sz="2400" spc="-5" dirty="0">
                <a:latin typeface="Calibri"/>
                <a:cs typeface="Calibri"/>
              </a:rPr>
              <a:t>“client-server”</a:t>
            </a:r>
            <a:endParaRPr sz="2400" dirty="0">
              <a:latin typeface="Calibri"/>
              <a:cs typeface="Calibri"/>
            </a:endParaRPr>
          </a:p>
          <a:p>
            <a:pPr marL="469900" lvl="1" indent="-183515" algn="just">
              <a:lnSpc>
                <a:spcPct val="100000"/>
              </a:lnSpc>
              <a:spcBef>
                <a:spcPts val="240"/>
              </a:spcBef>
              <a:buClr>
                <a:srgbClr val="4F80BC"/>
              </a:buClr>
              <a:buSzPct val="85000"/>
              <a:buFont typeface="Arial MT"/>
              <a:buChar char="•"/>
              <a:tabLst>
                <a:tab pos="469900" algn="l"/>
              </a:tabLst>
            </a:pPr>
            <a:r>
              <a:rPr sz="2400" spc="-10" dirty="0">
                <a:latin typeface="Calibri"/>
                <a:cs typeface="Calibri"/>
              </a:rPr>
              <a:t>Resource </a:t>
            </a:r>
            <a:r>
              <a:rPr sz="2400" spc="-5" dirty="0">
                <a:latin typeface="Calibri"/>
                <a:cs typeface="Calibri"/>
              </a:rPr>
              <a:t>management </a:t>
            </a:r>
            <a:r>
              <a:rPr sz="2400" spc="-10" dirty="0">
                <a:latin typeface="Calibri"/>
                <a:cs typeface="Calibri"/>
              </a:rPr>
              <a:t>centralized</a:t>
            </a:r>
            <a:r>
              <a:rPr sz="2400" spc="15" dirty="0">
                <a:latin typeface="Calibri"/>
                <a:cs typeface="Calibri"/>
              </a:rPr>
              <a:t> </a:t>
            </a:r>
            <a:r>
              <a:rPr sz="2400" spc="-15" dirty="0">
                <a:latin typeface="Calibri"/>
                <a:cs typeface="Calibri"/>
              </a:rPr>
              <a:t>at</a:t>
            </a:r>
            <a:r>
              <a:rPr sz="2400" spc="-5" dirty="0">
                <a:latin typeface="Calibri"/>
                <a:cs typeface="Calibri"/>
              </a:rPr>
              <a:t> </a:t>
            </a:r>
            <a:r>
              <a:rPr sz="2400" dirty="0">
                <a:latin typeface="Calibri"/>
                <a:cs typeface="Calibri"/>
              </a:rPr>
              <a:t>the</a:t>
            </a:r>
            <a:r>
              <a:rPr sz="2400" spc="-5" dirty="0">
                <a:latin typeface="Calibri"/>
                <a:cs typeface="Calibri"/>
              </a:rPr>
              <a:t> server</a:t>
            </a:r>
            <a:endParaRPr sz="2400" dirty="0">
              <a:latin typeface="Calibri"/>
              <a:cs typeface="Calibri"/>
            </a:endParaRPr>
          </a:p>
          <a:p>
            <a:pPr lvl="1" algn="just">
              <a:lnSpc>
                <a:spcPct val="100000"/>
              </a:lnSpc>
              <a:spcBef>
                <a:spcPts val="15"/>
              </a:spcBef>
              <a:buClr>
                <a:srgbClr val="4F80BC"/>
              </a:buClr>
              <a:buFont typeface="Arial MT"/>
              <a:buChar char="•"/>
            </a:pPr>
            <a:endParaRPr sz="2400" dirty="0">
              <a:latin typeface="Calibri"/>
              <a:cs typeface="Calibri"/>
            </a:endParaRPr>
          </a:p>
          <a:p>
            <a:pPr marL="251460" indent="-239395" algn="just">
              <a:lnSpc>
                <a:spcPts val="2280"/>
              </a:lnSpc>
              <a:buClr>
                <a:srgbClr val="4F80BC"/>
              </a:buClr>
              <a:buSzPct val="85000"/>
              <a:buFont typeface="Arial MT"/>
              <a:buChar char="•"/>
              <a:tabLst>
                <a:tab pos="251460" algn="l"/>
                <a:tab pos="252095" algn="l"/>
              </a:tabLst>
            </a:pPr>
            <a:r>
              <a:rPr sz="2400" spc="-10" dirty="0">
                <a:latin typeface="Calibri"/>
                <a:cs typeface="Calibri"/>
              </a:rPr>
              <a:t>“Peer</a:t>
            </a:r>
            <a:r>
              <a:rPr sz="2400" spc="10" dirty="0">
                <a:latin typeface="Calibri"/>
                <a:cs typeface="Calibri"/>
              </a:rPr>
              <a:t> </a:t>
            </a:r>
            <a:r>
              <a:rPr sz="2400" spc="-10" dirty="0">
                <a:latin typeface="Calibri"/>
                <a:cs typeface="Calibri"/>
              </a:rPr>
              <a:t>to</a:t>
            </a:r>
            <a:r>
              <a:rPr sz="2400" dirty="0">
                <a:latin typeface="Calibri"/>
                <a:cs typeface="Calibri"/>
              </a:rPr>
              <a:t> </a:t>
            </a:r>
            <a:r>
              <a:rPr sz="2400" spc="5" dirty="0">
                <a:latin typeface="Calibri"/>
                <a:cs typeface="Calibri"/>
              </a:rPr>
              <a:t>Peer”</a:t>
            </a:r>
            <a:r>
              <a:rPr sz="2400" dirty="0">
                <a:latin typeface="Calibri"/>
                <a:cs typeface="Calibri"/>
              </a:rPr>
              <a:t> </a:t>
            </a:r>
            <a:r>
              <a:rPr sz="2400" spc="-5" dirty="0">
                <a:latin typeface="Calibri"/>
                <a:cs typeface="Calibri"/>
              </a:rPr>
              <a:t>computing</a:t>
            </a:r>
            <a:r>
              <a:rPr sz="2400" spc="-15" dirty="0">
                <a:latin typeface="Calibri"/>
                <a:cs typeface="Calibri"/>
              </a:rPr>
              <a:t> </a:t>
            </a:r>
            <a:r>
              <a:rPr sz="2400" spc="-10" dirty="0">
                <a:latin typeface="Calibri"/>
                <a:cs typeface="Calibri"/>
              </a:rPr>
              <a:t>represents</a:t>
            </a:r>
            <a:r>
              <a:rPr sz="2400" spc="10" dirty="0">
                <a:latin typeface="Calibri"/>
                <a:cs typeface="Calibri"/>
              </a:rPr>
              <a:t> </a:t>
            </a:r>
            <a:r>
              <a:rPr sz="2400" dirty="0">
                <a:latin typeface="Calibri"/>
                <a:cs typeface="Calibri"/>
              </a:rPr>
              <a:t>a</a:t>
            </a:r>
            <a:r>
              <a:rPr sz="2400" spc="5" dirty="0">
                <a:latin typeface="Calibri"/>
                <a:cs typeface="Calibri"/>
              </a:rPr>
              <a:t> </a:t>
            </a:r>
            <a:r>
              <a:rPr sz="2400" spc="-10" dirty="0">
                <a:latin typeface="Calibri"/>
                <a:cs typeface="Calibri"/>
              </a:rPr>
              <a:t>movement</a:t>
            </a:r>
            <a:r>
              <a:rPr sz="2400" spc="15" dirty="0">
                <a:latin typeface="Calibri"/>
                <a:cs typeface="Calibri"/>
              </a:rPr>
              <a:t> </a:t>
            </a:r>
            <a:r>
              <a:rPr sz="2400" spc="-15" dirty="0">
                <a:latin typeface="Calibri"/>
                <a:cs typeface="Calibri"/>
              </a:rPr>
              <a:t>towards</a:t>
            </a:r>
            <a:r>
              <a:rPr sz="2400" dirty="0">
                <a:latin typeface="Calibri"/>
                <a:cs typeface="Calibri"/>
              </a:rPr>
              <a:t> </a:t>
            </a:r>
            <a:r>
              <a:rPr sz="2400" spc="-10" dirty="0">
                <a:latin typeface="Calibri"/>
                <a:cs typeface="Calibri"/>
              </a:rPr>
              <a:t>more</a:t>
            </a:r>
            <a:r>
              <a:rPr sz="2400" spc="5" dirty="0">
                <a:latin typeface="Calibri"/>
                <a:cs typeface="Calibri"/>
              </a:rPr>
              <a:t> “truly”</a:t>
            </a:r>
            <a:endParaRPr sz="2400" dirty="0">
              <a:latin typeface="Calibri"/>
              <a:cs typeface="Calibri"/>
            </a:endParaRPr>
          </a:p>
          <a:p>
            <a:pPr marL="194945" algn="just">
              <a:lnSpc>
                <a:spcPts val="2280"/>
              </a:lnSpc>
            </a:pPr>
            <a:r>
              <a:rPr sz="2400" spc="-5" dirty="0">
                <a:latin typeface="Calibri"/>
                <a:cs typeface="Calibri"/>
              </a:rPr>
              <a:t>distributed</a:t>
            </a:r>
            <a:r>
              <a:rPr sz="2400" spc="-20" dirty="0">
                <a:latin typeface="Calibri"/>
                <a:cs typeface="Calibri"/>
              </a:rPr>
              <a:t> </a:t>
            </a:r>
            <a:r>
              <a:rPr sz="2400" spc="-5" dirty="0">
                <a:latin typeface="Calibri"/>
                <a:cs typeface="Calibri"/>
              </a:rPr>
              <a:t>applications</a:t>
            </a:r>
            <a:endParaRPr sz="2400" dirty="0">
              <a:latin typeface="Calibri"/>
              <a:cs typeface="Calibri"/>
            </a:endParaRPr>
          </a:p>
        </p:txBody>
      </p:sp>
      <p:sp>
        <p:nvSpPr>
          <p:cNvPr id="5" name="Footer Placeholder 4">
            <a:extLst>
              <a:ext uri="{FF2B5EF4-FFF2-40B4-BE49-F238E27FC236}">
                <a16:creationId xmlns:a16="http://schemas.microsoft.com/office/drawing/2014/main" id="{4019067E-19FF-B17B-3464-2C0927748716}"/>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47800" y="514350"/>
            <a:ext cx="5916930" cy="443711"/>
          </a:xfrm>
          <a:prstGeom prst="rect">
            <a:avLst/>
          </a:prstGeom>
        </p:spPr>
        <p:txBody>
          <a:bodyPr vert="horz" wrap="square" lIns="0" tIns="12700" rIns="0" bIns="0" rtlCol="0">
            <a:spAutoFit/>
          </a:bodyPr>
          <a:lstStyle/>
          <a:p>
            <a:pPr marL="12700" algn="ctr">
              <a:lnSpc>
                <a:spcPct val="100000"/>
              </a:lnSpc>
              <a:spcBef>
                <a:spcPts val="100"/>
              </a:spcBef>
            </a:pPr>
            <a:r>
              <a:rPr sz="2800" b="1" spc="-10" dirty="0">
                <a:solidFill>
                  <a:srgbClr val="000000"/>
                </a:solidFill>
                <a:latin typeface="Calibri"/>
                <a:cs typeface="Calibri"/>
              </a:rPr>
              <a:t>Clients</a:t>
            </a:r>
            <a:r>
              <a:rPr sz="2800" b="1" spc="-5" dirty="0">
                <a:solidFill>
                  <a:srgbClr val="000000"/>
                </a:solidFill>
                <a:latin typeface="Calibri"/>
                <a:cs typeface="Calibri"/>
              </a:rPr>
              <a:t> </a:t>
            </a:r>
            <a:r>
              <a:rPr sz="2800" b="1" spc="-40" dirty="0">
                <a:solidFill>
                  <a:srgbClr val="000000"/>
                </a:solidFill>
                <a:latin typeface="Calibri"/>
                <a:cs typeface="Calibri"/>
              </a:rPr>
              <a:t>invoke</a:t>
            </a:r>
            <a:r>
              <a:rPr sz="2800" b="1" spc="-10" dirty="0">
                <a:solidFill>
                  <a:srgbClr val="000000"/>
                </a:solidFill>
                <a:latin typeface="Calibri"/>
                <a:cs typeface="Calibri"/>
              </a:rPr>
              <a:t> </a:t>
            </a:r>
            <a:r>
              <a:rPr sz="2800" b="1" spc="-5" dirty="0">
                <a:solidFill>
                  <a:srgbClr val="000000"/>
                </a:solidFill>
                <a:latin typeface="Calibri"/>
                <a:cs typeface="Calibri"/>
              </a:rPr>
              <a:t>individual</a:t>
            </a:r>
            <a:r>
              <a:rPr sz="2800" b="1" spc="-50" dirty="0">
                <a:solidFill>
                  <a:srgbClr val="000000"/>
                </a:solidFill>
                <a:latin typeface="Calibri"/>
                <a:cs typeface="Calibri"/>
              </a:rPr>
              <a:t> </a:t>
            </a:r>
            <a:r>
              <a:rPr sz="2800" b="1" spc="-15" dirty="0">
                <a:solidFill>
                  <a:srgbClr val="000000"/>
                </a:solidFill>
                <a:latin typeface="Calibri"/>
                <a:cs typeface="Calibri"/>
              </a:rPr>
              <a:t>servers</a:t>
            </a:r>
            <a:endParaRPr sz="2800"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4</a:t>
            </a:r>
          </a:p>
        </p:txBody>
      </p:sp>
      <p:pic>
        <p:nvPicPr>
          <p:cNvPr id="3" name="object 3"/>
          <p:cNvPicPr/>
          <p:nvPr/>
        </p:nvPicPr>
        <p:blipFill>
          <a:blip r:embed="rId2" cstate="print"/>
          <a:stretch>
            <a:fillRect/>
          </a:stretch>
        </p:blipFill>
        <p:spPr>
          <a:xfrm>
            <a:off x="552450" y="1371600"/>
            <a:ext cx="8039100" cy="2400300"/>
          </a:xfrm>
          <a:prstGeom prst="rect">
            <a:avLst/>
          </a:prstGeom>
        </p:spPr>
      </p:pic>
      <p:sp>
        <p:nvSpPr>
          <p:cNvPr id="5" name="Footer Placeholder 4">
            <a:extLst>
              <a:ext uri="{FF2B5EF4-FFF2-40B4-BE49-F238E27FC236}">
                <a16:creationId xmlns:a16="http://schemas.microsoft.com/office/drawing/2014/main" id="{DF950C8A-EBE0-BD39-3E99-B9DC6E7CBAA4}"/>
              </a:ext>
            </a:extLst>
          </p:cNvPr>
          <p:cNvSpPr>
            <a:spLocks noGrp="1"/>
          </p:cNvSpPr>
          <p:nvPr>
            <p:ph type="ftr" sz="quarter" idx="11"/>
          </p:nvPr>
        </p:nvSpPr>
        <p:spPr/>
        <p:txBody>
          <a:bodyPr/>
          <a:lstStyle/>
          <a:p>
            <a:r>
              <a:rPr lang="en-US"/>
              <a:t>Department of Computer Application</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818635"/>
            <a:ext cx="8230234" cy="381515"/>
          </a:xfrm>
          <a:prstGeom prst="rect">
            <a:avLst/>
          </a:prstGeom>
        </p:spPr>
        <p:txBody>
          <a:bodyPr vert="horz" wrap="square" lIns="0" tIns="12065" rIns="0" bIns="0" rtlCol="0">
            <a:spAutoFit/>
          </a:bodyPr>
          <a:lstStyle/>
          <a:p>
            <a:pPr marL="12700" algn="ctr">
              <a:lnSpc>
                <a:spcPct val="100000"/>
              </a:lnSpc>
              <a:spcBef>
                <a:spcPts val="95"/>
              </a:spcBef>
            </a:pPr>
            <a:r>
              <a:rPr sz="2400" spc="-5" dirty="0">
                <a:solidFill>
                  <a:srgbClr val="000000"/>
                </a:solidFill>
                <a:latin typeface="Calibri"/>
                <a:cs typeface="Calibri"/>
              </a:rPr>
              <a:t>A</a:t>
            </a:r>
            <a:r>
              <a:rPr sz="2400" spc="10" dirty="0">
                <a:solidFill>
                  <a:srgbClr val="000000"/>
                </a:solidFill>
                <a:latin typeface="Calibri"/>
                <a:cs typeface="Calibri"/>
              </a:rPr>
              <a:t> </a:t>
            </a:r>
            <a:r>
              <a:rPr sz="2400" spc="-10" dirty="0">
                <a:solidFill>
                  <a:srgbClr val="000000"/>
                </a:solidFill>
                <a:latin typeface="Calibri"/>
                <a:cs typeface="Calibri"/>
              </a:rPr>
              <a:t>typical</a:t>
            </a:r>
            <a:r>
              <a:rPr sz="2400" spc="10" dirty="0">
                <a:solidFill>
                  <a:srgbClr val="000000"/>
                </a:solidFill>
                <a:latin typeface="Calibri"/>
                <a:cs typeface="Calibri"/>
              </a:rPr>
              <a:t> </a:t>
            </a:r>
            <a:r>
              <a:rPr sz="2400" spc="-15" dirty="0">
                <a:solidFill>
                  <a:srgbClr val="000000"/>
                </a:solidFill>
                <a:latin typeface="Calibri"/>
                <a:cs typeface="Calibri"/>
              </a:rPr>
              <a:t>distributed</a:t>
            </a:r>
            <a:r>
              <a:rPr sz="2400" spc="55" dirty="0">
                <a:solidFill>
                  <a:srgbClr val="000000"/>
                </a:solidFill>
                <a:latin typeface="Calibri"/>
                <a:cs typeface="Calibri"/>
              </a:rPr>
              <a:t> </a:t>
            </a:r>
            <a:r>
              <a:rPr sz="2400" spc="-10" dirty="0">
                <a:solidFill>
                  <a:srgbClr val="000000"/>
                </a:solidFill>
                <a:latin typeface="Calibri"/>
                <a:cs typeface="Calibri"/>
              </a:rPr>
              <a:t>application</a:t>
            </a:r>
            <a:r>
              <a:rPr sz="2400" spc="15" dirty="0">
                <a:solidFill>
                  <a:srgbClr val="000000"/>
                </a:solidFill>
                <a:latin typeface="Calibri"/>
                <a:cs typeface="Calibri"/>
              </a:rPr>
              <a:t> </a:t>
            </a:r>
            <a:r>
              <a:rPr sz="2400" spc="-5" dirty="0">
                <a:solidFill>
                  <a:srgbClr val="000000"/>
                </a:solidFill>
                <a:latin typeface="Calibri"/>
                <a:cs typeface="Calibri"/>
              </a:rPr>
              <a:t>based</a:t>
            </a:r>
            <a:r>
              <a:rPr sz="2400" spc="15" dirty="0">
                <a:solidFill>
                  <a:srgbClr val="000000"/>
                </a:solidFill>
                <a:latin typeface="Calibri"/>
                <a:cs typeface="Calibri"/>
              </a:rPr>
              <a:t> </a:t>
            </a:r>
            <a:r>
              <a:rPr sz="2400" spc="-5" dirty="0">
                <a:solidFill>
                  <a:srgbClr val="000000"/>
                </a:solidFill>
                <a:latin typeface="Calibri"/>
                <a:cs typeface="Calibri"/>
              </a:rPr>
              <a:t>on</a:t>
            </a:r>
            <a:r>
              <a:rPr sz="2400" spc="5" dirty="0">
                <a:solidFill>
                  <a:srgbClr val="000000"/>
                </a:solidFill>
                <a:latin typeface="Calibri"/>
                <a:cs typeface="Calibri"/>
              </a:rPr>
              <a:t> </a:t>
            </a:r>
            <a:r>
              <a:rPr sz="2400" spc="-5" dirty="0">
                <a:solidFill>
                  <a:srgbClr val="000000"/>
                </a:solidFill>
                <a:latin typeface="Calibri"/>
                <a:cs typeface="Calibri"/>
              </a:rPr>
              <a:t>peer </a:t>
            </a:r>
            <a:r>
              <a:rPr sz="2400" spc="-15" dirty="0">
                <a:solidFill>
                  <a:srgbClr val="000000"/>
                </a:solidFill>
                <a:latin typeface="Calibri"/>
                <a:cs typeface="Calibri"/>
              </a:rPr>
              <a:t>processes</a:t>
            </a:r>
            <a:endParaRPr sz="2400"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5</a:t>
            </a:r>
          </a:p>
        </p:txBody>
      </p:sp>
      <p:pic>
        <p:nvPicPr>
          <p:cNvPr id="3" name="object 3"/>
          <p:cNvPicPr/>
          <p:nvPr/>
        </p:nvPicPr>
        <p:blipFill>
          <a:blip r:embed="rId2" cstate="print"/>
          <a:stretch>
            <a:fillRect/>
          </a:stretch>
        </p:blipFill>
        <p:spPr>
          <a:xfrm>
            <a:off x="990600" y="1200150"/>
            <a:ext cx="6629400" cy="3394075"/>
          </a:xfrm>
          <a:prstGeom prst="rect">
            <a:avLst/>
          </a:prstGeom>
        </p:spPr>
      </p:pic>
      <p:sp>
        <p:nvSpPr>
          <p:cNvPr id="5" name="Footer Placeholder 4">
            <a:extLst>
              <a:ext uri="{FF2B5EF4-FFF2-40B4-BE49-F238E27FC236}">
                <a16:creationId xmlns:a16="http://schemas.microsoft.com/office/drawing/2014/main" id="{AF3FCC48-16BC-66DD-65BD-F942A0E38E44}"/>
              </a:ext>
            </a:extLst>
          </p:cNvPr>
          <p:cNvSpPr>
            <a:spLocks noGrp="1"/>
          </p:cNvSpPr>
          <p:nvPr>
            <p:ph type="ftr" sz="quarter" idx="11"/>
          </p:nvPr>
        </p:nvSpPr>
        <p:spPr/>
        <p:txBody>
          <a:bodyPr/>
          <a:lstStyle/>
          <a:p>
            <a:r>
              <a:rPr lang="en-US"/>
              <a:t>Department of Computer Application</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523DD-9F30-2998-B335-D3793E3013C5}"/>
              </a:ext>
            </a:extLst>
          </p:cNvPr>
          <p:cNvSpPr>
            <a:spLocks noGrp="1"/>
          </p:cNvSpPr>
          <p:nvPr>
            <p:ph type="title"/>
          </p:nvPr>
        </p:nvSpPr>
        <p:spPr>
          <a:xfrm>
            <a:off x="2761921" y="101066"/>
            <a:ext cx="4443704" cy="530631"/>
          </a:xfrm>
        </p:spPr>
        <p:txBody>
          <a:bodyPr>
            <a:normAutofit/>
          </a:bodyPr>
          <a:lstStyle/>
          <a:p>
            <a:pPr algn="ctr"/>
            <a:r>
              <a:rPr lang="en-IN" sz="3200" b="1" kern="0" dirty="0"/>
              <a:t>Summary</a:t>
            </a:r>
            <a:endParaRPr lang="en-IN" sz="3200" dirty="0"/>
          </a:p>
        </p:txBody>
      </p:sp>
      <p:sp>
        <p:nvSpPr>
          <p:cNvPr id="7" name="Content Placeholder 6">
            <a:extLst>
              <a:ext uri="{FF2B5EF4-FFF2-40B4-BE49-F238E27FC236}">
                <a16:creationId xmlns:a16="http://schemas.microsoft.com/office/drawing/2014/main" id="{F920D1DA-5B3D-714D-DF00-E9D6B1E6A284}"/>
              </a:ext>
            </a:extLst>
          </p:cNvPr>
          <p:cNvSpPr>
            <a:spLocks noGrp="1"/>
          </p:cNvSpPr>
          <p:nvPr>
            <p:ph idx="1"/>
          </p:nvPr>
        </p:nvSpPr>
        <p:spPr>
          <a:xfrm>
            <a:off x="457200" y="1082842"/>
            <a:ext cx="8229600" cy="3404937"/>
          </a:xfrm>
        </p:spPr>
        <p:txBody>
          <a:bodyPr>
            <a:noAutofit/>
          </a:bodyPr>
          <a:lstStyle/>
          <a:p>
            <a:pPr algn="just">
              <a:lnSpc>
                <a:spcPct val="150000"/>
              </a:lnSpc>
              <a:buBlip>
                <a:blip r:embed="rId2"/>
              </a:buBlip>
            </a:pPr>
            <a:r>
              <a:rPr lang="en-US" sz="1600" dirty="0"/>
              <a:t>Distributed computing involves multiple independent computers (often located in different physical locations) working together to solve a problem. These computers communicate over a network, sharing tasks and resources to complete computations more efficiently.</a:t>
            </a:r>
          </a:p>
          <a:p>
            <a:pPr algn="just">
              <a:lnSpc>
                <a:spcPct val="150000"/>
              </a:lnSpc>
              <a:buBlip>
                <a:blip r:embed="rId2"/>
              </a:buBlip>
            </a:pPr>
            <a:r>
              <a:rPr lang="en-US" sz="1600" dirty="0"/>
              <a:t>It offers benefits like scalability, resource sharing, fault tolerance, and improved performance. By distributing tasks, it allows handling large, complex problems that would be difficult for a single machine to manage, and it ensures reliability by allowing the system to continue functioning even if some nodes fail.</a:t>
            </a:r>
          </a:p>
          <a:p>
            <a:pPr algn="just">
              <a:lnSpc>
                <a:spcPct val="150000"/>
              </a:lnSpc>
              <a:buBlip>
                <a:blip r:embed="rId2"/>
              </a:buBlip>
            </a:pPr>
            <a:r>
              <a:rPr lang="en-US" sz="1600" dirty="0"/>
              <a:t>Distributed computing is used in various fields, including cloud computing, big data analytics, scientific simulations, and collaborative platforms.</a:t>
            </a:r>
            <a:endParaRPr lang="en-US" sz="1600" b="1" dirty="0"/>
          </a:p>
        </p:txBody>
      </p:sp>
      <p:sp>
        <p:nvSpPr>
          <p:cNvPr id="5" name="Footer Placeholder 4">
            <a:extLst>
              <a:ext uri="{FF2B5EF4-FFF2-40B4-BE49-F238E27FC236}">
                <a16:creationId xmlns:a16="http://schemas.microsoft.com/office/drawing/2014/main" id="{43FB2739-9CDD-CFDC-9ACC-F769D636571C}"/>
              </a:ext>
            </a:extLst>
          </p:cNvPr>
          <p:cNvSpPr>
            <a:spLocks noGrp="1"/>
          </p:cNvSpPr>
          <p:nvPr>
            <p:ph type="ftr" sz="quarter" idx="11"/>
          </p:nvPr>
        </p:nvSpPr>
        <p:spPr/>
        <p:txBody>
          <a:bodyPr/>
          <a:lstStyle/>
          <a:p>
            <a:r>
              <a:rPr lang="en-US" dirty="0"/>
              <a:t>Department of Computer Application</a:t>
            </a:r>
          </a:p>
        </p:txBody>
      </p:sp>
      <p:sp>
        <p:nvSpPr>
          <p:cNvPr id="6" name="Slide Number Placeholder 5">
            <a:extLst>
              <a:ext uri="{FF2B5EF4-FFF2-40B4-BE49-F238E27FC236}">
                <a16:creationId xmlns:a16="http://schemas.microsoft.com/office/drawing/2014/main" id="{7F8A028B-D4AB-FD38-B390-9A1500B1B208}"/>
              </a:ext>
            </a:extLst>
          </p:cNvPr>
          <p:cNvSpPr>
            <a:spLocks noGrp="1"/>
          </p:cNvSpPr>
          <p:nvPr>
            <p:ph type="sldNum" sz="quarter" idx="12"/>
          </p:nvPr>
        </p:nvSpPr>
        <p:spPr/>
        <p:txBody>
          <a:bodyPr/>
          <a:lstStyle/>
          <a:p>
            <a:fld id="{7B69A187-1465-481C-91D5-B2B7D79C567F}" type="slidenum">
              <a:rPr lang="en-US" smtClean="0"/>
              <a:pPr/>
              <a:t>15</a:t>
            </a:fld>
            <a:endParaRPr lang="en-US"/>
          </a:p>
        </p:txBody>
      </p:sp>
      <p:pic>
        <p:nvPicPr>
          <p:cNvPr id="3" name="Picture 2">
            <a:extLst>
              <a:ext uri="{FF2B5EF4-FFF2-40B4-BE49-F238E27FC236}">
                <a16:creationId xmlns:a16="http://schemas.microsoft.com/office/drawing/2014/main" id="{53A90572-0907-90A3-209E-CE36823DA5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09D9A907-954C-FDDE-0088-F27E87D8DEA9}"/>
              </a:ext>
            </a:extLst>
          </p:cNvPr>
          <p:cNvPicPr>
            <a:picLocks noChangeAspect="1"/>
          </p:cNvPicPr>
          <p:nvPr/>
        </p:nvPicPr>
        <p:blipFill>
          <a:blip r:embed="rId4"/>
          <a:stretch>
            <a:fillRect/>
          </a:stretch>
        </p:blipFill>
        <p:spPr>
          <a:xfrm>
            <a:off x="7290715" y="72947"/>
            <a:ext cx="1782539" cy="530631"/>
          </a:xfrm>
          <a:prstGeom prst="rect">
            <a:avLst/>
          </a:prstGeom>
        </p:spPr>
      </p:pic>
    </p:spTree>
    <p:extLst>
      <p:ext uri="{BB962C8B-B14F-4D97-AF65-F5344CB8AC3E}">
        <p14:creationId xmlns:p14="http://schemas.microsoft.com/office/powerpoint/2010/main" val="9558877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7B17F-57F1-4833-2F9C-574989E3E10C}"/>
              </a:ext>
            </a:extLst>
          </p:cNvPr>
          <p:cNvSpPr>
            <a:spLocks noGrp="1"/>
          </p:cNvSpPr>
          <p:nvPr>
            <p:ph type="title"/>
          </p:nvPr>
        </p:nvSpPr>
        <p:spPr>
          <a:xfrm>
            <a:off x="2711242" y="70037"/>
            <a:ext cx="4545062" cy="397599"/>
          </a:xfrm>
        </p:spPr>
        <p:txBody>
          <a:bodyPr>
            <a:noAutofit/>
          </a:bodyPr>
          <a:lstStyle/>
          <a:p>
            <a:pPr algn="ctr"/>
            <a:r>
              <a:rPr lang="en-IN" sz="3200" b="1" kern="0" dirty="0"/>
              <a:t>References</a:t>
            </a:r>
            <a:endParaRPr lang="en-IN" sz="3200" dirty="0"/>
          </a:p>
        </p:txBody>
      </p:sp>
      <p:sp>
        <p:nvSpPr>
          <p:cNvPr id="7" name="Content Placeholder 6">
            <a:extLst>
              <a:ext uri="{FF2B5EF4-FFF2-40B4-BE49-F238E27FC236}">
                <a16:creationId xmlns:a16="http://schemas.microsoft.com/office/drawing/2014/main" id="{BB61AB46-72A9-1DD5-A1BD-51B6BBB0E2C4}"/>
              </a:ext>
            </a:extLst>
          </p:cNvPr>
          <p:cNvSpPr>
            <a:spLocks noGrp="1"/>
          </p:cNvSpPr>
          <p:nvPr>
            <p:ph idx="1"/>
          </p:nvPr>
        </p:nvSpPr>
        <p:spPr/>
        <p:txBody>
          <a:bodyPr>
            <a:normAutofit fontScale="70000" lnSpcReduction="20000"/>
          </a:bodyPr>
          <a:lstStyle/>
          <a:p>
            <a:r>
              <a:rPr lang="en-US" sz="1800" dirty="0"/>
              <a:t>Books References</a:t>
            </a:r>
          </a:p>
          <a:p>
            <a:r>
              <a:rPr lang="en-US" sz="1650" dirty="0">
                <a:solidFill>
                  <a:srgbClr val="000000"/>
                </a:solidFill>
                <a:ea typeface="Calibri" panose="020F0502020204030204" pitchFamily="34" charset="0"/>
                <a:cs typeface="Calibri" panose="020F0502020204030204" pitchFamily="34" charset="0"/>
              </a:rPr>
              <a:t>Mastering Cloud Computing, Rajkumar </a:t>
            </a:r>
            <a:r>
              <a:rPr lang="en-US" sz="1650" dirty="0" err="1">
                <a:solidFill>
                  <a:srgbClr val="000000"/>
                </a:solidFill>
                <a:ea typeface="Calibri" panose="020F0502020204030204" pitchFamily="34" charset="0"/>
                <a:cs typeface="Calibri" panose="020F0502020204030204" pitchFamily="34" charset="0"/>
              </a:rPr>
              <a:t>Buyya</a:t>
            </a:r>
            <a:r>
              <a:rPr lang="en-US" sz="1650" dirty="0">
                <a:solidFill>
                  <a:srgbClr val="000000"/>
                </a:solidFill>
                <a:ea typeface="Calibri" panose="020F0502020204030204" pitchFamily="34" charset="0"/>
                <a:cs typeface="Calibri" panose="020F0502020204030204" pitchFamily="34" charset="0"/>
              </a:rPr>
              <a:t>, Christian </a:t>
            </a:r>
            <a:r>
              <a:rPr lang="en-US" sz="1650" dirty="0" err="1">
                <a:solidFill>
                  <a:srgbClr val="000000"/>
                </a:solidFill>
                <a:ea typeface="Calibri" panose="020F0502020204030204" pitchFamily="34" charset="0"/>
                <a:cs typeface="Calibri" panose="020F0502020204030204" pitchFamily="34" charset="0"/>
              </a:rPr>
              <a:t>Vecchiola</a:t>
            </a:r>
            <a:r>
              <a:rPr lang="en-US" sz="1650" dirty="0">
                <a:solidFill>
                  <a:srgbClr val="000000"/>
                </a:solidFill>
                <a:ea typeface="Calibri" panose="020F0502020204030204" pitchFamily="34" charset="0"/>
                <a:cs typeface="Calibri" panose="020F0502020204030204" pitchFamily="34" charset="0"/>
              </a:rPr>
              <a:t>, and </a:t>
            </a:r>
            <a:r>
              <a:rPr lang="en-US" sz="1650" dirty="0" err="1">
                <a:solidFill>
                  <a:srgbClr val="000000"/>
                </a:solidFill>
                <a:ea typeface="Calibri" panose="020F0502020204030204" pitchFamily="34" charset="0"/>
                <a:cs typeface="Calibri" panose="020F0502020204030204" pitchFamily="34" charset="0"/>
              </a:rPr>
              <a:t>ThamaraiSelvi</a:t>
            </a:r>
            <a:r>
              <a:rPr lang="en-US" sz="1650" dirty="0">
                <a:solidFill>
                  <a:srgbClr val="000000"/>
                </a:solidFill>
                <a:ea typeface="Calibri" panose="020F0502020204030204" pitchFamily="34" charset="0"/>
                <a:cs typeface="Calibri" panose="020F0502020204030204" pitchFamily="34" charset="0"/>
              </a:rPr>
              <a:t>, Tata McGraw Hill, ISBN-13: 978-1-25-902995-0, New Delhi, </a:t>
            </a:r>
            <a:r>
              <a:rPr lang="en-US" sz="1650" dirty="0" err="1">
                <a:solidFill>
                  <a:srgbClr val="000000"/>
                </a:solidFill>
                <a:ea typeface="Calibri" panose="020F0502020204030204" pitchFamily="34" charset="0"/>
                <a:cs typeface="Calibri" panose="020F0502020204030204" pitchFamily="34" charset="0"/>
              </a:rPr>
              <a:t>India,Feb</a:t>
            </a:r>
            <a:r>
              <a:rPr lang="en-US" sz="1650" dirty="0">
                <a:solidFill>
                  <a:srgbClr val="000000"/>
                </a:solidFill>
                <a:ea typeface="Calibri" panose="020F0502020204030204" pitchFamily="34" charset="0"/>
                <a:cs typeface="Calibri" panose="020F0502020204030204" pitchFamily="34" charset="0"/>
              </a:rPr>
              <a:t> 2013. </a:t>
            </a:r>
            <a:endParaRPr lang="en-US" sz="1650" dirty="0"/>
          </a:p>
          <a:p>
            <a:pPr marL="0" indent="0">
              <a:buNone/>
            </a:pPr>
            <a:endParaRPr lang="en-US" sz="1800" dirty="0"/>
          </a:p>
          <a:p>
            <a:r>
              <a:rPr lang="en-US" sz="1800" dirty="0"/>
              <a:t>E-book link</a:t>
            </a:r>
          </a:p>
          <a:p>
            <a:r>
              <a:rPr lang="en-US" sz="1800" dirty="0">
                <a:hlinkClick r:id="rId2"/>
              </a:rPr>
              <a:t>https://archive.org/details/cloudcomputingbi0000sosi</a:t>
            </a:r>
            <a:endParaRPr lang="en-US" sz="1800" dirty="0"/>
          </a:p>
          <a:p>
            <a:pPr marL="0" indent="0">
              <a:buNone/>
            </a:pPr>
            <a:endParaRPr lang="en-US" sz="1800" dirty="0"/>
          </a:p>
          <a:p>
            <a:r>
              <a:rPr lang="en-US" sz="1800" dirty="0"/>
              <a:t>YouTube link</a:t>
            </a:r>
          </a:p>
          <a:p>
            <a:r>
              <a:rPr lang="en-US" sz="1800" dirty="0">
                <a:hlinkClick r:id="rId3"/>
              </a:rPr>
              <a:t>https://www.youtube.com/@cloudcomputing351/videos</a:t>
            </a:r>
            <a:endParaRPr lang="en-US" sz="1800" dirty="0"/>
          </a:p>
          <a:p>
            <a:pPr marL="0" indent="0">
              <a:buNone/>
            </a:pPr>
            <a:endParaRPr lang="en-US" sz="1800" dirty="0"/>
          </a:p>
          <a:p>
            <a:pPr>
              <a:buFont typeface="Wingdings" pitchFamily="2" charset="2"/>
              <a:buChar char="Ø"/>
            </a:pPr>
            <a:r>
              <a:rPr lang="en-US" sz="1800" dirty="0">
                <a:hlinkClick r:id="rId4"/>
              </a:rPr>
              <a:t>https://www.geeksforgeeks.org/cloud-computing/</a:t>
            </a:r>
            <a:endParaRPr lang="en-US" sz="1800" dirty="0"/>
          </a:p>
          <a:p>
            <a:pPr>
              <a:buFont typeface="Wingdings" pitchFamily="2" charset="2"/>
              <a:buChar char="Ø"/>
            </a:pPr>
            <a:r>
              <a:rPr lang="en-IN" sz="1800" dirty="0">
                <a:hlinkClick r:id="rId5"/>
              </a:rPr>
              <a:t>https://www.tutorialspoint.com/cloud_computing/index.htm</a:t>
            </a:r>
            <a:endParaRPr lang="en-US" sz="1800" dirty="0"/>
          </a:p>
          <a:p>
            <a:pPr>
              <a:buFont typeface="Wingdings" pitchFamily="2" charset="2"/>
              <a:buChar char="Ø"/>
            </a:pPr>
            <a:r>
              <a:rPr lang="en-IN" sz="1800" dirty="0">
                <a:hlinkClick r:id="rId6"/>
              </a:rPr>
              <a:t>https://nptel.ac.in/courses/106105167</a:t>
            </a:r>
            <a:endParaRPr lang="en-US" sz="1800" dirty="0"/>
          </a:p>
          <a:p>
            <a:pPr>
              <a:buFont typeface="Wingdings" pitchFamily="2" charset="2"/>
              <a:buChar char="Ø"/>
            </a:pPr>
            <a:r>
              <a:rPr lang="en-IN" sz="1800" dirty="0">
                <a:hlinkClick r:id="rId7"/>
              </a:rPr>
              <a:t>https://www.edx.org/learn/cloud-computing</a:t>
            </a:r>
            <a:endParaRPr lang="en-US" sz="1800" dirty="0"/>
          </a:p>
          <a:p>
            <a:pPr>
              <a:buFont typeface="Wingdings" pitchFamily="2" charset="2"/>
              <a:buChar char="Ø"/>
            </a:pPr>
            <a:endParaRPr lang="en-IN" sz="1800" dirty="0"/>
          </a:p>
        </p:txBody>
      </p:sp>
      <p:sp>
        <p:nvSpPr>
          <p:cNvPr id="5" name="Footer Placeholder 4">
            <a:extLst>
              <a:ext uri="{FF2B5EF4-FFF2-40B4-BE49-F238E27FC236}">
                <a16:creationId xmlns:a16="http://schemas.microsoft.com/office/drawing/2014/main" id="{92F3DE2F-1A03-19B7-553F-796BD1308668}"/>
              </a:ext>
            </a:extLst>
          </p:cNvPr>
          <p:cNvSpPr>
            <a:spLocks noGrp="1"/>
          </p:cNvSpPr>
          <p:nvPr>
            <p:ph type="ftr" sz="quarter" idx="11"/>
          </p:nvPr>
        </p:nvSpPr>
        <p:spPr/>
        <p:txBody>
          <a:bodyPr/>
          <a:lstStyle/>
          <a:p>
            <a:r>
              <a:rPr lang="en-US" dirty="0"/>
              <a:t>Department of Computer Application</a:t>
            </a:r>
          </a:p>
        </p:txBody>
      </p:sp>
      <p:sp>
        <p:nvSpPr>
          <p:cNvPr id="6" name="Slide Number Placeholder 5">
            <a:extLst>
              <a:ext uri="{FF2B5EF4-FFF2-40B4-BE49-F238E27FC236}">
                <a16:creationId xmlns:a16="http://schemas.microsoft.com/office/drawing/2014/main" id="{B9B09F22-1813-5651-3629-61D46B882929}"/>
              </a:ext>
            </a:extLst>
          </p:cNvPr>
          <p:cNvSpPr>
            <a:spLocks noGrp="1"/>
          </p:cNvSpPr>
          <p:nvPr>
            <p:ph type="sldNum" sz="quarter" idx="12"/>
          </p:nvPr>
        </p:nvSpPr>
        <p:spPr/>
        <p:txBody>
          <a:bodyPr/>
          <a:lstStyle/>
          <a:p>
            <a:fld id="{7B69A187-1465-481C-91D5-B2B7D79C567F}" type="slidenum">
              <a:rPr lang="en-US" smtClean="0"/>
              <a:pPr/>
              <a:t>16</a:t>
            </a:fld>
            <a:endParaRPr lang="en-US"/>
          </a:p>
        </p:txBody>
      </p:sp>
      <p:pic>
        <p:nvPicPr>
          <p:cNvPr id="3" name="Picture 2">
            <a:extLst>
              <a:ext uri="{FF2B5EF4-FFF2-40B4-BE49-F238E27FC236}">
                <a16:creationId xmlns:a16="http://schemas.microsoft.com/office/drawing/2014/main" id="{DC499693-794D-B053-BA4D-BAB163D114E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3A709E1B-BC09-155B-1313-8050BA7DA136}"/>
              </a:ext>
            </a:extLst>
          </p:cNvPr>
          <p:cNvPicPr>
            <a:picLocks noChangeAspect="1"/>
          </p:cNvPicPr>
          <p:nvPr/>
        </p:nvPicPr>
        <p:blipFill>
          <a:blip r:embed="rId9"/>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998201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555172" y="1493556"/>
            <a:ext cx="8229600" cy="2961536"/>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algn="ctr" defTabSz="685800">
              <a:defRPr/>
            </a:pPr>
            <a:r>
              <a:rPr lang="en-US" sz="1350" dirty="0">
                <a:solidFill>
                  <a:prstClr val="white"/>
                </a:solidFill>
                <a:latin typeface="Calibri Light"/>
              </a:rPr>
              <a:t> </a:t>
            </a:r>
          </a:p>
        </p:txBody>
      </p:sp>
      <p:sp>
        <p:nvSpPr>
          <p:cNvPr id="9" name="Title 1"/>
          <p:cNvSpPr txBox="1">
            <a:spLocks/>
          </p:cNvSpPr>
          <p:nvPr/>
        </p:nvSpPr>
        <p:spPr>
          <a:xfrm>
            <a:off x="1100139" y="2236198"/>
            <a:ext cx="8043861" cy="1154162"/>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lnSpc>
                <a:spcPct val="100000"/>
              </a:lnSpc>
              <a:defRPr/>
            </a:pPr>
            <a:r>
              <a:rPr lang="en-US" sz="6000" dirty="0">
                <a:solidFill>
                  <a:prstClr val="white"/>
                </a:solidFill>
                <a:latin typeface="Casper" panose="02000506000000020004" pitchFamily="2" charset="0"/>
                <a:ea typeface="Segoe UI" panose="020B0502040204020203" pitchFamily="34" charset="0"/>
                <a:cs typeface="Segoe UI" panose="020B0502040204020203" pitchFamily="34" charset="0"/>
              </a:rPr>
              <a:t>THANK YOU</a:t>
            </a:r>
          </a:p>
          <a:p>
            <a:pPr algn="ctr" defTabSz="685800">
              <a:lnSpc>
                <a:spcPct val="100000"/>
              </a:lnSpc>
              <a:defRPr/>
            </a:pPr>
            <a:r>
              <a:rPr lang="en-US" sz="1500" dirty="0">
                <a:solidFill>
                  <a:prstClr val="white"/>
                </a:solidFill>
                <a:latin typeface="Casper" panose="02000506000000020004" pitchFamily="2" charset="0"/>
                <a:ea typeface="Segoe UI" panose="020B0502040204020203" pitchFamily="34" charset="0"/>
                <a:cs typeface="Segoe UI" panose="020B0502040204020203" pitchFamily="34" charset="0"/>
              </a:rPr>
              <a:t>     </a:t>
            </a:r>
          </a:p>
        </p:txBody>
      </p:sp>
      <p:sp>
        <p:nvSpPr>
          <p:cNvPr id="22" name="Diamond 6">
            <a:extLst>
              <a:ext uri="{FF2B5EF4-FFF2-40B4-BE49-F238E27FC236}">
                <a16:creationId xmlns:a16="http://schemas.microsoft.com/office/drawing/2014/main" id="{AFBA4B1A-59E0-42F9-8062-FE9B4E00A99F}"/>
              </a:ext>
            </a:extLst>
          </p:cNvPr>
          <p:cNvSpPr/>
          <p:nvPr/>
        </p:nvSpPr>
        <p:spPr>
          <a:xfrm>
            <a:off x="1765409" y="1678802"/>
            <a:ext cx="182284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algn="ctr" defTabSz="685800">
              <a:defRPr/>
            </a:pPr>
            <a:endParaRPr lang="en-US" sz="1350">
              <a:solidFill>
                <a:prstClr val="white"/>
              </a:solidFill>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1981199" y="1663837"/>
            <a:ext cx="182284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algn="ctr" defTabSz="685800">
              <a:defRPr/>
            </a:pPr>
            <a:endParaRPr lang="en-US" sz="1350">
              <a:solidFill>
                <a:prstClr val="white"/>
              </a:solidFill>
              <a:latin typeface="Calibri Light"/>
            </a:endParaRPr>
          </a:p>
        </p:txBody>
      </p:sp>
      <p:sp>
        <p:nvSpPr>
          <p:cNvPr id="2" name="Title 1">
            <a:extLst>
              <a:ext uri="{FF2B5EF4-FFF2-40B4-BE49-F238E27FC236}">
                <a16:creationId xmlns:a16="http://schemas.microsoft.com/office/drawing/2014/main" id="{161270E5-2B30-EF6D-D9AC-BE8AF96ED308}"/>
              </a:ext>
            </a:extLst>
          </p:cNvPr>
          <p:cNvSpPr>
            <a:spLocks noGrp="1"/>
          </p:cNvSpPr>
          <p:nvPr>
            <p:ph type="title"/>
          </p:nvPr>
        </p:nvSpPr>
        <p:spPr/>
        <p:txBody>
          <a:bodyPr>
            <a:normAutofit fontScale="90000"/>
          </a:bodyPr>
          <a:lstStyle/>
          <a:p>
            <a:br>
              <a:rPr lang="en-IN" dirty="0"/>
            </a:br>
            <a:br>
              <a:rPr lang="en-IN" dirty="0"/>
            </a:br>
            <a:endParaRPr lang="en-IN" dirty="0"/>
          </a:p>
        </p:txBody>
      </p:sp>
      <p:sp>
        <p:nvSpPr>
          <p:cNvPr id="10" name="Footer Placeholder 1"/>
          <p:cNvSpPr>
            <a:spLocks noGrp="1"/>
          </p:cNvSpPr>
          <p:nvPr>
            <p:ph type="ftr" sz="quarter" idx="11"/>
          </p:nvPr>
        </p:nvSpPr>
        <p:spPr/>
        <p:txBody>
          <a:bodyPr/>
          <a:lstStyle/>
          <a:p>
            <a:r>
              <a:rPr lang="en-US" dirty="0"/>
              <a:t>Department of Computer Application</a:t>
            </a:r>
          </a:p>
        </p:txBody>
      </p:sp>
      <p:sp>
        <p:nvSpPr>
          <p:cNvPr id="6" name="Slide Number Placeholder 5"/>
          <p:cNvSpPr>
            <a:spLocks noGrp="1"/>
          </p:cNvSpPr>
          <p:nvPr>
            <p:ph type="sldNum" sz="quarter" idx="12"/>
          </p:nvPr>
        </p:nvSpPr>
        <p:spPr/>
        <p:txBody>
          <a:bodyPr/>
          <a:lstStyle/>
          <a:p>
            <a:fld id="{FC9A48AB-23F1-45F1-98E5-D2CDC7A5261D}" type="slidenum">
              <a:rPr lang="en-US" sz="1050" b="1">
                <a:solidFill>
                  <a:schemeClr val="tx1"/>
                </a:solidFill>
              </a:rPr>
              <a:pPr/>
              <a:t>17</a:t>
            </a:fld>
            <a:endParaRPr lang="en-US" sz="1050" b="1" dirty="0">
              <a:solidFill>
                <a:schemeClr val="tx1"/>
              </a:solidFill>
            </a:endParaRPr>
          </a:p>
        </p:txBody>
      </p:sp>
      <p:pic>
        <p:nvPicPr>
          <p:cNvPr id="4" name="Picture 3">
            <a:extLst>
              <a:ext uri="{FF2B5EF4-FFF2-40B4-BE49-F238E27FC236}">
                <a16:creationId xmlns:a16="http://schemas.microsoft.com/office/drawing/2014/main" id="{5BB2CC9A-2712-B006-617B-C8D88C0D23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7" name="Picture 6">
            <a:extLst>
              <a:ext uri="{FF2B5EF4-FFF2-40B4-BE49-F238E27FC236}">
                <a16:creationId xmlns:a16="http://schemas.microsoft.com/office/drawing/2014/main" id="{A658BBB4-BE5B-5C94-999C-C3EA364BE13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3300113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138</TotalTime>
  <Words>1306</Words>
  <Application>Microsoft Office PowerPoint</Application>
  <PresentationFormat>On-screen Show (16:9)</PresentationFormat>
  <Paragraphs>142</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Arial MT</vt:lpstr>
      <vt:lpstr>Calibri</vt:lpstr>
      <vt:lpstr>Calibri Light</vt:lpstr>
      <vt:lpstr>Casper</vt:lpstr>
      <vt:lpstr>Times New Roman</vt:lpstr>
      <vt:lpstr>Wingdings</vt:lpstr>
      <vt:lpstr>Office Theme</vt:lpstr>
      <vt:lpstr>PowerPoint Presentation</vt:lpstr>
      <vt:lpstr>Outlines</vt:lpstr>
      <vt:lpstr>PTU Syllabus of Unit-I</vt:lpstr>
      <vt:lpstr>Key objectives or learning outcomes</vt:lpstr>
      <vt:lpstr>CO Introduction</vt:lpstr>
      <vt:lpstr>Topic Overview</vt:lpstr>
      <vt:lpstr>Brief of what the presentation will</vt:lpstr>
      <vt:lpstr>Importance of the topic</vt:lpstr>
      <vt:lpstr>Detail Topics</vt:lpstr>
      <vt:lpstr>Detail Topics</vt:lpstr>
      <vt:lpstr>Why Distributed Computing?</vt:lpstr>
      <vt:lpstr>Distributed applications</vt:lpstr>
      <vt:lpstr>Clients invoke individual servers</vt:lpstr>
      <vt:lpstr>A typical distributed application based on peer processes</vt:lpstr>
      <vt:lpstr>Summary</vt:lpstr>
      <vt:lpstr>References</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gurvir kaur</cp:lastModifiedBy>
  <cp:revision>10</cp:revision>
  <dcterms:created xsi:type="dcterms:W3CDTF">2024-12-06T17:10:37Z</dcterms:created>
  <dcterms:modified xsi:type="dcterms:W3CDTF">2024-12-15T15:49:11Z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2019-10-25T00:00:00Z</vt:filetime>
  </property>
  <property fmtid="{D5CDD505-2E9C-101B-9397-08002B2CF9AE}" pid="3" name="LastSaved">
    <vt:filetime>2024-12-06T00:00:00Z</vt:filetime>
  </property>
</Properties>
</file>