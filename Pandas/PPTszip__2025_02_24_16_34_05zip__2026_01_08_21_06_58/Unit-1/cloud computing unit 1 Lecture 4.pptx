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6" roundtripDataSignature="AMtx7mjV5vjGlgmq1fUTHT8fwewjsyyV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08D068-FD33-44F2-B350-5C3A9F84616E}">
  <a:tblStyle styleId="{7908D068-FD33-44F2-B350-5C3A9F84616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3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1"/>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 name="Google Shape;19;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a:p>
        </p:txBody>
      </p:sp>
      <p:pic>
        <p:nvPicPr>
          <p:cNvPr id="21" name="Google Shape;21;p21"/>
          <p:cNvPicPr preferRelativeResize="0"/>
          <p:nvPr/>
        </p:nvPicPr>
        <p:blipFill rotWithShape="1">
          <a:blip r:embed="rId2">
            <a:alphaModFix/>
          </a:blip>
          <a:srcRect b="0" l="0" r="0" t="0"/>
          <a:stretch/>
        </p:blipFill>
        <p:spPr>
          <a:xfrm>
            <a:off x="112575" y="70037"/>
            <a:ext cx="2564258" cy="718788"/>
          </a:xfrm>
          <a:prstGeom prst="rect">
            <a:avLst/>
          </a:prstGeom>
          <a:noFill/>
          <a:ln>
            <a:noFill/>
          </a:ln>
        </p:spPr>
      </p:pic>
      <p:pic>
        <p:nvPicPr>
          <p:cNvPr id="22" name="Google Shape;22;p21"/>
          <p:cNvPicPr preferRelativeResize="0"/>
          <p:nvPr/>
        </p:nvPicPr>
        <p:blipFill rotWithShape="1">
          <a:blip r:embed="rId3">
            <a:alphaModFix/>
          </a:blip>
          <a:srcRect b="0" l="0" r="0" t="0"/>
          <a:stretch/>
        </p:blipFill>
        <p:spPr>
          <a:xfrm>
            <a:off x="7290715" y="72947"/>
            <a:ext cx="1782539" cy="53063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6" name="Google Shape;26;p22"/>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23"/>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3"/>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2" name="Google Shape;32;p2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4"/>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4"/>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24"/>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 name="Google Shape;38;p24"/>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5"/>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5"/>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4" name="Google Shape;44;p25"/>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25"/>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6" name="Google Shape;46;p25"/>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7" name="Google Shape;47;p25"/>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6"/>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7"/>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8"/>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8"/>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2" name="Google Shape;62;p28"/>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3" name="Google Shape;63;p28"/>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2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9"/>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9"/>
          <p:cNvSpPr/>
          <p:nvPr>
            <p:ph idx="2" type="pic"/>
          </p:nvPr>
        </p:nvSpPr>
        <p:spPr>
          <a:xfrm>
            <a:off x="3887391" y="740569"/>
            <a:ext cx="4629150" cy="3655219"/>
          </a:xfrm>
          <a:prstGeom prst="rect">
            <a:avLst/>
          </a:prstGeom>
          <a:noFill/>
          <a:ln>
            <a:noFill/>
          </a:ln>
        </p:spPr>
      </p:sp>
      <p:sp>
        <p:nvSpPr>
          <p:cNvPr id="69" name="Google Shape;69;p29"/>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0" name="Google Shape;70;p29"/>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3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30"/>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6" name="Google Shape;76;p30"/>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3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31"/>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31"/>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2" name="Google Shape;82;p31"/>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3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sz="1400">
              <a:solidFill>
                <a:srgbClr val="000000"/>
              </a:solidFill>
              <a:latin typeface="Arial"/>
              <a:ea typeface="Arial"/>
              <a:cs typeface="Arial"/>
              <a:sym typeface="Arial"/>
            </a:endParaRPr>
          </a:p>
        </p:txBody>
      </p:sp>
      <p:pic>
        <p:nvPicPr>
          <p:cNvPr id="14" name="Google Shape;14;p20"/>
          <p:cNvPicPr preferRelativeResize="0"/>
          <p:nvPr/>
        </p:nvPicPr>
        <p:blipFill rotWithShape="1">
          <a:blip r:embed="rId1">
            <a:alphaModFix/>
          </a:blip>
          <a:srcRect b="0" l="0" r="0" t="0"/>
          <a:stretch/>
        </p:blipFill>
        <p:spPr>
          <a:xfrm>
            <a:off x="112575" y="70037"/>
            <a:ext cx="2564258" cy="718788"/>
          </a:xfrm>
          <a:prstGeom prst="rect">
            <a:avLst/>
          </a:prstGeom>
          <a:noFill/>
          <a:ln>
            <a:noFill/>
          </a:ln>
        </p:spPr>
      </p:pic>
      <p:pic>
        <p:nvPicPr>
          <p:cNvPr id="15" name="Google Shape;15;p20"/>
          <p:cNvPicPr preferRelativeResize="0"/>
          <p:nvPr/>
        </p:nvPicPr>
        <p:blipFill rotWithShape="1">
          <a:blip r:embed="rId2">
            <a:alphaModFix/>
          </a:blip>
          <a:srcRect b="0" l="0" r="0" t="0"/>
          <a:stretch/>
        </p:blipFill>
        <p:spPr>
          <a:xfrm>
            <a:off x="7290715" y="72947"/>
            <a:ext cx="1782539" cy="5306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archive.org/details/cloudcomputingbi0000sosi" TargetMode="External"/><Relationship Id="rId4" Type="http://schemas.openxmlformats.org/officeDocument/2006/relationships/hyperlink" Target="https://www.youtube.com/@cloudcomputing351/videos" TargetMode="External"/><Relationship Id="rId9" Type="http://schemas.openxmlformats.org/officeDocument/2006/relationships/image" Target="../media/image4.jpg"/><Relationship Id="rId5" Type="http://schemas.openxmlformats.org/officeDocument/2006/relationships/hyperlink" Target="https://www.geeksforgeeks.org/cloud-computing/" TargetMode="External"/><Relationship Id="rId6" Type="http://schemas.openxmlformats.org/officeDocument/2006/relationships/hyperlink" Target="https://www.tutorialspoint.com/cloud_computing/index.htm" TargetMode="External"/><Relationship Id="rId7" Type="http://schemas.openxmlformats.org/officeDocument/2006/relationships/hyperlink" Target="https://nptel.ac.in/courses/106105167" TargetMode="External"/><Relationship Id="rId8" Type="http://schemas.openxmlformats.org/officeDocument/2006/relationships/hyperlink" Target="https://www.edx.org/learn/cloud-comput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572250" y="4881563"/>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t/>
            </a:r>
            <a:endParaRPr b="0" i="0" sz="900" u="none" cap="none" strike="noStrike">
              <a:solidFill>
                <a:srgbClr val="888888"/>
              </a:solidFill>
              <a:latin typeface="Calibri"/>
              <a:ea typeface="Calibri"/>
              <a:cs typeface="Calibri"/>
              <a:sym typeface="Calibri"/>
            </a:endParaRPr>
          </a:p>
        </p:txBody>
      </p:sp>
      <p:sp>
        <p:nvSpPr>
          <p:cNvPr id="90" name="Google Shape;90;p1"/>
          <p:cNvSpPr/>
          <p:nvPr/>
        </p:nvSpPr>
        <p:spPr>
          <a:xfrm flipH="1" rot="10800000">
            <a:off x="7130143" y="4454910"/>
            <a:ext cx="968829" cy="868205"/>
          </a:xfrm>
          <a:prstGeom prst="rtTriangle">
            <a:avLst/>
          </a:prstGeom>
          <a:solidFill>
            <a:srgbClr val="F2F2F2">
              <a:alpha val="1686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rgbClr val="FFFFFF"/>
              </a:solidFill>
              <a:latin typeface="Calibri"/>
              <a:ea typeface="Calibri"/>
              <a:cs typeface="Calibri"/>
              <a:sym typeface="Calibri"/>
            </a:endParaRPr>
          </a:p>
        </p:txBody>
      </p:sp>
      <p:sp>
        <p:nvSpPr>
          <p:cNvPr id="91" name="Google Shape;91;p1"/>
          <p:cNvSpPr/>
          <p:nvPr/>
        </p:nvSpPr>
        <p:spPr>
          <a:xfrm>
            <a:off x="1593056" y="1519144"/>
            <a:ext cx="5122069" cy="1185509"/>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92" name="Google Shape;92;p1"/>
          <p:cNvSpPr txBox="1"/>
          <p:nvPr/>
        </p:nvSpPr>
        <p:spPr>
          <a:xfrm>
            <a:off x="891849" y="1238027"/>
            <a:ext cx="72866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t/>
            </a:r>
            <a:endParaRPr b="1" i="0" sz="2400" u="none" cap="none" strike="noStrike">
              <a:solidFill>
                <a:srgbClr val="262626"/>
              </a:solidFill>
              <a:latin typeface="Calibri"/>
              <a:ea typeface="Calibri"/>
              <a:cs typeface="Calibri"/>
              <a:sym typeface="Calibri"/>
            </a:endParaRPr>
          </a:p>
          <a:p>
            <a:pPr indent="0" lvl="0" marL="0" marR="0" rtl="0" algn="ctr">
              <a:lnSpc>
                <a:spcPct val="90000"/>
              </a:lnSpc>
              <a:spcBef>
                <a:spcPts val="840"/>
              </a:spcBef>
              <a:spcAft>
                <a:spcPts val="0"/>
              </a:spcAft>
              <a:buNone/>
            </a:pPr>
            <a:r>
              <a:rPr b="1" i="0" lang="en-US" sz="2400" u="none" cap="none" strike="noStrike">
                <a:solidFill>
                  <a:srgbClr val="262626"/>
                </a:solidFill>
                <a:latin typeface="Calibri"/>
                <a:ea typeface="Calibri"/>
                <a:cs typeface="Calibri"/>
                <a:sym typeface="Calibri"/>
              </a:rPr>
              <a:t> </a:t>
            </a:r>
            <a:endParaRPr/>
          </a:p>
          <a:p>
            <a:pPr indent="0" lvl="0" marL="0" marR="0" rtl="0" algn="l">
              <a:spcBef>
                <a:spcPts val="84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93" name="Google Shape;93;p1"/>
          <p:cNvSpPr txBox="1"/>
          <p:nvPr/>
        </p:nvSpPr>
        <p:spPr>
          <a:xfrm>
            <a:off x="6749124" y="3774566"/>
            <a:ext cx="2191305" cy="948645"/>
          </a:xfrm>
          <a:prstGeom prst="rect">
            <a:avLst/>
          </a:prstGeom>
          <a:noFill/>
          <a:ln>
            <a:noFill/>
          </a:ln>
        </p:spPr>
        <p:txBody>
          <a:bodyPr anchorCtr="0" anchor="t" bIns="34275" lIns="68575" spcFirstLastPara="1" rIns="68575" wrap="square" tIns="34275">
            <a:normAutofit/>
          </a:bodyPr>
          <a:lstStyle/>
          <a:p>
            <a:pPr indent="0" lvl="0" marL="0" marR="0" rtl="0" algn="l">
              <a:spcBef>
                <a:spcPts val="0"/>
              </a:spcBef>
              <a:spcAft>
                <a:spcPts val="0"/>
              </a:spcAft>
              <a:buNone/>
            </a:pPr>
            <a:r>
              <a:rPr b="1" i="0" lang="en-US" sz="1050" u="none" cap="none" strike="noStrike">
                <a:solidFill>
                  <a:schemeClr val="dk1"/>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ctr">
              <a:spcBef>
                <a:spcPts val="210"/>
              </a:spcBef>
              <a:spcAft>
                <a:spcPts val="0"/>
              </a:spcAft>
              <a:buNone/>
            </a:pPr>
            <a:r>
              <a:t/>
            </a:r>
            <a:endParaRPr b="1" sz="1050">
              <a:solidFill>
                <a:schemeClr val="dk1"/>
              </a:solidFill>
              <a:latin typeface="Calibri"/>
              <a:ea typeface="Calibri"/>
              <a:cs typeface="Calibri"/>
              <a:sym typeface="Calibri"/>
            </a:endParaRPr>
          </a:p>
        </p:txBody>
      </p:sp>
      <p:sp>
        <p:nvSpPr>
          <p:cNvPr id="94" name="Google Shape;94;p1"/>
          <p:cNvSpPr txBox="1"/>
          <p:nvPr>
            <p:ph idx="1" type="body"/>
          </p:nvPr>
        </p:nvSpPr>
        <p:spPr>
          <a:xfrm>
            <a:off x="320374" y="1136326"/>
            <a:ext cx="8504921" cy="3516637"/>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3600"/>
              <a:buNone/>
            </a:pPr>
            <a:r>
              <a:rPr b="1" lang="en-US" sz="3600"/>
              <a:t>Chandigarh School of Business, Jhanjeri</a:t>
            </a:r>
            <a:endParaRPr/>
          </a:p>
          <a:p>
            <a:pPr indent="0" lvl="0" marL="0" rtl="0" algn="ctr">
              <a:lnSpc>
                <a:spcPct val="90000"/>
              </a:lnSpc>
              <a:spcBef>
                <a:spcPts val="750"/>
              </a:spcBef>
              <a:spcAft>
                <a:spcPts val="0"/>
              </a:spcAft>
              <a:buClr>
                <a:schemeClr val="dk1"/>
              </a:buClr>
              <a:buSzPts val="3200"/>
              <a:buNone/>
            </a:pPr>
            <a:r>
              <a:rPr b="1" lang="en-US" sz="3200"/>
              <a:t>Department of Computer Application </a:t>
            </a:r>
            <a:endParaRPr/>
          </a:p>
          <a:p>
            <a:pPr indent="0" lvl="0" marL="0" rtl="0" algn="ctr">
              <a:lnSpc>
                <a:spcPct val="90000"/>
              </a:lnSpc>
              <a:spcBef>
                <a:spcPts val="750"/>
              </a:spcBef>
              <a:spcAft>
                <a:spcPts val="0"/>
              </a:spcAft>
              <a:buClr>
                <a:schemeClr val="dk1"/>
              </a:buClr>
              <a:buSzPts val="2400"/>
              <a:buNone/>
            </a:pPr>
            <a:r>
              <a:rPr b="1" lang="en-US" sz="2400"/>
              <a:t>Program Code:NA</a:t>
            </a:r>
            <a:endParaRPr b="1" sz="2400"/>
          </a:p>
          <a:p>
            <a:pPr indent="0" lvl="0" marL="0" rtl="0" algn="ctr">
              <a:lnSpc>
                <a:spcPct val="90000"/>
              </a:lnSpc>
              <a:spcBef>
                <a:spcPts val="750"/>
              </a:spcBef>
              <a:spcAft>
                <a:spcPts val="0"/>
              </a:spcAft>
              <a:buClr>
                <a:schemeClr val="dk1"/>
              </a:buClr>
              <a:buSzPts val="2400"/>
              <a:buNone/>
            </a:pPr>
            <a:r>
              <a:rPr b="1" lang="en-US" sz="2400"/>
              <a:t>Program Name: MCA</a:t>
            </a:r>
            <a:endParaRPr/>
          </a:p>
          <a:p>
            <a:pPr indent="0" lvl="0" marL="0" rtl="0" algn="ctr">
              <a:lnSpc>
                <a:spcPct val="90000"/>
              </a:lnSpc>
              <a:spcBef>
                <a:spcPts val="750"/>
              </a:spcBef>
              <a:spcAft>
                <a:spcPts val="0"/>
              </a:spcAft>
              <a:buClr>
                <a:schemeClr val="dk1"/>
              </a:buClr>
              <a:buSzPts val="2400"/>
              <a:buNone/>
            </a:pPr>
            <a:r>
              <a:rPr b="1" lang="en-US" sz="2400"/>
              <a:t>Course Code: </a:t>
            </a:r>
            <a:r>
              <a:rPr b="1" i="0" lang="en-US" sz="2400" u="none" strike="noStrike">
                <a:solidFill>
                  <a:srgbClr val="000000"/>
                </a:solidFill>
              </a:rPr>
              <a:t>PGCA1937 </a:t>
            </a:r>
            <a:r>
              <a:rPr b="1" lang="en-US" sz="2400">
                <a:solidFill>
                  <a:srgbClr val="000000"/>
                </a:solidFill>
              </a:rPr>
              <a:t> </a:t>
            </a:r>
            <a:endParaRPr b="1" sz="2400"/>
          </a:p>
          <a:p>
            <a:pPr indent="0" lvl="0" marL="0" rtl="0" algn="ctr">
              <a:lnSpc>
                <a:spcPct val="90000"/>
              </a:lnSpc>
              <a:spcBef>
                <a:spcPts val="750"/>
              </a:spcBef>
              <a:spcAft>
                <a:spcPts val="0"/>
              </a:spcAft>
              <a:buClr>
                <a:schemeClr val="dk1"/>
              </a:buClr>
              <a:buSzPts val="2400"/>
              <a:buNone/>
            </a:pPr>
            <a:r>
              <a:rPr b="1" lang="en-US" sz="2400"/>
              <a:t>Course Name: </a:t>
            </a:r>
            <a:r>
              <a:rPr b="1" i="0" lang="en-US" sz="2400" u="none" strike="noStrike">
                <a:solidFill>
                  <a:srgbClr val="000000"/>
                </a:solidFill>
              </a:rPr>
              <a:t>Cloud Computing </a:t>
            </a:r>
            <a:endParaRPr b="1" sz="24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rPr b="1" lang="en-US" sz="1500"/>
              <a:t>Prepared by: Dr. Gurvir Kaur</a:t>
            </a:r>
            <a:endParaRPr b="1" sz="1500"/>
          </a:p>
          <a:p>
            <a:pPr indent="0" lvl="0" marL="0" rtl="0" algn="r">
              <a:lnSpc>
                <a:spcPct val="90000"/>
              </a:lnSpc>
              <a:spcBef>
                <a:spcPts val="750"/>
              </a:spcBef>
              <a:spcAft>
                <a:spcPts val="0"/>
              </a:spcAft>
              <a:buClr>
                <a:schemeClr val="dk1"/>
              </a:buClr>
              <a:buSzPts val="1500"/>
              <a:buNone/>
            </a:pPr>
            <a:r>
              <a:t/>
            </a:r>
            <a:endParaRPr b="1" sz="1500"/>
          </a:p>
        </p:txBody>
      </p:sp>
      <p:sp>
        <p:nvSpPr>
          <p:cNvPr id="95" name="Google Shape;95;p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96" name="Google Shape;96;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7" name="Google Shape;97;p1"/>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2757197" y="102395"/>
            <a:ext cx="3491204"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Outlines</a:t>
            </a:r>
            <a:endParaRPr sz="3200"/>
          </a:p>
        </p:txBody>
      </p:sp>
      <p:sp>
        <p:nvSpPr>
          <p:cNvPr id="103" name="Google Shape;103;p2"/>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lnSpcReduction="10000"/>
          </a:bodyPr>
          <a:lstStyle/>
          <a:p>
            <a:pPr indent="-171450" lvl="0" marL="171450" rtl="0" algn="l">
              <a:lnSpc>
                <a:spcPct val="90000"/>
              </a:lnSpc>
              <a:spcBef>
                <a:spcPts val="0"/>
              </a:spcBef>
              <a:spcAft>
                <a:spcPts val="0"/>
              </a:spcAft>
              <a:buClr>
                <a:schemeClr val="dk1"/>
              </a:buClr>
              <a:buSzPts val="2400"/>
              <a:buChar char="•"/>
            </a:pPr>
            <a:r>
              <a:rPr b="1" lang="en-US" sz="2400"/>
              <a:t>PTU Syllabus of Unit-I</a:t>
            </a:r>
            <a:endParaRPr/>
          </a:p>
          <a:p>
            <a:pPr indent="-171450" lvl="0" marL="171450" rtl="0" algn="l">
              <a:lnSpc>
                <a:spcPct val="90000"/>
              </a:lnSpc>
              <a:spcBef>
                <a:spcPts val="750"/>
              </a:spcBef>
              <a:spcAft>
                <a:spcPts val="0"/>
              </a:spcAft>
              <a:buClr>
                <a:schemeClr val="dk1"/>
              </a:buClr>
              <a:buSzPts val="2400"/>
              <a:buChar char="•"/>
            </a:pPr>
            <a:r>
              <a:rPr b="1" lang="en-US" sz="2400"/>
              <a:t>CO’s Introduction</a:t>
            </a:r>
            <a:endParaRPr/>
          </a:p>
          <a:p>
            <a:pPr indent="-171450" lvl="0" marL="171450" rtl="0" algn="l">
              <a:lnSpc>
                <a:spcPct val="90000"/>
              </a:lnSpc>
              <a:spcBef>
                <a:spcPts val="750"/>
              </a:spcBef>
              <a:spcAft>
                <a:spcPts val="0"/>
              </a:spcAft>
              <a:buClr>
                <a:schemeClr val="dk1"/>
              </a:buClr>
              <a:buSzPts val="2400"/>
              <a:buChar char="•"/>
            </a:pPr>
            <a:r>
              <a:rPr b="1" lang="en-US" sz="2400"/>
              <a:t>Topic Overview</a:t>
            </a:r>
            <a:endParaRPr/>
          </a:p>
          <a:p>
            <a:pPr indent="-171450" lvl="0" marL="171450" rtl="0" algn="l">
              <a:lnSpc>
                <a:spcPct val="90000"/>
              </a:lnSpc>
              <a:spcBef>
                <a:spcPts val="750"/>
              </a:spcBef>
              <a:spcAft>
                <a:spcPts val="0"/>
              </a:spcAft>
              <a:buClr>
                <a:schemeClr val="dk1"/>
              </a:buClr>
              <a:buSzPts val="2400"/>
              <a:buChar char="•"/>
            </a:pPr>
            <a:r>
              <a:rPr b="1" lang="en-US" sz="2400"/>
              <a:t>Brief description of what the presentation will cover</a:t>
            </a:r>
            <a:endParaRPr/>
          </a:p>
          <a:p>
            <a:pPr indent="-171450" lvl="0" marL="171450" rtl="0" algn="l">
              <a:lnSpc>
                <a:spcPct val="90000"/>
              </a:lnSpc>
              <a:spcBef>
                <a:spcPts val="750"/>
              </a:spcBef>
              <a:spcAft>
                <a:spcPts val="0"/>
              </a:spcAft>
              <a:buClr>
                <a:schemeClr val="dk1"/>
              </a:buClr>
              <a:buSzPts val="2400"/>
              <a:buChar char="•"/>
            </a:pPr>
            <a:r>
              <a:rPr b="1" lang="en-US" sz="2400"/>
              <a:t>Importance or relevance of the topic</a:t>
            </a:r>
            <a:endParaRPr/>
          </a:p>
          <a:p>
            <a:pPr indent="-171450" lvl="0" marL="171450" rtl="0" algn="l">
              <a:lnSpc>
                <a:spcPct val="90000"/>
              </a:lnSpc>
              <a:spcBef>
                <a:spcPts val="750"/>
              </a:spcBef>
              <a:spcAft>
                <a:spcPts val="0"/>
              </a:spcAft>
              <a:buClr>
                <a:schemeClr val="dk1"/>
              </a:buClr>
              <a:buSzPts val="2400"/>
              <a:buChar char="•"/>
            </a:pPr>
            <a:r>
              <a:rPr b="1" lang="en-US" sz="2400"/>
              <a:t>Key objectives or learning outcomes</a:t>
            </a:r>
            <a:endParaRPr/>
          </a:p>
          <a:p>
            <a:pPr indent="-171450" lvl="0" marL="171450" rtl="0" algn="l">
              <a:lnSpc>
                <a:spcPct val="90000"/>
              </a:lnSpc>
              <a:spcBef>
                <a:spcPts val="750"/>
              </a:spcBef>
              <a:spcAft>
                <a:spcPts val="0"/>
              </a:spcAft>
              <a:buClr>
                <a:schemeClr val="dk1"/>
              </a:buClr>
              <a:buSzPts val="2400"/>
              <a:buChar char="•"/>
            </a:pPr>
            <a:r>
              <a:rPr b="1" lang="en-US" sz="2400"/>
              <a:t>Summary</a:t>
            </a:r>
            <a:endParaRPr/>
          </a:p>
          <a:p>
            <a:pPr indent="-171450" lvl="0" marL="171450" rtl="0" algn="l">
              <a:lnSpc>
                <a:spcPct val="90000"/>
              </a:lnSpc>
              <a:spcBef>
                <a:spcPts val="750"/>
              </a:spcBef>
              <a:spcAft>
                <a:spcPts val="0"/>
              </a:spcAft>
              <a:buClr>
                <a:schemeClr val="dk1"/>
              </a:buClr>
              <a:buSzPts val="2400"/>
              <a:buChar char="•"/>
            </a:pPr>
            <a:r>
              <a:rPr b="1" lang="en-US" sz="2400"/>
              <a:t>References </a:t>
            </a:r>
            <a:endParaRPr/>
          </a:p>
          <a:p>
            <a:pPr indent="-57150" lvl="0" marL="171450" rtl="0" algn="l">
              <a:lnSpc>
                <a:spcPct val="90000"/>
              </a:lnSpc>
              <a:spcBef>
                <a:spcPts val="750"/>
              </a:spcBef>
              <a:spcAft>
                <a:spcPts val="0"/>
              </a:spcAft>
              <a:buClr>
                <a:schemeClr val="dk1"/>
              </a:buClr>
              <a:buSzPts val="1800"/>
              <a:buNone/>
            </a:pPr>
            <a:r>
              <a:t/>
            </a:r>
            <a:endParaRPr sz="1800"/>
          </a:p>
        </p:txBody>
      </p:sp>
      <p:sp>
        <p:nvSpPr>
          <p:cNvPr id="104" name="Google Shape;104;p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05" name="Google Shape;105;p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6" name="Google Shape;106;p2"/>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07" name="Google Shape;107;p2"/>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2676832" y="69056"/>
            <a:ext cx="4613882" cy="4798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PTU Syllabus of Unit-I</a:t>
            </a:r>
            <a:endParaRPr b="1" sz="3200">
              <a:latin typeface="Calibri"/>
              <a:ea typeface="Calibri"/>
              <a:cs typeface="Calibri"/>
              <a:sym typeface="Calibri"/>
            </a:endParaRPr>
          </a:p>
        </p:txBody>
      </p:sp>
      <p:sp>
        <p:nvSpPr>
          <p:cNvPr id="113" name="Google Shape;113;p3"/>
          <p:cNvSpPr txBox="1"/>
          <p:nvPr>
            <p:ph idx="1" type="body"/>
          </p:nvPr>
        </p:nvSpPr>
        <p:spPr>
          <a:xfrm>
            <a:off x="628650" y="1113597"/>
            <a:ext cx="7886700" cy="350877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ctr">
              <a:lnSpc>
                <a:spcPct val="90000"/>
              </a:lnSpc>
              <a:spcBef>
                <a:spcPts val="0"/>
              </a:spcBef>
              <a:spcAft>
                <a:spcPts val="0"/>
              </a:spcAft>
              <a:buClr>
                <a:srgbClr val="000000"/>
              </a:buClr>
              <a:buSzPct val="100000"/>
              <a:buNone/>
            </a:pPr>
            <a:r>
              <a:rPr b="1" lang="en-US" sz="3800">
                <a:solidFill>
                  <a:srgbClr val="000000"/>
                </a:solidFill>
              </a:rPr>
              <a:t>Part-A</a:t>
            </a:r>
            <a:endParaRPr sz="3800">
              <a:solidFill>
                <a:srgbClr val="000000"/>
              </a:solidFill>
            </a:endParaRPr>
          </a:p>
          <a:p>
            <a:pPr indent="-171450" lvl="0" marL="171450" rtl="0" algn="just">
              <a:lnSpc>
                <a:spcPct val="120000"/>
              </a:lnSpc>
              <a:spcBef>
                <a:spcPts val="750"/>
              </a:spcBef>
              <a:spcAft>
                <a:spcPts val="0"/>
              </a:spcAft>
              <a:buClr>
                <a:srgbClr val="000000"/>
              </a:buClr>
              <a:buSzPct val="100000"/>
              <a:buChar char="•"/>
            </a:pPr>
            <a:r>
              <a:rPr b="1" i="0" lang="en-US" sz="3800" u="none" strike="noStrike">
                <a:solidFill>
                  <a:srgbClr val="000000"/>
                </a:solidFill>
              </a:rPr>
              <a:t>Overview of Computing Paradigm: </a:t>
            </a:r>
            <a:r>
              <a:rPr b="0" i="0" lang="en-US" sz="3800" u="none" strike="noStrike">
                <a:solidFill>
                  <a:srgbClr val="000000"/>
                </a:solidFill>
              </a:rPr>
              <a:t>Recent trends in Computing -Grid Computing, Cluster Computing, Distributed Computing, Utility Computing, Cloud Computing. </a:t>
            </a:r>
            <a:endParaRPr/>
          </a:p>
          <a:p>
            <a:pPr indent="-171450" lvl="0" marL="171450" rtl="0" algn="just">
              <a:lnSpc>
                <a:spcPct val="120000"/>
              </a:lnSpc>
              <a:spcBef>
                <a:spcPts val="750"/>
              </a:spcBef>
              <a:spcAft>
                <a:spcPts val="0"/>
              </a:spcAft>
              <a:buClr>
                <a:srgbClr val="000000"/>
              </a:buClr>
              <a:buSzPct val="100000"/>
              <a:buChar char="•"/>
            </a:pPr>
            <a:r>
              <a:rPr b="1" i="0" lang="en-US" sz="3800" u="none" strike="noStrike">
                <a:solidFill>
                  <a:srgbClr val="000000"/>
                </a:solidFill>
              </a:rPr>
              <a:t>Introduction to Cloud Computing: </a:t>
            </a:r>
            <a:r>
              <a:rPr b="0" i="0" lang="en-US" sz="3800" u="none" strike="noStrike">
                <a:solidFill>
                  <a:srgbClr val="000000"/>
                </a:solidFill>
              </a:rPr>
              <a:t>Vision of Cloud Computing, Defining a Cloud, Cloud Reference Model, Deployment Model, Characteristics, Benefits of Cloud Computing, Challenges ahead. Cloud computing vs. Cluster computing vs. Grid computing. </a:t>
            </a:r>
            <a:endParaRPr/>
          </a:p>
          <a:p>
            <a:pPr indent="-171450" lvl="0" marL="171450" rtl="0" algn="just">
              <a:lnSpc>
                <a:spcPct val="120000"/>
              </a:lnSpc>
              <a:spcBef>
                <a:spcPts val="750"/>
              </a:spcBef>
              <a:spcAft>
                <a:spcPts val="0"/>
              </a:spcAft>
              <a:buClr>
                <a:srgbClr val="000000"/>
              </a:buClr>
              <a:buSzPct val="100000"/>
              <a:buChar char="•"/>
            </a:pPr>
            <a:r>
              <a:rPr b="1" i="0" lang="en-US" sz="3800" u="none" strike="noStrike">
                <a:solidFill>
                  <a:srgbClr val="000000"/>
                </a:solidFill>
              </a:rPr>
              <a:t>Migrating into a Cloud: </a:t>
            </a:r>
            <a:r>
              <a:rPr b="0" i="0" lang="en-US" sz="3800" u="none" strike="noStrike">
                <a:solidFill>
                  <a:srgbClr val="000000"/>
                </a:solidFill>
              </a:rPr>
              <a:t>Introduction, Broad approaches to Migrating into the Cloud, The Seven-Step Model of Migration Into a Cloud. </a:t>
            </a:r>
            <a:endParaRPr/>
          </a:p>
          <a:p>
            <a:pPr indent="-171450" lvl="0" marL="171450" rtl="0" algn="just">
              <a:lnSpc>
                <a:spcPct val="120000"/>
              </a:lnSpc>
              <a:spcBef>
                <a:spcPts val="750"/>
              </a:spcBef>
              <a:spcAft>
                <a:spcPts val="0"/>
              </a:spcAft>
              <a:buClr>
                <a:srgbClr val="000000"/>
              </a:buClr>
              <a:buSzPct val="100000"/>
              <a:buChar char="•"/>
            </a:pPr>
            <a:r>
              <a:rPr b="1" i="0" lang="en-US" sz="3800" u="none" strike="noStrike">
                <a:solidFill>
                  <a:srgbClr val="000000"/>
                </a:solidFill>
              </a:rPr>
              <a:t>Virtualization: </a:t>
            </a:r>
            <a:r>
              <a:rPr b="0" i="0" lang="en-US" sz="3800" u="none" strike="noStrike">
                <a:solidFill>
                  <a:srgbClr val="000000"/>
                </a:solidFill>
              </a:rPr>
              <a:t>Introduction, Characteristics of Virtualized environment, Taxonomy of Virtualization techniques, Virtualization and Cloud Computing, Pros and Cons of Virtualization, Technology Examples- Xen, VMware, Microsoft Hyper-V. </a:t>
            </a:r>
            <a:endParaRPr/>
          </a:p>
          <a:p>
            <a:pPr indent="-171450" lvl="0" marL="171450" rtl="0" algn="just">
              <a:lnSpc>
                <a:spcPct val="120000"/>
              </a:lnSpc>
              <a:spcBef>
                <a:spcPts val="750"/>
              </a:spcBef>
              <a:spcAft>
                <a:spcPts val="0"/>
              </a:spcAft>
              <a:buClr>
                <a:srgbClr val="000000"/>
              </a:buClr>
              <a:buSzPct val="100000"/>
              <a:buChar char="•"/>
            </a:pPr>
            <a:r>
              <a:rPr b="1" i="0" lang="en-US" sz="3800" u="none" strike="noStrike">
                <a:solidFill>
                  <a:srgbClr val="000000"/>
                </a:solidFill>
              </a:rPr>
              <a:t>Capacity Planning: </a:t>
            </a:r>
            <a:r>
              <a:rPr b="0" i="0" lang="en-US" sz="3800" u="none" strike="noStrike">
                <a:solidFill>
                  <a:srgbClr val="000000"/>
                </a:solidFill>
              </a:rPr>
              <a:t>Introduction, Defining Baseline and Metrics-Baseline Measurements, System Metrics, Load Testing, Resource Ceilings, Server and Instance types; Network Capacity, Scaling. 	</a:t>
            </a:r>
            <a:endParaRPr/>
          </a:p>
          <a:p>
            <a:pPr indent="0" lvl="0" marL="0" rtl="0" algn="l">
              <a:lnSpc>
                <a:spcPct val="90000"/>
              </a:lnSpc>
              <a:spcBef>
                <a:spcPts val="750"/>
              </a:spcBef>
              <a:spcAft>
                <a:spcPts val="0"/>
              </a:spcAft>
              <a:buClr>
                <a:schemeClr val="dk1"/>
              </a:buClr>
              <a:buSzPct val="100000"/>
              <a:buNone/>
            </a:pPr>
            <a:r>
              <a:t/>
            </a:r>
            <a:endParaRPr sz="1800"/>
          </a:p>
        </p:txBody>
      </p:sp>
      <p:sp>
        <p:nvSpPr>
          <p:cNvPr id="114" name="Google Shape;114;p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15" name="Google Shape;115;p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6" name="Google Shape;116;p3"/>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2771192" y="205979"/>
            <a:ext cx="4436707" cy="45183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Key objectives or learning outcomes</a:t>
            </a:r>
            <a:endParaRPr sz="3200">
              <a:latin typeface="Calibri"/>
              <a:ea typeface="Calibri"/>
              <a:cs typeface="Calibri"/>
              <a:sym typeface="Calibri"/>
            </a:endParaRPr>
          </a:p>
        </p:txBody>
      </p:sp>
      <p:sp>
        <p:nvSpPr>
          <p:cNvPr id="123" name="Google Shape;123;p4"/>
          <p:cNvSpPr txBox="1"/>
          <p:nvPr>
            <p:ph idx="1" type="body"/>
          </p:nvPr>
        </p:nvSpPr>
        <p:spPr>
          <a:xfrm>
            <a:off x="457200" y="1200150"/>
            <a:ext cx="8305800" cy="2590800"/>
          </a:xfrm>
          <a:prstGeom prst="rect">
            <a:avLst/>
          </a:prstGeom>
          <a:noFill/>
          <a:ln>
            <a:noFill/>
          </a:ln>
        </p:spPr>
        <p:txBody>
          <a:bodyPr anchorCtr="0" anchor="t" bIns="45700" lIns="91425" spcFirstLastPara="1" rIns="91425" wrap="square" tIns="45700">
            <a:noAutofit/>
          </a:bodyPr>
          <a:lstStyle/>
          <a:p>
            <a:pPr indent="-171450" lvl="0" marL="171450" rtl="0" algn="just">
              <a:lnSpc>
                <a:spcPct val="90000"/>
              </a:lnSpc>
              <a:spcBef>
                <a:spcPts val="0"/>
              </a:spcBef>
              <a:spcAft>
                <a:spcPts val="0"/>
              </a:spcAft>
              <a:buClr>
                <a:srgbClr val="000000"/>
              </a:buClr>
              <a:buSzPts val="2000"/>
              <a:buChar char="•"/>
            </a:pPr>
            <a:r>
              <a:rPr b="0" i="0" lang="en-US" sz="2000" u="none" strike="noStrike">
                <a:solidFill>
                  <a:srgbClr val="000000"/>
                </a:solidFill>
              </a:rPr>
              <a:t>CO1 	Understand the basic concept and importance of cloud computing. </a:t>
            </a:r>
            <a:endParaRPr/>
          </a:p>
          <a:p>
            <a:pPr indent="-1714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CO2 	Access the suitability of migrating to a cloud solution for different applications.</a:t>
            </a:r>
            <a:endParaRPr/>
          </a:p>
          <a:p>
            <a:pPr indent="-1714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CO3 	Compare and evaluate the virtualization technologies. 	</a:t>
            </a:r>
            <a:endParaRPr/>
          </a:p>
          <a:p>
            <a:pPr indent="-1714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CO4 	Monitor and manage the cloud resources, applications and data while addressing 	the security concerns. 	</a:t>
            </a:r>
            <a:endParaRPr sz="2000">
              <a:solidFill>
                <a:srgbClr val="000000"/>
              </a:solidFill>
            </a:endParaRPr>
          </a:p>
          <a:p>
            <a:pPr indent="-1714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CO5 	Use cloud solutions offered by industry leaders for various applications. 	</a:t>
            </a:r>
            <a:endParaRPr/>
          </a:p>
          <a:p>
            <a:pPr indent="-69850" lvl="0" marL="171450" rtl="0" algn="just">
              <a:lnSpc>
                <a:spcPct val="90000"/>
              </a:lnSpc>
              <a:spcBef>
                <a:spcPts val="750"/>
              </a:spcBef>
              <a:spcAft>
                <a:spcPts val="0"/>
              </a:spcAft>
              <a:buClr>
                <a:schemeClr val="dk1"/>
              </a:buClr>
              <a:buSzPts val="1600"/>
              <a:buNone/>
            </a:pPr>
            <a:r>
              <a:t/>
            </a:r>
            <a:endParaRPr b="0" i="0" sz="1600" u="none" strike="noStrike">
              <a:solidFill>
                <a:srgbClr val="000000"/>
              </a:solidFill>
            </a:endParaRPr>
          </a:p>
        </p:txBody>
      </p:sp>
      <p:sp>
        <p:nvSpPr>
          <p:cNvPr id="124" name="Google Shape;124;p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25" name="Google Shape;125;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6" name="Google Shape;126;p4"/>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27" name="Google Shape;127;p4"/>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2750198" y="102394"/>
            <a:ext cx="4457701" cy="7435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CO Introduction</a:t>
            </a:r>
            <a:endParaRPr sz="3200"/>
          </a:p>
        </p:txBody>
      </p:sp>
      <p:graphicFrame>
        <p:nvGraphicFramePr>
          <p:cNvPr id="133" name="Google Shape;133;p5"/>
          <p:cNvGraphicFramePr/>
          <p:nvPr/>
        </p:nvGraphicFramePr>
        <p:xfrm>
          <a:off x="635741" y="1056233"/>
          <a:ext cx="3000000" cy="3000000"/>
        </p:xfrm>
        <a:graphic>
          <a:graphicData uri="http://schemas.openxmlformats.org/drawingml/2006/table">
            <a:tbl>
              <a:tblPr bandRow="1" firstRow="1">
                <a:noFill/>
                <a:tableStyleId>{7908D068-FD33-44F2-B350-5C3A9F84616E}</a:tableStyleId>
              </a:tblPr>
              <a:tblGrid>
                <a:gridCol w="1360800"/>
                <a:gridCol w="5021700"/>
                <a:gridCol w="1381550"/>
              </a:tblGrid>
              <a:tr h="559100">
                <a:tc>
                  <a:txBody>
                    <a:bodyPr/>
                    <a:lstStyle/>
                    <a:p>
                      <a:pPr indent="0" lvl="0" marL="0" marR="0" rtl="0" algn="ctr">
                        <a:spcBef>
                          <a:spcPts val="0"/>
                        </a:spcBef>
                        <a:spcAft>
                          <a:spcPts val="0"/>
                        </a:spcAft>
                        <a:buNone/>
                      </a:pPr>
                      <a:r>
                        <a:rPr b="1" lang="en-US" sz="1800" u="none" cap="none" strike="noStrike"/>
                        <a:t>CO NUMBER </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ctr">
                        <a:spcBef>
                          <a:spcPts val="0"/>
                        </a:spcBef>
                        <a:spcAft>
                          <a:spcPts val="0"/>
                        </a:spcAft>
                        <a:buNone/>
                      </a:pPr>
                      <a:r>
                        <a:rPr b="1" lang="en-US" sz="1800" u="none" cap="none" strike="noStrike"/>
                        <a:t>TOPICS</a:t>
                      </a:r>
                      <a:endParaRPr/>
                    </a:p>
                  </a:txBody>
                  <a:tcPr marT="34300" marB="34300" marR="68575" marL="68575"/>
                </a:tc>
                <a:tc>
                  <a:txBody>
                    <a:bodyPr/>
                    <a:lstStyle/>
                    <a:p>
                      <a:pPr indent="0" lvl="0" marL="0" marR="0" rtl="0" algn="ctr">
                        <a:spcBef>
                          <a:spcPts val="0"/>
                        </a:spcBef>
                        <a:spcAft>
                          <a:spcPts val="0"/>
                        </a:spcAft>
                        <a:buNone/>
                      </a:pPr>
                      <a:r>
                        <a:rPr b="1" lang="en-US" sz="1800" u="none" cap="none" strike="noStrike"/>
                        <a:t>LEVEL</a:t>
                      </a:r>
                      <a:endParaRPr/>
                    </a:p>
                  </a:txBody>
                  <a:tcPr marT="34300" marB="34300" marR="68575" marL="68575"/>
                </a:tc>
              </a:tr>
              <a:tr h="590700">
                <a:tc>
                  <a:txBody>
                    <a:bodyPr/>
                    <a:lstStyle/>
                    <a:p>
                      <a:pPr indent="0" lvl="0" marL="0" marR="0" rtl="0" algn="ctr">
                        <a:spcBef>
                          <a:spcPts val="0"/>
                        </a:spcBef>
                        <a:spcAft>
                          <a:spcPts val="0"/>
                        </a:spcAft>
                        <a:buNone/>
                      </a:pPr>
                      <a:r>
                        <a:rPr b="1" lang="en-US" sz="1800" u="none" cap="none" strike="noStrike"/>
                        <a:t>CO1</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Overview of Computing Paradigm: </a:t>
                      </a:r>
                      <a:r>
                        <a:rPr b="0" i="0" lang="en-US" sz="1800" u="none" cap="none" strike="noStrike">
                          <a:solidFill>
                            <a:schemeClr val="dk1"/>
                          </a:solidFill>
                          <a:latin typeface="Calibri"/>
                          <a:ea typeface="Calibri"/>
                          <a:cs typeface="Calibri"/>
                          <a:sym typeface="Calibri"/>
                        </a:rPr>
                        <a:t>Recent trends in Computing -Grid Computing, Cluster Computing, Distributed Computing, Utility Computing, Cloud Computing. </a:t>
                      </a:r>
                      <a:endParaRPr/>
                    </a:p>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Introduction to Cloud Computing: </a:t>
                      </a:r>
                      <a:r>
                        <a:rPr b="0" i="0" lang="en-US" sz="1800" u="none" cap="none" strike="noStrike">
                          <a:solidFill>
                            <a:schemeClr val="dk1"/>
                          </a:solidFill>
                          <a:latin typeface="Calibri"/>
                          <a:ea typeface="Calibri"/>
                          <a:cs typeface="Calibri"/>
                          <a:sym typeface="Calibri"/>
                        </a:rPr>
                        <a:t>Vision of Cloud Computing, Defining a Cloud, Cloud Reference Model, Deployment Model, Characteristics, Benefits of Cloud Computing, Challenges ahead. Cloud computing vs. Cluster computing vs. Grid computing. </a:t>
                      </a:r>
                      <a:r>
                        <a:rPr b="0" i="0" lang="en-US" sz="1350" u="none" cap="none" strike="noStrike">
                          <a:solidFill>
                            <a:schemeClr val="dk1"/>
                          </a:solidFill>
                          <a:latin typeface="Calibri"/>
                          <a:ea typeface="Calibri"/>
                          <a:cs typeface="Calibri"/>
                          <a:sym typeface="Calibri"/>
                        </a:rPr>
                        <a:t>	</a:t>
                      </a:r>
                      <a:endParaRPr/>
                    </a:p>
                  </a:txBody>
                  <a:tcPr marT="34300" marB="34300" marR="68575" marL="68575"/>
                </a:tc>
                <a:tc>
                  <a:txBody>
                    <a:bodyPr/>
                    <a:lstStyle/>
                    <a:p>
                      <a:pPr indent="0" lvl="0" marL="0" marR="0" rtl="0" algn="l">
                        <a:spcBef>
                          <a:spcPts val="0"/>
                        </a:spcBef>
                        <a:spcAft>
                          <a:spcPts val="0"/>
                        </a:spcAft>
                        <a:buNone/>
                      </a:pPr>
                      <a:r>
                        <a:rPr b="1" lang="en-US" sz="1800" u="none" cap="none" strike="noStrike"/>
                        <a:t>2</a:t>
                      </a:r>
                      <a:endParaRPr/>
                    </a:p>
                  </a:txBody>
                  <a:tcPr marT="34300" marB="34300" marR="68575" marL="68575"/>
                </a:tc>
              </a:tr>
            </a:tbl>
          </a:graphicData>
        </a:graphic>
      </p:graphicFrame>
      <p:sp>
        <p:nvSpPr>
          <p:cNvPr id="134" name="Google Shape;134;p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35" name="Google Shape;135;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6" name="Google Shape;136;p5"/>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37" name="Google Shape;137;p5"/>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3200401" y="0"/>
            <a:ext cx="2914650" cy="8572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Topic Overview</a:t>
            </a:r>
            <a:endParaRPr sz="3200">
              <a:latin typeface="Calibri"/>
              <a:ea typeface="Calibri"/>
              <a:cs typeface="Calibri"/>
              <a:sym typeface="Calibri"/>
            </a:endParaRPr>
          </a:p>
        </p:txBody>
      </p:sp>
      <p:sp>
        <p:nvSpPr>
          <p:cNvPr id="143" name="Google Shape;143;p6"/>
          <p:cNvSpPr txBox="1"/>
          <p:nvPr>
            <p:ph idx="1" type="body"/>
          </p:nvPr>
        </p:nvSpPr>
        <p:spPr>
          <a:xfrm>
            <a:off x="457200" y="1046748"/>
            <a:ext cx="8229600" cy="3547875"/>
          </a:xfrm>
          <a:prstGeom prst="rect">
            <a:avLst/>
          </a:prstGeom>
          <a:noFill/>
          <a:ln>
            <a:noFill/>
          </a:ln>
        </p:spPr>
        <p:txBody>
          <a:bodyPr anchorCtr="0" anchor="t" bIns="45700" lIns="91425" spcFirstLastPara="1" rIns="91425" wrap="square" tIns="45700">
            <a:noAutofit/>
          </a:bodyPr>
          <a:lstStyle/>
          <a:p>
            <a:pPr indent="-171450" lvl="0" marL="171450" rtl="0" algn="just">
              <a:lnSpc>
                <a:spcPct val="150000"/>
              </a:lnSpc>
              <a:spcBef>
                <a:spcPts val="0"/>
              </a:spcBef>
              <a:spcAft>
                <a:spcPts val="0"/>
              </a:spcAft>
              <a:buClr>
                <a:schemeClr val="dk1"/>
              </a:buClr>
              <a:buSzPts val="1600"/>
              <a:buChar char="•"/>
            </a:pPr>
            <a:r>
              <a:rPr b="1" lang="en-US" sz="1600"/>
              <a:t>Evolution and Integration</a:t>
            </a:r>
            <a:r>
              <a:rPr lang="en-US" sz="1600"/>
              <a:t>: Recent trends in computing, such as Grid Computing, Cluster Computing, and Distributed Computing, focus on optimizing resource utilization across multiple systems. </a:t>
            </a:r>
            <a:endParaRPr/>
          </a:p>
          <a:p>
            <a:pPr indent="-171450" lvl="0" marL="171450" rtl="0" algn="just">
              <a:lnSpc>
                <a:spcPct val="150000"/>
              </a:lnSpc>
              <a:spcBef>
                <a:spcPts val="750"/>
              </a:spcBef>
              <a:spcAft>
                <a:spcPts val="0"/>
              </a:spcAft>
              <a:buClr>
                <a:schemeClr val="dk1"/>
              </a:buClr>
              <a:buSzPts val="1600"/>
              <a:buChar char="•"/>
            </a:pPr>
            <a:r>
              <a:rPr lang="en-US" sz="1600"/>
              <a:t>These paradigms enable parallel processing and resource sharing, improving performance, scalability, and fault tolerance. </a:t>
            </a:r>
            <a:endParaRPr/>
          </a:p>
          <a:p>
            <a:pPr indent="-171450" lvl="0" marL="171450" rtl="0" algn="just">
              <a:lnSpc>
                <a:spcPct val="150000"/>
              </a:lnSpc>
              <a:spcBef>
                <a:spcPts val="750"/>
              </a:spcBef>
              <a:spcAft>
                <a:spcPts val="0"/>
              </a:spcAft>
              <a:buClr>
                <a:schemeClr val="dk1"/>
              </a:buClr>
              <a:buSzPts val="1600"/>
              <a:buChar char="•"/>
            </a:pPr>
            <a:r>
              <a:rPr lang="en-US" sz="1600"/>
              <a:t>Utility computing refers to a computing model in which computing resources, such as processing power, storage, and software, are provided as a service over a network (typically the internet) and charged based on usage, similar to how utilities like water or electricity are billed. In this model, users can access these resources on-demand without needing to manage physical infrastructure.</a:t>
            </a:r>
            <a:endParaRPr/>
          </a:p>
        </p:txBody>
      </p:sp>
      <p:sp>
        <p:nvSpPr>
          <p:cNvPr id="144" name="Google Shape;144;p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45" name="Google Shape;145;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6" name="Google Shape;146;p6"/>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47" name="Google Shape;147;p6"/>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2743200" y="205979"/>
            <a:ext cx="4436706" cy="85725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US" sz="3200"/>
              <a:t>Brief of what the presentation will</a:t>
            </a:r>
            <a:endParaRPr sz="3200"/>
          </a:p>
        </p:txBody>
      </p:sp>
      <p:sp>
        <p:nvSpPr>
          <p:cNvPr id="153" name="Google Shape;153;p7"/>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The presentation will cover the following points:</a:t>
            </a:r>
            <a:endParaRPr/>
          </a:p>
          <a:p>
            <a:pPr indent="-171450" lvl="0" marL="171450" rtl="0" algn="l">
              <a:lnSpc>
                <a:spcPct val="90000"/>
              </a:lnSpc>
              <a:spcBef>
                <a:spcPts val="750"/>
              </a:spcBef>
              <a:spcAft>
                <a:spcPts val="0"/>
              </a:spcAft>
              <a:buClr>
                <a:srgbClr val="000000"/>
              </a:buClr>
              <a:buSzPts val="2400"/>
              <a:buFont typeface="Calibri"/>
              <a:buAutoNum type="arabicPeriod"/>
            </a:pPr>
            <a:r>
              <a:rPr b="1" lang="en-US" sz="2400">
                <a:solidFill>
                  <a:srgbClr val="000000"/>
                </a:solidFill>
                <a:latin typeface="Calibri"/>
                <a:ea typeface="Calibri"/>
                <a:cs typeface="Calibri"/>
                <a:sym typeface="Calibri"/>
              </a:rPr>
              <a:t>Trends in Computing</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Utility Computing</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Example</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Payment Model</a:t>
            </a:r>
            <a:endParaRPr/>
          </a:p>
          <a:p>
            <a:pPr indent="-171450" lvl="0" marL="171450" rtl="0" algn="l">
              <a:lnSpc>
                <a:spcPct val="90000"/>
              </a:lnSpc>
              <a:spcBef>
                <a:spcPts val="750"/>
              </a:spcBef>
              <a:spcAft>
                <a:spcPts val="0"/>
              </a:spcAft>
              <a:buClr>
                <a:schemeClr val="dk1"/>
              </a:buClr>
              <a:buSzPts val="2400"/>
              <a:buFont typeface="Calibri"/>
              <a:buAutoNum type="arabicPeriod"/>
            </a:pPr>
            <a:r>
              <a:rPr b="1" lang="en-US" sz="2400">
                <a:latin typeface="Calibri"/>
                <a:ea typeface="Calibri"/>
                <a:cs typeface="Calibri"/>
                <a:sym typeface="Calibri"/>
              </a:rPr>
              <a:t>Risks</a:t>
            </a:r>
            <a:endParaRPr/>
          </a:p>
          <a:p>
            <a:pPr indent="0" lvl="0" marL="0" rtl="0" algn="l">
              <a:lnSpc>
                <a:spcPct val="90000"/>
              </a:lnSpc>
              <a:spcBef>
                <a:spcPts val="750"/>
              </a:spcBef>
              <a:spcAft>
                <a:spcPts val="0"/>
              </a:spcAft>
              <a:buClr>
                <a:schemeClr val="dk1"/>
              </a:buClr>
              <a:buSzPts val="2400"/>
              <a:buNone/>
            </a:pPr>
            <a:r>
              <a:t/>
            </a:r>
            <a:endParaRPr b="1" sz="2400">
              <a:latin typeface="Calibri"/>
              <a:ea typeface="Calibri"/>
              <a:cs typeface="Calibri"/>
              <a:sym typeface="Calibri"/>
            </a:endParaRPr>
          </a:p>
        </p:txBody>
      </p:sp>
      <p:sp>
        <p:nvSpPr>
          <p:cNvPr id="154" name="Google Shape;154;p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55" name="Google Shape;155;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6" name="Google Shape;156;p7"/>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57" name="Google Shape;157;p7"/>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2744426" y="70037"/>
            <a:ext cx="4478695"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Importance of the topic</a:t>
            </a:r>
            <a:endParaRPr sz="3200">
              <a:latin typeface="Calibri"/>
              <a:ea typeface="Calibri"/>
              <a:cs typeface="Calibri"/>
              <a:sym typeface="Calibri"/>
            </a:endParaRPr>
          </a:p>
        </p:txBody>
      </p:sp>
      <p:sp>
        <p:nvSpPr>
          <p:cNvPr id="163" name="Google Shape;163;p8"/>
          <p:cNvSpPr txBox="1"/>
          <p:nvPr>
            <p:ph idx="1" type="body"/>
          </p:nvPr>
        </p:nvSpPr>
        <p:spPr>
          <a:xfrm>
            <a:off x="457200" y="1046747"/>
            <a:ext cx="8229600" cy="3723425"/>
          </a:xfrm>
          <a:prstGeom prst="rect">
            <a:avLst/>
          </a:prstGeom>
          <a:noFill/>
          <a:ln>
            <a:noFill/>
          </a:ln>
        </p:spPr>
        <p:txBody>
          <a:bodyPr anchorCtr="0" anchor="t" bIns="45700" lIns="91425" spcFirstLastPara="1" rIns="91425" wrap="square" tIns="45700">
            <a:normAutofit fontScale="85000" lnSpcReduction="20000"/>
          </a:bodyPr>
          <a:lstStyle/>
          <a:p>
            <a:pPr indent="-171450" lvl="0" marL="171450" rtl="0" algn="just">
              <a:lnSpc>
                <a:spcPct val="120000"/>
              </a:lnSpc>
              <a:spcBef>
                <a:spcPts val="0"/>
              </a:spcBef>
              <a:spcAft>
                <a:spcPts val="0"/>
              </a:spcAft>
              <a:buClr>
                <a:schemeClr val="dk1"/>
              </a:buClr>
              <a:buSzPct val="100000"/>
              <a:buChar char="•"/>
            </a:pPr>
            <a:r>
              <a:rPr b="1" lang="en-US" sz="2000"/>
              <a:t>On-Demand Resource Allocation:</a:t>
            </a:r>
            <a:endParaRPr/>
          </a:p>
          <a:p>
            <a:pPr indent="0" lvl="0" marL="0" rtl="0" algn="just">
              <a:lnSpc>
                <a:spcPct val="120000"/>
              </a:lnSpc>
              <a:spcBef>
                <a:spcPts val="750"/>
              </a:spcBef>
              <a:spcAft>
                <a:spcPts val="0"/>
              </a:spcAft>
              <a:buClr>
                <a:schemeClr val="dk1"/>
              </a:buClr>
              <a:buSzPct val="100000"/>
              <a:buNone/>
            </a:pPr>
            <a:r>
              <a:rPr lang="en-US" sz="2000"/>
              <a:t>Users can request and scale computing resources (e.g., virtual machines, storage) based on their immediate needs. This eliminates the need for users to maintain excess infrastructure, as resources are provided as a service and can be scaled up or down quickly.</a:t>
            </a:r>
            <a:endParaRPr/>
          </a:p>
          <a:p>
            <a:pPr indent="-171450" lvl="0" marL="171450" rtl="0" algn="just">
              <a:lnSpc>
                <a:spcPct val="120000"/>
              </a:lnSpc>
              <a:spcBef>
                <a:spcPts val="750"/>
              </a:spcBef>
              <a:spcAft>
                <a:spcPts val="0"/>
              </a:spcAft>
              <a:buClr>
                <a:schemeClr val="dk1"/>
              </a:buClr>
              <a:buSzPct val="100000"/>
              <a:buChar char="•"/>
            </a:pPr>
            <a:r>
              <a:rPr b="1" lang="en-US" sz="2000"/>
              <a:t>Pay-as-You-Go Model:</a:t>
            </a:r>
            <a:endParaRPr/>
          </a:p>
          <a:p>
            <a:pPr indent="0" lvl="0" marL="0" rtl="0" algn="just">
              <a:lnSpc>
                <a:spcPct val="120000"/>
              </a:lnSpc>
              <a:spcBef>
                <a:spcPts val="750"/>
              </a:spcBef>
              <a:spcAft>
                <a:spcPts val="0"/>
              </a:spcAft>
              <a:buClr>
                <a:schemeClr val="dk1"/>
              </a:buClr>
              <a:buSzPct val="100000"/>
              <a:buNone/>
            </a:pPr>
            <a:r>
              <a:rPr lang="en-US" sz="2000"/>
              <a:t>Similar to traditional utility services, users are billed for computing resources based on usage, whether it’s by the hour, minute, or data transferred. This is more cost-effective than traditional models where users would need to invest in expensive hardware upfront.</a:t>
            </a:r>
            <a:endParaRPr/>
          </a:p>
          <a:p>
            <a:pPr indent="-171450" lvl="0" marL="171450" rtl="0" algn="just">
              <a:lnSpc>
                <a:spcPct val="120000"/>
              </a:lnSpc>
              <a:spcBef>
                <a:spcPts val="750"/>
              </a:spcBef>
              <a:spcAft>
                <a:spcPts val="0"/>
              </a:spcAft>
              <a:buClr>
                <a:schemeClr val="dk1"/>
              </a:buClr>
              <a:buSzPct val="100000"/>
              <a:buChar char="•"/>
            </a:pPr>
            <a:r>
              <a:rPr b="1" lang="en-US" sz="2000"/>
              <a:t>Elasticity:</a:t>
            </a:r>
            <a:endParaRPr/>
          </a:p>
          <a:p>
            <a:pPr indent="0" lvl="0" marL="0" rtl="0" algn="just">
              <a:lnSpc>
                <a:spcPct val="120000"/>
              </a:lnSpc>
              <a:spcBef>
                <a:spcPts val="750"/>
              </a:spcBef>
              <a:spcAft>
                <a:spcPts val="0"/>
              </a:spcAft>
              <a:buClr>
                <a:schemeClr val="dk1"/>
              </a:buClr>
              <a:buSzPct val="100000"/>
              <a:buNone/>
            </a:pPr>
            <a:r>
              <a:rPr lang="en-US" sz="2000"/>
              <a:t>Utility computing offers elastic scaling, meaning resources can be increased or decreased automatically based on demand. This is especially beneficial for businesses with fluctuating workloads.</a:t>
            </a:r>
            <a:endParaRPr sz="2000"/>
          </a:p>
        </p:txBody>
      </p:sp>
      <p:sp>
        <p:nvSpPr>
          <p:cNvPr id="164" name="Google Shape;164;p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65" name="Google Shape;165;p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6" name="Google Shape;166;p8"/>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67" name="Google Shape;167;p8"/>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2744426" y="70036"/>
            <a:ext cx="4478695" cy="59477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Detail Topics</a:t>
            </a:r>
            <a:endParaRPr sz="3200">
              <a:latin typeface="Calibri"/>
              <a:ea typeface="Calibri"/>
              <a:cs typeface="Calibri"/>
              <a:sym typeface="Calibri"/>
            </a:endParaRPr>
          </a:p>
        </p:txBody>
      </p:sp>
      <p:sp>
        <p:nvSpPr>
          <p:cNvPr id="173" name="Google Shape;173;p9"/>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fontScale="55000" lnSpcReduction="20000"/>
          </a:bodyPr>
          <a:lstStyle/>
          <a:p>
            <a:pPr indent="0" lvl="0" marL="12065" rtl="0" algn="l">
              <a:lnSpc>
                <a:spcPct val="100000"/>
              </a:lnSpc>
              <a:spcBef>
                <a:spcPts val="0"/>
              </a:spcBef>
              <a:spcAft>
                <a:spcPts val="0"/>
              </a:spcAft>
              <a:buClr>
                <a:schemeClr val="dk1"/>
              </a:buClr>
              <a:buSzPct val="100000"/>
              <a:buNone/>
            </a:pPr>
            <a:r>
              <a:rPr lang="en-US" sz="2800">
                <a:latin typeface="Calibri"/>
                <a:ea typeface="Calibri"/>
                <a:cs typeface="Calibri"/>
                <a:sym typeface="Calibri"/>
              </a:rPr>
              <a:t>The ACM </a:t>
            </a:r>
            <a:r>
              <a:rPr i="1" lang="en-US" sz="2800">
                <a:latin typeface="Calibri"/>
                <a:ea typeface="Calibri"/>
                <a:cs typeface="Calibri"/>
                <a:sym typeface="Calibri"/>
              </a:rPr>
              <a:t>Computing Curricula 2005 </a:t>
            </a:r>
            <a:r>
              <a:rPr lang="en-US" sz="2800">
                <a:latin typeface="Calibri"/>
                <a:ea typeface="Calibri"/>
                <a:cs typeface="Calibri"/>
                <a:sym typeface="Calibri"/>
              </a:rPr>
              <a:t>defined "computing" as</a:t>
            </a:r>
            <a:endParaRPr sz="2800">
              <a:latin typeface="Calibri"/>
              <a:ea typeface="Calibri"/>
              <a:cs typeface="Calibri"/>
              <a:sym typeface="Calibri"/>
            </a:endParaRPr>
          </a:p>
          <a:p>
            <a:pPr indent="-59689" lvl="0" marL="171450" rtl="0" algn="l">
              <a:lnSpc>
                <a:spcPct val="100000"/>
              </a:lnSpc>
              <a:spcBef>
                <a:spcPts val="55"/>
              </a:spcBef>
              <a:spcAft>
                <a:spcPts val="0"/>
              </a:spcAft>
              <a:buClr>
                <a:schemeClr val="dk1"/>
              </a:buClr>
              <a:buSzPct val="100000"/>
              <a:buNone/>
            </a:pPr>
            <a:r>
              <a:t/>
            </a:r>
            <a:endParaRPr sz="3200">
              <a:latin typeface="Calibri"/>
              <a:ea typeface="Calibri"/>
              <a:cs typeface="Calibri"/>
              <a:sym typeface="Calibri"/>
            </a:endParaRPr>
          </a:p>
          <a:p>
            <a:pPr indent="-12700" lvl="0" marL="12700" marR="5080" rtl="0" algn="just">
              <a:lnSpc>
                <a:spcPct val="170000"/>
              </a:lnSpc>
              <a:spcBef>
                <a:spcPts val="750"/>
              </a:spcBef>
              <a:spcAft>
                <a:spcPts val="0"/>
              </a:spcAft>
              <a:buClr>
                <a:schemeClr val="dk1"/>
              </a:buClr>
              <a:buSzPct val="100000"/>
              <a:buChar char="•"/>
            </a:pPr>
            <a:r>
              <a:rPr lang="en-US" sz="2800"/>
              <a:t>"In a general way, we can define computing to mean any goal-oriented  activity requiring, benefiting from, or creating computers. Thus,  computing includes designing and building hardware and software  systems for a wide range of purposes; processing, structuring, and  managing various kinds of information; doing scientific studies using  computers; making computer systems behave intelligently; creating  and using communications and entertainment media; finding and  gathering information relevant to any particular purpose, and so on.  The list is virtually endless, and the possibilities are vast."</a:t>
            </a:r>
            <a:endParaRPr sz="2800"/>
          </a:p>
          <a:p>
            <a:pPr indent="-108585" lvl="0" marL="171450" rtl="0" algn="l">
              <a:lnSpc>
                <a:spcPct val="90000"/>
              </a:lnSpc>
              <a:spcBef>
                <a:spcPts val="750"/>
              </a:spcBef>
              <a:spcAft>
                <a:spcPts val="0"/>
              </a:spcAft>
              <a:buClr>
                <a:schemeClr val="dk1"/>
              </a:buClr>
              <a:buSzPct val="100000"/>
              <a:buNone/>
            </a:pPr>
            <a:r>
              <a:t/>
            </a:r>
            <a:endParaRPr sz="1800"/>
          </a:p>
        </p:txBody>
      </p:sp>
      <p:sp>
        <p:nvSpPr>
          <p:cNvPr id="174" name="Google Shape;174;p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75" name="Google Shape;175;p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6" name="Google Shape;176;p9"/>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77" name="Google Shape;177;p9"/>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2348864" y="275957"/>
            <a:ext cx="4446270" cy="50462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3200"/>
              <a:buFont typeface="Calibri"/>
              <a:buNone/>
            </a:pPr>
            <a:r>
              <a:rPr b="1" lang="en-US" sz="3200">
                <a:latin typeface="Calibri"/>
                <a:ea typeface="Calibri"/>
                <a:cs typeface="Calibri"/>
                <a:sym typeface="Calibri"/>
              </a:rPr>
              <a:t>“Utility” Computing ?</a:t>
            </a:r>
            <a:endParaRPr b="1" sz="3200">
              <a:latin typeface="Calibri"/>
              <a:ea typeface="Calibri"/>
              <a:cs typeface="Calibri"/>
              <a:sym typeface="Calibri"/>
            </a:endParaRPr>
          </a:p>
        </p:txBody>
      </p:sp>
      <p:sp>
        <p:nvSpPr>
          <p:cNvPr id="183" name="Google Shape;183;p10"/>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22</a:t>
            </a:r>
            <a:endParaRPr/>
          </a:p>
        </p:txBody>
      </p:sp>
      <p:sp>
        <p:nvSpPr>
          <p:cNvPr id="184" name="Google Shape;184;p10"/>
          <p:cNvSpPr txBox="1"/>
          <p:nvPr/>
        </p:nvSpPr>
        <p:spPr>
          <a:xfrm>
            <a:off x="628650" y="971550"/>
            <a:ext cx="7997825" cy="4014561"/>
          </a:xfrm>
          <a:prstGeom prst="rect">
            <a:avLst/>
          </a:prstGeom>
          <a:noFill/>
          <a:ln>
            <a:noFill/>
          </a:ln>
        </p:spPr>
        <p:txBody>
          <a:bodyPr anchorCtr="0" anchor="t" bIns="0" lIns="0" spcFirstLastPara="1" rIns="0" wrap="square" tIns="13325">
            <a:spAutoFit/>
          </a:bodyPr>
          <a:lstStyle/>
          <a:p>
            <a:pPr indent="-343535" lvl="0" marL="35560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Utility Computing is purely a concept which cloud computing practically implements.</a:t>
            </a:r>
            <a:endParaRPr/>
          </a:p>
          <a:p>
            <a:pPr indent="-343535" lvl="0" marL="355600" marR="5715" rtl="0" algn="just">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Utility computing is a service provisioning model in which a service provider makes  computing resources and infrastructure management available to the customer as  needed, and charges them for specific usage rather than a flat rate.</a:t>
            </a:r>
            <a:endParaRPr sz="2000">
              <a:solidFill>
                <a:schemeClr val="dk1"/>
              </a:solidFill>
              <a:latin typeface="Calibri"/>
              <a:ea typeface="Calibri"/>
              <a:cs typeface="Calibri"/>
              <a:sym typeface="Calibri"/>
            </a:endParaRPr>
          </a:p>
          <a:p>
            <a:pPr indent="-343535" lvl="0" marL="355600" marR="5080" rtl="0" algn="just">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This model has the advantage of a low or no initial cost to acquire computer resources;  instead, computational resources are essentially rented.</a:t>
            </a:r>
            <a:endParaRPr sz="2000">
              <a:solidFill>
                <a:schemeClr val="dk1"/>
              </a:solidFill>
              <a:latin typeface="Calibri"/>
              <a:ea typeface="Calibri"/>
              <a:cs typeface="Calibri"/>
              <a:sym typeface="Calibri"/>
            </a:endParaRPr>
          </a:p>
          <a:p>
            <a:pPr indent="-343535" lvl="0" marL="355600" marR="5080" rtl="0" algn="just">
              <a:spcBef>
                <a:spcPts val="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word </a:t>
            </a:r>
            <a:r>
              <a:rPr i="1" lang="en-US" sz="2000">
                <a:solidFill>
                  <a:schemeClr val="dk1"/>
                </a:solidFill>
                <a:latin typeface="Calibri"/>
                <a:ea typeface="Calibri"/>
                <a:cs typeface="Calibri"/>
                <a:sym typeface="Calibri"/>
              </a:rPr>
              <a:t>utility </a:t>
            </a:r>
            <a:r>
              <a:rPr lang="en-US" sz="2000">
                <a:solidFill>
                  <a:schemeClr val="dk1"/>
                </a:solidFill>
                <a:latin typeface="Calibri"/>
                <a:ea typeface="Calibri"/>
                <a:cs typeface="Calibri"/>
                <a:sym typeface="Calibri"/>
              </a:rPr>
              <a:t>is used to make an analogy to other services, such as electrical power,  that seek to meet fluctuating customer needs, and charge for the resources based on  usage rather than on a flat-rate basis. This approach, sometimes known as </a:t>
            </a:r>
            <a:r>
              <a:rPr i="1" lang="en-US" sz="2000">
                <a:solidFill>
                  <a:schemeClr val="dk1"/>
                </a:solidFill>
                <a:latin typeface="Calibri"/>
                <a:ea typeface="Calibri"/>
                <a:cs typeface="Calibri"/>
                <a:sym typeface="Calibri"/>
              </a:rPr>
              <a:t>pay-per-use</a:t>
            </a:r>
            <a:endParaRPr sz="2000">
              <a:solidFill>
                <a:schemeClr val="dk1"/>
              </a:solidFill>
              <a:latin typeface="Calibri"/>
              <a:ea typeface="Calibri"/>
              <a:cs typeface="Calibri"/>
              <a:sym typeface="Calibri"/>
            </a:endParaRPr>
          </a:p>
        </p:txBody>
      </p:sp>
      <p:sp>
        <p:nvSpPr>
          <p:cNvPr id="185" name="Google Shape;185;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2162936" y="299686"/>
            <a:ext cx="4898390" cy="50590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3200"/>
              <a:buFont typeface="Calibri"/>
              <a:buNone/>
            </a:pPr>
            <a:r>
              <a:rPr b="1" lang="en-US" sz="3200">
                <a:latin typeface="Calibri"/>
                <a:ea typeface="Calibri"/>
                <a:cs typeface="Calibri"/>
                <a:sym typeface="Calibri"/>
              </a:rPr>
              <a:t>“Utility” Computing ?</a:t>
            </a:r>
            <a:endParaRPr/>
          </a:p>
        </p:txBody>
      </p:sp>
      <p:sp>
        <p:nvSpPr>
          <p:cNvPr id="191" name="Google Shape;191;p11"/>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23</a:t>
            </a:r>
            <a:endParaRPr/>
          </a:p>
        </p:txBody>
      </p:sp>
      <p:sp>
        <p:nvSpPr>
          <p:cNvPr id="192" name="Google Shape;192;p11"/>
          <p:cNvSpPr txBox="1"/>
          <p:nvPr/>
        </p:nvSpPr>
        <p:spPr>
          <a:xfrm>
            <a:off x="402436" y="1216913"/>
            <a:ext cx="2881630" cy="3737562"/>
          </a:xfrm>
          <a:prstGeom prst="rect">
            <a:avLst/>
          </a:prstGeom>
          <a:noFill/>
          <a:ln>
            <a:noFill/>
          </a:ln>
        </p:spPr>
        <p:txBody>
          <a:bodyPr anchorCtr="0" anchor="t" bIns="0" lIns="0" spcFirstLastPara="1" rIns="0" wrap="square" tIns="13325">
            <a:spAutoFit/>
          </a:bodyPr>
          <a:lstStyle/>
          <a:p>
            <a:pPr indent="-342900" lvl="0" marL="355600" marR="5080" rtl="0" algn="just">
              <a:lnSpc>
                <a:spcPct val="10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"Utility computing" has  usually envisioned some  form of virtualization so  that the amount of  storage or computing  power available is  considerably larger than  that of a single time-  sharing computer.</a:t>
            </a:r>
            <a:endParaRPr sz="2200">
              <a:solidFill>
                <a:schemeClr val="dk1"/>
              </a:solidFill>
              <a:latin typeface="Calibri"/>
              <a:ea typeface="Calibri"/>
              <a:cs typeface="Calibri"/>
              <a:sym typeface="Calibri"/>
            </a:endParaRPr>
          </a:p>
        </p:txBody>
      </p:sp>
      <p:pic>
        <p:nvPicPr>
          <p:cNvPr id="193" name="Google Shape;193;p11"/>
          <p:cNvPicPr preferRelativeResize="0"/>
          <p:nvPr/>
        </p:nvPicPr>
        <p:blipFill rotWithShape="1">
          <a:blip r:embed="rId3">
            <a:alphaModFix/>
          </a:blip>
          <a:srcRect b="0" l="0" r="0" t="0"/>
          <a:stretch/>
        </p:blipFill>
        <p:spPr>
          <a:xfrm>
            <a:off x="3505200" y="1297564"/>
            <a:ext cx="5433568" cy="3102737"/>
          </a:xfrm>
          <a:prstGeom prst="rect">
            <a:avLst/>
          </a:prstGeom>
          <a:noFill/>
          <a:ln>
            <a:noFill/>
          </a:ln>
        </p:spPr>
      </p:pic>
      <p:sp>
        <p:nvSpPr>
          <p:cNvPr id="194" name="Google Shape;194;p11"/>
          <p:cNvSpPr txBox="1"/>
          <p:nvPr/>
        </p:nvSpPr>
        <p:spPr>
          <a:xfrm>
            <a:off x="5105400" y="4400301"/>
            <a:ext cx="3597275" cy="19749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libri"/>
                <a:ea typeface="Calibri"/>
                <a:cs typeface="Calibri"/>
                <a:sym typeface="Calibri"/>
              </a:rPr>
              <a:t>Source:Alan McSweeney, “The Economics of Utility Computing”</a:t>
            </a:r>
            <a:endParaRPr sz="1200">
              <a:solidFill>
                <a:schemeClr val="dk1"/>
              </a:solidFill>
              <a:latin typeface="Calibri"/>
              <a:ea typeface="Calibri"/>
              <a:cs typeface="Calibri"/>
              <a:sym typeface="Calibri"/>
            </a:endParaRPr>
          </a:p>
        </p:txBody>
      </p:sp>
      <p:sp>
        <p:nvSpPr>
          <p:cNvPr id="195" name="Google Shape;195;p1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2438400" y="185197"/>
            <a:ext cx="4893945" cy="50590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3200"/>
              <a:buFont typeface="Calibri"/>
              <a:buNone/>
            </a:pPr>
            <a:r>
              <a:rPr b="1" lang="en-US" sz="3200">
                <a:latin typeface="Calibri"/>
                <a:ea typeface="Calibri"/>
                <a:cs typeface="Calibri"/>
                <a:sym typeface="Calibri"/>
              </a:rPr>
              <a:t>“Utility” Computing ?</a:t>
            </a:r>
            <a:endParaRPr/>
          </a:p>
        </p:txBody>
      </p:sp>
      <p:sp>
        <p:nvSpPr>
          <p:cNvPr id="201" name="Google Shape;201;p12"/>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24</a:t>
            </a:r>
            <a:endParaRPr/>
          </a:p>
        </p:txBody>
      </p:sp>
      <p:sp>
        <p:nvSpPr>
          <p:cNvPr id="202" name="Google Shape;202;p12"/>
          <p:cNvSpPr txBox="1"/>
          <p:nvPr/>
        </p:nvSpPr>
        <p:spPr>
          <a:xfrm>
            <a:off x="457200" y="812678"/>
            <a:ext cx="4794250" cy="2980303"/>
          </a:xfrm>
          <a:prstGeom prst="rect">
            <a:avLst/>
          </a:prstGeom>
          <a:noFill/>
          <a:ln>
            <a:noFill/>
          </a:ln>
        </p:spPr>
        <p:txBody>
          <a:bodyPr anchorCtr="0" anchor="t" bIns="0" lIns="0" spcFirstLastPara="1" rIns="0" wrap="square" tIns="73650">
            <a:spAutoFit/>
          </a:bodyPr>
          <a:lstStyle/>
          <a:p>
            <a:pPr indent="-342900" lvl="0" marL="354965" marR="0" rtl="0" algn="l">
              <a:lnSpc>
                <a:spcPct val="100000"/>
              </a:lnSpc>
              <a:spcBef>
                <a:spcPts val="0"/>
              </a:spcBef>
              <a:spcAft>
                <a:spcPts val="0"/>
              </a:spcAft>
              <a:buClr>
                <a:schemeClr val="dk1"/>
              </a:buClr>
              <a:buSzPts val="2400"/>
              <a:buFont typeface="Calibri"/>
              <a:buAutoNum type="alphaLcParenR"/>
            </a:pPr>
            <a:r>
              <a:rPr lang="en-US" sz="2400">
                <a:solidFill>
                  <a:schemeClr val="dk1"/>
                </a:solidFill>
                <a:latin typeface="Calibri"/>
                <a:ea typeface="Calibri"/>
                <a:cs typeface="Calibri"/>
                <a:sym typeface="Calibri"/>
              </a:rPr>
              <a:t>Pay-for-use Pricing Business Model</a:t>
            </a:r>
            <a:endParaRPr/>
          </a:p>
          <a:p>
            <a:pPr indent="-342900" lvl="0" marL="354965" marR="0" rtl="0" algn="l">
              <a:lnSpc>
                <a:spcPct val="100000"/>
              </a:lnSpc>
              <a:spcBef>
                <a:spcPts val="480"/>
              </a:spcBef>
              <a:spcAft>
                <a:spcPts val="0"/>
              </a:spcAft>
              <a:buClr>
                <a:schemeClr val="dk1"/>
              </a:buClr>
              <a:buSzPts val="2400"/>
              <a:buFont typeface="Calibri"/>
              <a:buAutoNum type="alphaLcParenR"/>
            </a:pPr>
            <a:r>
              <a:rPr lang="en-US" sz="2400">
                <a:solidFill>
                  <a:schemeClr val="dk1"/>
                </a:solidFill>
                <a:latin typeface="Calibri"/>
                <a:ea typeface="Calibri"/>
                <a:cs typeface="Calibri"/>
                <a:sym typeface="Calibri"/>
              </a:rPr>
              <a:t>Data Center Virtualization and Provisioning</a:t>
            </a:r>
            <a:endParaRPr sz="2400">
              <a:solidFill>
                <a:schemeClr val="dk1"/>
              </a:solidFill>
              <a:latin typeface="Calibri"/>
              <a:ea typeface="Calibri"/>
              <a:cs typeface="Calibri"/>
              <a:sym typeface="Calibri"/>
            </a:endParaRPr>
          </a:p>
          <a:p>
            <a:pPr indent="-342900" lvl="0" marL="354965" marR="0" rtl="0" algn="l">
              <a:lnSpc>
                <a:spcPct val="100000"/>
              </a:lnSpc>
              <a:spcBef>
                <a:spcPts val="480"/>
              </a:spcBef>
              <a:spcAft>
                <a:spcPts val="0"/>
              </a:spcAft>
              <a:buClr>
                <a:schemeClr val="dk1"/>
              </a:buClr>
              <a:buSzPts val="2400"/>
              <a:buFont typeface="Calibri"/>
              <a:buAutoNum type="alphaLcParenR"/>
            </a:pPr>
            <a:r>
              <a:rPr lang="en-US" sz="2400">
                <a:solidFill>
                  <a:schemeClr val="dk1"/>
                </a:solidFill>
                <a:latin typeface="Calibri"/>
                <a:ea typeface="Calibri"/>
                <a:cs typeface="Calibri"/>
                <a:sym typeface="Calibri"/>
              </a:rPr>
              <a:t>Solves Resource Utilization Problem</a:t>
            </a:r>
            <a:endParaRPr sz="2400">
              <a:solidFill>
                <a:schemeClr val="dk1"/>
              </a:solidFill>
              <a:latin typeface="Calibri"/>
              <a:ea typeface="Calibri"/>
              <a:cs typeface="Calibri"/>
              <a:sym typeface="Calibri"/>
            </a:endParaRPr>
          </a:p>
          <a:p>
            <a:pPr indent="-342900" lvl="0" marL="354965" marR="0" rtl="0" algn="l">
              <a:lnSpc>
                <a:spcPct val="100000"/>
              </a:lnSpc>
              <a:spcBef>
                <a:spcPts val="480"/>
              </a:spcBef>
              <a:spcAft>
                <a:spcPts val="0"/>
              </a:spcAft>
              <a:buClr>
                <a:srgbClr val="000000"/>
              </a:buClr>
              <a:buSzPts val="2400"/>
              <a:buFont typeface="Calibri"/>
              <a:buAutoNum type="alphaLcParenR"/>
            </a:pPr>
            <a:r>
              <a:rPr lang="en-US" sz="2400">
                <a:solidFill>
                  <a:schemeClr val="dk1"/>
                </a:solidFill>
                <a:latin typeface="Calibri"/>
                <a:ea typeface="Calibri"/>
                <a:cs typeface="Calibri"/>
                <a:sym typeface="Calibri"/>
              </a:rPr>
              <a:t>Outsourcing</a:t>
            </a:r>
            <a:endParaRPr sz="2400">
              <a:solidFill>
                <a:schemeClr val="dk1"/>
              </a:solidFill>
              <a:latin typeface="Calibri"/>
              <a:ea typeface="Calibri"/>
              <a:cs typeface="Calibri"/>
              <a:sym typeface="Calibri"/>
            </a:endParaRPr>
          </a:p>
          <a:p>
            <a:pPr indent="-342900" lvl="0" marL="354965" marR="0" rtl="0" algn="l">
              <a:lnSpc>
                <a:spcPct val="100000"/>
              </a:lnSpc>
              <a:spcBef>
                <a:spcPts val="480"/>
              </a:spcBef>
              <a:spcAft>
                <a:spcPts val="0"/>
              </a:spcAft>
              <a:buClr>
                <a:srgbClr val="000000"/>
              </a:buClr>
              <a:buSzPts val="2400"/>
              <a:buFont typeface="Calibri"/>
              <a:buAutoNum type="alphaLcParenR"/>
            </a:pPr>
            <a:r>
              <a:rPr lang="en-US" sz="2400">
                <a:solidFill>
                  <a:schemeClr val="dk1"/>
                </a:solidFill>
                <a:latin typeface="Calibri"/>
                <a:ea typeface="Calibri"/>
                <a:cs typeface="Calibri"/>
                <a:sym typeface="Calibri"/>
              </a:rPr>
              <a:t>Web Services Delivery</a:t>
            </a:r>
            <a:endParaRPr sz="2400">
              <a:solidFill>
                <a:schemeClr val="dk1"/>
              </a:solidFill>
              <a:latin typeface="Calibri"/>
              <a:ea typeface="Calibri"/>
              <a:cs typeface="Calibri"/>
              <a:sym typeface="Calibri"/>
            </a:endParaRPr>
          </a:p>
          <a:p>
            <a:pPr indent="-342900" lvl="0" marL="354965" marR="0" rtl="0" algn="l">
              <a:lnSpc>
                <a:spcPct val="100000"/>
              </a:lnSpc>
              <a:spcBef>
                <a:spcPts val="480"/>
              </a:spcBef>
              <a:spcAft>
                <a:spcPts val="0"/>
              </a:spcAft>
              <a:buClr>
                <a:srgbClr val="000000"/>
              </a:buClr>
              <a:buSzPts val="2400"/>
              <a:buFont typeface="Calibri"/>
              <a:buAutoNum type="alphaLcParenR"/>
            </a:pPr>
            <a:r>
              <a:rPr lang="en-US" sz="2400">
                <a:solidFill>
                  <a:schemeClr val="dk1"/>
                </a:solidFill>
                <a:latin typeface="Calibri"/>
                <a:ea typeface="Calibri"/>
                <a:cs typeface="Calibri"/>
                <a:sym typeface="Calibri"/>
              </a:rPr>
              <a:t>Automation</a:t>
            </a:r>
            <a:endParaRPr sz="2400">
              <a:solidFill>
                <a:schemeClr val="dk1"/>
              </a:solidFill>
              <a:latin typeface="Calibri"/>
              <a:ea typeface="Calibri"/>
              <a:cs typeface="Calibri"/>
              <a:sym typeface="Calibri"/>
            </a:endParaRPr>
          </a:p>
        </p:txBody>
      </p:sp>
      <p:pic>
        <p:nvPicPr>
          <p:cNvPr id="203" name="Google Shape;203;p12"/>
          <p:cNvPicPr preferRelativeResize="0"/>
          <p:nvPr/>
        </p:nvPicPr>
        <p:blipFill rotWithShape="1">
          <a:blip r:embed="rId3">
            <a:alphaModFix/>
          </a:blip>
          <a:srcRect b="0" l="0" r="0" t="0"/>
          <a:stretch/>
        </p:blipFill>
        <p:spPr>
          <a:xfrm>
            <a:off x="4027932" y="2495550"/>
            <a:ext cx="4860036" cy="2147189"/>
          </a:xfrm>
          <a:prstGeom prst="rect">
            <a:avLst/>
          </a:prstGeom>
          <a:noFill/>
          <a:ln>
            <a:noFill/>
          </a:ln>
        </p:spPr>
      </p:pic>
      <p:sp>
        <p:nvSpPr>
          <p:cNvPr id="204" name="Google Shape;204;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txBox="1"/>
          <p:nvPr>
            <p:ph type="title"/>
          </p:nvPr>
        </p:nvSpPr>
        <p:spPr>
          <a:xfrm>
            <a:off x="2667000" y="0"/>
            <a:ext cx="4580381" cy="50590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3200"/>
              <a:buFont typeface="Calibri"/>
              <a:buNone/>
            </a:pPr>
            <a:r>
              <a:rPr b="1" lang="en-US" sz="3200">
                <a:latin typeface="Calibri"/>
                <a:ea typeface="Calibri"/>
                <a:cs typeface="Calibri"/>
                <a:sym typeface="Calibri"/>
              </a:rPr>
              <a:t>Utility Computing Example</a:t>
            </a:r>
            <a:endParaRPr b="1" sz="3200">
              <a:latin typeface="Calibri"/>
              <a:ea typeface="Calibri"/>
              <a:cs typeface="Calibri"/>
              <a:sym typeface="Calibri"/>
            </a:endParaRPr>
          </a:p>
        </p:txBody>
      </p:sp>
      <p:sp>
        <p:nvSpPr>
          <p:cNvPr id="210" name="Google Shape;210;p13"/>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24</a:t>
            </a:r>
            <a:endParaRPr/>
          </a:p>
        </p:txBody>
      </p:sp>
      <p:sp>
        <p:nvSpPr>
          <p:cNvPr id="211" name="Google Shape;211;p13"/>
          <p:cNvSpPr txBox="1"/>
          <p:nvPr/>
        </p:nvSpPr>
        <p:spPr>
          <a:xfrm>
            <a:off x="838200" y="1276350"/>
            <a:ext cx="4794250" cy="443711"/>
          </a:xfrm>
          <a:prstGeom prst="rect">
            <a:avLst/>
          </a:prstGeom>
          <a:noFill/>
          <a:ln>
            <a:noFill/>
          </a:ln>
        </p:spPr>
        <p:txBody>
          <a:bodyPr anchorCtr="0" anchor="t" bIns="0" lIns="0" spcFirstLastPara="1" rIns="0" wrap="square" tIns="7365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On-Demand Cyber Infrastructure</a:t>
            </a:r>
            <a:endParaRPr sz="2400">
              <a:solidFill>
                <a:schemeClr val="dk1"/>
              </a:solidFill>
              <a:latin typeface="Calibri"/>
              <a:ea typeface="Calibri"/>
              <a:cs typeface="Calibri"/>
              <a:sym typeface="Calibri"/>
            </a:endParaRPr>
          </a:p>
        </p:txBody>
      </p:sp>
      <p:sp>
        <p:nvSpPr>
          <p:cNvPr id="212" name="Google Shape;212;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pic>
        <p:nvPicPr>
          <p:cNvPr id="213" name="Google Shape;213;p13"/>
          <p:cNvPicPr preferRelativeResize="0"/>
          <p:nvPr/>
        </p:nvPicPr>
        <p:blipFill rotWithShape="1">
          <a:blip r:embed="rId3">
            <a:alphaModFix/>
          </a:blip>
          <a:srcRect b="0" l="0" r="0" t="0"/>
          <a:stretch/>
        </p:blipFill>
        <p:spPr>
          <a:xfrm>
            <a:off x="1600200" y="1733550"/>
            <a:ext cx="6408674" cy="26709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txBox="1"/>
          <p:nvPr>
            <p:ph type="title"/>
          </p:nvPr>
        </p:nvSpPr>
        <p:spPr>
          <a:xfrm>
            <a:off x="1533901" y="-14792"/>
            <a:ext cx="6655563" cy="997068"/>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rgbClr val="000000"/>
              </a:buClr>
              <a:buSzPts val="3200"/>
              <a:buFont typeface="Calibri"/>
              <a:buNone/>
            </a:pPr>
            <a:r>
              <a:rPr b="1" lang="en-US" sz="3200">
                <a:solidFill>
                  <a:srgbClr val="000000"/>
                </a:solidFill>
                <a:latin typeface="Calibri"/>
                <a:ea typeface="Calibri"/>
                <a:cs typeface="Calibri"/>
                <a:sym typeface="Calibri"/>
              </a:rPr>
              <a:t>Utility Solution – Your </a:t>
            </a:r>
            <a:br>
              <a:rPr b="1" lang="en-US" sz="3200">
                <a:solidFill>
                  <a:srgbClr val="000000"/>
                </a:solidFill>
                <a:latin typeface="Calibri"/>
                <a:ea typeface="Calibri"/>
                <a:cs typeface="Calibri"/>
                <a:sym typeface="Calibri"/>
              </a:rPr>
            </a:br>
            <a:r>
              <a:rPr b="1" lang="en-US" sz="3200">
                <a:solidFill>
                  <a:srgbClr val="000000"/>
                </a:solidFill>
                <a:latin typeface="Calibri"/>
                <a:ea typeface="Calibri"/>
                <a:cs typeface="Calibri"/>
                <a:sym typeface="Calibri"/>
              </a:rPr>
              <a:t>Perspective</a:t>
            </a:r>
            <a:endParaRPr b="1" sz="3200">
              <a:latin typeface="Calibri"/>
              <a:ea typeface="Calibri"/>
              <a:cs typeface="Calibri"/>
              <a:sym typeface="Calibri"/>
            </a:endParaRPr>
          </a:p>
        </p:txBody>
      </p:sp>
      <p:sp>
        <p:nvSpPr>
          <p:cNvPr id="219" name="Google Shape;219;p14"/>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26</a:t>
            </a:r>
            <a:endParaRPr/>
          </a:p>
        </p:txBody>
      </p:sp>
      <p:sp>
        <p:nvSpPr>
          <p:cNvPr id="220" name="Google Shape;220;p14"/>
          <p:cNvSpPr txBox="1"/>
          <p:nvPr/>
        </p:nvSpPr>
        <p:spPr>
          <a:xfrm>
            <a:off x="1857244" y="911733"/>
            <a:ext cx="5107940" cy="382797"/>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Consumer	Provider</a:t>
            </a:r>
            <a:endParaRPr sz="2400">
              <a:solidFill>
                <a:schemeClr val="dk1"/>
              </a:solidFill>
              <a:latin typeface="Calibri"/>
              <a:ea typeface="Calibri"/>
              <a:cs typeface="Calibri"/>
              <a:sym typeface="Calibri"/>
            </a:endParaRPr>
          </a:p>
        </p:txBody>
      </p:sp>
      <p:pic>
        <p:nvPicPr>
          <p:cNvPr id="221" name="Google Shape;221;p14"/>
          <p:cNvPicPr preferRelativeResize="0"/>
          <p:nvPr/>
        </p:nvPicPr>
        <p:blipFill rotWithShape="1">
          <a:blip r:embed="rId3">
            <a:alphaModFix/>
          </a:blip>
          <a:srcRect b="0" l="0" r="0" t="0"/>
          <a:stretch/>
        </p:blipFill>
        <p:spPr>
          <a:xfrm>
            <a:off x="954087" y="1421587"/>
            <a:ext cx="7142099" cy="2777744"/>
          </a:xfrm>
          <a:prstGeom prst="rect">
            <a:avLst/>
          </a:prstGeom>
          <a:noFill/>
          <a:ln>
            <a:noFill/>
          </a:ln>
        </p:spPr>
      </p:pic>
      <p:sp>
        <p:nvSpPr>
          <p:cNvPr id="222" name="Google Shape;222;p14"/>
          <p:cNvSpPr txBox="1"/>
          <p:nvPr/>
        </p:nvSpPr>
        <p:spPr>
          <a:xfrm>
            <a:off x="4052061" y="2504693"/>
            <a:ext cx="6565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Pricing</a:t>
            </a:r>
            <a:endParaRPr sz="1600">
              <a:solidFill>
                <a:schemeClr val="dk1"/>
              </a:solidFill>
              <a:latin typeface="Times New Roman"/>
              <a:ea typeface="Times New Roman"/>
              <a:cs typeface="Times New Roman"/>
              <a:sym typeface="Times New Roman"/>
            </a:endParaRPr>
          </a:p>
        </p:txBody>
      </p:sp>
      <p:sp>
        <p:nvSpPr>
          <p:cNvPr id="223" name="Google Shape;223;p14"/>
          <p:cNvSpPr txBox="1"/>
          <p:nvPr/>
        </p:nvSpPr>
        <p:spPr>
          <a:xfrm>
            <a:off x="3381879" y="3158186"/>
            <a:ext cx="74612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Security</a:t>
            </a:r>
            <a:endParaRPr sz="1600">
              <a:solidFill>
                <a:schemeClr val="dk1"/>
              </a:solidFill>
              <a:latin typeface="Times New Roman"/>
              <a:ea typeface="Times New Roman"/>
              <a:cs typeface="Times New Roman"/>
              <a:sym typeface="Times New Roman"/>
            </a:endParaRPr>
          </a:p>
        </p:txBody>
      </p:sp>
      <p:sp>
        <p:nvSpPr>
          <p:cNvPr id="224" name="Google Shape;224;p14"/>
          <p:cNvSpPr txBox="1"/>
          <p:nvPr/>
        </p:nvSpPr>
        <p:spPr>
          <a:xfrm>
            <a:off x="1533902" y="2298318"/>
            <a:ext cx="6565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Service</a:t>
            </a:r>
            <a:endParaRPr sz="1600">
              <a:solidFill>
                <a:schemeClr val="dk1"/>
              </a:solidFill>
              <a:latin typeface="Times New Roman"/>
              <a:ea typeface="Times New Roman"/>
              <a:cs typeface="Times New Roman"/>
              <a:sym typeface="Times New Roman"/>
            </a:endParaRPr>
          </a:p>
        </p:txBody>
      </p:sp>
      <p:sp>
        <p:nvSpPr>
          <p:cNvPr id="225" name="Google Shape;225;p14"/>
          <p:cNvSpPr txBox="1"/>
          <p:nvPr/>
        </p:nvSpPr>
        <p:spPr>
          <a:xfrm>
            <a:off x="1533902" y="2511931"/>
            <a:ext cx="92773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Assurance</a:t>
            </a:r>
            <a:endParaRPr sz="1600">
              <a:solidFill>
                <a:schemeClr val="dk1"/>
              </a:solidFill>
              <a:latin typeface="Times New Roman"/>
              <a:ea typeface="Times New Roman"/>
              <a:cs typeface="Times New Roman"/>
              <a:sym typeface="Times New Roman"/>
            </a:endParaRPr>
          </a:p>
        </p:txBody>
      </p:sp>
      <p:sp>
        <p:nvSpPr>
          <p:cNvPr id="226" name="Google Shape;226;p14"/>
          <p:cNvSpPr txBox="1"/>
          <p:nvPr/>
        </p:nvSpPr>
        <p:spPr>
          <a:xfrm>
            <a:off x="4845808" y="3125801"/>
            <a:ext cx="33083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Calibri"/>
                <a:ea typeface="Calibri"/>
                <a:cs typeface="Calibri"/>
                <a:sym typeface="Calibri"/>
              </a:rPr>
              <a:t>SLA</a:t>
            </a:r>
            <a:endParaRPr sz="1600">
              <a:solidFill>
                <a:schemeClr val="dk1"/>
              </a:solidFill>
              <a:latin typeface="Calibri"/>
              <a:ea typeface="Calibri"/>
              <a:cs typeface="Calibri"/>
              <a:sym typeface="Calibri"/>
            </a:endParaRPr>
          </a:p>
        </p:txBody>
      </p:sp>
      <p:sp>
        <p:nvSpPr>
          <p:cNvPr id="227" name="Google Shape;227;p14"/>
          <p:cNvSpPr txBox="1"/>
          <p:nvPr/>
        </p:nvSpPr>
        <p:spPr>
          <a:xfrm>
            <a:off x="4284087" y="890398"/>
            <a:ext cx="367030" cy="51371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3200">
                <a:solidFill>
                  <a:schemeClr val="dk1"/>
                </a:solidFill>
                <a:latin typeface="Calibri"/>
                <a:ea typeface="Calibri"/>
                <a:cs typeface="Calibri"/>
                <a:sym typeface="Calibri"/>
              </a:rPr>
              <a:t>vs</a:t>
            </a:r>
            <a:endParaRPr sz="3200">
              <a:solidFill>
                <a:schemeClr val="dk1"/>
              </a:solidFill>
              <a:latin typeface="Calibri"/>
              <a:ea typeface="Calibri"/>
              <a:cs typeface="Calibri"/>
              <a:sym typeface="Calibri"/>
            </a:endParaRPr>
          </a:p>
        </p:txBody>
      </p:sp>
      <p:sp>
        <p:nvSpPr>
          <p:cNvPr id="228" name="Google Shape;228;p14"/>
          <p:cNvSpPr txBox="1"/>
          <p:nvPr/>
        </p:nvSpPr>
        <p:spPr>
          <a:xfrm>
            <a:off x="3942331" y="3650105"/>
            <a:ext cx="1040130" cy="481965"/>
          </a:xfrm>
          <a:prstGeom prst="rect">
            <a:avLst/>
          </a:prstGeom>
          <a:noFill/>
          <a:ln>
            <a:noFill/>
          </a:ln>
        </p:spPr>
        <p:txBody>
          <a:bodyPr anchorCtr="0" anchor="t" bIns="0" lIns="0" spcFirstLastPara="1" rIns="0" wrap="square" tIns="44450">
            <a:spAutoFit/>
          </a:bodyPr>
          <a:lstStyle/>
          <a:p>
            <a:pPr indent="0" lvl="0" marL="12700" marR="5080" rtl="0" algn="l">
              <a:lnSpc>
                <a:spcPct val="104999"/>
              </a:lnSpc>
              <a:spcBef>
                <a:spcPts val="0"/>
              </a:spcBef>
              <a:spcAft>
                <a:spcPts val="0"/>
              </a:spcAft>
              <a:buNone/>
            </a:pPr>
            <a:r>
              <a:rPr b="1" lang="en-US" sz="1600">
                <a:solidFill>
                  <a:schemeClr val="dk1"/>
                </a:solidFill>
                <a:latin typeface="Times New Roman"/>
                <a:ea typeface="Times New Roman"/>
                <a:cs typeface="Times New Roman"/>
                <a:sym typeface="Times New Roman"/>
              </a:rPr>
              <a:t>Application  Sizing</a:t>
            </a:r>
            <a:endParaRPr sz="1600">
              <a:solidFill>
                <a:schemeClr val="dk1"/>
              </a:solidFill>
              <a:latin typeface="Times New Roman"/>
              <a:ea typeface="Times New Roman"/>
              <a:cs typeface="Times New Roman"/>
              <a:sym typeface="Times New Roman"/>
            </a:endParaRPr>
          </a:p>
        </p:txBody>
      </p:sp>
      <p:sp>
        <p:nvSpPr>
          <p:cNvPr id="229" name="Google Shape;229;p14"/>
          <p:cNvSpPr txBox="1"/>
          <p:nvPr/>
        </p:nvSpPr>
        <p:spPr>
          <a:xfrm>
            <a:off x="2301618" y="1886151"/>
            <a:ext cx="1153795" cy="482600"/>
          </a:xfrm>
          <a:prstGeom prst="rect">
            <a:avLst/>
          </a:prstGeom>
          <a:noFill/>
          <a:ln>
            <a:noFill/>
          </a:ln>
        </p:spPr>
        <p:txBody>
          <a:bodyPr anchorCtr="0" anchor="t" bIns="0" lIns="0" spcFirstLastPara="1" rIns="0" wrap="square" tIns="12050">
            <a:spAutoFit/>
          </a:bodyPr>
          <a:lstStyle/>
          <a:p>
            <a:pPr indent="0" lvl="0" marL="62864" marR="0" rtl="0" algn="l">
              <a:lnSpc>
                <a:spcPct val="112500"/>
              </a:lnSpc>
              <a:spcBef>
                <a:spcPts val="0"/>
              </a:spcBef>
              <a:spcAft>
                <a:spcPts val="0"/>
              </a:spcAft>
              <a:buNone/>
            </a:pPr>
            <a:r>
              <a:rPr b="1" lang="en-US" sz="1600">
                <a:solidFill>
                  <a:schemeClr val="dk1"/>
                </a:solidFill>
                <a:latin typeface="Times New Roman"/>
                <a:ea typeface="Times New Roman"/>
                <a:cs typeface="Times New Roman"/>
                <a:sym typeface="Times New Roman"/>
              </a:rPr>
              <a:t>Service</a:t>
            </a:r>
            <a:endParaRPr sz="1600">
              <a:solidFill>
                <a:schemeClr val="dk1"/>
              </a:solidFill>
              <a:latin typeface="Times New Roman"/>
              <a:ea typeface="Times New Roman"/>
              <a:cs typeface="Times New Roman"/>
              <a:sym typeface="Times New Roman"/>
            </a:endParaRPr>
          </a:p>
          <a:p>
            <a:pPr indent="0" lvl="0" marL="12700" marR="0" rtl="0" algn="l">
              <a:lnSpc>
                <a:spcPct val="112500"/>
              </a:lnSpc>
              <a:spcBef>
                <a:spcPts val="0"/>
              </a:spcBef>
              <a:spcAft>
                <a:spcPts val="0"/>
              </a:spcAft>
              <a:buNone/>
            </a:pPr>
            <a:r>
              <a:rPr b="1" lang="en-US" sz="1600">
                <a:solidFill>
                  <a:schemeClr val="dk1"/>
                </a:solidFill>
                <a:latin typeface="Times New Roman"/>
                <a:ea typeface="Times New Roman"/>
                <a:cs typeface="Times New Roman"/>
                <a:sym typeface="Times New Roman"/>
              </a:rPr>
              <a:t>Procurement</a:t>
            </a:r>
            <a:endParaRPr sz="1600">
              <a:solidFill>
                <a:schemeClr val="dk1"/>
              </a:solidFill>
              <a:latin typeface="Times New Roman"/>
              <a:ea typeface="Times New Roman"/>
              <a:cs typeface="Times New Roman"/>
              <a:sym typeface="Times New Roman"/>
            </a:endParaRPr>
          </a:p>
        </p:txBody>
      </p:sp>
      <p:sp>
        <p:nvSpPr>
          <p:cNvPr id="230" name="Google Shape;230;p14"/>
          <p:cNvSpPr txBox="1"/>
          <p:nvPr/>
        </p:nvSpPr>
        <p:spPr>
          <a:xfrm>
            <a:off x="5450837" y="1884118"/>
            <a:ext cx="127254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Infrastructure</a:t>
            </a:r>
            <a:endParaRPr sz="1600">
              <a:solidFill>
                <a:schemeClr val="dk1"/>
              </a:solidFill>
              <a:latin typeface="Times New Roman"/>
              <a:ea typeface="Times New Roman"/>
              <a:cs typeface="Times New Roman"/>
              <a:sym typeface="Times New Roman"/>
            </a:endParaRPr>
          </a:p>
        </p:txBody>
      </p:sp>
      <p:sp>
        <p:nvSpPr>
          <p:cNvPr id="231" name="Google Shape;231;p14"/>
          <p:cNvSpPr txBox="1"/>
          <p:nvPr/>
        </p:nvSpPr>
        <p:spPr>
          <a:xfrm>
            <a:off x="5450837" y="2099310"/>
            <a:ext cx="11537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Procurement</a:t>
            </a:r>
            <a:endParaRPr sz="1600">
              <a:solidFill>
                <a:schemeClr val="dk1"/>
              </a:solidFill>
              <a:latin typeface="Times New Roman"/>
              <a:ea typeface="Times New Roman"/>
              <a:cs typeface="Times New Roman"/>
              <a:sym typeface="Times New Roman"/>
            </a:endParaRPr>
          </a:p>
        </p:txBody>
      </p:sp>
      <p:sp>
        <p:nvSpPr>
          <p:cNvPr id="232" name="Google Shape;232;p14"/>
          <p:cNvSpPr txBox="1"/>
          <p:nvPr/>
        </p:nvSpPr>
        <p:spPr>
          <a:xfrm>
            <a:off x="1262245" y="2661815"/>
            <a:ext cx="1419225" cy="1327785"/>
          </a:xfrm>
          <a:prstGeom prst="rect">
            <a:avLst/>
          </a:prstGeom>
          <a:noFill/>
          <a:ln>
            <a:noFill/>
          </a:ln>
        </p:spPr>
        <p:txBody>
          <a:bodyPr anchorCtr="0" anchor="t" bIns="0" lIns="0" spcFirstLastPara="1" rIns="0" wrap="square" tIns="144125">
            <a:spAutoFit/>
          </a:bodyPr>
          <a:lstStyle/>
          <a:p>
            <a:pPr indent="24765" lvl="0" marL="12700" marR="0" rtl="0" algn="l">
              <a:lnSpc>
                <a:spcPct val="100000"/>
              </a:lnSpc>
              <a:spcBef>
                <a:spcPts val="0"/>
              </a:spcBef>
              <a:spcAft>
                <a:spcPts val="0"/>
              </a:spcAft>
              <a:buNone/>
            </a:pPr>
            <a:r>
              <a:rPr b="1" lang="en-US" sz="1600">
                <a:solidFill>
                  <a:schemeClr val="dk1"/>
                </a:solidFill>
                <a:latin typeface="Times New Roman"/>
                <a:ea typeface="Times New Roman"/>
                <a:cs typeface="Times New Roman"/>
                <a:sym typeface="Times New Roman"/>
              </a:rPr>
              <a:t>Availability</a:t>
            </a:r>
            <a:endParaRPr sz="1600">
              <a:solidFill>
                <a:schemeClr val="dk1"/>
              </a:solidFill>
              <a:latin typeface="Times New Roman"/>
              <a:ea typeface="Times New Roman"/>
              <a:cs typeface="Times New Roman"/>
              <a:sym typeface="Times New Roman"/>
            </a:endParaRPr>
          </a:p>
          <a:p>
            <a:pPr indent="0" lvl="0" marL="12700" marR="261620" rtl="0" algn="l">
              <a:lnSpc>
                <a:spcPct val="104999"/>
              </a:lnSpc>
              <a:spcBef>
                <a:spcPts val="1290"/>
              </a:spcBef>
              <a:spcAft>
                <a:spcPts val="0"/>
              </a:spcAft>
              <a:buNone/>
            </a:pPr>
            <a:r>
              <a:rPr b="1" lang="en-US" sz="1600">
                <a:solidFill>
                  <a:schemeClr val="dk1"/>
                </a:solidFill>
                <a:latin typeface="Times New Roman"/>
                <a:ea typeface="Times New Roman"/>
                <a:cs typeface="Times New Roman"/>
                <a:sym typeface="Times New Roman"/>
              </a:rPr>
              <a:t>Contractor  Management</a:t>
            </a:r>
            <a:endParaRPr sz="1600">
              <a:solidFill>
                <a:schemeClr val="dk1"/>
              </a:solidFill>
              <a:latin typeface="Times New Roman"/>
              <a:ea typeface="Times New Roman"/>
              <a:cs typeface="Times New Roman"/>
              <a:sym typeface="Times New Roman"/>
            </a:endParaRPr>
          </a:p>
          <a:p>
            <a:pPr indent="0" lvl="0" marL="368300" marR="0" rtl="0" algn="l">
              <a:lnSpc>
                <a:spcPct val="100000"/>
              </a:lnSpc>
              <a:spcBef>
                <a:spcPts val="725"/>
              </a:spcBef>
              <a:spcAft>
                <a:spcPts val="0"/>
              </a:spcAft>
              <a:buNone/>
            </a:pPr>
            <a:r>
              <a:rPr b="1" lang="en-US" sz="1600">
                <a:solidFill>
                  <a:schemeClr val="dk1"/>
                </a:solidFill>
                <a:latin typeface="Times New Roman"/>
                <a:ea typeface="Times New Roman"/>
                <a:cs typeface="Times New Roman"/>
                <a:sym typeface="Times New Roman"/>
              </a:rPr>
              <a:t>Consultants</a:t>
            </a:r>
            <a:endParaRPr sz="1600">
              <a:solidFill>
                <a:schemeClr val="dk1"/>
              </a:solidFill>
              <a:latin typeface="Times New Roman"/>
              <a:ea typeface="Times New Roman"/>
              <a:cs typeface="Times New Roman"/>
              <a:sym typeface="Times New Roman"/>
            </a:endParaRPr>
          </a:p>
        </p:txBody>
      </p:sp>
      <p:sp>
        <p:nvSpPr>
          <p:cNvPr id="233" name="Google Shape;233;p14"/>
          <p:cNvSpPr txBox="1"/>
          <p:nvPr/>
        </p:nvSpPr>
        <p:spPr>
          <a:xfrm>
            <a:off x="6093962" y="2229356"/>
            <a:ext cx="1507490" cy="1885314"/>
          </a:xfrm>
          <a:prstGeom prst="rect">
            <a:avLst/>
          </a:prstGeom>
          <a:noFill/>
          <a:ln>
            <a:noFill/>
          </a:ln>
        </p:spPr>
        <p:txBody>
          <a:bodyPr anchorCtr="0" anchor="t" bIns="0" lIns="0" spcFirstLastPara="1" rIns="0" wrap="square" tIns="44450">
            <a:spAutoFit/>
          </a:bodyPr>
          <a:lstStyle/>
          <a:p>
            <a:pPr indent="0" lvl="0" marL="12700" marR="359410" rtl="0" algn="l">
              <a:lnSpc>
                <a:spcPct val="104999"/>
              </a:lnSpc>
              <a:spcBef>
                <a:spcPts val="0"/>
              </a:spcBef>
              <a:spcAft>
                <a:spcPts val="0"/>
              </a:spcAft>
              <a:buNone/>
            </a:pPr>
            <a:r>
              <a:rPr b="1" lang="en-US" sz="1600">
                <a:solidFill>
                  <a:schemeClr val="dk1"/>
                </a:solidFill>
                <a:latin typeface="Times New Roman"/>
                <a:ea typeface="Times New Roman"/>
                <a:cs typeface="Times New Roman"/>
                <a:sym typeface="Times New Roman"/>
              </a:rPr>
              <a:t>Equipment  Maintenance</a:t>
            </a:r>
            <a:endParaRPr sz="1600">
              <a:solidFill>
                <a:schemeClr val="dk1"/>
              </a:solidFill>
              <a:latin typeface="Times New Roman"/>
              <a:ea typeface="Times New Roman"/>
              <a:cs typeface="Times New Roman"/>
              <a:sym typeface="Times New Roman"/>
            </a:endParaRPr>
          </a:p>
          <a:p>
            <a:pPr indent="0" lvl="0" marL="388620" marR="0" rtl="0" algn="l">
              <a:lnSpc>
                <a:spcPct val="62812"/>
              </a:lnSpc>
              <a:spcBef>
                <a:spcPts val="0"/>
              </a:spcBef>
              <a:spcAft>
                <a:spcPts val="0"/>
              </a:spcAft>
              <a:buNone/>
            </a:pPr>
            <a:r>
              <a:rPr b="1" lang="en-US" sz="1600">
                <a:solidFill>
                  <a:schemeClr val="dk1"/>
                </a:solidFill>
                <a:latin typeface="Times New Roman"/>
                <a:ea typeface="Times New Roman"/>
                <a:cs typeface="Times New Roman"/>
                <a:sym typeface="Times New Roman"/>
              </a:rPr>
              <a:t>Resource</a:t>
            </a:r>
            <a:endParaRPr sz="1600">
              <a:solidFill>
                <a:schemeClr val="dk1"/>
              </a:solidFill>
              <a:latin typeface="Times New Roman"/>
              <a:ea typeface="Times New Roman"/>
              <a:cs typeface="Times New Roman"/>
              <a:sym typeface="Times New Roman"/>
            </a:endParaRPr>
          </a:p>
          <a:p>
            <a:pPr indent="-57784" lvl="0" marL="445769" marR="5080" rtl="0" algn="l">
              <a:lnSpc>
                <a:spcPct val="86400"/>
              </a:lnSpc>
              <a:spcBef>
                <a:spcPts val="140"/>
              </a:spcBef>
              <a:spcAft>
                <a:spcPts val="0"/>
              </a:spcAft>
              <a:buNone/>
            </a:pPr>
            <a:r>
              <a:rPr b="1" lang="en-US" sz="1600">
                <a:solidFill>
                  <a:schemeClr val="dk1"/>
                </a:solidFill>
                <a:latin typeface="Times New Roman"/>
                <a:ea typeface="Times New Roman"/>
                <a:cs typeface="Times New Roman"/>
                <a:sym typeface="Times New Roman"/>
              </a:rPr>
              <a:t>Utilization  Technology  Refresh  System  Admins</a:t>
            </a:r>
            <a:endParaRPr sz="1600">
              <a:solidFill>
                <a:schemeClr val="dk1"/>
              </a:solidFill>
              <a:latin typeface="Times New Roman"/>
              <a:ea typeface="Times New Roman"/>
              <a:cs typeface="Times New Roman"/>
              <a:sym typeface="Times New Roman"/>
            </a:endParaRPr>
          </a:p>
          <a:p>
            <a:pPr indent="0" lvl="0" marL="61594" marR="0" rtl="0" algn="l">
              <a:lnSpc>
                <a:spcPct val="99062"/>
              </a:lnSpc>
              <a:spcBef>
                <a:spcPts val="0"/>
              </a:spcBef>
              <a:spcAft>
                <a:spcPts val="0"/>
              </a:spcAft>
              <a:buNone/>
            </a:pPr>
            <a:r>
              <a:rPr b="1" lang="en-US" sz="1600">
                <a:solidFill>
                  <a:schemeClr val="dk1"/>
                </a:solidFill>
                <a:latin typeface="Times New Roman"/>
                <a:ea typeface="Times New Roman"/>
                <a:cs typeface="Times New Roman"/>
                <a:sym typeface="Times New Roman"/>
              </a:rPr>
              <a:t>Capacity</a:t>
            </a:r>
            <a:endParaRPr sz="1600">
              <a:solidFill>
                <a:schemeClr val="dk1"/>
              </a:solidFill>
              <a:latin typeface="Times New Roman"/>
              <a:ea typeface="Times New Roman"/>
              <a:cs typeface="Times New Roman"/>
              <a:sym typeface="Times New Roman"/>
            </a:endParaRPr>
          </a:p>
        </p:txBody>
      </p:sp>
      <p:sp>
        <p:nvSpPr>
          <p:cNvPr id="234" name="Google Shape;234;p14"/>
          <p:cNvSpPr txBox="1"/>
          <p:nvPr/>
        </p:nvSpPr>
        <p:spPr>
          <a:xfrm>
            <a:off x="4453504" y="4058815"/>
            <a:ext cx="4246880" cy="725805"/>
          </a:xfrm>
          <a:prstGeom prst="rect">
            <a:avLst/>
          </a:prstGeom>
          <a:noFill/>
          <a:ln>
            <a:noFill/>
          </a:ln>
        </p:spPr>
        <p:txBody>
          <a:bodyPr anchorCtr="0" anchor="t" bIns="0" lIns="0" spcFirstLastPara="1" rIns="0" wrap="square" tIns="12050">
            <a:spAutoFit/>
          </a:bodyPr>
          <a:lstStyle/>
          <a:p>
            <a:pPr indent="0" lvl="0" marL="0" marR="56514" rtl="0" algn="ctr">
              <a:lnSpc>
                <a:spcPct val="108124"/>
              </a:lnSpc>
              <a:spcBef>
                <a:spcPts val="0"/>
              </a:spcBef>
              <a:spcAft>
                <a:spcPts val="0"/>
              </a:spcAft>
              <a:buNone/>
            </a:pPr>
            <a:r>
              <a:rPr b="1" lang="en-US" sz="1600">
                <a:solidFill>
                  <a:schemeClr val="dk1"/>
                </a:solidFill>
                <a:latin typeface="Times New Roman"/>
                <a:ea typeface="Times New Roman"/>
                <a:cs typeface="Times New Roman"/>
                <a:sym typeface="Times New Roman"/>
              </a:rPr>
              <a:t>Planning</a:t>
            </a:r>
            <a:endParaRPr sz="1600">
              <a:solidFill>
                <a:schemeClr val="dk1"/>
              </a:solidFill>
              <a:latin typeface="Times New Roman"/>
              <a:ea typeface="Times New Roman"/>
              <a:cs typeface="Times New Roman"/>
              <a:sym typeface="Times New Roman"/>
            </a:endParaRPr>
          </a:p>
          <a:p>
            <a:pPr indent="0" lvl="0" marL="0" marR="13334" rtl="0" algn="r">
              <a:lnSpc>
                <a:spcPct val="97500"/>
              </a:lnSpc>
              <a:spcBef>
                <a:spcPts val="0"/>
              </a:spcBef>
              <a:spcAft>
                <a:spcPts val="0"/>
              </a:spcAft>
              <a:buNone/>
            </a:pPr>
            <a:r>
              <a:rPr lang="en-US" sz="1200">
                <a:solidFill>
                  <a:schemeClr val="dk1"/>
                </a:solidFill>
                <a:latin typeface="Calibri"/>
                <a:ea typeface="Calibri"/>
                <a:cs typeface="Calibri"/>
                <a:sym typeface="Calibri"/>
              </a:rPr>
              <a:t>Source: Perry Boster, “Utility Computing for Shared Services”,</a:t>
            </a:r>
            <a:endParaRPr sz="1200">
              <a:solidFill>
                <a:schemeClr val="dk1"/>
              </a:solidFill>
              <a:latin typeface="Calibri"/>
              <a:ea typeface="Calibri"/>
              <a:cs typeface="Calibri"/>
              <a:sym typeface="Calibri"/>
            </a:endParaRPr>
          </a:p>
          <a:p>
            <a:pPr indent="0" lvl="0" marL="0" marR="12700" rtl="0" algn="r">
              <a:lnSpc>
                <a:spcPct val="105416"/>
              </a:lnSpc>
              <a:spcBef>
                <a:spcPts val="0"/>
              </a:spcBef>
              <a:spcAft>
                <a:spcPts val="0"/>
              </a:spcAft>
              <a:buNone/>
            </a:pPr>
            <a:r>
              <a:rPr lang="en-US" sz="1200">
                <a:solidFill>
                  <a:schemeClr val="dk1"/>
                </a:solidFill>
                <a:latin typeface="Calibri"/>
                <a:ea typeface="Calibri"/>
                <a:cs typeface="Calibri"/>
                <a:sym typeface="Calibri"/>
              </a:rPr>
              <a:t>Massachusetts Digital Government Summit, September 23rd, 2004 –</a:t>
            </a:r>
            <a:endParaRPr/>
          </a:p>
          <a:p>
            <a:pPr indent="0" lvl="0" marL="0" marR="5080" rtl="0" algn="r">
              <a:lnSpc>
                <a:spcPct val="112500"/>
              </a:lnSpc>
              <a:spcBef>
                <a:spcPts val="0"/>
              </a:spcBef>
              <a:spcAft>
                <a:spcPts val="0"/>
              </a:spcAft>
              <a:buNone/>
            </a:pPr>
            <a:r>
              <a:rPr lang="en-US" sz="1200">
                <a:solidFill>
                  <a:schemeClr val="dk1"/>
                </a:solidFill>
                <a:latin typeface="Calibri"/>
                <a:ea typeface="Calibri"/>
                <a:cs typeface="Calibri"/>
                <a:sym typeface="Calibri"/>
              </a:rPr>
              <a:t>Boston, MA</a:t>
            </a:r>
            <a:endParaRPr sz="1200">
              <a:solidFill>
                <a:schemeClr val="dk1"/>
              </a:solidFill>
              <a:latin typeface="Calibri"/>
              <a:ea typeface="Calibri"/>
              <a:cs typeface="Calibri"/>
              <a:sym typeface="Calibri"/>
            </a:endParaRPr>
          </a:p>
        </p:txBody>
      </p:sp>
      <p:sp>
        <p:nvSpPr>
          <p:cNvPr id="235" name="Google Shape;235;p1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5"/>
          <p:cNvSpPr txBox="1"/>
          <p:nvPr>
            <p:ph type="title"/>
          </p:nvPr>
        </p:nvSpPr>
        <p:spPr>
          <a:xfrm>
            <a:off x="1447800" y="53466"/>
            <a:ext cx="7067142" cy="998350"/>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000000"/>
              </a:buClr>
              <a:buSzPts val="3200"/>
              <a:buFont typeface="Calibri"/>
              <a:buNone/>
            </a:pPr>
            <a:r>
              <a:rPr b="1" lang="en-US" sz="3200">
                <a:solidFill>
                  <a:srgbClr val="000000"/>
                </a:solidFill>
                <a:latin typeface="Calibri"/>
                <a:ea typeface="Calibri"/>
                <a:cs typeface="Calibri"/>
                <a:sym typeface="Calibri"/>
              </a:rPr>
              <a:t>Utility Computing Payment </a:t>
            </a:r>
            <a:br>
              <a:rPr b="1" lang="en-US" sz="3200">
                <a:solidFill>
                  <a:srgbClr val="000000"/>
                </a:solidFill>
                <a:latin typeface="Calibri"/>
                <a:ea typeface="Calibri"/>
                <a:cs typeface="Calibri"/>
                <a:sym typeface="Calibri"/>
              </a:rPr>
            </a:br>
            <a:r>
              <a:rPr b="1" lang="en-US" sz="3200">
                <a:solidFill>
                  <a:srgbClr val="000000"/>
                </a:solidFill>
                <a:latin typeface="Calibri"/>
                <a:ea typeface="Calibri"/>
                <a:cs typeface="Calibri"/>
                <a:sym typeface="Calibri"/>
              </a:rPr>
              <a:t>Models</a:t>
            </a:r>
            <a:endParaRPr b="1" sz="3200">
              <a:latin typeface="Calibri"/>
              <a:ea typeface="Calibri"/>
              <a:cs typeface="Calibri"/>
              <a:sym typeface="Calibri"/>
            </a:endParaRPr>
          </a:p>
        </p:txBody>
      </p:sp>
      <p:sp>
        <p:nvSpPr>
          <p:cNvPr id="241" name="Google Shape;241;p15"/>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27</a:t>
            </a:r>
            <a:endParaRPr/>
          </a:p>
        </p:txBody>
      </p:sp>
      <p:sp>
        <p:nvSpPr>
          <p:cNvPr id="242" name="Google Shape;242;p15"/>
          <p:cNvSpPr txBox="1"/>
          <p:nvPr/>
        </p:nvSpPr>
        <p:spPr>
          <a:xfrm>
            <a:off x="612139" y="1107183"/>
            <a:ext cx="7921625" cy="3960700"/>
          </a:xfrm>
          <a:prstGeom prst="rect">
            <a:avLst/>
          </a:prstGeom>
          <a:noFill/>
          <a:ln>
            <a:noFill/>
          </a:ln>
        </p:spPr>
        <p:txBody>
          <a:bodyPr anchorCtr="0" anchor="t" bIns="0" lIns="0" spcFirstLastPara="1" rIns="0" wrap="square" tIns="13325">
            <a:spAutoFit/>
          </a:bodyPr>
          <a:lstStyle/>
          <a:p>
            <a:pPr indent="-343535" lvl="0" marL="355600" marR="290830" rtl="0" algn="l">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Same range of charging models as other utility providers: gas, electricity, telecommunications, water,  television broadcasting</a:t>
            </a:r>
            <a:endParaRPr sz="1800">
              <a:solidFill>
                <a:schemeClr val="dk1"/>
              </a:solidFill>
              <a:latin typeface="Calibri"/>
              <a:ea typeface="Calibri"/>
              <a:cs typeface="Calibri"/>
              <a:sym typeface="Calibri"/>
            </a:endParaRPr>
          </a:p>
          <a:p>
            <a:pPr indent="0" lvl="0" marL="332740" marR="0" rtl="0" algn="l">
              <a:lnSpc>
                <a:spcPct val="100000"/>
              </a:lnSpc>
              <a:spcBef>
                <a:spcPts val="305"/>
              </a:spcBef>
              <a:spcAft>
                <a:spcPts val="0"/>
              </a:spcAft>
              <a:buNone/>
            </a:pPr>
            <a:r>
              <a:rPr lang="en-US" sz="1800">
                <a:solidFill>
                  <a:schemeClr val="dk1"/>
                </a:solidFill>
                <a:latin typeface="Calibri"/>
                <a:ea typeface="Calibri"/>
                <a:cs typeface="Calibri"/>
                <a:sym typeface="Calibri"/>
              </a:rPr>
              <a:t>− Flat rate</a:t>
            </a:r>
            <a:endParaRPr sz="1800">
              <a:solidFill>
                <a:schemeClr val="dk1"/>
              </a:solidFill>
              <a:latin typeface="Calibri"/>
              <a:ea typeface="Calibri"/>
              <a:cs typeface="Calibri"/>
              <a:sym typeface="Calibri"/>
            </a:endParaRPr>
          </a:p>
          <a:p>
            <a:pPr indent="0" lvl="0" marL="332740" marR="0" rtl="0" algn="l">
              <a:lnSpc>
                <a:spcPct val="100000"/>
              </a:lnSpc>
              <a:spcBef>
                <a:spcPts val="290"/>
              </a:spcBef>
              <a:spcAft>
                <a:spcPts val="0"/>
              </a:spcAft>
              <a:buNone/>
            </a:pPr>
            <a:r>
              <a:rPr lang="en-US" sz="1800">
                <a:solidFill>
                  <a:schemeClr val="dk1"/>
                </a:solidFill>
                <a:latin typeface="Calibri"/>
                <a:ea typeface="Calibri"/>
                <a:cs typeface="Calibri"/>
                <a:sym typeface="Calibri"/>
              </a:rPr>
              <a:t>− Tiered</a:t>
            </a:r>
            <a:endParaRPr sz="1800">
              <a:solidFill>
                <a:schemeClr val="dk1"/>
              </a:solidFill>
              <a:latin typeface="Calibri"/>
              <a:ea typeface="Calibri"/>
              <a:cs typeface="Calibri"/>
              <a:sym typeface="Calibri"/>
            </a:endParaRPr>
          </a:p>
          <a:p>
            <a:pPr indent="0" lvl="0" marL="332740" marR="0" rtl="0" algn="l">
              <a:lnSpc>
                <a:spcPct val="100000"/>
              </a:lnSpc>
              <a:spcBef>
                <a:spcPts val="285"/>
              </a:spcBef>
              <a:spcAft>
                <a:spcPts val="0"/>
              </a:spcAft>
              <a:buNone/>
            </a:pPr>
            <a:r>
              <a:rPr lang="en-US" sz="1800">
                <a:solidFill>
                  <a:schemeClr val="dk1"/>
                </a:solidFill>
                <a:latin typeface="Calibri"/>
                <a:ea typeface="Calibri"/>
                <a:cs typeface="Calibri"/>
                <a:sym typeface="Calibri"/>
              </a:rPr>
              <a:t>− Subscription</a:t>
            </a:r>
            <a:endParaRPr sz="1800">
              <a:solidFill>
                <a:schemeClr val="dk1"/>
              </a:solidFill>
              <a:latin typeface="Calibri"/>
              <a:ea typeface="Calibri"/>
              <a:cs typeface="Calibri"/>
              <a:sym typeface="Calibri"/>
            </a:endParaRPr>
          </a:p>
          <a:p>
            <a:pPr indent="0" lvl="0" marL="332740" marR="0" rtl="0" algn="l">
              <a:lnSpc>
                <a:spcPct val="100000"/>
              </a:lnSpc>
              <a:spcBef>
                <a:spcPts val="290"/>
              </a:spcBef>
              <a:spcAft>
                <a:spcPts val="0"/>
              </a:spcAft>
              <a:buNone/>
            </a:pPr>
            <a:r>
              <a:rPr lang="en-US" sz="1800">
                <a:solidFill>
                  <a:schemeClr val="dk1"/>
                </a:solidFill>
                <a:latin typeface="Calibri"/>
                <a:ea typeface="Calibri"/>
                <a:cs typeface="Calibri"/>
                <a:sym typeface="Calibri"/>
              </a:rPr>
              <a:t>− Metered</a:t>
            </a:r>
            <a:endParaRPr sz="1800">
              <a:solidFill>
                <a:schemeClr val="dk1"/>
              </a:solidFill>
              <a:latin typeface="Calibri"/>
              <a:ea typeface="Calibri"/>
              <a:cs typeface="Calibri"/>
              <a:sym typeface="Calibri"/>
            </a:endParaRPr>
          </a:p>
          <a:p>
            <a:pPr indent="0" lvl="0" marL="332740" marR="0" rtl="0" algn="l">
              <a:lnSpc>
                <a:spcPct val="100000"/>
              </a:lnSpc>
              <a:spcBef>
                <a:spcPts val="290"/>
              </a:spcBef>
              <a:spcAft>
                <a:spcPts val="0"/>
              </a:spcAft>
              <a:buNone/>
            </a:pPr>
            <a:r>
              <a:rPr lang="en-US" sz="1800">
                <a:solidFill>
                  <a:schemeClr val="dk1"/>
                </a:solidFill>
                <a:latin typeface="Calibri"/>
                <a:ea typeface="Calibri"/>
                <a:cs typeface="Calibri"/>
                <a:sym typeface="Calibri"/>
              </a:rPr>
              <a:t>− Pay as you go</a:t>
            </a:r>
            <a:endParaRPr sz="1800">
              <a:solidFill>
                <a:schemeClr val="dk1"/>
              </a:solidFill>
              <a:latin typeface="Calibri"/>
              <a:ea typeface="Calibri"/>
              <a:cs typeface="Calibri"/>
              <a:sym typeface="Calibri"/>
            </a:endParaRPr>
          </a:p>
          <a:p>
            <a:pPr indent="0" lvl="0" marL="332740" marR="0" rtl="0" algn="l">
              <a:lnSpc>
                <a:spcPct val="100000"/>
              </a:lnSpc>
              <a:spcBef>
                <a:spcPts val="290"/>
              </a:spcBef>
              <a:spcAft>
                <a:spcPts val="0"/>
              </a:spcAft>
              <a:buNone/>
            </a:pPr>
            <a:r>
              <a:rPr lang="en-US" sz="1800">
                <a:solidFill>
                  <a:schemeClr val="dk1"/>
                </a:solidFill>
                <a:latin typeface="Calibri"/>
                <a:ea typeface="Calibri"/>
                <a:cs typeface="Calibri"/>
                <a:sym typeface="Calibri"/>
              </a:rPr>
              <a:t>− Standing charges</a:t>
            </a:r>
            <a:endParaRPr sz="1800">
              <a:solidFill>
                <a:schemeClr val="dk1"/>
              </a:solidFill>
              <a:latin typeface="Calibri"/>
              <a:ea typeface="Calibri"/>
              <a:cs typeface="Calibri"/>
              <a:sym typeface="Calibri"/>
            </a:endParaRPr>
          </a:p>
          <a:p>
            <a:pPr indent="-343535" lvl="0" marL="355600" marR="593090" rtl="0" algn="l">
              <a:lnSpc>
                <a:spcPct val="100000"/>
              </a:lnSpc>
              <a:spcBef>
                <a:spcPts val="31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Different pricing models for different customers based on factors such as scale, commitment and  payment frequency</a:t>
            </a:r>
            <a:endParaRPr sz="1800">
              <a:solidFill>
                <a:schemeClr val="dk1"/>
              </a:solidFill>
              <a:latin typeface="Calibri"/>
              <a:ea typeface="Calibri"/>
              <a:cs typeface="Calibri"/>
              <a:sym typeface="Calibri"/>
            </a:endParaRPr>
          </a:p>
          <a:p>
            <a:pPr indent="-343535" lvl="0" marL="355600" marR="0" rtl="0" algn="l">
              <a:lnSpc>
                <a:spcPct val="100000"/>
              </a:lnSpc>
              <a:spcBef>
                <a:spcPts val="33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But the principle of utility computing remains</a:t>
            </a:r>
            <a:endParaRPr sz="1800">
              <a:solidFill>
                <a:schemeClr val="dk1"/>
              </a:solidFill>
              <a:latin typeface="Calibri"/>
              <a:ea typeface="Calibri"/>
              <a:cs typeface="Calibri"/>
              <a:sym typeface="Calibri"/>
            </a:endParaRPr>
          </a:p>
          <a:p>
            <a:pPr indent="-343535" lvl="0" marL="355600" marR="5080" rtl="0" algn="l">
              <a:lnSpc>
                <a:spcPct val="100000"/>
              </a:lnSpc>
              <a:spcBef>
                <a:spcPts val="34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pricing model is simply an expression by the provider of the costs of provision of the resources and a  profit margin</a:t>
            </a:r>
            <a:endParaRPr sz="1800">
              <a:solidFill>
                <a:schemeClr val="dk1"/>
              </a:solidFill>
              <a:latin typeface="Calibri"/>
              <a:ea typeface="Calibri"/>
              <a:cs typeface="Calibri"/>
              <a:sym typeface="Calibri"/>
            </a:endParaRPr>
          </a:p>
        </p:txBody>
      </p:sp>
      <p:sp>
        <p:nvSpPr>
          <p:cNvPr id="243" name="Google Shape;243;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2501010" y="481296"/>
            <a:ext cx="4490085" cy="50590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000000"/>
              </a:buClr>
              <a:buSzPts val="3200"/>
              <a:buFont typeface="Calibri"/>
              <a:buNone/>
            </a:pPr>
            <a:r>
              <a:rPr b="1" lang="en-US" sz="3200">
                <a:solidFill>
                  <a:srgbClr val="000000"/>
                </a:solidFill>
              </a:rPr>
              <a:t>Risks in a UC World</a:t>
            </a:r>
            <a:endParaRPr b="1" sz="3200"/>
          </a:p>
        </p:txBody>
      </p:sp>
      <p:sp>
        <p:nvSpPr>
          <p:cNvPr id="249" name="Google Shape;249;p16"/>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28</a:t>
            </a:r>
            <a:endParaRPr/>
          </a:p>
        </p:txBody>
      </p:sp>
      <p:sp>
        <p:nvSpPr>
          <p:cNvPr id="250" name="Google Shape;250;p16"/>
          <p:cNvSpPr txBox="1"/>
          <p:nvPr/>
        </p:nvSpPr>
        <p:spPr>
          <a:xfrm>
            <a:off x="604217" y="1252880"/>
            <a:ext cx="3737610" cy="2921954"/>
          </a:xfrm>
          <a:prstGeom prst="rect">
            <a:avLst/>
          </a:prstGeom>
          <a:noFill/>
          <a:ln>
            <a:noFill/>
          </a:ln>
        </p:spPr>
        <p:txBody>
          <a:bodyPr anchorCtr="0" anchor="t" bIns="0" lIns="0" spcFirstLastPara="1" rIns="0" wrap="square" tIns="79375">
            <a:spAutoFit/>
          </a:bodyPr>
          <a:lstStyle/>
          <a:p>
            <a:pPr indent="-182880" lvl="0" marL="195580" marR="0" rtl="0" algn="l">
              <a:lnSpc>
                <a:spcPct val="100000"/>
              </a:lnSpc>
              <a:spcBef>
                <a:spcPts val="0"/>
              </a:spcBef>
              <a:spcAft>
                <a:spcPts val="0"/>
              </a:spcAft>
              <a:buClr>
                <a:srgbClr val="4F80BC"/>
              </a:buClr>
              <a:buSzPts val="2355"/>
              <a:buFont typeface="Arial"/>
              <a:buChar char="•"/>
            </a:pPr>
            <a:r>
              <a:rPr lang="en-US" sz="2800">
                <a:solidFill>
                  <a:schemeClr val="dk1"/>
                </a:solidFill>
                <a:latin typeface="Calibri"/>
                <a:ea typeface="Calibri"/>
                <a:cs typeface="Calibri"/>
                <a:sym typeface="Calibri"/>
              </a:rPr>
              <a:t>Data Backup</a:t>
            </a:r>
            <a:endParaRPr sz="2800">
              <a:solidFill>
                <a:schemeClr val="dk1"/>
              </a:solidFill>
              <a:latin typeface="Calibri"/>
              <a:ea typeface="Calibri"/>
              <a:cs typeface="Calibri"/>
              <a:sym typeface="Calibri"/>
            </a:endParaRPr>
          </a:p>
          <a:p>
            <a:pPr indent="-182880" lvl="0" marL="195580" marR="0" rtl="0" algn="l">
              <a:lnSpc>
                <a:spcPct val="100000"/>
              </a:lnSpc>
              <a:spcBef>
                <a:spcPts val="530"/>
              </a:spcBef>
              <a:spcAft>
                <a:spcPts val="0"/>
              </a:spcAft>
              <a:buClr>
                <a:srgbClr val="4F80BC"/>
              </a:buClr>
              <a:buSzPts val="2355"/>
              <a:buFont typeface="Arial"/>
              <a:buChar char="•"/>
            </a:pPr>
            <a:r>
              <a:rPr lang="en-US" sz="2800">
                <a:solidFill>
                  <a:schemeClr val="dk1"/>
                </a:solidFill>
                <a:latin typeface="Calibri"/>
                <a:ea typeface="Calibri"/>
                <a:cs typeface="Calibri"/>
                <a:sym typeface="Calibri"/>
              </a:rPr>
              <a:t>Data Security</a:t>
            </a:r>
            <a:endParaRPr sz="2800">
              <a:solidFill>
                <a:schemeClr val="dk1"/>
              </a:solidFill>
              <a:latin typeface="Calibri"/>
              <a:ea typeface="Calibri"/>
              <a:cs typeface="Calibri"/>
              <a:sym typeface="Calibri"/>
            </a:endParaRPr>
          </a:p>
          <a:p>
            <a:pPr indent="-182880" lvl="0" marL="195580" marR="0" rtl="0" algn="l">
              <a:lnSpc>
                <a:spcPct val="100000"/>
              </a:lnSpc>
              <a:spcBef>
                <a:spcPts val="530"/>
              </a:spcBef>
              <a:spcAft>
                <a:spcPts val="0"/>
              </a:spcAft>
              <a:buClr>
                <a:srgbClr val="4F80BC"/>
              </a:buClr>
              <a:buSzPts val="2355"/>
              <a:buFont typeface="Arial"/>
              <a:buChar char="•"/>
            </a:pPr>
            <a:r>
              <a:rPr lang="en-US" sz="2800">
                <a:solidFill>
                  <a:schemeClr val="dk1"/>
                </a:solidFill>
                <a:latin typeface="Calibri"/>
                <a:ea typeface="Calibri"/>
                <a:cs typeface="Calibri"/>
                <a:sym typeface="Calibri"/>
              </a:rPr>
              <a:t>Partner Competency</a:t>
            </a:r>
            <a:endParaRPr sz="2800">
              <a:solidFill>
                <a:schemeClr val="dk1"/>
              </a:solidFill>
              <a:latin typeface="Calibri"/>
              <a:ea typeface="Calibri"/>
              <a:cs typeface="Calibri"/>
              <a:sym typeface="Calibri"/>
            </a:endParaRPr>
          </a:p>
          <a:p>
            <a:pPr indent="-182880" lvl="0" marL="195580" marR="0" rtl="0" algn="l">
              <a:lnSpc>
                <a:spcPct val="100000"/>
              </a:lnSpc>
              <a:spcBef>
                <a:spcPts val="530"/>
              </a:spcBef>
              <a:spcAft>
                <a:spcPts val="0"/>
              </a:spcAft>
              <a:buClr>
                <a:srgbClr val="4F80BC"/>
              </a:buClr>
              <a:buSzPts val="2355"/>
              <a:buFont typeface="Arial"/>
              <a:buChar char="•"/>
            </a:pPr>
            <a:r>
              <a:rPr lang="en-US" sz="2800">
                <a:solidFill>
                  <a:schemeClr val="dk1"/>
                </a:solidFill>
                <a:latin typeface="Calibri"/>
                <a:ea typeface="Calibri"/>
                <a:cs typeface="Calibri"/>
                <a:sym typeface="Calibri"/>
              </a:rPr>
              <a:t>Defining SLA</a:t>
            </a:r>
            <a:endParaRPr sz="2800">
              <a:solidFill>
                <a:schemeClr val="dk1"/>
              </a:solidFill>
              <a:latin typeface="Calibri"/>
              <a:ea typeface="Calibri"/>
              <a:cs typeface="Calibri"/>
              <a:sym typeface="Calibri"/>
            </a:endParaRPr>
          </a:p>
          <a:p>
            <a:pPr indent="-182880" lvl="0" marL="195580" marR="0" rtl="0" algn="l">
              <a:lnSpc>
                <a:spcPct val="100000"/>
              </a:lnSpc>
              <a:spcBef>
                <a:spcPts val="525"/>
              </a:spcBef>
              <a:spcAft>
                <a:spcPts val="0"/>
              </a:spcAft>
              <a:buClr>
                <a:srgbClr val="4F80BC"/>
              </a:buClr>
              <a:buSzPts val="2355"/>
              <a:buFont typeface="Arial"/>
              <a:buChar char="•"/>
            </a:pPr>
            <a:r>
              <a:rPr lang="en-US" sz="2800">
                <a:solidFill>
                  <a:schemeClr val="dk1"/>
                </a:solidFill>
                <a:latin typeface="Calibri"/>
                <a:ea typeface="Calibri"/>
                <a:cs typeface="Calibri"/>
                <a:sym typeface="Calibri"/>
              </a:rPr>
              <a:t>Getting value from charge back</a:t>
            </a:r>
            <a:endParaRPr sz="2800">
              <a:solidFill>
                <a:schemeClr val="dk1"/>
              </a:solidFill>
              <a:latin typeface="Calibri"/>
              <a:ea typeface="Calibri"/>
              <a:cs typeface="Calibri"/>
              <a:sym typeface="Calibri"/>
            </a:endParaRPr>
          </a:p>
        </p:txBody>
      </p:sp>
      <p:sp>
        <p:nvSpPr>
          <p:cNvPr id="251" name="Google Shape;251;p1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7"/>
          <p:cNvSpPr txBox="1"/>
          <p:nvPr>
            <p:ph type="title"/>
          </p:nvPr>
        </p:nvSpPr>
        <p:spPr>
          <a:xfrm>
            <a:off x="2761921" y="101066"/>
            <a:ext cx="3791279"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Summary</a:t>
            </a:r>
            <a:endParaRPr sz="3200"/>
          </a:p>
        </p:txBody>
      </p:sp>
      <p:sp>
        <p:nvSpPr>
          <p:cNvPr id="257" name="Google Shape;257;p17"/>
          <p:cNvSpPr txBox="1"/>
          <p:nvPr>
            <p:ph idx="1" type="body"/>
          </p:nvPr>
        </p:nvSpPr>
        <p:spPr>
          <a:xfrm>
            <a:off x="457200" y="1082842"/>
            <a:ext cx="8229600" cy="3404937"/>
          </a:xfrm>
          <a:prstGeom prst="rect">
            <a:avLst/>
          </a:prstGeom>
          <a:noFill/>
          <a:ln>
            <a:noFill/>
          </a:ln>
        </p:spPr>
        <p:txBody>
          <a:bodyPr anchorCtr="0" anchor="t" bIns="45700" lIns="91425" spcFirstLastPara="1" rIns="91425" wrap="square" tIns="45700">
            <a:noAutofit/>
          </a:bodyPr>
          <a:lstStyle/>
          <a:p>
            <a:pPr indent="-171450" lvl="0" marL="171450" rtl="0" algn="just">
              <a:lnSpc>
                <a:spcPct val="150000"/>
              </a:lnSpc>
              <a:spcBef>
                <a:spcPts val="0"/>
              </a:spcBef>
              <a:spcAft>
                <a:spcPts val="0"/>
              </a:spcAft>
              <a:buClr>
                <a:schemeClr val="dk1"/>
              </a:buClr>
              <a:buSzPts val="2000"/>
              <a:buChar char="•"/>
            </a:pPr>
            <a:r>
              <a:rPr lang="en-US" sz="2000"/>
              <a:t>Utility computing has revolutionized how organizations access and manage IT resources, offering significant flexibility, scalability, and cost benefits.</a:t>
            </a:r>
            <a:endParaRPr/>
          </a:p>
          <a:p>
            <a:pPr indent="-171450" lvl="0" marL="171450" rtl="0" algn="just">
              <a:lnSpc>
                <a:spcPct val="150000"/>
              </a:lnSpc>
              <a:spcBef>
                <a:spcPts val="750"/>
              </a:spcBef>
              <a:spcAft>
                <a:spcPts val="0"/>
              </a:spcAft>
              <a:buClr>
                <a:schemeClr val="dk1"/>
              </a:buClr>
              <a:buSzPts val="2000"/>
              <a:buChar char="•"/>
            </a:pPr>
            <a:r>
              <a:rPr lang="en-US" sz="2000"/>
              <a:t> As technology continues to evolve, the model will adapt to incorporate newer innovations like edge and quantum computing, making it a cornerstone of modern IT infrastructure. </a:t>
            </a:r>
            <a:endParaRPr/>
          </a:p>
          <a:p>
            <a:pPr indent="-171450" lvl="0" marL="171450" rtl="0" algn="just">
              <a:lnSpc>
                <a:spcPct val="150000"/>
              </a:lnSpc>
              <a:spcBef>
                <a:spcPts val="750"/>
              </a:spcBef>
              <a:spcAft>
                <a:spcPts val="0"/>
              </a:spcAft>
              <a:buClr>
                <a:schemeClr val="dk1"/>
              </a:buClr>
              <a:buSzPts val="2000"/>
              <a:buChar char="•"/>
            </a:pPr>
            <a:r>
              <a:rPr lang="en-US" sz="2000"/>
              <a:t>However, challenges related to security, reliability, and vendor lock-in must be carefully considered as businesses continue to embrace utility computing solutions.</a:t>
            </a:r>
            <a:endParaRPr/>
          </a:p>
        </p:txBody>
      </p:sp>
      <p:sp>
        <p:nvSpPr>
          <p:cNvPr id="258" name="Google Shape;258;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59" name="Google Shape;259;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0" name="Google Shape;260;p17"/>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261" name="Google Shape;261;p17"/>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type="title"/>
          </p:nvPr>
        </p:nvSpPr>
        <p:spPr>
          <a:xfrm>
            <a:off x="2711242" y="70037"/>
            <a:ext cx="4545062" cy="397599"/>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US" sz="3200"/>
              <a:t>References</a:t>
            </a:r>
            <a:endParaRPr sz="3200"/>
          </a:p>
        </p:txBody>
      </p:sp>
      <p:sp>
        <p:nvSpPr>
          <p:cNvPr id="267" name="Google Shape;267;p18"/>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fontScale="70000" lnSpcReduction="20000"/>
          </a:bodyPr>
          <a:lstStyle/>
          <a:p>
            <a:pPr indent="-171450" lvl="0" marL="171450" rtl="0" algn="l">
              <a:lnSpc>
                <a:spcPct val="90000"/>
              </a:lnSpc>
              <a:spcBef>
                <a:spcPts val="0"/>
              </a:spcBef>
              <a:spcAft>
                <a:spcPts val="0"/>
              </a:spcAft>
              <a:buClr>
                <a:schemeClr val="dk1"/>
              </a:buClr>
              <a:buSzPct val="100000"/>
              <a:buChar char="•"/>
            </a:pPr>
            <a:r>
              <a:rPr lang="en-US" sz="1800"/>
              <a:t>Books References</a:t>
            </a:r>
            <a:endParaRPr/>
          </a:p>
          <a:p>
            <a:pPr indent="-171450" lvl="0" marL="171450" rtl="0" algn="l">
              <a:lnSpc>
                <a:spcPct val="90000"/>
              </a:lnSpc>
              <a:spcBef>
                <a:spcPts val="750"/>
              </a:spcBef>
              <a:spcAft>
                <a:spcPts val="0"/>
              </a:spcAft>
              <a:buClr>
                <a:srgbClr val="000000"/>
              </a:buClr>
              <a:buSzPct val="100000"/>
              <a:buChar char="•"/>
            </a:pPr>
            <a:r>
              <a:rPr lang="en-US" sz="1650">
                <a:solidFill>
                  <a:srgbClr val="000000"/>
                </a:solidFill>
              </a:rPr>
              <a:t>Mastering Cloud Computing, Rajkumar Buyya, Christian Vecchiola, and ThamaraiSelvi, Tata McGraw Hill, ISBN-13: 978-1-25-902995-0, New Delhi, India,Feb 2013. </a:t>
            </a:r>
            <a:endParaRPr sz="1650"/>
          </a:p>
          <a:p>
            <a:pPr indent="0" lvl="0" marL="0" rtl="0" algn="l">
              <a:lnSpc>
                <a:spcPct val="90000"/>
              </a:lnSpc>
              <a:spcBef>
                <a:spcPts val="750"/>
              </a:spcBef>
              <a:spcAft>
                <a:spcPts val="0"/>
              </a:spcAft>
              <a:buClr>
                <a:schemeClr val="dk1"/>
              </a:buClr>
              <a:buSzPct val="100000"/>
              <a:buNone/>
            </a:pPr>
            <a:r>
              <a:t/>
            </a:r>
            <a:endParaRPr sz="1800"/>
          </a:p>
          <a:p>
            <a:pPr indent="-171450" lvl="0" marL="171450" rtl="0" algn="l">
              <a:lnSpc>
                <a:spcPct val="90000"/>
              </a:lnSpc>
              <a:spcBef>
                <a:spcPts val="750"/>
              </a:spcBef>
              <a:spcAft>
                <a:spcPts val="0"/>
              </a:spcAft>
              <a:buClr>
                <a:schemeClr val="dk1"/>
              </a:buClr>
              <a:buSzPct val="100000"/>
              <a:buChar char="•"/>
            </a:pPr>
            <a:r>
              <a:rPr lang="en-US" sz="1800"/>
              <a:t>E-book link</a:t>
            </a:r>
            <a:endParaRPr/>
          </a:p>
          <a:p>
            <a:pPr indent="-171450" lvl="0" marL="171450" rtl="0" algn="l">
              <a:lnSpc>
                <a:spcPct val="90000"/>
              </a:lnSpc>
              <a:spcBef>
                <a:spcPts val="750"/>
              </a:spcBef>
              <a:spcAft>
                <a:spcPts val="0"/>
              </a:spcAft>
              <a:buClr>
                <a:schemeClr val="dk1"/>
              </a:buClr>
              <a:buSzPct val="100000"/>
              <a:buChar char="•"/>
            </a:pPr>
            <a:r>
              <a:rPr lang="en-US" sz="1800" u="sng">
                <a:solidFill>
                  <a:schemeClr val="hlink"/>
                </a:solidFill>
                <a:hlinkClick r:id="rId3"/>
              </a:rPr>
              <a:t>https://archive.org/details/cloudcomputingbi0000sosi</a:t>
            </a:r>
            <a:endParaRPr sz="1800"/>
          </a:p>
          <a:p>
            <a:pPr indent="0" lvl="0" marL="0" rtl="0" algn="l">
              <a:lnSpc>
                <a:spcPct val="90000"/>
              </a:lnSpc>
              <a:spcBef>
                <a:spcPts val="750"/>
              </a:spcBef>
              <a:spcAft>
                <a:spcPts val="0"/>
              </a:spcAft>
              <a:buClr>
                <a:schemeClr val="dk1"/>
              </a:buClr>
              <a:buSzPct val="100000"/>
              <a:buNone/>
            </a:pPr>
            <a:r>
              <a:t/>
            </a:r>
            <a:endParaRPr sz="1800"/>
          </a:p>
          <a:p>
            <a:pPr indent="-171450" lvl="0" marL="171450" rtl="0" algn="l">
              <a:lnSpc>
                <a:spcPct val="90000"/>
              </a:lnSpc>
              <a:spcBef>
                <a:spcPts val="750"/>
              </a:spcBef>
              <a:spcAft>
                <a:spcPts val="0"/>
              </a:spcAft>
              <a:buClr>
                <a:schemeClr val="dk1"/>
              </a:buClr>
              <a:buSzPct val="100000"/>
              <a:buChar char="•"/>
            </a:pPr>
            <a:r>
              <a:rPr lang="en-US" sz="1800"/>
              <a:t>YouTube link</a:t>
            </a:r>
            <a:endParaRPr/>
          </a:p>
          <a:p>
            <a:pPr indent="-171450" lvl="0" marL="171450" rtl="0" algn="l">
              <a:lnSpc>
                <a:spcPct val="90000"/>
              </a:lnSpc>
              <a:spcBef>
                <a:spcPts val="750"/>
              </a:spcBef>
              <a:spcAft>
                <a:spcPts val="0"/>
              </a:spcAft>
              <a:buClr>
                <a:schemeClr val="dk1"/>
              </a:buClr>
              <a:buSzPct val="100000"/>
              <a:buChar char="•"/>
            </a:pPr>
            <a:r>
              <a:rPr lang="en-US" sz="1800" u="sng">
                <a:solidFill>
                  <a:schemeClr val="hlink"/>
                </a:solidFill>
                <a:hlinkClick r:id="rId4"/>
              </a:rPr>
              <a:t>https://www.youtube.com/@cloudcomputing351/videos</a:t>
            </a:r>
            <a:endParaRPr sz="1800"/>
          </a:p>
          <a:p>
            <a:pPr indent="0" lvl="0" marL="0" rtl="0" algn="l">
              <a:lnSpc>
                <a:spcPct val="90000"/>
              </a:lnSpc>
              <a:spcBef>
                <a:spcPts val="750"/>
              </a:spcBef>
              <a:spcAft>
                <a:spcPts val="0"/>
              </a:spcAft>
              <a:buClr>
                <a:schemeClr val="dk1"/>
              </a:buClr>
              <a:buSzPct val="100000"/>
              <a:buNone/>
            </a:pPr>
            <a:r>
              <a:t/>
            </a:r>
            <a:endParaRPr sz="1800"/>
          </a:p>
          <a:p>
            <a:pPr indent="-171450" lvl="0" marL="171450" rtl="0" algn="l">
              <a:lnSpc>
                <a:spcPct val="90000"/>
              </a:lnSpc>
              <a:spcBef>
                <a:spcPts val="750"/>
              </a:spcBef>
              <a:spcAft>
                <a:spcPts val="0"/>
              </a:spcAft>
              <a:buClr>
                <a:schemeClr val="dk1"/>
              </a:buClr>
              <a:buSzPct val="100000"/>
              <a:buFont typeface="Noto Sans Symbols"/>
              <a:buChar char="⮚"/>
            </a:pPr>
            <a:r>
              <a:rPr lang="en-US" sz="1800" u="sng">
                <a:solidFill>
                  <a:schemeClr val="hlink"/>
                </a:solidFill>
                <a:hlinkClick r:id="rId5"/>
              </a:rPr>
              <a:t>https://www.geeksforgeeks.org/cloud-computing/</a:t>
            </a:r>
            <a:endParaRPr sz="1800"/>
          </a:p>
          <a:p>
            <a:pPr indent="-171450" lvl="0" marL="171450" rtl="0" algn="l">
              <a:lnSpc>
                <a:spcPct val="90000"/>
              </a:lnSpc>
              <a:spcBef>
                <a:spcPts val="750"/>
              </a:spcBef>
              <a:spcAft>
                <a:spcPts val="0"/>
              </a:spcAft>
              <a:buClr>
                <a:schemeClr val="dk1"/>
              </a:buClr>
              <a:buSzPct val="100000"/>
              <a:buFont typeface="Noto Sans Symbols"/>
              <a:buChar char="⮚"/>
            </a:pPr>
            <a:r>
              <a:rPr lang="en-US" sz="1800" u="sng">
                <a:solidFill>
                  <a:schemeClr val="hlink"/>
                </a:solidFill>
                <a:hlinkClick r:id="rId6"/>
              </a:rPr>
              <a:t>https://www.tutorialspoint.com/cloud_computing/index.htm</a:t>
            </a:r>
            <a:endParaRPr sz="1800"/>
          </a:p>
          <a:p>
            <a:pPr indent="-171450" lvl="0" marL="171450" rtl="0" algn="l">
              <a:lnSpc>
                <a:spcPct val="90000"/>
              </a:lnSpc>
              <a:spcBef>
                <a:spcPts val="750"/>
              </a:spcBef>
              <a:spcAft>
                <a:spcPts val="0"/>
              </a:spcAft>
              <a:buClr>
                <a:schemeClr val="dk1"/>
              </a:buClr>
              <a:buSzPct val="100000"/>
              <a:buFont typeface="Noto Sans Symbols"/>
              <a:buChar char="⮚"/>
            </a:pPr>
            <a:r>
              <a:rPr lang="en-US" sz="1800" u="sng">
                <a:solidFill>
                  <a:schemeClr val="hlink"/>
                </a:solidFill>
                <a:hlinkClick r:id="rId7"/>
              </a:rPr>
              <a:t>https://nptel.ac.in/courses/106105167</a:t>
            </a:r>
            <a:endParaRPr sz="1800"/>
          </a:p>
          <a:p>
            <a:pPr indent="-171450" lvl="0" marL="171450" rtl="0" algn="l">
              <a:lnSpc>
                <a:spcPct val="90000"/>
              </a:lnSpc>
              <a:spcBef>
                <a:spcPts val="750"/>
              </a:spcBef>
              <a:spcAft>
                <a:spcPts val="0"/>
              </a:spcAft>
              <a:buClr>
                <a:schemeClr val="dk1"/>
              </a:buClr>
              <a:buSzPct val="100000"/>
              <a:buFont typeface="Noto Sans Symbols"/>
              <a:buChar char="⮚"/>
            </a:pPr>
            <a:r>
              <a:rPr lang="en-US" sz="1800" u="sng">
                <a:solidFill>
                  <a:schemeClr val="hlink"/>
                </a:solidFill>
                <a:hlinkClick r:id="rId8"/>
              </a:rPr>
              <a:t>https://www.edx.org/learn/cloud-computing</a:t>
            </a:r>
            <a:endParaRPr sz="1800"/>
          </a:p>
          <a:p>
            <a:pPr indent="-91440" lvl="0" marL="171450" rtl="0" algn="l">
              <a:lnSpc>
                <a:spcPct val="90000"/>
              </a:lnSpc>
              <a:spcBef>
                <a:spcPts val="750"/>
              </a:spcBef>
              <a:spcAft>
                <a:spcPts val="0"/>
              </a:spcAft>
              <a:buClr>
                <a:schemeClr val="dk1"/>
              </a:buClr>
              <a:buSzPct val="100000"/>
              <a:buFont typeface="Noto Sans Symbols"/>
              <a:buNone/>
            </a:pPr>
            <a:r>
              <a:t/>
            </a:r>
            <a:endParaRPr sz="1800"/>
          </a:p>
        </p:txBody>
      </p:sp>
      <p:sp>
        <p:nvSpPr>
          <p:cNvPr id="268" name="Google Shape;268;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69" name="Google Shape;269;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0" name="Google Shape;270;p18"/>
          <p:cNvPicPr preferRelativeResize="0"/>
          <p:nvPr/>
        </p:nvPicPr>
        <p:blipFill rotWithShape="1">
          <a:blip r:embed="rId9">
            <a:alphaModFix/>
          </a:blip>
          <a:srcRect b="0" l="0" r="0" t="0"/>
          <a:stretch/>
        </p:blipFill>
        <p:spPr>
          <a:xfrm>
            <a:off x="112575" y="70037"/>
            <a:ext cx="2564258" cy="718788"/>
          </a:xfrm>
          <a:prstGeom prst="rect">
            <a:avLst/>
          </a:prstGeom>
          <a:noFill/>
          <a:ln>
            <a:noFill/>
          </a:ln>
        </p:spPr>
      </p:pic>
      <p:pic>
        <p:nvPicPr>
          <p:cNvPr id="271" name="Google Shape;271;p18"/>
          <p:cNvPicPr preferRelativeResize="0"/>
          <p:nvPr/>
        </p:nvPicPr>
        <p:blipFill rotWithShape="1">
          <a:blip r:embed="rId10">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9"/>
          <p:cNvSpPr/>
          <p:nvPr/>
        </p:nvSpPr>
        <p:spPr>
          <a:xfrm>
            <a:off x="555172" y="1493556"/>
            <a:ext cx="8229600" cy="2961536"/>
          </a:xfrm>
          <a:prstGeom prst="rect">
            <a:avLst/>
          </a:prstGeom>
          <a:solidFill>
            <a:srgbClr val="385623">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277" name="Google Shape;277;p19"/>
          <p:cNvSpPr txBox="1"/>
          <p:nvPr/>
        </p:nvSpPr>
        <p:spPr>
          <a:xfrm>
            <a:off x="1100139" y="2236198"/>
            <a:ext cx="8043861" cy="115416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6000"/>
              <a:buFont typeface="Arial"/>
              <a:buNone/>
            </a:pPr>
            <a:r>
              <a:rPr lang="en-US" sz="6000">
                <a:solidFill>
                  <a:srgbClr val="FFFFFF"/>
                </a:solidFill>
                <a:latin typeface="Arial"/>
                <a:ea typeface="Arial"/>
                <a:cs typeface="Arial"/>
                <a:sym typeface="Arial"/>
              </a:rPr>
              <a:t>THANK YOU</a:t>
            </a:r>
            <a:endParaRPr/>
          </a:p>
          <a:p>
            <a:pPr indent="0" lvl="0" marL="0" marR="0" rtl="0" algn="ctr">
              <a:lnSpc>
                <a:spcPct val="100000"/>
              </a:lnSpc>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     </a:t>
            </a:r>
            <a:endParaRPr/>
          </a:p>
        </p:txBody>
      </p:sp>
      <p:sp>
        <p:nvSpPr>
          <p:cNvPr id="278" name="Google Shape;278;p19"/>
          <p:cNvSpPr/>
          <p:nvPr/>
        </p:nvSpPr>
        <p:spPr>
          <a:xfrm>
            <a:off x="1765409" y="1678802"/>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9" name="Google Shape;279;p19"/>
          <p:cNvSpPr/>
          <p:nvPr/>
        </p:nvSpPr>
        <p:spPr>
          <a:xfrm>
            <a:off x="1981199" y="1663837"/>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80" name="Google Shape;280;p1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endParaRPr/>
          </a:p>
        </p:txBody>
      </p:sp>
      <p:sp>
        <p:nvSpPr>
          <p:cNvPr id="281" name="Google Shape;281;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82" name="Google Shape;282;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050">
                <a:solidFill>
                  <a:schemeClr val="dk1"/>
                </a:solidFill>
              </a:rPr>
              <a:t>‹#›</a:t>
            </a:fld>
            <a:endParaRPr b="1" sz="1050">
              <a:solidFill>
                <a:schemeClr val="dk1"/>
              </a:solidFill>
            </a:endParaRPr>
          </a:p>
        </p:txBody>
      </p:sp>
      <p:pic>
        <p:nvPicPr>
          <p:cNvPr id="283" name="Google Shape;283;p19"/>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284" name="Google Shape;284;p19"/>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2024-12-06T17:10:37Z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