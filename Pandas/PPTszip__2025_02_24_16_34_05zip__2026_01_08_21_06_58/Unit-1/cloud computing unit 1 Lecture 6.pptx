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5.jpg" ContentType="image/jpg"/>
  <Override PartName="/ppt/media/image6.jpg" ContentType="image/jp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6"/>
  </p:notesMasterIdLst>
  <p:sldIdLst>
    <p:sldId id="426" r:id="rId2"/>
    <p:sldId id="427" r:id="rId3"/>
    <p:sldId id="428" r:id="rId4"/>
    <p:sldId id="429" r:id="rId5"/>
    <p:sldId id="430" r:id="rId6"/>
    <p:sldId id="416" r:id="rId7"/>
    <p:sldId id="417" r:id="rId8"/>
    <p:sldId id="418" r:id="rId9"/>
    <p:sldId id="419" r:id="rId10"/>
    <p:sldId id="275" r:id="rId11"/>
    <p:sldId id="302" r:id="rId12"/>
    <p:sldId id="303" r:id="rId13"/>
    <p:sldId id="304" r:id="rId14"/>
    <p:sldId id="305" r:id="rId15"/>
    <p:sldId id="306" r:id="rId16"/>
    <p:sldId id="307" r:id="rId17"/>
    <p:sldId id="308" r:id="rId18"/>
    <p:sldId id="309" r:id="rId19"/>
    <p:sldId id="425" r:id="rId20"/>
    <p:sldId id="423" r:id="rId21"/>
    <p:sldId id="424" r:id="rId22"/>
    <p:sldId id="421" r:id="rId23"/>
    <p:sldId id="422" r:id="rId24"/>
    <p:sldId id="352" r:id="rId25"/>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12/15/2024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C608E4-73BD-4B32-A8E7-2CAA3D3FC81C}" type="slidenum">
              <a:rPr lang="en-US" smtClean="0"/>
              <a:t>22</a:t>
            </a:fld>
            <a:endParaRPr lang="en-US"/>
          </a:p>
        </p:txBody>
      </p:sp>
    </p:spTree>
    <p:extLst>
      <p:ext uri="{BB962C8B-B14F-4D97-AF65-F5344CB8AC3E}">
        <p14:creationId xmlns:p14="http://schemas.microsoft.com/office/powerpoint/2010/main" val="1875407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12/15/2024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12/15/2024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12/15/2024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12/15/2024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12/15/2024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12/15/2024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12/15/2024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12/15/2024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12/15/2024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smallbiztechnology.com/archive/2011/09/wait-what-is-cloud-computing.html" TargetMode="Externa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lnSpcReduction="10000"/>
          </a:bodyPr>
          <a:lstStyle/>
          <a:p>
            <a:pPr marL="0" indent="0" algn="ctr">
              <a:buNone/>
            </a:pPr>
            <a:r>
              <a:rPr lang="en-US" sz="3600" b="1" dirty="0"/>
              <a:t>Chandigarh School of Business, Jhanjeri</a:t>
            </a:r>
          </a:p>
          <a:p>
            <a:pPr marL="0" indent="0" algn="ctr">
              <a:buNone/>
            </a:pPr>
            <a:r>
              <a:rPr lang="en-US" sz="3200" b="1" dirty="0"/>
              <a:t>Department of Computer Application </a:t>
            </a:r>
          </a:p>
          <a:p>
            <a:pPr marL="0" indent="0" algn="ctr">
              <a:buNone/>
            </a:pPr>
            <a:r>
              <a:rPr lang="en-US" sz="2400" b="1" dirty="0"/>
              <a:t>Program </a:t>
            </a:r>
            <a:r>
              <a:rPr lang="en-US" sz="2400" b="1" dirty="0" err="1"/>
              <a:t>Code:NA</a:t>
            </a:r>
            <a:endParaRPr lang="en-US" sz="2400" b="1" dirty="0"/>
          </a:p>
          <a:p>
            <a:pPr marL="0" indent="0" algn="ctr">
              <a:buNone/>
            </a:pPr>
            <a:r>
              <a:rPr lang="en-US" sz="2400" b="1" dirty="0"/>
              <a:t>Program Name: MCA</a:t>
            </a:r>
          </a:p>
          <a:p>
            <a:pPr marL="0" indent="0" algn="ctr">
              <a:buNone/>
            </a:pPr>
            <a:r>
              <a:rPr lang="en-US" sz="2400" b="1" dirty="0"/>
              <a:t>Course Code: </a:t>
            </a:r>
            <a:r>
              <a:rPr lang="en-US" sz="2400" b="1" i="0" u="none" strike="noStrike" baseline="0" dirty="0">
                <a:solidFill>
                  <a:srgbClr val="000000"/>
                </a:solidFill>
              </a:rPr>
              <a:t>PGCA1937 </a:t>
            </a:r>
            <a:r>
              <a:rPr lang="en-US" sz="2400" b="1" dirty="0">
                <a:solidFill>
                  <a:srgbClr val="000000"/>
                </a:solidFill>
              </a:rPr>
              <a:t> </a:t>
            </a:r>
            <a:endParaRPr lang="en-US" sz="2400" b="1" dirty="0"/>
          </a:p>
          <a:p>
            <a:pPr marL="0" indent="0" algn="ctr">
              <a:buNone/>
            </a:pPr>
            <a:r>
              <a:rPr lang="en-US" sz="2400" b="1" dirty="0"/>
              <a:t>Course Name: </a:t>
            </a:r>
            <a:r>
              <a:rPr lang="en-US" sz="2400" b="1" i="0" u="none" strike="noStrike" baseline="0" dirty="0">
                <a:solidFill>
                  <a:srgbClr val="000000"/>
                </a:solidFill>
              </a:rPr>
              <a:t>Cloud Computing </a:t>
            </a:r>
            <a:endParaRPr lang="en-US" sz="24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3009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901754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13597"/>
            <a:ext cx="7886700" cy="3508773"/>
          </a:xfrm>
        </p:spPr>
        <p:txBody>
          <a:bodyPr>
            <a:normAutofit fontScale="40000" lnSpcReduction="20000"/>
          </a:bodyPr>
          <a:lstStyle/>
          <a:p>
            <a:pPr marL="0" indent="0" algn="ctr">
              <a:buNone/>
            </a:pPr>
            <a:r>
              <a:rPr lang="en-US" sz="3800" b="1" dirty="0">
                <a:solidFill>
                  <a:srgbClr val="000000"/>
                </a:solidFill>
              </a:rPr>
              <a:t>Part-A</a:t>
            </a:r>
            <a:endParaRPr lang="en-US" sz="3800" dirty="0">
              <a:solidFill>
                <a:srgbClr val="000000"/>
              </a:solidFill>
            </a:endParaRPr>
          </a:p>
          <a:p>
            <a:pPr algn="just">
              <a:lnSpc>
                <a:spcPct val="120000"/>
              </a:lnSpc>
            </a:pPr>
            <a:r>
              <a:rPr lang="en-US" sz="3800" b="1" i="0" u="none" strike="noStrike" baseline="0" dirty="0">
                <a:solidFill>
                  <a:srgbClr val="000000"/>
                </a:solidFill>
              </a:rPr>
              <a:t>Overview of Computing Paradigm: </a:t>
            </a:r>
            <a:r>
              <a:rPr lang="en-US" sz="3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800" b="1" i="0" u="none" strike="noStrike" baseline="0" dirty="0">
                <a:solidFill>
                  <a:srgbClr val="000000"/>
                </a:solidFill>
              </a:rPr>
              <a:t>Introduction to Cloud Computing: </a:t>
            </a:r>
            <a:r>
              <a:rPr lang="en-US" sz="3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800" b="1" i="0" u="none" strike="noStrike" baseline="0" dirty="0">
                <a:solidFill>
                  <a:srgbClr val="000000"/>
                </a:solidFill>
              </a:rPr>
              <a:t>Migrating into a Cloud: </a:t>
            </a:r>
            <a:r>
              <a:rPr lang="en-US" sz="3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800" b="1" i="0" u="none" strike="noStrike" baseline="0" dirty="0">
                <a:solidFill>
                  <a:srgbClr val="000000"/>
                </a:solidFill>
              </a:rPr>
              <a:t>Virtualization: </a:t>
            </a:r>
            <a:r>
              <a:rPr lang="en-US" sz="3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800" b="1" i="0" u="none" strike="noStrike" baseline="0" dirty="0">
                <a:solidFill>
                  <a:srgbClr val="000000"/>
                </a:solidFill>
              </a:rPr>
              <a:t>Capacity Planning: </a:t>
            </a:r>
            <a:r>
              <a:rPr lang="en-US" sz="3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029982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pPr algn="ctr"/>
            <a:r>
              <a:rPr lang="en-US" altLang="en-US" sz="3200" b="1" kern="0" dirty="0">
                <a:latin typeface="+mj-lt"/>
              </a:rPr>
              <a:t>Key objectives or learning outcomes</a:t>
            </a:r>
            <a:endParaRPr lang="en-IN" sz="3200" dirty="0">
              <a:latin typeface="+mj-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305800" cy="2590800"/>
          </a:xfrm>
        </p:spPr>
        <p:txBody>
          <a:bodyPr>
            <a:noAutofit/>
          </a:bodyPr>
          <a:lstStyle/>
          <a:p>
            <a:pPr algn="just"/>
            <a:r>
              <a:rPr lang="en-US" sz="2000" b="0" i="0" u="none" strike="noStrike" baseline="0" dirty="0">
                <a:solidFill>
                  <a:srgbClr val="000000"/>
                </a:solidFill>
              </a:rPr>
              <a:t>CO1 	Understand the basic concept and importance of cloud computing. </a:t>
            </a:r>
          </a:p>
          <a:p>
            <a:pPr algn="just"/>
            <a:r>
              <a:rPr lang="en-US" sz="2000" b="0" i="0" u="none" strike="noStrike" baseline="0" dirty="0">
                <a:solidFill>
                  <a:srgbClr val="000000"/>
                </a:solidFill>
              </a:rPr>
              <a:t>CO2 	Access the suitability of migrating to a cloud solution for different applications.</a:t>
            </a:r>
          </a:p>
          <a:p>
            <a:pPr algn="just"/>
            <a:r>
              <a:rPr lang="en-US" sz="2000" b="0" i="0" u="none" strike="noStrike" baseline="0" dirty="0">
                <a:solidFill>
                  <a:srgbClr val="000000"/>
                </a:solidFill>
              </a:rPr>
              <a:t>CO3 	Compare and evaluate the virtualization technologies. 	</a:t>
            </a:r>
          </a:p>
          <a:p>
            <a:pPr algn="just"/>
            <a:r>
              <a:rPr lang="en-US" sz="2000" b="0" i="0" u="none" strike="noStrike" baseline="0" dirty="0">
                <a:solidFill>
                  <a:srgbClr val="000000"/>
                </a:solidFill>
              </a:rPr>
              <a:t>CO4 	Monitor and manage the cloud resources, applications and data while addressing 	the security concerns. 	</a:t>
            </a:r>
            <a:endParaRPr lang="en-US" sz="2000" dirty="0">
              <a:solidFill>
                <a:srgbClr val="000000"/>
              </a:solidFill>
            </a:endParaRPr>
          </a:p>
          <a:p>
            <a:pPr algn="just"/>
            <a:r>
              <a:rPr lang="en-US" sz="20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8958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t>CO Introduction</a:t>
            </a:r>
            <a:endParaRPr lang="en-IN" sz="3200" dirty="0"/>
          </a:p>
        </p:txBody>
      </p:sp>
      <p:graphicFrame>
        <p:nvGraphicFramePr>
          <p:cNvPr id="10" name="Content Placeholder 9"/>
          <p:cNvGraphicFramePr>
            <a:graphicFrameLocks noGrp="1"/>
          </p:cNvGraphicFramePr>
          <p:nvPr>
            <p:ph idx="1"/>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72938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200401" y="0"/>
            <a:ext cx="2914650"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dirty="0"/>
              <a:t>Cloud services are typically offered through three main models: </a:t>
            </a:r>
            <a:r>
              <a:rPr lang="en-US" sz="1800" b="1" dirty="0"/>
              <a:t>IaaS (Infrastructure as a Service)</a:t>
            </a:r>
            <a:r>
              <a:rPr lang="en-US" sz="1800" dirty="0"/>
              <a:t>, </a:t>
            </a:r>
            <a:r>
              <a:rPr lang="en-US" sz="1800" b="1" dirty="0"/>
              <a:t>PaaS (Platform as a Service)</a:t>
            </a:r>
            <a:r>
              <a:rPr lang="en-US" sz="1800" dirty="0"/>
              <a:t>, and </a:t>
            </a:r>
            <a:r>
              <a:rPr lang="en-US" sz="1800" b="1" dirty="0"/>
              <a:t>SaaS (Software as a Service)</a:t>
            </a:r>
            <a:r>
              <a:rPr lang="en-US" sz="1800" dirty="0"/>
              <a:t>, with deployment options including public, private, and hybrid clouds. </a:t>
            </a:r>
          </a:p>
          <a:p>
            <a:pPr algn="just">
              <a:lnSpc>
                <a:spcPct val="150000"/>
              </a:lnSpc>
            </a:pPr>
            <a:r>
              <a:rPr lang="en-US" sz="1800" dirty="0"/>
              <a:t>This technology has become essential in enabling businesses and individuals to efficiently store, process, and access data and applications anytime, anywhere, promoting innovation, collaboration, and cost efficiency.</a:t>
            </a:r>
          </a:p>
          <a:p>
            <a:pPr algn="just">
              <a:lnSpc>
                <a:spcPct val="150000"/>
              </a:lnSpc>
            </a:pPr>
            <a:r>
              <a:rPr lang="en-US" sz="1800" dirty="0"/>
              <a:t>These paradigms enable parallel processing and resource sharing, improving performance, scalability, and fault tolerance. </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pPr algn="ctr"/>
            <a:r>
              <a:rPr lang="en-US" altLang="en-US" sz="3200" b="1" kern="0" dirty="0"/>
              <a:t>Brief of what the presentation will</a:t>
            </a:r>
            <a:endParaRPr lang="en-IN" sz="32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fontScale="92500" lnSpcReduction="20000"/>
          </a:bodyPr>
          <a:lstStyle/>
          <a:p>
            <a:pPr marL="0" indent="0">
              <a:buNone/>
            </a:pPr>
            <a:r>
              <a:rPr lang="en-US" sz="2400" dirty="0"/>
              <a:t>The presentation will cover the following points:</a:t>
            </a:r>
          </a:p>
          <a:p>
            <a:pPr>
              <a:buFont typeface="+mj-lt"/>
              <a:buAutoNum type="arabicPeriod"/>
            </a:pPr>
            <a:r>
              <a:rPr lang="en-US" sz="2400" b="1" i="0" u="none" strike="noStrike" baseline="0" dirty="0">
                <a:solidFill>
                  <a:srgbClr val="000000"/>
                </a:solidFill>
              </a:rPr>
              <a:t>Introduction to Cloud Computing</a:t>
            </a:r>
          </a:p>
          <a:p>
            <a:pPr>
              <a:buFont typeface="+mj-lt"/>
              <a:buAutoNum type="arabicPeriod"/>
            </a:pPr>
            <a:r>
              <a:rPr lang="en-US" sz="2400" b="1" i="0" u="none" strike="noStrike" baseline="0" dirty="0">
                <a:solidFill>
                  <a:srgbClr val="000000"/>
                </a:solidFill>
              </a:rPr>
              <a:t>Vision of Cloud Computing</a:t>
            </a:r>
          </a:p>
          <a:p>
            <a:pPr>
              <a:buFont typeface="+mj-lt"/>
              <a:buAutoNum type="arabicPeriod"/>
            </a:pPr>
            <a:r>
              <a:rPr lang="en-US" sz="2400" b="1" i="0" u="none" strike="noStrike" baseline="0" dirty="0">
                <a:solidFill>
                  <a:srgbClr val="000000"/>
                </a:solidFill>
              </a:rPr>
              <a:t>Defining a Cloud</a:t>
            </a:r>
          </a:p>
          <a:p>
            <a:pPr>
              <a:buFont typeface="+mj-lt"/>
              <a:buAutoNum type="arabicPeriod"/>
            </a:pPr>
            <a:r>
              <a:rPr lang="en-US" sz="2400" b="1" i="0" u="none" strike="noStrike" baseline="0" dirty="0">
                <a:solidFill>
                  <a:srgbClr val="000000"/>
                </a:solidFill>
              </a:rPr>
              <a:t>Characteristics</a:t>
            </a:r>
          </a:p>
          <a:p>
            <a:pPr>
              <a:buFont typeface="+mj-lt"/>
              <a:buAutoNum type="arabicPeriod"/>
            </a:pPr>
            <a:r>
              <a:rPr lang="en-US" sz="2400" b="1" i="0" u="none" strike="noStrike" baseline="0" dirty="0">
                <a:solidFill>
                  <a:srgbClr val="000000"/>
                </a:solidFill>
              </a:rPr>
              <a:t>Benefits of Cloud Computing </a:t>
            </a:r>
          </a:p>
          <a:p>
            <a:pPr>
              <a:buFont typeface="+mj-lt"/>
              <a:buAutoNum type="arabicPeriod"/>
            </a:pPr>
            <a:r>
              <a:rPr lang="en-US" sz="2400" b="1" i="0" u="none" strike="noStrike" baseline="0" dirty="0">
                <a:solidFill>
                  <a:srgbClr val="000000"/>
                </a:solidFill>
              </a:rPr>
              <a:t>Cloud Reference Model</a:t>
            </a:r>
          </a:p>
          <a:p>
            <a:pPr>
              <a:buFont typeface="+mj-lt"/>
              <a:buAutoNum type="arabicPeriod"/>
            </a:pPr>
            <a:r>
              <a:rPr lang="en-US" sz="2400" b="1" i="0" u="none" strike="noStrike" baseline="0" dirty="0">
                <a:solidFill>
                  <a:srgbClr val="000000"/>
                </a:solidFill>
              </a:rPr>
              <a:t>Deployment Model</a:t>
            </a:r>
          </a:p>
          <a:p>
            <a:pPr>
              <a:buFont typeface="+mj-lt"/>
              <a:buAutoNum type="arabicPeriod"/>
            </a:pPr>
            <a:r>
              <a:rPr lang="en-US" sz="2400" b="1" i="0" u="none" strike="noStrike" baseline="0" dirty="0">
                <a:solidFill>
                  <a:srgbClr val="000000"/>
                </a:solidFill>
              </a:rPr>
              <a:t>Challenges ahead 	</a:t>
            </a:r>
          </a:p>
          <a:p>
            <a:pPr>
              <a:buFont typeface="+mj-lt"/>
              <a:buAutoNum type="arabicPeriod"/>
            </a:pPr>
            <a:endParaRPr lang="en-US" sz="2400" b="1" spc="-5" dirty="0">
              <a:solidFill>
                <a:srgbClr val="000000"/>
              </a:solidFill>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b="1" dirty="0"/>
              <a:t>Scalability and Flexibility</a:t>
            </a:r>
            <a:r>
              <a:rPr lang="en-US" dirty="0"/>
              <a:t>: Cloud computing provides on-demand access to a vast range of resources, enabling businesses to scale up or down based on their needs.</a:t>
            </a:r>
          </a:p>
          <a:p>
            <a:pPr algn="just"/>
            <a:r>
              <a:rPr lang="en-US" b="1" dirty="0"/>
              <a:t>Cost Efficiency</a:t>
            </a:r>
            <a:r>
              <a:rPr lang="en-US" dirty="0"/>
              <a:t>: By using cloud services, businesses can significantly reduce costs associated with maintaining and upgrading physical hardware.</a:t>
            </a:r>
          </a:p>
          <a:p>
            <a:pPr algn="just"/>
            <a:r>
              <a:rPr lang="en-US" b="1" dirty="0"/>
              <a:t>Accessibility and Collaboration</a:t>
            </a:r>
            <a:r>
              <a:rPr lang="en-US"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28650" y="1200150"/>
            <a:ext cx="4705350" cy="3432573"/>
          </a:xfrm>
        </p:spPr>
        <p:txBody>
          <a:bodyPr>
            <a:normAutofit lnSpcReduction="10000"/>
          </a:bodyPr>
          <a:lstStyle/>
          <a:p>
            <a:pPr algn="just"/>
            <a:r>
              <a:rPr lang="en-IN" sz="2000" dirty="0"/>
              <a:t>Computing is being transformed into a model consisting of services that are commoditized and delivered in a manner similar to utilities such as water, electricity, gas, and telephony.</a:t>
            </a:r>
          </a:p>
          <a:p>
            <a:pPr algn="just"/>
            <a:r>
              <a:rPr lang="en-IN" sz="2000" dirty="0"/>
              <a:t>In such a model, users access services based on their requirements, regardless of where the services are hosted.</a:t>
            </a:r>
            <a:endParaRPr lang="en-IN" sz="2000" b="1" dirty="0"/>
          </a:p>
          <a:p>
            <a:pPr algn="just"/>
            <a:r>
              <a:rPr lang="en-IN" sz="2000" b="1" dirty="0"/>
              <a:t>Cloud computing is the most recent emerging paradigm promising to turn the vision of “computing utilities” into a reality. </a:t>
            </a: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
        <p:nvSpPr>
          <p:cNvPr id="7" name="Content Placeholder 2">
            <a:extLst>
              <a:ext uri="{FF2B5EF4-FFF2-40B4-BE49-F238E27FC236}">
                <a16:creationId xmlns:a16="http://schemas.microsoft.com/office/drawing/2014/main" id="{CE2A56E5-AF94-903C-C561-A34892A396F0}"/>
              </a:ext>
            </a:extLst>
          </p:cNvPr>
          <p:cNvSpPr txBox="1">
            <a:spLocks/>
          </p:cNvSpPr>
          <p:nvPr/>
        </p:nvSpPr>
        <p:spPr>
          <a:xfrm>
            <a:off x="2107940" y="2439624"/>
            <a:ext cx="2201906" cy="159897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14300" indent="0" algn="just">
              <a:buFont typeface="Arial" panose="020B0604020202020204" pitchFamily="34" charset="0"/>
              <a:buNone/>
            </a:pPr>
            <a:endParaRPr lang="en-IN" dirty="0"/>
          </a:p>
          <a:p>
            <a:pPr marL="114300" indent="0" algn="just">
              <a:buFont typeface="Arial" panose="020B0604020202020204" pitchFamily="34" charset="0"/>
              <a:buNone/>
            </a:pPr>
            <a:endParaRPr lang="en-IN" dirty="0"/>
          </a:p>
        </p:txBody>
      </p:sp>
      <p:pic>
        <p:nvPicPr>
          <p:cNvPr id="9" name="Picture 2" descr="C:\Users\LAPTOP HOUSE\Desktop\best-cloud-computing-services1.png">
            <a:extLst>
              <a:ext uri="{FF2B5EF4-FFF2-40B4-BE49-F238E27FC236}">
                <a16:creationId xmlns:a16="http://schemas.microsoft.com/office/drawing/2014/main" id="{3F0CC2B1-A7E1-F9A9-3A70-D5E0367643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200151"/>
            <a:ext cx="35052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9734"/>
            <a:ext cx="4048506" cy="997068"/>
          </a:xfrm>
          <a:prstGeom prst="rect">
            <a:avLst/>
          </a:prstGeom>
        </p:spPr>
        <p:txBody>
          <a:bodyPr vert="horz" wrap="square" lIns="0" tIns="12065" rIns="0" bIns="0" rtlCol="0">
            <a:spAutoFit/>
          </a:bodyPr>
          <a:lstStyle/>
          <a:p>
            <a:pPr marL="12700" algn="ctr">
              <a:lnSpc>
                <a:spcPct val="100000"/>
              </a:lnSpc>
              <a:spcBef>
                <a:spcPts val="95"/>
              </a:spcBef>
            </a:pPr>
            <a:r>
              <a:rPr lang="en-IN" sz="3200" b="1" dirty="0">
                <a:solidFill>
                  <a:schemeClr val="tx1"/>
                </a:solidFill>
              </a:rPr>
              <a:t>The vision of cloud computing</a:t>
            </a:r>
            <a:endParaRPr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pic>
        <p:nvPicPr>
          <p:cNvPr id="6" name="Content Placeholder 3">
            <a:extLst>
              <a:ext uri="{FF2B5EF4-FFF2-40B4-BE49-F238E27FC236}">
                <a16:creationId xmlns:a16="http://schemas.microsoft.com/office/drawing/2014/main" id="{1CD892C0-73D2-7EB8-7FEA-D850EF7098C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363" t="10627" r="12728" b="11113"/>
          <a:stretch/>
        </p:blipFill>
        <p:spPr>
          <a:xfrm>
            <a:off x="1557147" y="1043357"/>
            <a:ext cx="6553200" cy="399775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765" y="906729"/>
            <a:ext cx="8586470" cy="1353185"/>
          </a:xfrm>
          <a:prstGeom prst="rect">
            <a:avLst/>
          </a:prstGeom>
        </p:spPr>
        <p:txBody>
          <a:bodyPr vert="horz" wrap="square" lIns="0" tIns="12065" rIns="0" bIns="0" rtlCol="0">
            <a:spAutoFit/>
          </a:bodyPr>
          <a:lstStyle/>
          <a:p>
            <a:pPr marL="12700">
              <a:lnSpc>
                <a:spcPct val="100000"/>
              </a:lnSpc>
              <a:spcBef>
                <a:spcPts val="95"/>
              </a:spcBef>
            </a:pPr>
            <a:r>
              <a:rPr sz="1600" spc="-5" dirty="0">
                <a:latin typeface="Calibri"/>
                <a:cs typeface="Calibri"/>
              </a:rPr>
              <a:t>US</a:t>
            </a:r>
            <a:r>
              <a:rPr sz="1600" spc="10" dirty="0">
                <a:latin typeface="Calibri"/>
                <a:cs typeface="Calibri"/>
              </a:rPr>
              <a:t> </a:t>
            </a:r>
            <a:r>
              <a:rPr sz="1600" b="1" spc="-5" dirty="0">
                <a:latin typeface="Calibri"/>
                <a:cs typeface="Calibri"/>
              </a:rPr>
              <a:t>National</a:t>
            </a:r>
            <a:r>
              <a:rPr sz="1600" b="1" spc="-15" dirty="0">
                <a:latin typeface="Calibri"/>
                <a:cs typeface="Calibri"/>
              </a:rPr>
              <a:t> </a:t>
            </a:r>
            <a:r>
              <a:rPr sz="1600" b="1" spc="-10" dirty="0">
                <a:latin typeface="Calibri"/>
                <a:cs typeface="Calibri"/>
              </a:rPr>
              <a:t>Institute</a:t>
            </a:r>
            <a:r>
              <a:rPr sz="1600" b="1" spc="15" dirty="0">
                <a:latin typeface="Calibri"/>
                <a:cs typeface="Calibri"/>
              </a:rPr>
              <a:t> </a:t>
            </a:r>
            <a:r>
              <a:rPr sz="1600" b="1" spc="-5" dirty="0">
                <a:latin typeface="Calibri"/>
                <a:cs typeface="Calibri"/>
              </a:rPr>
              <a:t>of</a:t>
            </a:r>
            <a:r>
              <a:rPr sz="1600" b="1" spc="10" dirty="0">
                <a:latin typeface="Calibri"/>
                <a:cs typeface="Calibri"/>
              </a:rPr>
              <a:t> </a:t>
            </a:r>
            <a:r>
              <a:rPr sz="1600" b="1" spc="-10" dirty="0">
                <a:latin typeface="Calibri"/>
                <a:cs typeface="Calibri"/>
              </a:rPr>
              <a:t>Standards</a:t>
            </a:r>
            <a:r>
              <a:rPr sz="1600" b="1" spc="40" dirty="0">
                <a:latin typeface="Calibri"/>
                <a:cs typeface="Calibri"/>
              </a:rPr>
              <a:t> </a:t>
            </a:r>
            <a:r>
              <a:rPr sz="1600" b="1" spc="-5" dirty="0">
                <a:latin typeface="Calibri"/>
                <a:cs typeface="Calibri"/>
              </a:rPr>
              <a:t>and</a:t>
            </a:r>
            <a:r>
              <a:rPr sz="1600" b="1" spc="20" dirty="0">
                <a:latin typeface="Calibri"/>
                <a:cs typeface="Calibri"/>
              </a:rPr>
              <a:t> </a:t>
            </a:r>
            <a:r>
              <a:rPr sz="1600" b="1" spc="-20" dirty="0">
                <a:latin typeface="Calibri"/>
                <a:cs typeface="Calibri"/>
              </a:rPr>
              <a:t>Technology</a:t>
            </a:r>
            <a:r>
              <a:rPr sz="1600" b="1" spc="45" dirty="0">
                <a:latin typeface="Calibri"/>
                <a:cs typeface="Calibri"/>
              </a:rPr>
              <a:t> </a:t>
            </a:r>
            <a:r>
              <a:rPr sz="1600" b="1" spc="-10" dirty="0">
                <a:latin typeface="Calibri"/>
                <a:cs typeface="Calibri"/>
              </a:rPr>
              <a:t>(NIST)</a:t>
            </a:r>
            <a:r>
              <a:rPr sz="1600" b="1" spc="20" dirty="0">
                <a:latin typeface="Calibri"/>
                <a:cs typeface="Calibri"/>
              </a:rPr>
              <a:t> </a:t>
            </a:r>
            <a:r>
              <a:rPr sz="1600" spc="-10" dirty="0">
                <a:latin typeface="Calibri"/>
                <a:cs typeface="Calibri"/>
              </a:rPr>
              <a:t>defines</a:t>
            </a:r>
            <a:r>
              <a:rPr sz="1600" spc="5" dirty="0">
                <a:latin typeface="Calibri"/>
                <a:cs typeface="Calibri"/>
              </a:rPr>
              <a:t> </a:t>
            </a:r>
            <a:r>
              <a:rPr sz="1600" spc="-10" dirty="0">
                <a:latin typeface="Calibri"/>
                <a:cs typeface="Calibri"/>
              </a:rPr>
              <a:t>Computing</a:t>
            </a:r>
            <a:r>
              <a:rPr sz="1600" spc="5" dirty="0">
                <a:latin typeface="Calibri"/>
                <a:cs typeface="Calibri"/>
              </a:rPr>
              <a:t> </a:t>
            </a:r>
            <a:r>
              <a:rPr sz="1600" spc="-5" dirty="0">
                <a:latin typeface="Calibri"/>
                <a:cs typeface="Calibri"/>
              </a:rPr>
              <a:t>as:</a:t>
            </a:r>
            <a:endParaRPr sz="1600" dirty="0">
              <a:latin typeface="Calibri"/>
              <a:cs typeface="Calibri"/>
            </a:endParaRPr>
          </a:p>
          <a:p>
            <a:pPr marL="643890" marR="5080" indent="-631825" algn="just">
              <a:lnSpc>
                <a:spcPct val="92900"/>
              </a:lnSpc>
              <a:spcBef>
                <a:spcPts val="1400"/>
              </a:spcBef>
            </a:pPr>
            <a:r>
              <a:rPr sz="1600" spc="-5" dirty="0">
                <a:latin typeface="Calibri"/>
                <a:cs typeface="Calibri"/>
              </a:rPr>
              <a:t>“ Cloud </a:t>
            </a:r>
            <a:r>
              <a:rPr sz="1600" spc="-10" dirty="0">
                <a:latin typeface="Calibri"/>
                <a:cs typeface="Calibri"/>
              </a:rPr>
              <a:t>computing </a:t>
            </a:r>
            <a:r>
              <a:rPr sz="1600" dirty="0">
                <a:latin typeface="Calibri"/>
                <a:cs typeface="Calibri"/>
              </a:rPr>
              <a:t>is </a:t>
            </a:r>
            <a:r>
              <a:rPr sz="1600" spc="-5" dirty="0">
                <a:latin typeface="Calibri"/>
                <a:cs typeface="Calibri"/>
              </a:rPr>
              <a:t>a </a:t>
            </a:r>
            <a:r>
              <a:rPr sz="1600" spc="-10" dirty="0">
                <a:latin typeface="Calibri"/>
                <a:cs typeface="Calibri"/>
              </a:rPr>
              <a:t>model </a:t>
            </a:r>
            <a:r>
              <a:rPr sz="1600" spc="-15" dirty="0">
                <a:latin typeface="Calibri"/>
                <a:cs typeface="Calibri"/>
              </a:rPr>
              <a:t>for </a:t>
            </a:r>
            <a:r>
              <a:rPr sz="1600" spc="-5" dirty="0">
                <a:latin typeface="Calibri"/>
                <a:cs typeface="Calibri"/>
              </a:rPr>
              <a:t>enabling </a:t>
            </a:r>
            <a:r>
              <a:rPr sz="1600" spc="-10" dirty="0">
                <a:latin typeface="Calibri"/>
                <a:cs typeface="Calibri"/>
              </a:rPr>
              <a:t>ubiquitous, convenient, </a:t>
            </a:r>
            <a:r>
              <a:rPr sz="1600" spc="-5" dirty="0">
                <a:latin typeface="Calibri"/>
                <a:cs typeface="Calibri"/>
              </a:rPr>
              <a:t>on-demand network access to a </a:t>
            </a:r>
            <a:r>
              <a:rPr sz="1600" dirty="0">
                <a:latin typeface="Calibri"/>
                <a:cs typeface="Calibri"/>
              </a:rPr>
              <a:t> </a:t>
            </a:r>
            <a:r>
              <a:rPr sz="1600" spc="-10" dirty="0">
                <a:latin typeface="Calibri"/>
                <a:cs typeface="Calibri"/>
              </a:rPr>
              <a:t>shared </a:t>
            </a:r>
            <a:r>
              <a:rPr sz="1600" dirty="0">
                <a:latin typeface="Calibri"/>
                <a:cs typeface="Calibri"/>
              </a:rPr>
              <a:t>pool </a:t>
            </a:r>
            <a:r>
              <a:rPr sz="1600" spc="-5" dirty="0">
                <a:latin typeface="Calibri"/>
                <a:cs typeface="Calibri"/>
              </a:rPr>
              <a:t>of </a:t>
            </a:r>
            <a:r>
              <a:rPr sz="1600" spc="-10" dirty="0">
                <a:latin typeface="Calibri"/>
                <a:cs typeface="Calibri"/>
              </a:rPr>
              <a:t>configurable computing resources </a:t>
            </a:r>
            <a:r>
              <a:rPr sz="1600" dirty="0">
                <a:latin typeface="Calibri"/>
                <a:cs typeface="Calibri"/>
              </a:rPr>
              <a:t>(e.g. </a:t>
            </a:r>
            <a:r>
              <a:rPr sz="1600" spc="-10" dirty="0">
                <a:latin typeface="Calibri"/>
                <a:cs typeface="Calibri"/>
              </a:rPr>
              <a:t>networks, </a:t>
            </a:r>
            <a:r>
              <a:rPr sz="1600" spc="-5" dirty="0">
                <a:latin typeface="Calibri"/>
                <a:cs typeface="Calibri"/>
              </a:rPr>
              <a:t>servers, </a:t>
            </a:r>
            <a:r>
              <a:rPr sz="1600" spc="-15" dirty="0">
                <a:latin typeface="Calibri"/>
                <a:cs typeface="Calibri"/>
              </a:rPr>
              <a:t>storage, </a:t>
            </a:r>
            <a:r>
              <a:rPr sz="1600" spc="-10" dirty="0">
                <a:latin typeface="Calibri"/>
                <a:cs typeface="Calibri"/>
              </a:rPr>
              <a:t>applications, </a:t>
            </a:r>
            <a:r>
              <a:rPr sz="1600" spc="-5" dirty="0">
                <a:latin typeface="Calibri"/>
                <a:cs typeface="Calibri"/>
              </a:rPr>
              <a:t> and services) </a:t>
            </a:r>
            <a:r>
              <a:rPr sz="1600" spc="-10" dirty="0">
                <a:latin typeface="Calibri"/>
                <a:cs typeface="Calibri"/>
              </a:rPr>
              <a:t>that can </a:t>
            </a:r>
            <a:r>
              <a:rPr sz="1600" spc="-5" dirty="0">
                <a:latin typeface="Calibri"/>
                <a:cs typeface="Calibri"/>
              </a:rPr>
              <a:t>be </a:t>
            </a:r>
            <a:r>
              <a:rPr sz="1600" spc="-10" dirty="0">
                <a:latin typeface="Calibri"/>
                <a:cs typeface="Calibri"/>
              </a:rPr>
              <a:t>rapidly provisioned </a:t>
            </a:r>
            <a:r>
              <a:rPr sz="1600" spc="-5" dirty="0">
                <a:latin typeface="Calibri"/>
                <a:cs typeface="Calibri"/>
              </a:rPr>
              <a:t>and </a:t>
            </a:r>
            <a:r>
              <a:rPr sz="1600" spc="-10" dirty="0">
                <a:latin typeface="Calibri"/>
                <a:cs typeface="Calibri"/>
              </a:rPr>
              <a:t>released </a:t>
            </a:r>
            <a:r>
              <a:rPr sz="1600" spc="-5" dirty="0">
                <a:latin typeface="Calibri"/>
                <a:cs typeface="Calibri"/>
              </a:rPr>
              <a:t>with minimal </a:t>
            </a:r>
            <a:r>
              <a:rPr sz="1600" spc="-10" dirty="0">
                <a:latin typeface="Calibri"/>
                <a:cs typeface="Calibri"/>
              </a:rPr>
              <a:t>management effort </a:t>
            </a:r>
            <a:r>
              <a:rPr sz="1600" spc="5" dirty="0">
                <a:latin typeface="Calibri"/>
                <a:cs typeface="Calibri"/>
              </a:rPr>
              <a:t>or </a:t>
            </a:r>
            <a:r>
              <a:rPr sz="1600" spc="10" dirty="0">
                <a:latin typeface="Calibri"/>
                <a:cs typeface="Calibri"/>
              </a:rPr>
              <a:t> </a:t>
            </a:r>
            <a:r>
              <a:rPr sz="1600" spc="-5" dirty="0">
                <a:latin typeface="Calibri"/>
                <a:cs typeface="Calibri"/>
              </a:rPr>
              <a:t>service</a:t>
            </a:r>
            <a:r>
              <a:rPr sz="1600" spc="25" dirty="0">
                <a:latin typeface="Calibri"/>
                <a:cs typeface="Calibri"/>
              </a:rPr>
              <a:t> </a:t>
            </a:r>
            <a:r>
              <a:rPr sz="1600" spc="-10" dirty="0">
                <a:latin typeface="Calibri"/>
                <a:cs typeface="Calibri"/>
              </a:rPr>
              <a:t>provider</a:t>
            </a:r>
            <a:r>
              <a:rPr sz="1600" spc="25" dirty="0">
                <a:latin typeface="Calibri"/>
                <a:cs typeface="Calibri"/>
              </a:rPr>
              <a:t> </a:t>
            </a:r>
            <a:r>
              <a:rPr sz="1600" spc="-10" dirty="0">
                <a:latin typeface="Calibri"/>
                <a:cs typeface="Calibri"/>
              </a:rPr>
              <a:t>interaction.</a:t>
            </a:r>
            <a:r>
              <a:rPr sz="1600" spc="5" dirty="0">
                <a:latin typeface="Calibri"/>
                <a:cs typeface="Calibri"/>
              </a:rPr>
              <a:t> </a:t>
            </a:r>
            <a:r>
              <a:rPr sz="1600" spc="-5" dirty="0">
                <a:latin typeface="Calibri"/>
                <a:cs typeface="Calibri"/>
              </a:rPr>
              <a:t>”</a:t>
            </a:r>
            <a:endParaRPr sz="1600" dirty="0">
              <a:latin typeface="Calibri"/>
              <a:cs typeface="Calibri"/>
            </a:endParaRPr>
          </a:p>
        </p:txBody>
      </p:sp>
      <p:pic>
        <p:nvPicPr>
          <p:cNvPr id="3" name="object 3"/>
          <p:cNvPicPr/>
          <p:nvPr/>
        </p:nvPicPr>
        <p:blipFill>
          <a:blip r:embed="rId2" cstate="print"/>
          <a:stretch>
            <a:fillRect/>
          </a:stretch>
        </p:blipFill>
        <p:spPr>
          <a:xfrm>
            <a:off x="1828800" y="2343200"/>
            <a:ext cx="5458587" cy="1812670"/>
          </a:xfrm>
          <a:prstGeom prst="rect">
            <a:avLst/>
          </a:prstGeom>
        </p:spPr>
      </p:pic>
      <p:sp>
        <p:nvSpPr>
          <p:cNvPr id="4" name="object 4"/>
          <p:cNvSpPr txBox="1">
            <a:spLocks noGrp="1"/>
          </p:cNvSpPr>
          <p:nvPr>
            <p:ph type="title"/>
          </p:nvPr>
        </p:nvSpPr>
        <p:spPr>
          <a:xfrm>
            <a:off x="3087116" y="225912"/>
            <a:ext cx="2942590" cy="505908"/>
          </a:xfrm>
          <a:prstGeom prst="rect">
            <a:avLst/>
          </a:prstGeom>
        </p:spPr>
        <p:txBody>
          <a:bodyPr vert="horz" wrap="square" lIns="0" tIns="13335" rIns="0" bIns="0" rtlCol="0">
            <a:spAutoFit/>
          </a:bodyPr>
          <a:lstStyle/>
          <a:p>
            <a:pPr marL="12700" algn="ctr">
              <a:lnSpc>
                <a:spcPct val="100000"/>
              </a:lnSpc>
              <a:spcBef>
                <a:spcPts val="105"/>
              </a:spcBef>
            </a:pPr>
            <a:r>
              <a:rPr sz="3200" b="1" spc="-5" dirty="0"/>
              <a:t>Cloud</a:t>
            </a:r>
            <a:r>
              <a:rPr sz="3200" b="1" spc="-50" dirty="0"/>
              <a:t> </a:t>
            </a:r>
            <a:r>
              <a:rPr sz="3200" b="1" spc="-5" dirty="0"/>
              <a:t>Computing</a:t>
            </a:r>
          </a:p>
        </p:txBody>
      </p:sp>
      <p:sp>
        <p:nvSpPr>
          <p:cNvPr id="6" name="object 6"/>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3</a:t>
            </a:r>
          </a:p>
        </p:txBody>
      </p:sp>
      <p:sp>
        <p:nvSpPr>
          <p:cNvPr id="5" name="object 5"/>
          <p:cNvSpPr txBox="1"/>
          <p:nvPr/>
        </p:nvSpPr>
        <p:spPr>
          <a:xfrm>
            <a:off x="3697351" y="4213961"/>
            <a:ext cx="5385435" cy="193675"/>
          </a:xfrm>
          <a:prstGeom prst="rect">
            <a:avLst/>
          </a:prstGeom>
        </p:spPr>
        <p:txBody>
          <a:bodyPr vert="horz" wrap="square" lIns="0" tIns="12700" rIns="0" bIns="0" rtlCol="0">
            <a:spAutoFit/>
          </a:bodyPr>
          <a:lstStyle/>
          <a:p>
            <a:pPr marL="12700">
              <a:lnSpc>
                <a:spcPct val="100000"/>
              </a:lnSpc>
              <a:spcBef>
                <a:spcPts val="100"/>
              </a:spcBef>
            </a:pPr>
            <a:r>
              <a:rPr sz="1100" i="1" spc="-5" dirty="0">
                <a:latin typeface="Arial"/>
                <a:cs typeface="Arial"/>
                <a:hlinkClick r:id="rId3"/>
              </a:rPr>
              <a:t>http://www.smallbiztechnology.com/archive/2011/09/wait-what-is-cloud-computing.html</a:t>
            </a:r>
            <a:endParaRPr sz="1100" dirty="0">
              <a:latin typeface="Arial"/>
              <a:cs typeface="Arial"/>
            </a:endParaRPr>
          </a:p>
        </p:txBody>
      </p:sp>
      <p:sp>
        <p:nvSpPr>
          <p:cNvPr id="7" name="Footer Placeholder 6">
            <a:extLst>
              <a:ext uri="{FF2B5EF4-FFF2-40B4-BE49-F238E27FC236}">
                <a16:creationId xmlns:a16="http://schemas.microsoft.com/office/drawing/2014/main" id="{0FED71FA-9448-5763-8171-974E882E253E}"/>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4182" y="339311"/>
            <a:ext cx="4059554" cy="505908"/>
          </a:xfrm>
          <a:prstGeom prst="rect">
            <a:avLst/>
          </a:prstGeom>
        </p:spPr>
        <p:txBody>
          <a:bodyPr vert="horz" wrap="square" lIns="0" tIns="13335" rIns="0" bIns="0" rtlCol="0">
            <a:spAutoFit/>
          </a:bodyPr>
          <a:lstStyle/>
          <a:p>
            <a:pPr marL="12700" algn="ctr">
              <a:lnSpc>
                <a:spcPct val="100000"/>
              </a:lnSpc>
              <a:spcBef>
                <a:spcPts val="105"/>
              </a:spcBef>
            </a:pPr>
            <a:r>
              <a:rPr sz="3200" b="1" spc="-5" dirty="0"/>
              <a:t>Essential</a:t>
            </a:r>
            <a:r>
              <a:rPr sz="3200" b="1" spc="-85" dirty="0"/>
              <a:t> </a:t>
            </a:r>
            <a:r>
              <a:rPr sz="3200" b="1" spc="-10" dirty="0"/>
              <a:t>Characteristics</a:t>
            </a:r>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4</a:t>
            </a:r>
          </a:p>
        </p:txBody>
      </p:sp>
      <p:sp>
        <p:nvSpPr>
          <p:cNvPr id="3" name="object 3"/>
          <p:cNvSpPr txBox="1"/>
          <p:nvPr/>
        </p:nvSpPr>
        <p:spPr>
          <a:xfrm>
            <a:off x="228094" y="934034"/>
            <a:ext cx="8594090" cy="3773212"/>
          </a:xfrm>
          <a:prstGeom prst="rect">
            <a:avLst/>
          </a:prstGeom>
        </p:spPr>
        <p:txBody>
          <a:bodyPr vert="horz" wrap="square" lIns="0" tIns="12065" rIns="0" bIns="0" rtlCol="0">
            <a:spAutoFit/>
          </a:bodyPr>
          <a:lstStyle/>
          <a:p>
            <a:pPr marL="355600" indent="-342900" algn="just">
              <a:lnSpc>
                <a:spcPct val="100000"/>
              </a:lnSpc>
              <a:spcBef>
                <a:spcPts val="95"/>
              </a:spcBef>
              <a:buClr>
                <a:srgbClr val="CCCCCC"/>
              </a:buClr>
              <a:buFont typeface="Arial MT"/>
              <a:buChar char="•"/>
              <a:tabLst>
                <a:tab pos="354965" algn="l"/>
                <a:tab pos="355600" algn="l"/>
              </a:tabLst>
            </a:pPr>
            <a:r>
              <a:rPr sz="2000" b="1" spc="-10" dirty="0">
                <a:latin typeface="Calibri"/>
                <a:cs typeface="Calibri"/>
              </a:rPr>
              <a:t>On-demand</a:t>
            </a:r>
            <a:r>
              <a:rPr sz="2000" b="1" spc="25" dirty="0">
                <a:latin typeface="Calibri"/>
                <a:cs typeface="Calibri"/>
              </a:rPr>
              <a:t> </a:t>
            </a:r>
            <a:r>
              <a:rPr sz="2000" b="1" spc="-5" dirty="0">
                <a:latin typeface="Calibri"/>
                <a:cs typeface="Calibri"/>
              </a:rPr>
              <a:t>self-service</a:t>
            </a:r>
            <a:endParaRPr sz="2000" dirty="0">
              <a:latin typeface="Calibri"/>
              <a:cs typeface="Calibri"/>
            </a:endParaRPr>
          </a:p>
          <a:p>
            <a:pPr marL="756285" marR="208279" lvl="1" indent="-342900" algn="just">
              <a:lnSpc>
                <a:spcPts val="1560"/>
              </a:lnSpc>
              <a:spcBef>
                <a:spcPts val="1445"/>
              </a:spcBef>
              <a:buClr>
                <a:srgbClr val="CCCCCC"/>
              </a:buClr>
              <a:buFont typeface="Arial MT"/>
              <a:buChar char="•"/>
              <a:tabLst>
                <a:tab pos="756285" algn="l"/>
                <a:tab pos="756920" algn="l"/>
              </a:tabLst>
            </a:pPr>
            <a:r>
              <a:rPr sz="2000" dirty="0">
                <a:latin typeface="Calibri"/>
                <a:cs typeface="Calibri"/>
              </a:rPr>
              <a:t>A </a:t>
            </a:r>
            <a:r>
              <a:rPr sz="2000" spc="-5" dirty="0">
                <a:latin typeface="Calibri"/>
                <a:cs typeface="Calibri"/>
              </a:rPr>
              <a:t>consumer</a:t>
            </a:r>
            <a:r>
              <a:rPr sz="2000" dirty="0">
                <a:latin typeface="Calibri"/>
                <a:cs typeface="Calibri"/>
              </a:rPr>
              <a:t> </a:t>
            </a:r>
            <a:r>
              <a:rPr sz="2000" spc="-5" dirty="0">
                <a:latin typeface="Calibri"/>
                <a:cs typeface="Calibri"/>
              </a:rPr>
              <a:t>can unilaterally</a:t>
            </a:r>
            <a:r>
              <a:rPr sz="2000" spc="20" dirty="0">
                <a:latin typeface="Calibri"/>
                <a:cs typeface="Calibri"/>
              </a:rPr>
              <a:t> </a:t>
            </a:r>
            <a:r>
              <a:rPr sz="2000" spc="-5" dirty="0">
                <a:latin typeface="Calibri"/>
                <a:cs typeface="Calibri"/>
              </a:rPr>
              <a:t>provision</a:t>
            </a:r>
            <a:r>
              <a:rPr sz="2000" spc="-15" dirty="0">
                <a:latin typeface="Calibri"/>
                <a:cs typeface="Calibri"/>
              </a:rPr>
              <a:t> </a:t>
            </a:r>
            <a:r>
              <a:rPr sz="2000" spc="-5" dirty="0">
                <a:latin typeface="Calibri"/>
                <a:cs typeface="Calibri"/>
              </a:rPr>
              <a:t>computing</a:t>
            </a:r>
            <a:r>
              <a:rPr sz="2000" spc="20" dirty="0">
                <a:latin typeface="Calibri"/>
                <a:cs typeface="Calibri"/>
              </a:rPr>
              <a:t> </a:t>
            </a:r>
            <a:r>
              <a:rPr sz="2000" spc="-5" dirty="0">
                <a:latin typeface="Calibri"/>
                <a:cs typeface="Calibri"/>
              </a:rPr>
              <a:t>capabilities,</a:t>
            </a:r>
            <a:r>
              <a:rPr sz="2000" spc="35" dirty="0">
                <a:latin typeface="Calibri"/>
                <a:cs typeface="Calibri"/>
              </a:rPr>
              <a:t> </a:t>
            </a:r>
            <a:r>
              <a:rPr sz="2000" spc="-5" dirty="0">
                <a:latin typeface="Calibri"/>
                <a:cs typeface="Calibri"/>
              </a:rPr>
              <a:t>such</a:t>
            </a:r>
            <a:r>
              <a:rPr sz="2000" spc="-10" dirty="0">
                <a:latin typeface="Calibri"/>
                <a:cs typeface="Calibri"/>
              </a:rPr>
              <a:t> </a:t>
            </a:r>
            <a:r>
              <a:rPr sz="2000" dirty="0">
                <a:latin typeface="Calibri"/>
                <a:cs typeface="Calibri"/>
              </a:rPr>
              <a:t>as</a:t>
            </a:r>
            <a:r>
              <a:rPr sz="2000" spc="25" dirty="0">
                <a:latin typeface="Calibri"/>
                <a:cs typeface="Calibri"/>
              </a:rPr>
              <a:t> </a:t>
            </a:r>
            <a:r>
              <a:rPr sz="2000" spc="-5" dirty="0">
                <a:latin typeface="Calibri"/>
                <a:cs typeface="Calibri"/>
              </a:rPr>
              <a:t>server</a:t>
            </a:r>
            <a:r>
              <a:rPr sz="2000" dirty="0">
                <a:latin typeface="Calibri"/>
                <a:cs typeface="Calibri"/>
              </a:rPr>
              <a:t> </a:t>
            </a:r>
            <a:r>
              <a:rPr sz="2000" spc="-5" dirty="0">
                <a:latin typeface="Calibri"/>
                <a:cs typeface="Calibri"/>
              </a:rPr>
              <a:t>time</a:t>
            </a:r>
            <a:r>
              <a:rPr sz="2000" dirty="0">
                <a:latin typeface="Calibri"/>
                <a:cs typeface="Calibri"/>
              </a:rPr>
              <a:t> and</a:t>
            </a:r>
            <a:r>
              <a:rPr sz="2000" spc="5" dirty="0">
                <a:latin typeface="Calibri"/>
                <a:cs typeface="Calibri"/>
              </a:rPr>
              <a:t> </a:t>
            </a:r>
            <a:r>
              <a:rPr sz="2000" spc="-5" dirty="0">
                <a:latin typeface="Calibri"/>
                <a:cs typeface="Calibri"/>
              </a:rPr>
              <a:t>network</a:t>
            </a:r>
            <a:r>
              <a:rPr sz="2000" spc="5" dirty="0">
                <a:latin typeface="Calibri"/>
                <a:cs typeface="Calibri"/>
              </a:rPr>
              <a:t> </a:t>
            </a:r>
            <a:r>
              <a:rPr sz="2000" spc="-10" dirty="0">
                <a:latin typeface="Calibri"/>
                <a:cs typeface="Calibri"/>
              </a:rPr>
              <a:t>storage,</a:t>
            </a:r>
            <a:r>
              <a:rPr sz="2000" spc="-15" dirty="0">
                <a:latin typeface="Calibri"/>
                <a:cs typeface="Calibri"/>
              </a:rPr>
              <a:t> </a:t>
            </a:r>
            <a:r>
              <a:rPr sz="2000" dirty="0">
                <a:latin typeface="Calibri"/>
                <a:cs typeface="Calibri"/>
              </a:rPr>
              <a:t>as </a:t>
            </a:r>
            <a:r>
              <a:rPr sz="2000" spc="-305" dirty="0">
                <a:latin typeface="Calibri"/>
                <a:cs typeface="Calibri"/>
              </a:rPr>
              <a:t> </a:t>
            </a:r>
            <a:r>
              <a:rPr sz="2000" spc="-5" dirty="0">
                <a:latin typeface="Calibri"/>
                <a:cs typeface="Calibri"/>
              </a:rPr>
              <a:t>needed</a:t>
            </a:r>
            <a:r>
              <a:rPr sz="2000" spc="10" dirty="0">
                <a:latin typeface="Calibri"/>
                <a:cs typeface="Calibri"/>
              </a:rPr>
              <a:t> </a:t>
            </a:r>
            <a:r>
              <a:rPr sz="2000" spc="-5" dirty="0">
                <a:latin typeface="Calibri"/>
                <a:cs typeface="Calibri"/>
              </a:rPr>
              <a:t>automatically</a:t>
            </a:r>
            <a:r>
              <a:rPr sz="2000" spc="20" dirty="0">
                <a:latin typeface="Calibri"/>
                <a:cs typeface="Calibri"/>
              </a:rPr>
              <a:t> </a:t>
            </a:r>
            <a:r>
              <a:rPr sz="2000" spc="-5" dirty="0">
                <a:latin typeface="Calibri"/>
                <a:cs typeface="Calibri"/>
              </a:rPr>
              <a:t>without</a:t>
            </a:r>
            <a:r>
              <a:rPr sz="2000" dirty="0">
                <a:latin typeface="Calibri"/>
                <a:cs typeface="Calibri"/>
              </a:rPr>
              <a:t> </a:t>
            </a:r>
            <a:r>
              <a:rPr sz="2000" spc="-5" dirty="0">
                <a:latin typeface="Calibri"/>
                <a:cs typeface="Calibri"/>
              </a:rPr>
              <a:t>requiring</a:t>
            </a:r>
            <a:r>
              <a:rPr sz="2000" spc="15" dirty="0">
                <a:latin typeface="Calibri"/>
                <a:cs typeface="Calibri"/>
              </a:rPr>
              <a:t> </a:t>
            </a:r>
            <a:r>
              <a:rPr sz="2000" spc="-5" dirty="0">
                <a:latin typeface="Calibri"/>
                <a:cs typeface="Calibri"/>
              </a:rPr>
              <a:t>human</a:t>
            </a:r>
            <a:r>
              <a:rPr sz="2000" spc="20" dirty="0">
                <a:latin typeface="Calibri"/>
                <a:cs typeface="Calibri"/>
              </a:rPr>
              <a:t> </a:t>
            </a:r>
            <a:r>
              <a:rPr sz="2000" spc="-10" dirty="0">
                <a:latin typeface="Calibri"/>
                <a:cs typeface="Calibri"/>
              </a:rPr>
              <a:t>interaction</a:t>
            </a:r>
            <a:r>
              <a:rPr sz="2000" spc="15" dirty="0">
                <a:latin typeface="Calibri"/>
                <a:cs typeface="Calibri"/>
              </a:rPr>
              <a:t> </a:t>
            </a:r>
            <a:r>
              <a:rPr sz="2000" dirty="0">
                <a:latin typeface="Calibri"/>
                <a:cs typeface="Calibri"/>
              </a:rPr>
              <a:t>with</a:t>
            </a:r>
            <a:r>
              <a:rPr sz="2000" spc="-15" dirty="0">
                <a:latin typeface="Calibri"/>
                <a:cs typeface="Calibri"/>
              </a:rPr>
              <a:t> </a:t>
            </a:r>
            <a:r>
              <a:rPr sz="2000" spc="-5" dirty="0">
                <a:latin typeface="Calibri"/>
                <a:cs typeface="Calibri"/>
              </a:rPr>
              <a:t>each</a:t>
            </a:r>
            <a:r>
              <a:rPr sz="2000" dirty="0">
                <a:latin typeface="Calibri"/>
                <a:cs typeface="Calibri"/>
              </a:rPr>
              <a:t> service</a:t>
            </a:r>
            <a:r>
              <a:rPr sz="2000" spc="5" dirty="0">
                <a:latin typeface="Calibri"/>
                <a:cs typeface="Calibri"/>
              </a:rPr>
              <a:t> </a:t>
            </a:r>
            <a:r>
              <a:rPr sz="2000" spc="-25" dirty="0">
                <a:latin typeface="Calibri"/>
                <a:cs typeface="Calibri"/>
              </a:rPr>
              <a:t>provider.</a:t>
            </a:r>
            <a:endParaRPr sz="2000" dirty="0">
              <a:latin typeface="Calibri"/>
              <a:cs typeface="Calibri"/>
            </a:endParaRPr>
          </a:p>
          <a:p>
            <a:pPr marL="355600" indent="-342900" algn="just">
              <a:lnSpc>
                <a:spcPct val="100000"/>
              </a:lnSpc>
              <a:spcBef>
                <a:spcPts val="919"/>
              </a:spcBef>
              <a:buClr>
                <a:srgbClr val="CCCCCC"/>
              </a:buClr>
              <a:buFont typeface="Arial MT"/>
              <a:buChar char="•"/>
              <a:tabLst>
                <a:tab pos="354965" algn="l"/>
                <a:tab pos="355600" algn="l"/>
              </a:tabLst>
            </a:pPr>
            <a:r>
              <a:rPr sz="2000" b="1" spc="-10" dirty="0">
                <a:latin typeface="Calibri"/>
                <a:cs typeface="Calibri"/>
              </a:rPr>
              <a:t>Broad</a:t>
            </a:r>
            <a:r>
              <a:rPr sz="2000" b="1" spc="5" dirty="0">
                <a:latin typeface="Calibri"/>
                <a:cs typeface="Calibri"/>
              </a:rPr>
              <a:t> </a:t>
            </a:r>
            <a:r>
              <a:rPr sz="2000" b="1" spc="-10" dirty="0">
                <a:latin typeface="Calibri"/>
                <a:cs typeface="Calibri"/>
              </a:rPr>
              <a:t>network </a:t>
            </a:r>
            <a:r>
              <a:rPr sz="2000" b="1" spc="-5" dirty="0">
                <a:latin typeface="Calibri"/>
                <a:cs typeface="Calibri"/>
              </a:rPr>
              <a:t>access</a:t>
            </a:r>
            <a:endParaRPr sz="2000" dirty="0">
              <a:latin typeface="Calibri"/>
              <a:cs typeface="Calibri"/>
            </a:endParaRPr>
          </a:p>
          <a:p>
            <a:pPr marL="756285" marR="5080" lvl="1" indent="-342900" algn="just">
              <a:lnSpc>
                <a:spcPts val="1570"/>
              </a:lnSpc>
              <a:spcBef>
                <a:spcPts val="1440"/>
              </a:spcBef>
              <a:buClr>
                <a:srgbClr val="CCCCCC"/>
              </a:buClr>
              <a:buFont typeface="Arial MT"/>
              <a:buChar char="•"/>
              <a:tabLst>
                <a:tab pos="756285" algn="l"/>
                <a:tab pos="756920" algn="l"/>
              </a:tabLst>
            </a:pPr>
            <a:r>
              <a:rPr sz="2000" spc="-5" dirty="0">
                <a:latin typeface="Calibri"/>
                <a:cs typeface="Calibri"/>
              </a:rPr>
              <a:t>Capabilities</a:t>
            </a:r>
            <a:r>
              <a:rPr sz="2000" spc="35" dirty="0">
                <a:latin typeface="Calibri"/>
                <a:cs typeface="Calibri"/>
              </a:rPr>
              <a:t> </a:t>
            </a:r>
            <a:r>
              <a:rPr sz="2000" spc="-10" dirty="0">
                <a:latin typeface="Calibri"/>
                <a:cs typeface="Calibri"/>
              </a:rPr>
              <a:t>are</a:t>
            </a:r>
            <a:r>
              <a:rPr sz="2000" spc="10" dirty="0">
                <a:latin typeface="Calibri"/>
                <a:cs typeface="Calibri"/>
              </a:rPr>
              <a:t> </a:t>
            </a:r>
            <a:r>
              <a:rPr sz="2000" spc="-5" dirty="0">
                <a:latin typeface="Calibri"/>
                <a:cs typeface="Calibri"/>
              </a:rPr>
              <a:t>available</a:t>
            </a:r>
            <a:r>
              <a:rPr sz="2000" spc="20" dirty="0">
                <a:latin typeface="Calibri"/>
                <a:cs typeface="Calibri"/>
              </a:rPr>
              <a:t> </a:t>
            </a:r>
            <a:r>
              <a:rPr sz="2000" spc="-5" dirty="0">
                <a:latin typeface="Calibri"/>
                <a:cs typeface="Calibri"/>
              </a:rPr>
              <a:t>over</a:t>
            </a:r>
            <a:r>
              <a:rPr sz="2000" spc="-10"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network</a:t>
            </a:r>
            <a:r>
              <a:rPr sz="2000" spc="5" dirty="0">
                <a:latin typeface="Calibri"/>
                <a:cs typeface="Calibri"/>
              </a:rPr>
              <a:t> </a:t>
            </a:r>
            <a:r>
              <a:rPr sz="2000" dirty="0">
                <a:latin typeface="Calibri"/>
                <a:cs typeface="Calibri"/>
              </a:rPr>
              <a:t>and</a:t>
            </a:r>
            <a:r>
              <a:rPr sz="2000" spc="10" dirty="0">
                <a:latin typeface="Calibri"/>
                <a:cs typeface="Calibri"/>
              </a:rPr>
              <a:t> </a:t>
            </a:r>
            <a:r>
              <a:rPr sz="2000" spc="-5" dirty="0">
                <a:latin typeface="Calibri"/>
                <a:cs typeface="Calibri"/>
              </a:rPr>
              <a:t>accessed</a:t>
            </a:r>
            <a:r>
              <a:rPr sz="2000" spc="10" dirty="0">
                <a:latin typeface="Calibri"/>
                <a:cs typeface="Calibri"/>
              </a:rPr>
              <a:t> </a:t>
            </a:r>
            <a:r>
              <a:rPr sz="2000" spc="-10" dirty="0">
                <a:latin typeface="Calibri"/>
                <a:cs typeface="Calibri"/>
              </a:rPr>
              <a:t>through</a:t>
            </a:r>
            <a:r>
              <a:rPr sz="2000" spc="5" dirty="0">
                <a:latin typeface="Calibri"/>
                <a:cs typeface="Calibri"/>
              </a:rPr>
              <a:t> </a:t>
            </a:r>
            <a:r>
              <a:rPr sz="2000" spc="-10" dirty="0">
                <a:latin typeface="Calibri"/>
                <a:cs typeface="Calibri"/>
              </a:rPr>
              <a:t>standard</a:t>
            </a:r>
            <a:r>
              <a:rPr sz="2000" spc="35" dirty="0">
                <a:latin typeface="Calibri"/>
                <a:cs typeface="Calibri"/>
              </a:rPr>
              <a:t> </a:t>
            </a:r>
            <a:r>
              <a:rPr sz="2000" spc="-5" dirty="0">
                <a:latin typeface="Calibri"/>
                <a:cs typeface="Calibri"/>
              </a:rPr>
              <a:t>mechanisms</a:t>
            </a:r>
            <a:r>
              <a:rPr sz="2000" spc="20" dirty="0">
                <a:latin typeface="Calibri"/>
                <a:cs typeface="Calibri"/>
              </a:rPr>
              <a:t> </a:t>
            </a:r>
            <a:r>
              <a:rPr sz="2000" spc="-5" dirty="0">
                <a:latin typeface="Calibri"/>
                <a:cs typeface="Calibri"/>
              </a:rPr>
              <a:t>that</a:t>
            </a:r>
            <a:r>
              <a:rPr sz="2000" spc="25" dirty="0">
                <a:latin typeface="Calibri"/>
                <a:cs typeface="Calibri"/>
              </a:rPr>
              <a:t> </a:t>
            </a:r>
            <a:r>
              <a:rPr sz="2000" spc="-10" dirty="0">
                <a:latin typeface="Calibri"/>
                <a:cs typeface="Calibri"/>
              </a:rPr>
              <a:t>promote</a:t>
            </a:r>
            <a:r>
              <a:rPr sz="2000" spc="-15" dirty="0">
                <a:latin typeface="Calibri"/>
                <a:cs typeface="Calibri"/>
              </a:rPr>
              <a:t> </a:t>
            </a:r>
            <a:r>
              <a:rPr sz="2000" spc="-5" dirty="0">
                <a:latin typeface="Calibri"/>
                <a:cs typeface="Calibri"/>
              </a:rPr>
              <a:t>use</a:t>
            </a:r>
            <a:r>
              <a:rPr sz="2000" spc="15" dirty="0">
                <a:latin typeface="Calibri"/>
                <a:cs typeface="Calibri"/>
              </a:rPr>
              <a:t> </a:t>
            </a:r>
            <a:r>
              <a:rPr sz="2000" spc="-10" dirty="0">
                <a:latin typeface="Calibri"/>
                <a:cs typeface="Calibri"/>
              </a:rPr>
              <a:t>by </a:t>
            </a:r>
            <a:r>
              <a:rPr sz="2000" spc="-305" dirty="0">
                <a:latin typeface="Calibri"/>
                <a:cs typeface="Calibri"/>
              </a:rPr>
              <a:t> </a:t>
            </a:r>
            <a:r>
              <a:rPr sz="2000" spc="-10" dirty="0">
                <a:latin typeface="Calibri"/>
                <a:cs typeface="Calibri"/>
              </a:rPr>
              <a:t>heterogeneous</a:t>
            </a:r>
            <a:r>
              <a:rPr sz="2000" spc="40" dirty="0">
                <a:latin typeface="Calibri"/>
                <a:cs typeface="Calibri"/>
              </a:rPr>
              <a:t> </a:t>
            </a:r>
            <a:r>
              <a:rPr sz="2000" spc="-5" dirty="0">
                <a:latin typeface="Calibri"/>
                <a:cs typeface="Calibri"/>
              </a:rPr>
              <a:t>thin</a:t>
            </a:r>
            <a:r>
              <a:rPr sz="2000" spc="10" dirty="0">
                <a:latin typeface="Calibri"/>
                <a:cs typeface="Calibri"/>
              </a:rPr>
              <a:t> </a:t>
            </a:r>
            <a:r>
              <a:rPr sz="2000" spc="-5" dirty="0">
                <a:latin typeface="Calibri"/>
                <a:cs typeface="Calibri"/>
              </a:rPr>
              <a:t>or</a:t>
            </a:r>
            <a:r>
              <a:rPr sz="2000" spc="-10" dirty="0">
                <a:latin typeface="Calibri"/>
                <a:cs typeface="Calibri"/>
              </a:rPr>
              <a:t> </a:t>
            </a:r>
            <a:r>
              <a:rPr sz="2000" spc="-5" dirty="0">
                <a:latin typeface="Calibri"/>
                <a:cs typeface="Calibri"/>
              </a:rPr>
              <a:t>thick</a:t>
            </a:r>
            <a:r>
              <a:rPr sz="2000" spc="20" dirty="0">
                <a:latin typeface="Calibri"/>
                <a:cs typeface="Calibri"/>
              </a:rPr>
              <a:t> </a:t>
            </a:r>
            <a:r>
              <a:rPr sz="2000" spc="-5" dirty="0">
                <a:latin typeface="Calibri"/>
                <a:cs typeface="Calibri"/>
              </a:rPr>
              <a:t>client</a:t>
            </a:r>
            <a:r>
              <a:rPr sz="2000" spc="20" dirty="0">
                <a:latin typeface="Calibri"/>
                <a:cs typeface="Calibri"/>
              </a:rPr>
              <a:t> </a:t>
            </a:r>
            <a:r>
              <a:rPr sz="2000" spc="-10" dirty="0">
                <a:latin typeface="Calibri"/>
                <a:cs typeface="Calibri"/>
              </a:rPr>
              <a:t>platforms</a:t>
            </a:r>
            <a:r>
              <a:rPr sz="2000" spc="-15" dirty="0">
                <a:latin typeface="Calibri"/>
                <a:cs typeface="Calibri"/>
              </a:rPr>
              <a:t> </a:t>
            </a:r>
            <a:r>
              <a:rPr sz="2000" dirty="0">
                <a:latin typeface="Calibri"/>
                <a:cs typeface="Calibri"/>
              </a:rPr>
              <a:t>(e.g., </a:t>
            </a:r>
            <a:r>
              <a:rPr sz="2000" spc="-5" dirty="0">
                <a:latin typeface="Calibri"/>
                <a:cs typeface="Calibri"/>
              </a:rPr>
              <a:t>mobile</a:t>
            </a:r>
            <a:r>
              <a:rPr sz="2000" spc="15" dirty="0">
                <a:latin typeface="Calibri"/>
                <a:cs typeface="Calibri"/>
              </a:rPr>
              <a:t> </a:t>
            </a:r>
            <a:r>
              <a:rPr sz="2000" spc="-5" dirty="0">
                <a:latin typeface="Calibri"/>
                <a:cs typeface="Calibri"/>
              </a:rPr>
              <a:t>phones,</a:t>
            </a:r>
            <a:r>
              <a:rPr sz="2000" dirty="0">
                <a:latin typeface="Calibri"/>
                <a:cs typeface="Calibri"/>
              </a:rPr>
              <a:t> </a:t>
            </a:r>
            <a:r>
              <a:rPr sz="2000" spc="-5" dirty="0">
                <a:latin typeface="Calibri"/>
                <a:cs typeface="Calibri"/>
              </a:rPr>
              <a:t>tablets,</a:t>
            </a:r>
            <a:r>
              <a:rPr sz="2000" spc="20" dirty="0">
                <a:latin typeface="Calibri"/>
                <a:cs typeface="Calibri"/>
              </a:rPr>
              <a:t> </a:t>
            </a:r>
            <a:r>
              <a:rPr sz="2000" spc="-5" dirty="0">
                <a:latin typeface="Calibri"/>
                <a:cs typeface="Calibri"/>
              </a:rPr>
              <a:t>laptops,</a:t>
            </a:r>
            <a:r>
              <a:rPr sz="2000" spc="10" dirty="0">
                <a:latin typeface="Calibri"/>
                <a:cs typeface="Calibri"/>
              </a:rPr>
              <a:t> </a:t>
            </a:r>
            <a:r>
              <a:rPr sz="2000" spc="-5" dirty="0">
                <a:latin typeface="Calibri"/>
                <a:cs typeface="Calibri"/>
              </a:rPr>
              <a:t>and workstations).</a:t>
            </a:r>
            <a:endParaRPr sz="2000" dirty="0">
              <a:latin typeface="Calibri"/>
              <a:cs typeface="Calibri"/>
            </a:endParaRPr>
          </a:p>
          <a:p>
            <a:pPr marL="355600" indent="-342900" algn="just">
              <a:lnSpc>
                <a:spcPct val="100000"/>
              </a:lnSpc>
              <a:spcBef>
                <a:spcPts val="919"/>
              </a:spcBef>
              <a:buClr>
                <a:srgbClr val="CCCCCC"/>
              </a:buClr>
              <a:buFont typeface="Arial MT"/>
              <a:buChar char="•"/>
              <a:tabLst>
                <a:tab pos="354965" algn="l"/>
                <a:tab pos="355600" algn="l"/>
              </a:tabLst>
            </a:pPr>
            <a:r>
              <a:rPr sz="2000" b="1" spc="-15" dirty="0">
                <a:latin typeface="Calibri"/>
                <a:cs typeface="Calibri"/>
              </a:rPr>
              <a:t>Resource</a:t>
            </a:r>
            <a:r>
              <a:rPr sz="2000" b="1" spc="10" dirty="0">
                <a:latin typeface="Calibri"/>
                <a:cs typeface="Calibri"/>
              </a:rPr>
              <a:t> </a:t>
            </a:r>
            <a:r>
              <a:rPr sz="2000" b="1" spc="-5" dirty="0">
                <a:latin typeface="Calibri"/>
                <a:cs typeface="Calibri"/>
              </a:rPr>
              <a:t>pooling</a:t>
            </a:r>
            <a:endParaRPr sz="2000" dirty="0">
              <a:latin typeface="Calibri"/>
              <a:cs typeface="Calibri"/>
            </a:endParaRPr>
          </a:p>
          <a:p>
            <a:pPr marL="756285" marR="257175" lvl="1" indent="-342900" algn="just">
              <a:lnSpc>
                <a:spcPts val="1560"/>
              </a:lnSpc>
              <a:spcBef>
                <a:spcPts val="1445"/>
              </a:spcBef>
              <a:buClr>
                <a:srgbClr val="CCCCCC"/>
              </a:buClr>
              <a:buFont typeface="Arial MT"/>
              <a:buChar char="•"/>
              <a:tabLst>
                <a:tab pos="756920" algn="l"/>
              </a:tabLst>
            </a:pPr>
            <a:r>
              <a:rPr sz="2000" spc="-5" dirty="0">
                <a:latin typeface="Calibri"/>
                <a:cs typeface="Calibri"/>
              </a:rPr>
              <a:t>The </a:t>
            </a:r>
            <a:r>
              <a:rPr sz="2000" spc="-10" dirty="0">
                <a:latin typeface="Calibri"/>
                <a:cs typeface="Calibri"/>
              </a:rPr>
              <a:t>provider’s </a:t>
            </a:r>
            <a:r>
              <a:rPr sz="2000" spc="-5" dirty="0">
                <a:latin typeface="Calibri"/>
                <a:cs typeface="Calibri"/>
              </a:rPr>
              <a:t>computing </a:t>
            </a:r>
            <a:r>
              <a:rPr sz="2000" spc="-10" dirty="0">
                <a:latin typeface="Calibri"/>
                <a:cs typeface="Calibri"/>
              </a:rPr>
              <a:t>resources are </a:t>
            </a:r>
            <a:r>
              <a:rPr sz="2000" dirty="0">
                <a:latin typeface="Calibri"/>
                <a:cs typeface="Calibri"/>
              </a:rPr>
              <a:t>pooled </a:t>
            </a:r>
            <a:r>
              <a:rPr sz="2000" spc="-10" dirty="0">
                <a:latin typeface="Calibri"/>
                <a:cs typeface="Calibri"/>
              </a:rPr>
              <a:t>to </a:t>
            </a:r>
            <a:r>
              <a:rPr sz="2000" spc="-5" dirty="0">
                <a:latin typeface="Calibri"/>
                <a:cs typeface="Calibri"/>
              </a:rPr>
              <a:t>serve multiple</a:t>
            </a:r>
            <a:r>
              <a:rPr sz="2000" dirty="0">
                <a:latin typeface="Calibri"/>
                <a:cs typeface="Calibri"/>
              </a:rPr>
              <a:t> </a:t>
            </a:r>
            <a:r>
              <a:rPr sz="2000" spc="-10" dirty="0">
                <a:latin typeface="Calibri"/>
                <a:cs typeface="Calibri"/>
              </a:rPr>
              <a:t>consumers </a:t>
            </a:r>
            <a:r>
              <a:rPr sz="2000" spc="-5" dirty="0">
                <a:latin typeface="Calibri"/>
                <a:cs typeface="Calibri"/>
              </a:rPr>
              <a:t>using </a:t>
            </a:r>
            <a:r>
              <a:rPr sz="2000" dirty="0">
                <a:latin typeface="Calibri"/>
                <a:cs typeface="Calibri"/>
              </a:rPr>
              <a:t>a </a:t>
            </a:r>
            <a:r>
              <a:rPr sz="2000" spc="-5" dirty="0">
                <a:latin typeface="Calibri"/>
                <a:cs typeface="Calibri"/>
              </a:rPr>
              <a:t>multi-tenant model, </a:t>
            </a:r>
            <a:r>
              <a:rPr sz="2000" dirty="0">
                <a:latin typeface="Calibri"/>
                <a:cs typeface="Calibri"/>
              </a:rPr>
              <a:t> with </a:t>
            </a:r>
            <a:r>
              <a:rPr sz="2000" spc="-10" dirty="0">
                <a:latin typeface="Calibri"/>
                <a:cs typeface="Calibri"/>
              </a:rPr>
              <a:t>different physical </a:t>
            </a:r>
            <a:r>
              <a:rPr sz="2000" spc="-5" dirty="0">
                <a:latin typeface="Calibri"/>
                <a:cs typeface="Calibri"/>
              </a:rPr>
              <a:t>and </a:t>
            </a:r>
            <a:r>
              <a:rPr sz="2000" dirty="0">
                <a:latin typeface="Calibri"/>
                <a:cs typeface="Calibri"/>
              </a:rPr>
              <a:t>virtual </a:t>
            </a:r>
            <a:r>
              <a:rPr sz="2000" spc="-5" dirty="0">
                <a:latin typeface="Calibri"/>
                <a:cs typeface="Calibri"/>
              </a:rPr>
              <a:t>resources dynamically </a:t>
            </a:r>
            <a:r>
              <a:rPr sz="2000" dirty="0">
                <a:latin typeface="Calibri"/>
                <a:cs typeface="Calibri"/>
              </a:rPr>
              <a:t>assigned </a:t>
            </a:r>
            <a:r>
              <a:rPr sz="2000" spc="-5" dirty="0">
                <a:latin typeface="Calibri"/>
                <a:cs typeface="Calibri"/>
              </a:rPr>
              <a:t>and reassigned </a:t>
            </a:r>
            <a:r>
              <a:rPr sz="2000" spc="-10" dirty="0">
                <a:latin typeface="Calibri"/>
                <a:cs typeface="Calibri"/>
              </a:rPr>
              <a:t>according to </a:t>
            </a:r>
            <a:r>
              <a:rPr sz="2000" spc="-5" dirty="0">
                <a:latin typeface="Calibri"/>
                <a:cs typeface="Calibri"/>
              </a:rPr>
              <a:t>consumer </a:t>
            </a:r>
            <a:r>
              <a:rPr sz="2000" dirty="0">
                <a:latin typeface="Calibri"/>
                <a:cs typeface="Calibri"/>
              </a:rPr>
              <a:t> </a:t>
            </a:r>
            <a:r>
              <a:rPr sz="2000" spc="-5" dirty="0">
                <a:latin typeface="Calibri"/>
                <a:cs typeface="Calibri"/>
              </a:rPr>
              <a:t>demand.</a:t>
            </a:r>
            <a:endParaRPr sz="2000" dirty="0">
              <a:latin typeface="Calibri"/>
              <a:cs typeface="Calibri"/>
            </a:endParaRPr>
          </a:p>
        </p:txBody>
      </p:sp>
      <p:sp>
        <p:nvSpPr>
          <p:cNvPr id="5" name="Footer Placeholder 4">
            <a:extLst>
              <a:ext uri="{FF2B5EF4-FFF2-40B4-BE49-F238E27FC236}">
                <a16:creationId xmlns:a16="http://schemas.microsoft.com/office/drawing/2014/main" id="{6EC14EF9-7A6C-649A-C600-3CA9537FC7AD}"/>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0323" y="202577"/>
            <a:ext cx="3983354" cy="505267"/>
          </a:xfrm>
          <a:prstGeom prst="rect">
            <a:avLst/>
          </a:prstGeom>
        </p:spPr>
        <p:txBody>
          <a:bodyPr vert="horz" wrap="square" lIns="0" tIns="12700" rIns="0" bIns="0" rtlCol="0">
            <a:spAutoFit/>
          </a:bodyPr>
          <a:lstStyle/>
          <a:p>
            <a:pPr marL="12700" algn="ctr">
              <a:lnSpc>
                <a:spcPct val="100000"/>
              </a:lnSpc>
              <a:spcBef>
                <a:spcPts val="100"/>
              </a:spcBef>
            </a:pPr>
            <a:r>
              <a:rPr sz="3200" b="1" spc="-5" dirty="0"/>
              <a:t>Cloud</a:t>
            </a:r>
            <a:r>
              <a:rPr sz="3200" b="1" spc="-50" dirty="0"/>
              <a:t> </a:t>
            </a:r>
            <a:r>
              <a:rPr sz="3200" b="1" spc="-15" dirty="0"/>
              <a:t>Characteristics</a:t>
            </a:r>
            <a:endParaRPr sz="3200" b="1" dirty="0"/>
          </a:p>
        </p:txBody>
      </p:sp>
      <p:sp>
        <p:nvSpPr>
          <p:cNvPr id="5" name="object 5"/>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5</a:t>
            </a:r>
          </a:p>
        </p:txBody>
      </p:sp>
      <p:sp>
        <p:nvSpPr>
          <p:cNvPr id="3" name="object 3"/>
          <p:cNvSpPr txBox="1"/>
          <p:nvPr/>
        </p:nvSpPr>
        <p:spPr>
          <a:xfrm>
            <a:off x="383540" y="854075"/>
            <a:ext cx="8020684" cy="4278735"/>
          </a:xfrm>
          <a:prstGeom prst="rect">
            <a:avLst/>
          </a:prstGeom>
        </p:spPr>
        <p:txBody>
          <a:bodyPr vert="horz" wrap="square" lIns="0" tIns="71755" rIns="0" bIns="0" rtlCol="0">
            <a:spAutoFit/>
          </a:bodyPr>
          <a:lstStyle/>
          <a:p>
            <a:pPr marL="355600" indent="-342900" algn="just">
              <a:lnSpc>
                <a:spcPct val="100000"/>
              </a:lnSpc>
              <a:spcBef>
                <a:spcPts val="565"/>
              </a:spcBef>
              <a:buFont typeface="Arial MT"/>
              <a:buChar char="•"/>
              <a:tabLst>
                <a:tab pos="354965" algn="l"/>
                <a:tab pos="355600" algn="l"/>
              </a:tabLst>
            </a:pPr>
            <a:r>
              <a:rPr sz="2000" b="1" spc="-5" dirty="0">
                <a:latin typeface="Calibri"/>
                <a:cs typeface="Calibri"/>
              </a:rPr>
              <a:t>Measured</a:t>
            </a:r>
            <a:r>
              <a:rPr sz="2000" b="1" spc="-30" dirty="0">
                <a:latin typeface="Calibri"/>
                <a:cs typeface="Calibri"/>
              </a:rPr>
              <a:t> </a:t>
            </a:r>
            <a:r>
              <a:rPr sz="2000" b="1" spc="-5" dirty="0">
                <a:latin typeface="Calibri"/>
                <a:cs typeface="Calibri"/>
              </a:rPr>
              <a:t>Service</a:t>
            </a:r>
            <a:endParaRPr sz="2000" dirty="0">
              <a:latin typeface="Calibri"/>
              <a:cs typeface="Calibri"/>
            </a:endParaRPr>
          </a:p>
          <a:p>
            <a:pPr marL="756285" marR="5080" lvl="1" indent="-287020" algn="just">
              <a:lnSpc>
                <a:spcPct val="100000"/>
              </a:lnSpc>
              <a:spcBef>
                <a:spcPts val="405"/>
              </a:spcBef>
              <a:buFont typeface="Arial MT"/>
              <a:buChar char="–"/>
              <a:tabLst>
                <a:tab pos="756285" algn="l"/>
                <a:tab pos="756920" algn="l"/>
              </a:tabLst>
            </a:pPr>
            <a:r>
              <a:rPr sz="2000" spc="-5" dirty="0">
                <a:latin typeface="Calibri"/>
                <a:cs typeface="Calibri"/>
              </a:rPr>
              <a:t>Cloud </a:t>
            </a:r>
            <a:r>
              <a:rPr sz="2000" spc="-15" dirty="0">
                <a:latin typeface="Calibri"/>
                <a:cs typeface="Calibri"/>
              </a:rPr>
              <a:t>systems</a:t>
            </a:r>
            <a:r>
              <a:rPr sz="2000" spc="5" dirty="0">
                <a:latin typeface="Calibri"/>
                <a:cs typeface="Calibri"/>
              </a:rPr>
              <a:t> </a:t>
            </a:r>
            <a:r>
              <a:rPr sz="2000" spc="-10" dirty="0">
                <a:latin typeface="Calibri"/>
                <a:cs typeface="Calibri"/>
              </a:rPr>
              <a:t>automatically</a:t>
            </a:r>
            <a:r>
              <a:rPr sz="2000" spc="-25" dirty="0">
                <a:latin typeface="Calibri"/>
                <a:cs typeface="Calibri"/>
              </a:rPr>
              <a:t> </a:t>
            </a:r>
            <a:r>
              <a:rPr sz="2000" spc="-15" dirty="0">
                <a:latin typeface="Calibri"/>
                <a:cs typeface="Calibri"/>
              </a:rPr>
              <a:t>control</a:t>
            </a:r>
            <a:r>
              <a:rPr sz="2000" spc="15" dirty="0">
                <a:latin typeface="Calibri"/>
                <a:cs typeface="Calibri"/>
              </a:rPr>
              <a:t> </a:t>
            </a:r>
            <a:r>
              <a:rPr sz="2000" spc="-5" dirty="0">
                <a:latin typeface="Calibri"/>
                <a:cs typeface="Calibri"/>
              </a:rPr>
              <a:t>and</a:t>
            </a:r>
            <a:r>
              <a:rPr sz="2000" spc="-10" dirty="0">
                <a:latin typeface="Calibri"/>
                <a:cs typeface="Calibri"/>
              </a:rPr>
              <a:t> optimize</a:t>
            </a:r>
            <a:r>
              <a:rPr sz="2000" spc="10" dirty="0">
                <a:latin typeface="Calibri"/>
                <a:cs typeface="Calibri"/>
              </a:rPr>
              <a:t> </a:t>
            </a:r>
            <a:r>
              <a:rPr sz="2000" spc="-10" dirty="0">
                <a:latin typeface="Calibri"/>
                <a:cs typeface="Calibri"/>
              </a:rPr>
              <a:t>resource</a:t>
            </a:r>
            <a:r>
              <a:rPr sz="2000" spc="45" dirty="0">
                <a:latin typeface="Calibri"/>
                <a:cs typeface="Calibri"/>
              </a:rPr>
              <a:t> </a:t>
            </a:r>
            <a:r>
              <a:rPr sz="2000" spc="-10" dirty="0">
                <a:latin typeface="Calibri"/>
                <a:cs typeface="Calibri"/>
              </a:rPr>
              <a:t>use</a:t>
            </a:r>
            <a:r>
              <a:rPr sz="2000" spc="10" dirty="0">
                <a:latin typeface="Calibri"/>
                <a:cs typeface="Calibri"/>
              </a:rPr>
              <a:t> </a:t>
            </a:r>
            <a:r>
              <a:rPr sz="2000" spc="-10" dirty="0">
                <a:latin typeface="Calibri"/>
                <a:cs typeface="Calibri"/>
              </a:rPr>
              <a:t>by</a:t>
            </a:r>
            <a:r>
              <a:rPr sz="2000" spc="5" dirty="0">
                <a:latin typeface="Calibri"/>
                <a:cs typeface="Calibri"/>
              </a:rPr>
              <a:t> </a:t>
            </a:r>
            <a:r>
              <a:rPr sz="2000" spc="-10" dirty="0">
                <a:latin typeface="Calibri"/>
                <a:cs typeface="Calibri"/>
              </a:rPr>
              <a:t>leveraging</a:t>
            </a:r>
            <a:r>
              <a:rPr sz="2000" spc="40" dirty="0">
                <a:latin typeface="Calibri"/>
                <a:cs typeface="Calibri"/>
              </a:rPr>
              <a:t> </a:t>
            </a:r>
            <a:r>
              <a:rPr sz="2000" spc="-5" dirty="0">
                <a:latin typeface="Calibri"/>
                <a:cs typeface="Calibri"/>
              </a:rPr>
              <a:t>a </a:t>
            </a:r>
            <a:r>
              <a:rPr sz="2000" spc="-10" dirty="0">
                <a:latin typeface="Calibri"/>
                <a:cs typeface="Calibri"/>
              </a:rPr>
              <a:t>metering </a:t>
            </a:r>
            <a:r>
              <a:rPr sz="2000" spc="-345" dirty="0">
                <a:latin typeface="Calibri"/>
                <a:cs typeface="Calibri"/>
              </a:rPr>
              <a:t> </a:t>
            </a:r>
            <a:r>
              <a:rPr sz="2000" spc="-5" dirty="0">
                <a:latin typeface="Calibri"/>
                <a:cs typeface="Calibri"/>
              </a:rPr>
              <a:t>capability</a:t>
            </a:r>
            <a:r>
              <a:rPr sz="2000" spc="-25" dirty="0">
                <a:latin typeface="Calibri"/>
                <a:cs typeface="Calibri"/>
              </a:rPr>
              <a:t> </a:t>
            </a:r>
            <a:r>
              <a:rPr sz="2000" spc="-10" dirty="0">
                <a:latin typeface="Calibri"/>
                <a:cs typeface="Calibri"/>
              </a:rPr>
              <a:t>at some</a:t>
            </a:r>
            <a:r>
              <a:rPr sz="2000" spc="20" dirty="0">
                <a:latin typeface="Calibri"/>
                <a:cs typeface="Calibri"/>
              </a:rPr>
              <a:t> </a:t>
            </a:r>
            <a:r>
              <a:rPr sz="2000" spc="-10" dirty="0">
                <a:latin typeface="Calibri"/>
                <a:cs typeface="Calibri"/>
              </a:rPr>
              <a:t>level</a:t>
            </a:r>
            <a:r>
              <a:rPr sz="2000" spc="10" dirty="0">
                <a:latin typeface="Calibri"/>
                <a:cs typeface="Calibri"/>
              </a:rPr>
              <a:t> </a:t>
            </a:r>
            <a:r>
              <a:rPr sz="2000" spc="-5" dirty="0">
                <a:latin typeface="Calibri"/>
                <a:cs typeface="Calibri"/>
              </a:rPr>
              <a:t>of</a:t>
            </a:r>
            <a:r>
              <a:rPr sz="2000" dirty="0">
                <a:latin typeface="Calibri"/>
                <a:cs typeface="Calibri"/>
              </a:rPr>
              <a:t> </a:t>
            </a:r>
            <a:r>
              <a:rPr sz="2000" spc="-10" dirty="0">
                <a:latin typeface="Calibri"/>
                <a:cs typeface="Calibri"/>
              </a:rPr>
              <a:t>abstraction</a:t>
            </a:r>
            <a:r>
              <a:rPr sz="2000" spc="15" dirty="0">
                <a:latin typeface="Calibri"/>
                <a:cs typeface="Calibri"/>
              </a:rPr>
              <a:t> </a:t>
            </a:r>
            <a:r>
              <a:rPr sz="2000" spc="-10" dirty="0">
                <a:latin typeface="Calibri"/>
                <a:cs typeface="Calibri"/>
              </a:rPr>
              <a:t>appropriate</a:t>
            </a:r>
            <a:r>
              <a:rPr sz="2000" spc="5" dirty="0">
                <a:latin typeface="Calibri"/>
                <a:cs typeface="Calibri"/>
              </a:rPr>
              <a:t> </a:t>
            </a:r>
            <a:r>
              <a:rPr sz="2000" spc="-10" dirty="0">
                <a:latin typeface="Calibri"/>
                <a:cs typeface="Calibri"/>
              </a:rPr>
              <a:t>to</a:t>
            </a:r>
            <a:r>
              <a:rPr sz="2000" spc="5" dirty="0">
                <a:latin typeface="Calibri"/>
                <a:cs typeface="Calibri"/>
              </a:rPr>
              <a:t> </a:t>
            </a:r>
            <a:r>
              <a:rPr sz="2000" spc="-5" dirty="0">
                <a:latin typeface="Calibri"/>
                <a:cs typeface="Calibri"/>
              </a:rPr>
              <a:t>the</a:t>
            </a:r>
            <a:r>
              <a:rPr sz="2000" dirty="0">
                <a:latin typeface="Calibri"/>
                <a:cs typeface="Calibri"/>
              </a:rPr>
              <a:t> </a:t>
            </a:r>
            <a:r>
              <a:rPr sz="2000" spc="-5" dirty="0">
                <a:latin typeface="Calibri"/>
                <a:cs typeface="Calibri"/>
              </a:rPr>
              <a:t>type</a:t>
            </a:r>
            <a:r>
              <a:rPr sz="2000" spc="10" dirty="0">
                <a:latin typeface="Calibri"/>
                <a:cs typeface="Calibri"/>
              </a:rPr>
              <a:t> </a:t>
            </a:r>
            <a:r>
              <a:rPr sz="2000" spc="-5" dirty="0">
                <a:latin typeface="Calibri"/>
                <a:cs typeface="Calibri"/>
              </a:rPr>
              <a:t>of</a:t>
            </a:r>
            <a:r>
              <a:rPr sz="2000" spc="15" dirty="0">
                <a:latin typeface="Calibri"/>
                <a:cs typeface="Calibri"/>
              </a:rPr>
              <a:t> </a:t>
            </a:r>
            <a:r>
              <a:rPr sz="2000" spc="-5" dirty="0">
                <a:latin typeface="Calibri"/>
                <a:cs typeface="Calibri"/>
              </a:rPr>
              <a:t>service</a:t>
            </a:r>
            <a:r>
              <a:rPr sz="2000" spc="15" dirty="0">
                <a:latin typeface="Calibri"/>
                <a:cs typeface="Calibri"/>
              </a:rPr>
              <a:t> </a:t>
            </a:r>
            <a:r>
              <a:rPr sz="2000" spc="-5" dirty="0">
                <a:latin typeface="Calibri"/>
                <a:cs typeface="Calibri"/>
              </a:rPr>
              <a:t>(e.g.,</a:t>
            </a:r>
            <a:r>
              <a:rPr sz="2000" spc="30" dirty="0">
                <a:latin typeface="Calibri"/>
                <a:cs typeface="Calibri"/>
              </a:rPr>
              <a:t> </a:t>
            </a:r>
            <a:r>
              <a:rPr sz="2000" spc="-15" dirty="0">
                <a:latin typeface="Calibri"/>
                <a:cs typeface="Calibri"/>
              </a:rPr>
              <a:t>storage, </a:t>
            </a:r>
            <a:r>
              <a:rPr sz="2000" spc="-10" dirty="0">
                <a:latin typeface="Calibri"/>
                <a:cs typeface="Calibri"/>
              </a:rPr>
              <a:t> processing,</a:t>
            </a:r>
            <a:r>
              <a:rPr sz="2000" spc="15" dirty="0">
                <a:latin typeface="Calibri"/>
                <a:cs typeface="Calibri"/>
              </a:rPr>
              <a:t> </a:t>
            </a:r>
            <a:r>
              <a:rPr sz="2000" spc="-5" dirty="0">
                <a:latin typeface="Calibri"/>
                <a:cs typeface="Calibri"/>
              </a:rPr>
              <a:t>bandwidth,</a:t>
            </a:r>
            <a:r>
              <a:rPr sz="2000" spc="-15" dirty="0">
                <a:latin typeface="Calibri"/>
                <a:cs typeface="Calibri"/>
              </a:rPr>
              <a:t> </a:t>
            </a:r>
            <a:r>
              <a:rPr sz="2000" spc="-5" dirty="0">
                <a:latin typeface="Calibri"/>
                <a:cs typeface="Calibri"/>
              </a:rPr>
              <a:t>and</a:t>
            </a:r>
            <a:r>
              <a:rPr sz="2000" spc="-15" dirty="0">
                <a:latin typeface="Calibri"/>
                <a:cs typeface="Calibri"/>
              </a:rPr>
              <a:t> </a:t>
            </a:r>
            <a:r>
              <a:rPr sz="2000" spc="-5" dirty="0">
                <a:latin typeface="Calibri"/>
                <a:cs typeface="Calibri"/>
              </a:rPr>
              <a:t>active</a:t>
            </a:r>
            <a:r>
              <a:rPr sz="2000" spc="5" dirty="0">
                <a:latin typeface="Calibri"/>
                <a:cs typeface="Calibri"/>
              </a:rPr>
              <a:t> </a:t>
            </a:r>
            <a:r>
              <a:rPr sz="2000" spc="-10" dirty="0">
                <a:latin typeface="Calibri"/>
                <a:cs typeface="Calibri"/>
              </a:rPr>
              <a:t>user</a:t>
            </a:r>
            <a:r>
              <a:rPr sz="2000" spc="25" dirty="0">
                <a:latin typeface="Calibri"/>
                <a:cs typeface="Calibri"/>
              </a:rPr>
              <a:t> </a:t>
            </a:r>
            <a:r>
              <a:rPr sz="2000" spc="-10" dirty="0">
                <a:latin typeface="Calibri"/>
                <a:cs typeface="Calibri"/>
              </a:rPr>
              <a:t>accounts).</a:t>
            </a:r>
            <a:r>
              <a:rPr sz="2000" dirty="0">
                <a:latin typeface="Calibri"/>
                <a:cs typeface="Calibri"/>
              </a:rPr>
              <a:t> </a:t>
            </a:r>
            <a:r>
              <a:rPr sz="2000" spc="-10" dirty="0">
                <a:latin typeface="Calibri"/>
                <a:cs typeface="Calibri"/>
              </a:rPr>
              <a:t>Resource</a:t>
            </a:r>
            <a:r>
              <a:rPr sz="2000" spc="40" dirty="0">
                <a:latin typeface="Calibri"/>
                <a:cs typeface="Calibri"/>
              </a:rPr>
              <a:t> </a:t>
            </a:r>
            <a:r>
              <a:rPr sz="2000" spc="-10" dirty="0">
                <a:latin typeface="Calibri"/>
                <a:cs typeface="Calibri"/>
              </a:rPr>
              <a:t>usage</a:t>
            </a:r>
            <a:r>
              <a:rPr sz="2000" dirty="0">
                <a:latin typeface="Calibri"/>
                <a:cs typeface="Calibri"/>
              </a:rPr>
              <a:t> </a:t>
            </a:r>
            <a:r>
              <a:rPr sz="2000" spc="-10" dirty="0">
                <a:latin typeface="Calibri"/>
                <a:cs typeface="Calibri"/>
              </a:rPr>
              <a:t>can be</a:t>
            </a:r>
            <a:endParaRPr sz="2000" dirty="0">
              <a:latin typeface="Calibri"/>
              <a:cs typeface="Calibri"/>
            </a:endParaRPr>
          </a:p>
          <a:p>
            <a:pPr marL="756285" marR="82550" lvl="1" indent="-287020" algn="just">
              <a:lnSpc>
                <a:spcPct val="100000"/>
              </a:lnSpc>
              <a:spcBef>
                <a:spcPts val="385"/>
              </a:spcBef>
              <a:buFont typeface="Arial MT"/>
              <a:buChar char="–"/>
              <a:tabLst>
                <a:tab pos="756285" algn="l"/>
                <a:tab pos="756920" algn="l"/>
              </a:tabLst>
            </a:pPr>
            <a:r>
              <a:rPr sz="2000" spc="-10" dirty="0">
                <a:latin typeface="Calibri"/>
                <a:cs typeface="Calibri"/>
              </a:rPr>
              <a:t>monitored,</a:t>
            </a:r>
            <a:r>
              <a:rPr sz="2000" spc="35" dirty="0">
                <a:latin typeface="Calibri"/>
                <a:cs typeface="Calibri"/>
              </a:rPr>
              <a:t> </a:t>
            </a:r>
            <a:r>
              <a:rPr sz="2000" spc="-10" dirty="0">
                <a:latin typeface="Calibri"/>
                <a:cs typeface="Calibri"/>
              </a:rPr>
              <a:t>controlled,</a:t>
            </a:r>
            <a:r>
              <a:rPr sz="2000" spc="10" dirty="0">
                <a:latin typeface="Calibri"/>
                <a:cs typeface="Calibri"/>
              </a:rPr>
              <a:t> </a:t>
            </a:r>
            <a:r>
              <a:rPr sz="2000" spc="-5" dirty="0">
                <a:latin typeface="Calibri"/>
                <a:cs typeface="Calibri"/>
              </a:rPr>
              <a:t>and</a:t>
            </a:r>
            <a:r>
              <a:rPr sz="2000" spc="-10" dirty="0">
                <a:latin typeface="Calibri"/>
                <a:cs typeface="Calibri"/>
              </a:rPr>
              <a:t> reported,</a:t>
            </a:r>
            <a:r>
              <a:rPr sz="2000" spc="65" dirty="0">
                <a:latin typeface="Calibri"/>
                <a:cs typeface="Calibri"/>
              </a:rPr>
              <a:t> </a:t>
            </a:r>
            <a:r>
              <a:rPr sz="2000" spc="-10" dirty="0">
                <a:latin typeface="Calibri"/>
                <a:cs typeface="Calibri"/>
              </a:rPr>
              <a:t>providing</a:t>
            </a:r>
            <a:r>
              <a:rPr sz="2000" dirty="0">
                <a:latin typeface="Calibri"/>
                <a:cs typeface="Calibri"/>
              </a:rPr>
              <a:t> </a:t>
            </a:r>
            <a:r>
              <a:rPr sz="2000" spc="-10" dirty="0">
                <a:latin typeface="Calibri"/>
                <a:cs typeface="Calibri"/>
              </a:rPr>
              <a:t>transparency</a:t>
            </a:r>
            <a:r>
              <a:rPr sz="2000" spc="20" dirty="0">
                <a:latin typeface="Calibri"/>
                <a:cs typeface="Calibri"/>
              </a:rPr>
              <a:t> </a:t>
            </a:r>
            <a:r>
              <a:rPr sz="2000" spc="-15" dirty="0">
                <a:latin typeface="Calibri"/>
                <a:cs typeface="Calibri"/>
              </a:rPr>
              <a:t>for</a:t>
            </a:r>
            <a:r>
              <a:rPr sz="2000" spc="25" dirty="0">
                <a:latin typeface="Calibri"/>
                <a:cs typeface="Calibri"/>
              </a:rPr>
              <a:t> </a:t>
            </a:r>
            <a:r>
              <a:rPr sz="2000" spc="-5" dirty="0">
                <a:latin typeface="Calibri"/>
                <a:cs typeface="Calibri"/>
              </a:rPr>
              <a:t>both the</a:t>
            </a:r>
            <a:r>
              <a:rPr sz="2000" spc="10" dirty="0">
                <a:latin typeface="Calibri"/>
                <a:cs typeface="Calibri"/>
              </a:rPr>
              <a:t> </a:t>
            </a:r>
            <a:r>
              <a:rPr sz="2000" spc="-10" dirty="0">
                <a:latin typeface="Calibri"/>
                <a:cs typeface="Calibri"/>
              </a:rPr>
              <a:t>provider</a:t>
            </a:r>
            <a:r>
              <a:rPr sz="2000" spc="35" dirty="0">
                <a:latin typeface="Calibri"/>
                <a:cs typeface="Calibri"/>
              </a:rPr>
              <a:t> </a:t>
            </a:r>
            <a:r>
              <a:rPr sz="2000" spc="-5" dirty="0">
                <a:latin typeface="Calibri"/>
                <a:cs typeface="Calibri"/>
              </a:rPr>
              <a:t>and </a:t>
            </a:r>
            <a:r>
              <a:rPr sz="2000" spc="-350" dirty="0">
                <a:latin typeface="Calibri"/>
                <a:cs typeface="Calibri"/>
              </a:rPr>
              <a:t> </a:t>
            </a:r>
            <a:r>
              <a:rPr sz="2000" spc="-10" dirty="0">
                <a:latin typeface="Calibri"/>
                <a:cs typeface="Calibri"/>
              </a:rPr>
              <a:t>consumer</a:t>
            </a:r>
            <a:r>
              <a:rPr sz="2000" spc="20" dirty="0">
                <a:latin typeface="Calibri"/>
                <a:cs typeface="Calibri"/>
              </a:rPr>
              <a:t> </a:t>
            </a:r>
            <a:r>
              <a:rPr sz="2000" spc="-5" dirty="0">
                <a:latin typeface="Calibri"/>
                <a:cs typeface="Calibri"/>
              </a:rPr>
              <a:t>of the</a:t>
            </a:r>
            <a:r>
              <a:rPr sz="2000" dirty="0">
                <a:latin typeface="Calibri"/>
                <a:cs typeface="Calibri"/>
              </a:rPr>
              <a:t> </a:t>
            </a:r>
            <a:r>
              <a:rPr sz="2000" spc="-10" dirty="0">
                <a:latin typeface="Calibri"/>
                <a:cs typeface="Calibri"/>
              </a:rPr>
              <a:t>utilized</a:t>
            </a:r>
            <a:r>
              <a:rPr sz="2000" spc="-25" dirty="0">
                <a:latin typeface="Calibri"/>
                <a:cs typeface="Calibri"/>
              </a:rPr>
              <a:t> </a:t>
            </a:r>
            <a:r>
              <a:rPr sz="2000" spc="-5" dirty="0">
                <a:latin typeface="Calibri"/>
                <a:cs typeface="Calibri"/>
              </a:rPr>
              <a:t>service.</a:t>
            </a:r>
            <a:endParaRPr sz="2000" dirty="0">
              <a:latin typeface="Calibri"/>
              <a:cs typeface="Calibri"/>
            </a:endParaRPr>
          </a:p>
          <a:p>
            <a:pPr marL="355600" indent="-342900" algn="just">
              <a:lnSpc>
                <a:spcPct val="100000"/>
              </a:lnSpc>
              <a:spcBef>
                <a:spcPts val="415"/>
              </a:spcBef>
              <a:buFont typeface="Arial MT"/>
              <a:buChar char="•"/>
              <a:tabLst>
                <a:tab pos="354965" algn="l"/>
                <a:tab pos="355600" algn="l"/>
              </a:tabLst>
            </a:pPr>
            <a:r>
              <a:rPr sz="2000" b="1" spc="-5" dirty="0">
                <a:latin typeface="Calibri"/>
                <a:cs typeface="Calibri"/>
              </a:rPr>
              <a:t>Rapid</a:t>
            </a:r>
            <a:r>
              <a:rPr sz="2000" b="1" spc="-35" dirty="0">
                <a:latin typeface="Calibri"/>
                <a:cs typeface="Calibri"/>
              </a:rPr>
              <a:t> </a:t>
            </a:r>
            <a:r>
              <a:rPr sz="2000" b="1" spc="-5" dirty="0">
                <a:latin typeface="Calibri"/>
                <a:cs typeface="Calibri"/>
              </a:rPr>
              <a:t>elasticity</a:t>
            </a:r>
            <a:endParaRPr sz="2000" dirty="0">
              <a:latin typeface="Calibri"/>
              <a:cs typeface="Calibri"/>
            </a:endParaRPr>
          </a:p>
          <a:p>
            <a:pPr marL="756285" marR="106045" lvl="1" indent="-287020" algn="just">
              <a:lnSpc>
                <a:spcPct val="100000"/>
              </a:lnSpc>
              <a:spcBef>
                <a:spcPts val="405"/>
              </a:spcBef>
              <a:buFont typeface="Arial MT"/>
              <a:buChar char="–"/>
              <a:tabLst>
                <a:tab pos="756285" algn="l"/>
                <a:tab pos="756920" algn="l"/>
              </a:tabLst>
            </a:pPr>
            <a:r>
              <a:rPr sz="2000" spc="-5" dirty="0">
                <a:latin typeface="Calibri"/>
                <a:cs typeface="Calibri"/>
              </a:rPr>
              <a:t>Capabilities</a:t>
            </a:r>
            <a:r>
              <a:rPr sz="2000" spc="-20" dirty="0">
                <a:latin typeface="Calibri"/>
                <a:cs typeface="Calibri"/>
              </a:rPr>
              <a:t> </a:t>
            </a:r>
            <a:r>
              <a:rPr sz="2000" spc="-10" dirty="0">
                <a:latin typeface="Calibri"/>
                <a:cs typeface="Calibri"/>
              </a:rPr>
              <a:t>can</a:t>
            </a:r>
            <a:r>
              <a:rPr sz="2000" spc="5" dirty="0">
                <a:latin typeface="Calibri"/>
                <a:cs typeface="Calibri"/>
              </a:rPr>
              <a:t> </a:t>
            </a:r>
            <a:r>
              <a:rPr sz="2000" spc="-5" dirty="0">
                <a:latin typeface="Calibri"/>
                <a:cs typeface="Calibri"/>
              </a:rPr>
              <a:t>be elastically</a:t>
            </a:r>
            <a:r>
              <a:rPr sz="2000" spc="-40" dirty="0">
                <a:latin typeface="Calibri"/>
                <a:cs typeface="Calibri"/>
              </a:rPr>
              <a:t> </a:t>
            </a:r>
            <a:r>
              <a:rPr sz="2000" spc="-10" dirty="0">
                <a:latin typeface="Calibri"/>
                <a:cs typeface="Calibri"/>
              </a:rPr>
              <a:t>provisioned</a:t>
            </a:r>
            <a:r>
              <a:rPr sz="2000" spc="20" dirty="0">
                <a:latin typeface="Calibri"/>
                <a:cs typeface="Calibri"/>
              </a:rPr>
              <a:t> </a:t>
            </a:r>
            <a:r>
              <a:rPr sz="2000" spc="-5" dirty="0">
                <a:latin typeface="Calibri"/>
                <a:cs typeface="Calibri"/>
              </a:rPr>
              <a:t>and</a:t>
            </a:r>
            <a:r>
              <a:rPr sz="2000" spc="-15" dirty="0">
                <a:latin typeface="Calibri"/>
                <a:cs typeface="Calibri"/>
              </a:rPr>
              <a:t> </a:t>
            </a:r>
            <a:r>
              <a:rPr sz="2000" spc="-5" dirty="0">
                <a:latin typeface="Calibri"/>
                <a:cs typeface="Calibri"/>
              </a:rPr>
              <a:t>released,</a:t>
            </a:r>
            <a:r>
              <a:rPr sz="2000" spc="40" dirty="0">
                <a:latin typeface="Calibri"/>
                <a:cs typeface="Calibri"/>
              </a:rPr>
              <a:t> </a:t>
            </a:r>
            <a:r>
              <a:rPr sz="2000" spc="-5" dirty="0">
                <a:latin typeface="Calibri"/>
                <a:cs typeface="Calibri"/>
              </a:rPr>
              <a:t>in</a:t>
            </a:r>
            <a:r>
              <a:rPr sz="2000" spc="-15" dirty="0">
                <a:latin typeface="Calibri"/>
                <a:cs typeface="Calibri"/>
              </a:rPr>
              <a:t> </a:t>
            </a:r>
            <a:r>
              <a:rPr sz="2000" spc="-10" dirty="0">
                <a:latin typeface="Calibri"/>
                <a:cs typeface="Calibri"/>
              </a:rPr>
              <a:t>some</a:t>
            </a:r>
            <a:r>
              <a:rPr sz="2000" spc="15" dirty="0">
                <a:latin typeface="Calibri"/>
                <a:cs typeface="Calibri"/>
              </a:rPr>
              <a:t> </a:t>
            </a:r>
            <a:r>
              <a:rPr sz="2000" spc="-5" dirty="0">
                <a:latin typeface="Calibri"/>
                <a:cs typeface="Calibri"/>
              </a:rPr>
              <a:t>cases</a:t>
            </a:r>
            <a:r>
              <a:rPr sz="2000" spc="35" dirty="0">
                <a:latin typeface="Calibri"/>
                <a:cs typeface="Calibri"/>
              </a:rPr>
              <a:t> </a:t>
            </a:r>
            <a:r>
              <a:rPr sz="2000" spc="-15" dirty="0">
                <a:latin typeface="Calibri"/>
                <a:cs typeface="Calibri"/>
              </a:rPr>
              <a:t>automatically,</a:t>
            </a:r>
            <a:r>
              <a:rPr sz="2000" spc="-40" dirty="0">
                <a:latin typeface="Calibri"/>
                <a:cs typeface="Calibri"/>
              </a:rPr>
              <a:t> </a:t>
            </a:r>
            <a:r>
              <a:rPr sz="2000" spc="-10" dirty="0">
                <a:latin typeface="Calibri"/>
                <a:cs typeface="Calibri"/>
              </a:rPr>
              <a:t>to </a:t>
            </a:r>
            <a:r>
              <a:rPr sz="2000" spc="-345" dirty="0">
                <a:latin typeface="Calibri"/>
                <a:cs typeface="Calibri"/>
              </a:rPr>
              <a:t> </a:t>
            </a:r>
            <a:r>
              <a:rPr sz="2000" spc="-5" dirty="0">
                <a:latin typeface="Calibri"/>
                <a:cs typeface="Calibri"/>
              </a:rPr>
              <a:t>scale</a:t>
            </a:r>
            <a:r>
              <a:rPr sz="2000" dirty="0">
                <a:latin typeface="Calibri"/>
                <a:cs typeface="Calibri"/>
              </a:rPr>
              <a:t> </a:t>
            </a:r>
            <a:r>
              <a:rPr sz="2000" spc="-10" dirty="0">
                <a:latin typeface="Calibri"/>
                <a:cs typeface="Calibri"/>
              </a:rPr>
              <a:t>rapidly</a:t>
            </a:r>
            <a:r>
              <a:rPr sz="2000" spc="-15" dirty="0">
                <a:latin typeface="Calibri"/>
                <a:cs typeface="Calibri"/>
              </a:rPr>
              <a:t> </a:t>
            </a:r>
            <a:r>
              <a:rPr sz="2000" spc="-10" dirty="0">
                <a:latin typeface="Calibri"/>
                <a:cs typeface="Calibri"/>
              </a:rPr>
              <a:t>outward</a:t>
            </a:r>
            <a:r>
              <a:rPr sz="2000" spc="10" dirty="0">
                <a:latin typeface="Calibri"/>
                <a:cs typeface="Calibri"/>
              </a:rPr>
              <a:t> </a:t>
            </a:r>
            <a:r>
              <a:rPr sz="2000" spc="-5" dirty="0">
                <a:latin typeface="Calibri"/>
                <a:cs typeface="Calibri"/>
              </a:rPr>
              <a:t>and</a:t>
            </a:r>
            <a:r>
              <a:rPr sz="2000" spc="15" dirty="0">
                <a:latin typeface="Calibri"/>
                <a:cs typeface="Calibri"/>
              </a:rPr>
              <a:t> </a:t>
            </a:r>
            <a:r>
              <a:rPr sz="2000" spc="-15" dirty="0">
                <a:latin typeface="Calibri"/>
                <a:cs typeface="Calibri"/>
              </a:rPr>
              <a:t>inward</a:t>
            </a:r>
            <a:r>
              <a:rPr sz="2000" spc="-5" dirty="0">
                <a:latin typeface="Calibri"/>
                <a:cs typeface="Calibri"/>
              </a:rPr>
              <a:t> </a:t>
            </a:r>
            <a:r>
              <a:rPr sz="2000" spc="-10" dirty="0">
                <a:latin typeface="Calibri"/>
                <a:cs typeface="Calibri"/>
              </a:rPr>
              <a:t>commensurate</a:t>
            </a:r>
            <a:r>
              <a:rPr sz="2000" spc="20" dirty="0">
                <a:latin typeface="Calibri"/>
                <a:cs typeface="Calibri"/>
              </a:rPr>
              <a:t> </a:t>
            </a:r>
            <a:r>
              <a:rPr sz="2000" spc="-5" dirty="0">
                <a:latin typeface="Calibri"/>
                <a:cs typeface="Calibri"/>
              </a:rPr>
              <a:t>with</a:t>
            </a:r>
            <a:r>
              <a:rPr sz="2000" dirty="0">
                <a:latin typeface="Calibri"/>
                <a:cs typeface="Calibri"/>
              </a:rPr>
              <a:t> </a:t>
            </a:r>
            <a:r>
              <a:rPr sz="2000" spc="-10" dirty="0">
                <a:latin typeface="Calibri"/>
                <a:cs typeface="Calibri"/>
              </a:rPr>
              <a:t>demand.</a:t>
            </a:r>
            <a:r>
              <a:rPr sz="2000" dirty="0">
                <a:latin typeface="Calibri"/>
                <a:cs typeface="Calibri"/>
              </a:rPr>
              <a:t> </a:t>
            </a:r>
            <a:r>
              <a:rPr sz="2000" spc="-75" dirty="0">
                <a:latin typeface="Calibri"/>
                <a:cs typeface="Calibri"/>
              </a:rPr>
              <a:t>To</a:t>
            </a:r>
            <a:r>
              <a:rPr sz="2000" spc="-5" dirty="0">
                <a:latin typeface="Calibri"/>
                <a:cs typeface="Calibri"/>
              </a:rPr>
              <a:t> the</a:t>
            </a:r>
            <a:r>
              <a:rPr sz="2000" spc="35" dirty="0">
                <a:latin typeface="Calibri"/>
                <a:cs typeface="Calibri"/>
              </a:rPr>
              <a:t> </a:t>
            </a:r>
            <a:r>
              <a:rPr sz="2000" spc="-25" dirty="0">
                <a:latin typeface="Calibri"/>
                <a:cs typeface="Calibri"/>
              </a:rPr>
              <a:t>consumer,</a:t>
            </a:r>
            <a:r>
              <a:rPr sz="2000" spc="20" dirty="0">
                <a:latin typeface="Calibri"/>
                <a:cs typeface="Calibri"/>
              </a:rPr>
              <a:t> </a:t>
            </a:r>
            <a:r>
              <a:rPr sz="2000" spc="-10" dirty="0">
                <a:latin typeface="Calibri"/>
                <a:cs typeface="Calibri"/>
              </a:rPr>
              <a:t>the </a:t>
            </a:r>
            <a:r>
              <a:rPr sz="2000" spc="-5" dirty="0">
                <a:latin typeface="Calibri"/>
                <a:cs typeface="Calibri"/>
              </a:rPr>
              <a:t> capabilities</a:t>
            </a:r>
            <a:r>
              <a:rPr sz="2000" spc="-30" dirty="0">
                <a:latin typeface="Calibri"/>
                <a:cs typeface="Calibri"/>
              </a:rPr>
              <a:t> </a:t>
            </a:r>
            <a:r>
              <a:rPr sz="2000" spc="-10" dirty="0">
                <a:latin typeface="Calibri"/>
                <a:cs typeface="Calibri"/>
              </a:rPr>
              <a:t>available</a:t>
            </a:r>
            <a:r>
              <a:rPr sz="2000" spc="-30" dirty="0">
                <a:latin typeface="Calibri"/>
                <a:cs typeface="Calibri"/>
              </a:rPr>
              <a:t> </a:t>
            </a:r>
            <a:r>
              <a:rPr sz="2000" spc="-15" dirty="0">
                <a:latin typeface="Calibri"/>
                <a:cs typeface="Calibri"/>
              </a:rPr>
              <a:t>for</a:t>
            </a:r>
            <a:r>
              <a:rPr sz="2000" dirty="0">
                <a:latin typeface="Calibri"/>
                <a:cs typeface="Calibri"/>
              </a:rPr>
              <a:t> </a:t>
            </a:r>
            <a:r>
              <a:rPr sz="2000" spc="-10" dirty="0">
                <a:latin typeface="Calibri"/>
                <a:cs typeface="Calibri"/>
              </a:rPr>
              <a:t>provisioning</a:t>
            </a:r>
            <a:r>
              <a:rPr sz="2000" spc="5" dirty="0">
                <a:latin typeface="Calibri"/>
                <a:cs typeface="Calibri"/>
              </a:rPr>
              <a:t> </a:t>
            </a:r>
            <a:r>
              <a:rPr sz="2000" spc="-5" dirty="0">
                <a:latin typeface="Calibri"/>
                <a:cs typeface="Calibri"/>
              </a:rPr>
              <a:t>often</a:t>
            </a:r>
            <a:r>
              <a:rPr sz="2000" spc="10" dirty="0">
                <a:latin typeface="Calibri"/>
                <a:cs typeface="Calibri"/>
              </a:rPr>
              <a:t> </a:t>
            </a:r>
            <a:r>
              <a:rPr sz="2000" spc="-5" dirty="0">
                <a:latin typeface="Calibri"/>
                <a:cs typeface="Calibri"/>
              </a:rPr>
              <a:t>appear</a:t>
            </a:r>
            <a:r>
              <a:rPr sz="2000" dirty="0">
                <a:latin typeface="Calibri"/>
                <a:cs typeface="Calibri"/>
              </a:rPr>
              <a:t> </a:t>
            </a:r>
            <a:r>
              <a:rPr sz="2000" spc="-10" dirty="0">
                <a:latin typeface="Calibri"/>
                <a:cs typeface="Calibri"/>
              </a:rPr>
              <a:t>to</a:t>
            </a:r>
            <a:r>
              <a:rPr sz="2000" spc="5" dirty="0">
                <a:latin typeface="Calibri"/>
                <a:cs typeface="Calibri"/>
              </a:rPr>
              <a:t> </a:t>
            </a:r>
            <a:r>
              <a:rPr sz="2000" spc="-5" dirty="0">
                <a:latin typeface="Calibri"/>
                <a:cs typeface="Calibri"/>
              </a:rPr>
              <a:t>be</a:t>
            </a:r>
            <a:r>
              <a:rPr sz="2000" dirty="0">
                <a:latin typeface="Calibri"/>
                <a:cs typeface="Calibri"/>
              </a:rPr>
              <a:t> </a:t>
            </a:r>
            <a:r>
              <a:rPr sz="2000" spc="-5" dirty="0">
                <a:latin typeface="Calibri"/>
                <a:cs typeface="Calibri"/>
              </a:rPr>
              <a:t>unlimited</a:t>
            </a:r>
            <a:r>
              <a:rPr sz="2000" spc="-25" dirty="0">
                <a:latin typeface="Calibri"/>
                <a:cs typeface="Calibri"/>
              </a:rPr>
              <a:t> </a:t>
            </a:r>
            <a:r>
              <a:rPr sz="2000" spc="-5" dirty="0">
                <a:latin typeface="Calibri"/>
                <a:cs typeface="Calibri"/>
              </a:rPr>
              <a:t>and </a:t>
            </a:r>
            <a:r>
              <a:rPr sz="2000" spc="-10" dirty="0">
                <a:latin typeface="Calibri"/>
                <a:cs typeface="Calibri"/>
              </a:rPr>
              <a:t>can</a:t>
            </a:r>
            <a:r>
              <a:rPr sz="2000" spc="30" dirty="0">
                <a:latin typeface="Calibri"/>
                <a:cs typeface="Calibri"/>
              </a:rPr>
              <a:t> </a:t>
            </a:r>
            <a:r>
              <a:rPr sz="2000" spc="-10" dirty="0">
                <a:latin typeface="Calibri"/>
                <a:cs typeface="Calibri"/>
              </a:rPr>
              <a:t>be </a:t>
            </a:r>
            <a:r>
              <a:rPr sz="2000" spc="-5" dirty="0">
                <a:latin typeface="Calibri"/>
                <a:cs typeface="Calibri"/>
              </a:rPr>
              <a:t> </a:t>
            </a:r>
            <a:r>
              <a:rPr sz="2000" spc="-10" dirty="0">
                <a:latin typeface="Calibri"/>
                <a:cs typeface="Calibri"/>
              </a:rPr>
              <a:t>appropriated</a:t>
            </a:r>
            <a:r>
              <a:rPr sz="2000" spc="-5" dirty="0">
                <a:latin typeface="Calibri"/>
                <a:cs typeface="Calibri"/>
              </a:rPr>
              <a:t> in</a:t>
            </a:r>
            <a:r>
              <a:rPr sz="2000" spc="-10" dirty="0">
                <a:latin typeface="Calibri"/>
                <a:cs typeface="Calibri"/>
              </a:rPr>
              <a:t> any</a:t>
            </a:r>
            <a:r>
              <a:rPr sz="2000" spc="-5" dirty="0">
                <a:latin typeface="Calibri"/>
                <a:cs typeface="Calibri"/>
              </a:rPr>
              <a:t> quantity</a:t>
            </a:r>
            <a:r>
              <a:rPr sz="2000" spc="-30" dirty="0">
                <a:latin typeface="Calibri"/>
                <a:cs typeface="Calibri"/>
              </a:rPr>
              <a:t> </a:t>
            </a:r>
            <a:r>
              <a:rPr sz="2000" spc="-10" dirty="0">
                <a:latin typeface="Calibri"/>
                <a:cs typeface="Calibri"/>
              </a:rPr>
              <a:t>at</a:t>
            </a:r>
            <a:r>
              <a:rPr sz="2000" spc="-15" dirty="0">
                <a:latin typeface="Calibri"/>
                <a:cs typeface="Calibri"/>
              </a:rPr>
              <a:t> </a:t>
            </a:r>
            <a:r>
              <a:rPr sz="2000" spc="-10" dirty="0">
                <a:latin typeface="Calibri"/>
                <a:cs typeface="Calibri"/>
              </a:rPr>
              <a:t>any</a:t>
            </a:r>
            <a:r>
              <a:rPr sz="2000" spc="-15" dirty="0">
                <a:latin typeface="Calibri"/>
                <a:cs typeface="Calibri"/>
              </a:rPr>
              <a:t> </a:t>
            </a:r>
            <a:r>
              <a:rPr sz="2000" spc="-5" dirty="0">
                <a:latin typeface="Calibri"/>
                <a:cs typeface="Calibri"/>
              </a:rPr>
              <a:t>time.</a:t>
            </a:r>
            <a:endParaRPr sz="2000" dirty="0">
              <a:latin typeface="Calibri"/>
              <a:cs typeface="Calibri"/>
            </a:endParaRPr>
          </a:p>
        </p:txBody>
      </p:sp>
      <p:pic>
        <p:nvPicPr>
          <p:cNvPr id="4" name="object 4"/>
          <p:cNvPicPr/>
          <p:nvPr/>
        </p:nvPicPr>
        <p:blipFill>
          <a:blip r:embed="rId2" cstate="print"/>
          <a:stretch>
            <a:fillRect/>
          </a:stretch>
        </p:blipFill>
        <p:spPr>
          <a:xfrm>
            <a:off x="0" y="0"/>
            <a:ext cx="719233" cy="1285709"/>
          </a:xfrm>
          <a:prstGeom prst="rect">
            <a:avLst/>
          </a:prstGeom>
        </p:spPr>
      </p:pic>
      <p:sp>
        <p:nvSpPr>
          <p:cNvPr id="6" name="Footer Placeholder 5">
            <a:extLst>
              <a:ext uri="{FF2B5EF4-FFF2-40B4-BE49-F238E27FC236}">
                <a16:creationId xmlns:a16="http://schemas.microsoft.com/office/drawing/2014/main" id="{07C25328-C67D-CC90-190C-F8BCB65A3B9B}"/>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9785" y="449361"/>
            <a:ext cx="5114290" cy="504625"/>
          </a:xfrm>
          <a:prstGeom prst="rect">
            <a:avLst/>
          </a:prstGeom>
        </p:spPr>
        <p:txBody>
          <a:bodyPr vert="horz" wrap="square" lIns="0" tIns="12065" rIns="0" bIns="0" rtlCol="0">
            <a:spAutoFit/>
          </a:bodyPr>
          <a:lstStyle/>
          <a:p>
            <a:pPr marL="12700" algn="ctr">
              <a:lnSpc>
                <a:spcPct val="100000"/>
              </a:lnSpc>
              <a:spcBef>
                <a:spcPts val="95"/>
              </a:spcBef>
            </a:pPr>
            <a:r>
              <a:rPr sz="3200" b="1" spc="-10" dirty="0"/>
              <a:t>Common</a:t>
            </a:r>
            <a:r>
              <a:rPr sz="3200" b="1" spc="-45" dirty="0"/>
              <a:t> </a:t>
            </a:r>
            <a:r>
              <a:rPr sz="3200" b="1" spc="-20" dirty="0"/>
              <a:t>Characteristics</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6</a:t>
            </a:r>
          </a:p>
        </p:txBody>
      </p:sp>
      <p:sp>
        <p:nvSpPr>
          <p:cNvPr id="3" name="object 3"/>
          <p:cNvSpPr txBox="1"/>
          <p:nvPr/>
        </p:nvSpPr>
        <p:spPr>
          <a:xfrm>
            <a:off x="612140" y="1034946"/>
            <a:ext cx="3066415" cy="3852978"/>
          </a:xfrm>
          <a:prstGeom prst="rect">
            <a:avLst/>
          </a:prstGeom>
        </p:spPr>
        <p:txBody>
          <a:bodyPr vert="horz" wrap="square" lIns="0" tIns="79375" rIns="0" bIns="0" rtlCol="0">
            <a:spAutoFit/>
          </a:bodyPr>
          <a:lstStyle/>
          <a:p>
            <a:pPr marL="355600" indent="-343535">
              <a:lnSpc>
                <a:spcPct val="100000"/>
              </a:lnSpc>
              <a:spcBef>
                <a:spcPts val="625"/>
              </a:spcBef>
              <a:buFont typeface="Arial MT"/>
              <a:buChar char="•"/>
              <a:tabLst>
                <a:tab pos="355600" algn="l"/>
                <a:tab pos="356235" algn="l"/>
              </a:tabLst>
            </a:pPr>
            <a:r>
              <a:rPr sz="2400" spc="-5" dirty="0">
                <a:latin typeface="Calibri"/>
                <a:cs typeface="Calibri"/>
              </a:rPr>
              <a:t>Massive</a:t>
            </a:r>
            <a:r>
              <a:rPr sz="2400" spc="-35" dirty="0">
                <a:latin typeface="Calibri"/>
                <a:cs typeface="Calibri"/>
              </a:rPr>
              <a:t> </a:t>
            </a:r>
            <a:r>
              <a:rPr sz="2400" spc="-15" dirty="0">
                <a:latin typeface="Calibri"/>
                <a:cs typeface="Calibri"/>
              </a:rPr>
              <a:t>Scale</a:t>
            </a:r>
            <a:endParaRPr sz="2400" dirty="0">
              <a:latin typeface="Calibri"/>
              <a:cs typeface="Calibri"/>
            </a:endParaRPr>
          </a:p>
          <a:p>
            <a:pPr marL="355600" indent="-343535">
              <a:lnSpc>
                <a:spcPct val="100000"/>
              </a:lnSpc>
              <a:spcBef>
                <a:spcPts val="530"/>
              </a:spcBef>
              <a:buFont typeface="Arial MT"/>
              <a:buChar char="•"/>
              <a:tabLst>
                <a:tab pos="355600" algn="l"/>
                <a:tab pos="356235" algn="l"/>
              </a:tabLst>
            </a:pPr>
            <a:r>
              <a:rPr sz="2400" spc="-10" dirty="0">
                <a:latin typeface="Calibri"/>
                <a:cs typeface="Calibri"/>
              </a:rPr>
              <a:t>Resilient</a:t>
            </a:r>
            <a:r>
              <a:rPr sz="2400" spc="-30" dirty="0">
                <a:latin typeface="Calibri"/>
                <a:cs typeface="Calibri"/>
              </a:rPr>
              <a:t> </a:t>
            </a:r>
            <a:r>
              <a:rPr sz="2400" spc="-5" dirty="0">
                <a:latin typeface="Calibri"/>
                <a:cs typeface="Calibri"/>
              </a:rPr>
              <a:t>Computing</a:t>
            </a:r>
            <a:endParaRPr sz="2400" dirty="0">
              <a:latin typeface="Calibri"/>
              <a:cs typeface="Calibri"/>
            </a:endParaRPr>
          </a:p>
          <a:p>
            <a:pPr marL="355600" indent="-343535">
              <a:lnSpc>
                <a:spcPct val="100000"/>
              </a:lnSpc>
              <a:spcBef>
                <a:spcPts val="530"/>
              </a:spcBef>
              <a:buFont typeface="Arial MT"/>
              <a:buChar char="•"/>
              <a:tabLst>
                <a:tab pos="355600" algn="l"/>
                <a:tab pos="356235" algn="l"/>
              </a:tabLst>
            </a:pPr>
            <a:r>
              <a:rPr sz="2400" spc="-10" dirty="0">
                <a:latin typeface="Calibri"/>
                <a:cs typeface="Calibri"/>
              </a:rPr>
              <a:t>Homogeneity</a:t>
            </a:r>
            <a:endParaRPr sz="2400" dirty="0">
              <a:latin typeface="Calibri"/>
              <a:cs typeface="Calibri"/>
            </a:endParaRPr>
          </a:p>
          <a:p>
            <a:pPr marL="355600" indent="-343535">
              <a:lnSpc>
                <a:spcPct val="100000"/>
              </a:lnSpc>
              <a:spcBef>
                <a:spcPts val="530"/>
              </a:spcBef>
              <a:buFont typeface="Arial MT"/>
              <a:buChar char="•"/>
              <a:tabLst>
                <a:tab pos="355600" algn="l"/>
                <a:tab pos="356235" algn="l"/>
              </a:tabLst>
            </a:pPr>
            <a:r>
              <a:rPr sz="2400" spc="-10" dirty="0">
                <a:latin typeface="Calibri"/>
                <a:cs typeface="Calibri"/>
              </a:rPr>
              <a:t>Geographic</a:t>
            </a:r>
            <a:r>
              <a:rPr sz="2400" spc="-20" dirty="0">
                <a:latin typeface="Calibri"/>
                <a:cs typeface="Calibri"/>
              </a:rPr>
              <a:t> </a:t>
            </a:r>
            <a:r>
              <a:rPr sz="2400" spc="-10" dirty="0">
                <a:latin typeface="Calibri"/>
                <a:cs typeface="Calibri"/>
              </a:rPr>
              <a:t>Distribution</a:t>
            </a:r>
            <a:endParaRPr sz="2400" dirty="0">
              <a:latin typeface="Calibri"/>
              <a:cs typeface="Calibri"/>
            </a:endParaRPr>
          </a:p>
          <a:p>
            <a:pPr marL="355600" indent="-343535">
              <a:lnSpc>
                <a:spcPct val="100000"/>
              </a:lnSpc>
              <a:spcBef>
                <a:spcPts val="525"/>
              </a:spcBef>
              <a:buFont typeface="Arial MT"/>
              <a:buChar char="•"/>
              <a:tabLst>
                <a:tab pos="355600" algn="l"/>
                <a:tab pos="356235" algn="l"/>
              </a:tabLst>
            </a:pPr>
            <a:r>
              <a:rPr sz="2400" spc="-10" dirty="0">
                <a:latin typeface="Calibri"/>
                <a:cs typeface="Calibri"/>
              </a:rPr>
              <a:t>Virtualization</a:t>
            </a:r>
            <a:endParaRPr sz="2400" dirty="0">
              <a:latin typeface="Calibri"/>
              <a:cs typeface="Calibri"/>
            </a:endParaRPr>
          </a:p>
          <a:p>
            <a:pPr marL="355600" indent="-343535">
              <a:lnSpc>
                <a:spcPct val="100000"/>
              </a:lnSpc>
              <a:spcBef>
                <a:spcPts val="530"/>
              </a:spcBef>
              <a:buFont typeface="Arial MT"/>
              <a:buChar char="•"/>
              <a:tabLst>
                <a:tab pos="355600" algn="l"/>
                <a:tab pos="356235" algn="l"/>
              </a:tabLst>
            </a:pPr>
            <a:r>
              <a:rPr sz="2400" spc="-5" dirty="0">
                <a:latin typeface="Calibri"/>
                <a:cs typeface="Calibri"/>
              </a:rPr>
              <a:t>Service</a:t>
            </a:r>
            <a:r>
              <a:rPr sz="2400" spc="-10" dirty="0">
                <a:latin typeface="Calibri"/>
                <a:cs typeface="Calibri"/>
              </a:rPr>
              <a:t> </a:t>
            </a:r>
            <a:r>
              <a:rPr sz="2400" spc="-15" dirty="0">
                <a:latin typeface="Calibri"/>
                <a:cs typeface="Calibri"/>
              </a:rPr>
              <a:t>Orientation</a:t>
            </a:r>
            <a:endParaRPr sz="2400" dirty="0">
              <a:latin typeface="Calibri"/>
              <a:cs typeface="Calibri"/>
            </a:endParaRPr>
          </a:p>
          <a:p>
            <a:pPr marL="355600" indent="-343535">
              <a:lnSpc>
                <a:spcPct val="100000"/>
              </a:lnSpc>
              <a:spcBef>
                <a:spcPts val="530"/>
              </a:spcBef>
              <a:buFont typeface="Arial MT"/>
              <a:buChar char="•"/>
              <a:tabLst>
                <a:tab pos="355600" algn="l"/>
                <a:tab pos="356235" algn="l"/>
              </a:tabLst>
            </a:pPr>
            <a:r>
              <a:rPr sz="2400" spc="-10" dirty="0">
                <a:latin typeface="Calibri"/>
                <a:cs typeface="Calibri"/>
              </a:rPr>
              <a:t>Low</a:t>
            </a:r>
            <a:r>
              <a:rPr sz="2400" spc="-40" dirty="0">
                <a:latin typeface="Calibri"/>
                <a:cs typeface="Calibri"/>
              </a:rPr>
              <a:t> </a:t>
            </a:r>
            <a:r>
              <a:rPr sz="2400" spc="-10" dirty="0">
                <a:latin typeface="Calibri"/>
                <a:cs typeface="Calibri"/>
              </a:rPr>
              <a:t>Cost</a:t>
            </a:r>
            <a:r>
              <a:rPr sz="2400" spc="-30" dirty="0">
                <a:latin typeface="Calibri"/>
                <a:cs typeface="Calibri"/>
              </a:rPr>
              <a:t> </a:t>
            </a:r>
            <a:r>
              <a:rPr sz="2400" spc="-10" dirty="0">
                <a:latin typeface="Calibri"/>
                <a:cs typeface="Calibri"/>
              </a:rPr>
              <a:t>Software</a:t>
            </a:r>
            <a:endParaRPr sz="2400" dirty="0">
              <a:latin typeface="Calibri"/>
              <a:cs typeface="Calibri"/>
            </a:endParaRPr>
          </a:p>
          <a:p>
            <a:pPr marL="355600" indent="-343535">
              <a:lnSpc>
                <a:spcPct val="100000"/>
              </a:lnSpc>
              <a:spcBef>
                <a:spcPts val="530"/>
              </a:spcBef>
              <a:buFont typeface="Arial MT"/>
              <a:buChar char="•"/>
              <a:tabLst>
                <a:tab pos="355600" algn="l"/>
                <a:tab pos="356235" algn="l"/>
              </a:tabLst>
            </a:pPr>
            <a:r>
              <a:rPr sz="2400" spc="-10" dirty="0">
                <a:latin typeface="Calibri"/>
                <a:cs typeface="Calibri"/>
              </a:rPr>
              <a:t>Advanced</a:t>
            </a:r>
            <a:r>
              <a:rPr sz="2400" spc="-85" dirty="0">
                <a:latin typeface="Calibri"/>
                <a:cs typeface="Calibri"/>
              </a:rPr>
              <a:t> </a:t>
            </a:r>
            <a:r>
              <a:rPr sz="2400" spc="-5" dirty="0">
                <a:latin typeface="Calibri"/>
                <a:cs typeface="Calibri"/>
              </a:rPr>
              <a:t>Security</a:t>
            </a:r>
            <a:endParaRPr sz="2400" dirty="0">
              <a:latin typeface="Calibri"/>
              <a:cs typeface="Calibri"/>
            </a:endParaRPr>
          </a:p>
        </p:txBody>
      </p:sp>
      <p:sp>
        <p:nvSpPr>
          <p:cNvPr id="5" name="Footer Placeholder 4">
            <a:extLst>
              <a:ext uri="{FF2B5EF4-FFF2-40B4-BE49-F238E27FC236}">
                <a16:creationId xmlns:a16="http://schemas.microsoft.com/office/drawing/2014/main" id="{35BB23D1-5BCD-3011-A66A-26820A6D39D0}"/>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5577" y="262237"/>
            <a:ext cx="4281805" cy="505267"/>
          </a:xfrm>
          <a:prstGeom prst="rect">
            <a:avLst/>
          </a:prstGeom>
        </p:spPr>
        <p:txBody>
          <a:bodyPr vert="horz" wrap="square" lIns="0" tIns="12700" rIns="0" bIns="0" rtlCol="0">
            <a:spAutoFit/>
          </a:bodyPr>
          <a:lstStyle/>
          <a:p>
            <a:pPr marL="12700" algn="ctr">
              <a:lnSpc>
                <a:spcPct val="100000"/>
              </a:lnSpc>
              <a:spcBef>
                <a:spcPts val="100"/>
              </a:spcBef>
            </a:pPr>
            <a:r>
              <a:rPr sz="3200" b="1" spc="-5" dirty="0"/>
              <a:t>Cloud</a:t>
            </a:r>
            <a:r>
              <a:rPr sz="3200" b="1" spc="-30" dirty="0"/>
              <a:t> </a:t>
            </a:r>
            <a:r>
              <a:rPr sz="3200" b="1" dirty="0"/>
              <a:t>Services</a:t>
            </a:r>
            <a:r>
              <a:rPr sz="3200" b="1" spc="-30" dirty="0"/>
              <a:t> </a:t>
            </a:r>
            <a:r>
              <a:rPr sz="3200" b="1" spc="-10" dirty="0"/>
              <a:t>Models</a:t>
            </a:r>
            <a:endParaRPr sz="3200" b="1" dirty="0"/>
          </a:p>
        </p:txBody>
      </p:sp>
      <p:sp>
        <p:nvSpPr>
          <p:cNvPr id="14" name="object 1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7</a:t>
            </a:r>
          </a:p>
        </p:txBody>
      </p:sp>
      <p:sp>
        <p:nvSpPr>
          <p:cNvPr id="3" name="object 3"/>
          <p:cNvSpPr txBox="1"/>
          <p:nvPr/>
        </p:nvSpPr>
        <p:spPr>
          <a:xfrm>
            <a:off x="369822" y="1321688"/>
            <a:ext cx="76835" cy="107950"/>
          </a:xfrm>
          <a:prstGeom prst="rect">
            <a:avLst/>
          </a:prstGeom>
        </p:spPr>
        <p:txBody>
          <a:bodyPr vert="horz" wrap="square" lIns="0" tIns="11430" rIns="0" bIns="0" rtlCol="0">
            <a:spAutoFit/>
          </a:bodyPr>
          <a:lstStyle/>
          <a:p>
            <a:pPr marL="12700">
              <a:lnSpc>
                <a:spcPct val="100000"/>
              </a:lnSpc>
              <a:spcBef>
                <a:spcPts val="90"/>
              </a:spcBef>
            </a:pPr>
            <a:r>
              <a:rPr sz="550" spc="-10" dirty="0">
                <a:solidFill>
                  <a:srgbClr val="CCCCCC"/>
                </a:solidFill>
                <a:latin typeface="Wingdings"/>
                <a:cs typeface="Wingdings"/>
              </a:rPr>
              <a:t></a:t>
            </a:r>
            <a:endParaRPr sz="550">
              <a:latin typeface="Wingdings"/>
              <a:cs typeface="Wingdings"/>
            </a:endParaRPr>
          </a:p>
        </p:txBody>
      </p:sp>
      <p:sp>
        <p:nvSpPr>
          <p:cNvPr id="4" name="object 4"/>
          <p:cNvSpPr txBox="1"/>
          <p:nvPr/>
        </p:nvSpPr>
        <p:spPr>
          <a:xfrm>
            <a:off x="369822" y="794384"/>
            <a:ext cx="8637905" cy="1070486"/>
          </a:xfrm>
          <a:prstGeom prst="rect">
            <a:avLst/>
          </a:prstGeom>
        </p:spPr>
        <p:txBody>
          <a:bodyPr vert="horz" wrap="square" lIns="0" tIns="12700" rIns="0" bIns="0" rtlCol="0">
            <a:spAutoFit/>
          </a:bodyPr>
          <a:lstStyle/>
          <a:p>
            <a:pPr marL="355600" indent="-342900">
              <a:lnSpc>
                <a:spcPct val="100000"/>
              </a:lnSpc>
              <a:spcBef>
                <a:spcPts val="100"/>
              </a:spcBef>
              <a:buClr>
                <a:srgbClr val="4F80BC"/>
              </a:buClr>
              <a:buFont typeface="Arial MT"/>
              <a:buChar char="•"/>
              <a:tabLst>
                <a:tab pos="354965" algn="l"/>
                <a:tab pos="355600" algn="l"/>
              </a:tabLst>
            </a:pPr>
            <a:r>
              <a:rPr sz="1800" b="1" spc="-10" dirty="0">
                <a:latin typeface="Calibri"/>
                <a:cs typeface="Calibri"/>
              </a:rPr>
              <a:t>Software </a:t>
            </a:r>
            <a:r>
              <a:rPr sz="1800" b="1" spc="-5" dirty="0">
                <a:latin typeface="Calibri"/>
                <a:cs typeface="Calibri"/>
              </a:rPr>
              <a:t>as</a:t>
            </a:r>
            <a:r>
              <a:rPr sz="1800" b="1" spc="-25" dirty="0">
                <a:latin typeface="Calibri"/>
                <a:cs typeface="Calibri"/>
              </a:rPr>
              <a:t> </a:t>
            </a:r>
            <a:r>
              <a:rPr sz="1800" b="1" dirty="0">
                <a:latin typeface="Calibri"/>
                <a:cs typeface="Calibri"/>
              </a:rPr>
              <a:t>a Service</a:t>
            </a:r>
            <a:r>
              <a:rPr sz="1800" b="1" spc="375" dirty="0">
                <a:latin typeface="Calibri"/>
                <a:cs typeface="Calibri"/>
              </a:rPr>
              <a:t> </a:t>
            </a:r>
            <a:r>
              <a:rPr sz="1800" b="1" dirty="0">
                <a:latin typeface="Calibri"/>
                <a:cs typeface="Calibri"/>
              </a:rPr>
              <a:t>(SaaS)</a:t>
            </a:r>
            <a:endParaRPr sz="1800" dirty="0">
              <a:latin typeface="Calibri"/>
              <a:cs typeface="Calibri"/>
            </a:endParaRPr>
          </a:p>
          <a:p>
            <a:pPr marL="643890" marR="5080" algn="just">
              <a:lnSpc>
                <a:spcPct val="93000"/>
              </a:lnSpc>
              <a:spcBef>
                <a:spcPts val="1430"/>
              </a:spcBef>
            </a:pPr>
            <a:r>
              <a:rPr sz="1400" dirty="0">
                <a:latin typeface="Calibri"/>
                <a:cs typeface="Calibri"/>
              </a:rPr>
              <a:t>The </a:t>
            </a:r>
            <a:r>
              <a:rPr sz="1400" spc="-5" dirty="0">
                <a:latin typeface="Calibri"/>
                <a:cs typeface="Calibri"/>
              </a:rPr>
              <a:t>capability </a:t>
            </a:r>
            <a:r>
              <a:rPr sz="1400" spc="-10" dirty="0">
                <a:latin typeface="Calibri"/>
                <a:cs typeface="Calibri"/>
              </a:rPr>
              <a:t>provided to </a:t>
            </a:r>
            <a:r>
              <a:rPr sz="1400" spc="-5" dirty="0">
                <a:latin typeface="Calibri"/>
                <a:cs typeface="Calibri"/>
              </a:rPr>
              <a:t>the consumer </a:t>
            </a:r>
            <a:r>
              <a:rPr sz="1400" dirty="0">
                <a:latin typeface="Calibri"/>
                <a:cs typeface="Calibri"/>
              </a:rPr>
              <a:t>is </a:t>
            </a:r>
            <a:r>
              <a:rPr sz="1400" spc="-5" dirty="0">
                <a:latin typeface="Calibri"/>
                <a:cs typeface="Calibri"/>
              </a:rPr>
              <a:t>to use</a:t>
            </a:r>
            <a:r>
              <a:rPr sz="1400" dirty="0">
                <a:latin typeface="Calibri"/>
                <a:cs typeface="Calibri"/>
              </a:rPr>
              <a:t> </a:t>
            </a:r>
            <a:r>
              <a:rPr sz="1400" spc="-5" dirty="0">
                <a:latin typeface="Calibri"/>
                <a:cs typeface="Calibri"/>
              </a:rPr>
              <a:t>the </a:t>
            </a:r>
            <a:r>
              <a:rPr sz="1400" spc="-10" dirty="0">
                <a:latin typeface="Calibri"/>
                <a:cs typeface="Calibri"/>
              </a:rPr>
              <a:t>provider’s </a:t>
            </a:r>
            <a:r>
              <a:rPr sz="1400" spc="-5" dirty="0">
                <a:latin typeface="Calibri"/>
                <a:cs typeface="Calibri"/>
              </a:rPr>
              <a:t>applications </a:t>
            </a:r>
            <a:r>
              <a:rPr sz="1400" spc="-10" dirty="0">
                <a:latin typeface="Calibri"/>
                <a:cs typeface="Calibri"/>
              </a:rPr>
              <a:t>running </a:t>
            </a:r>
            <a:r>
              <a:rPr sz="1400" spc="-5" dirty="0">
                <a:latin typeface="Calibri"/>
                <a:cs typeface="Calibri"/>
              </a:rPr>
              <a:t>on </a:t>
            </a:r>
            <a:r>
              <a:rPr sz="1400" dirty="0">
                <a:latin typeface="Calibri"/>
                <a:cs typeface="Calibri"/>
              </a:rPr>
              <a:t>a </a:t>
            </a:r>
            <a:r>
              <a:rPr sz="1400" spc="-5" dirty="0">
                <a:latin typeface="Calibri"/>
                <a:cs typeface="Calibri"/>
              </a:rPr>
              <a:t>cloud </a:t>
            </a:r>
            <a:r>
              <a:rPr sz="1400" spc="-10" dirty="0">
                <a:latin typeface="Calibri"/>
                <a:cs typeface="Calibri"/>
              </a:rPr>
              <a:t>infrastructure. </a:t>
            </a:r>
            <a:r>
              <a:rPr sz="1400" spc="-5" dirty="0">
                <a:latin typeface="Calibri"/>
                <a:cs typeface="Calibri"/>
              </a:rPr>
              <a:t>The </a:t>
            </a:r>
            <a:r>
              <a:rPr sz="1400" spc="-10" dirty="0">
                <a:latin typeface="Calibri"/>
                <a:cs typeface="Calibri"/>
              </a:rPr>
              <a:t>applications </a:t>
            </a:r>
            <a:r>
              <a:rPr sz="1400" spc="-5" dirty="0">
                <a:latin typeface="Calibri"/>
                <a:cs typeface="Calibri"/>
              </a:rPr>
              <a:t> are</a:t>
            </a:r>
            <a:r>
              <a:rPr sz="1400" spc="70" dirty="0">
                <a:latin typeface="Calibri"/>
                <a:cs typeface="Calibri"/>
              </a:rPr>
              <a:t> </a:t>
            </a:r>
            <a:r>
              <a:rPr sz="1400" dirty="0">
                <a:latin typeface="Calibri"/>
                <a:cs typeface="Calibri"/>
              </a:rPr>
              <a:t>accessible</a:t>
            </a:r>
            <a:r>
              <a:rPr sz="1400" spc="95" dirty="0">
                <a:latin typeface="Calibri"/>
                <a:cs typeface="Calibri"/>
              </a:rPr>
              <a:t> </a:t>
            </a:r>
            <a:r>
              <a:rPr sz="1400" spc="-10" dirty="0">
                <a:latin typeface="Calibri"/>
                <a:cs typeface="Calibri"/>
              </a:rPr>
              <a:t>from</a:t>
            </a:r>
            <a:r>
              <a:rPr sz="1400" spc="70" dirty="0">
                <a:latin typeface="Calibri"/>
                <a:cs typeface="Calibri"/>
              </a:rPr>
              <a:t> </a:t>
            </a:r>
            <a:r>
              <a:rPr sz="1400" spc="-10" dirty="0">
                <a:latin typeface="Calibri"/>
                <a:cs typeface="Calibri"/>
              </a:rPr>
              <a:t>various</a:t>
            </a:r>
            <a:r>
              <a:rPr sz="1400" spc="85" dirty="0">
                <a:latin typeface="Calibri"/>
                <a:cs typeface="Calibri"/>
              </a:rPr>
              <a:t> </a:t>
            </a:r>
            <a:r>
              <a:rPr sz="1400" spc="-5" dirty="0">
                <a:latin typeface="Calibri"/>
                <a:cs typeface="Calibri"/>
              </a:rPr>
              <a:t>client</a:t>
            </a:r>
            <a:r>
              <a:rPr sz="1400" spc="80" dirty="0">
                <a:latin typeface="Calibri"/>
                <a:cs typeface="Calibri"/>
              </a:rPr>
              <a:t> </a:t>
            </a:r>
            <a:r>
              <a:rPr sz="1400" spc="-5" dirty="0">
                <a:latin typeface="Calibri"/>
                <a:cs typeface="Calibri"/>
              </a:rPr>
              <a:t>devices</a:t>
            </a:r>
            <a:r>
              <a:rPr sz="1400" spc="85" dirty="0">
                <a:latin typeface="Calibri"/>
                <a:cs typeface="Calibri"/>
              </a:rPr>
              <a:t> </a:t>
            </a:r>
            <a:r>
              <a:rPr sz="1400" spc="-10" dirty="0">
                <a:latin typeface="Calibri"/>
                <a:cs typeface="Calibri"/>
              </a:rPr>
              <a:t>through</a:t>
            </a:r>
            <a:r>
              <a:rPr sz="1400" spc="95" dirty="0">
                <a:latin typeface="Calibri"/>
                <a:cs typeface="Calibri"/>
              </a:rPr>
              <a:t> </a:t>
            </a:r>
            <a:r>
              <a:rPr sz="1400" spc="-10" dirty="0">
                <a:latin typeface="Calibri"/>
                <a:cs typeface="Calibri"/>
              </a:rPr>
              <a:t>either</a:t>
            </a:r>
            <a:r>
              <a:rPr sz="1400" spc="90" dirty="0">
                <a:latin typeface="Calibri"/>
                <a:cs typeface="Calibri"/>
              </a:rPr>
              <a:t> </a:t>
            </a:r>
            <a:r>
              <a:rPr sz="1400" dirty="0">
                <a:latin typeface="Calibri"/>
                <a:cs typeface="Calibri"/>
              </a:rPr>
              <a:t>a</a:t>
            </a:r>
            <a:r>
              <a:rPr sz="1400" spc="75" dirty="0">
                <a:latin typeface="Calibri"/>
                <a:cs typeface="Calibri"/>
              </a:rPr>
              <a:t> </a:t>
            </a:r>
            <a:r>
              <a:rPr sz="1400" spc="-10" dirty="0">
                <a:latin typeface="Calibri"/>
                <a:cs typeface="Calibri"/>
              </a:rPr>
              <a:t>thin</a:t>
            </a:r>
            <a:r>
              <a:rPr sz="1400" spc="75" dirty="0">
                <a:latin typeface="Calibri"/>
                <a:cs typeface="Calibri"/>
              </a:rPr>
              <a:t> </a:t>
            </a:r>
            <a:r>
              <a:rPr sz="1400" spc="-5" dirty="0">
                <a:latin typeface="Calibri"/>
                <a:cs typeface="Calibri"/>
              </a:rPr>
              <a:t>client</a:t>
            </a:r>
            <a:r>
              <a:rPr sz="1400" spc="75" dirty="0">
                <a:latin typeface="Calibri"/>
                <a:cs typeface="Calibri"/>
              </a:rPr>
              <a:t> </a:t>
            </a:r>
            <a:r>
              <a:rPr sz="1400" spc="-10" dirty="0">
                <a:latin typeface="Calibri"/>
                <a:cs typeface="Calibri"/>
              </a:rPr>
              <a:t>interface,</a:t>
            </a:r>
            <a:r>
              <a:rPr sz="1400" spc="90" dirty="0">
                <a:latin typeface="Calibri"/>
                <a:cs typeface="Calibri"/>
              </a:rPr>
              <a:t> </a:t>
            </a:r>
            <a:r>
              <a:rPr sz="1400" spc="-10" dirty="0">
                <a:latin typeface="Calibri"/>
                <a:cs typeface="Calibri"/>
              </a:rPr>
              <a:t>such</a:t>
            </a:r>
            <a:r>
              <a:rPr sz="1400" spc="90" dirty="0">
                <a:latin typeface="Calibri"/>
                <a:cs typeface="Calibri"/>
              </a:rPr>
              <a:t> </a:t>
            </a:r>
            <a:r>
              <a:rPr sz="1400" dirty="0">
                <a:latin typeface="Calibri"/>
                <a:cs typeface="Calibri"/>
              </a:rPr>
              <a:t>as</a:t>
            </a:r>
            <a:r>
              <a:rPr sz="1400" spc="85" dirty="0">
                <a:latin typeface="Calibri"/>
                <a:cs typeface="Calibri"/>
              </a:rPr>
              <a:t> </a:t>
            </a:r>
            <a:r>
              <a:rPr sz="1400" dirty="0">
                <a:latin typeface="Calibri"/>
                <a:cs typeface="Calibri"/>
              </a:rPr>
              <a:t>a</a:t>
            </a:r>
            <a:r>
              <a:rPr sz="1400" spc="85" dirty="0">
                <a:latin typeface="Calibri"/>
                <a:cs typeface="Calibri"/>
              </a:rPr>
              <a:t> </a:t>
            </a:r>
            <a:r>
              <a:rPr sz="1400" spc="-10" dirty="0">
                <a:latin typeface="Calibri"/>
                <a:cs typeface="Calibri"/>
              </a:rPr>
              <a:t>web</a:t>
            </a:r>
            <a:r>
              <a:rPr sz="1400" spc="70" dirty="0">
                <a:latin typeface="Calibri"/>
                <a:cs typeface="Calibri"/>
              </a:rPr>
              <a:t> </a:t>
            </a:r>
            <a:r>
              <a:rPr sz="1400" spc="-10" dirty="0">
                <a:latin typeface="Calibri"/>
                <a:cs typeface="Calibri"/>
              </a:rPr>
              <a:t>browser</a:t>
            </a:r>
            <a:r>
              <a:rPr sz="1400" spc="85" dirty="0">
                <a:latin typeface="Calibri"/>
                <a:cs typeface="Calibri"/>
              </a:rPr>
              <a:t> </a:t>
            </a:r>
            <a:r>
              <a:rPr sz="1400" spc="-5" dirty="0">
                <a:latin typeface="Calibri"/>
                <a:cs typeface="Calibri"/>
              </a:rPr>
              <a:t>(e.g.,</a:t>
            </a:r>
            <a:r>
              <a:rPr sz="1400" spc="85" dirty="0">
                <a:latin typeface="Calibri"/>
                <a:cs typeface="Calibri"/>
              </a:rPr>
              <a:t> </a:t>
            </a:r>
            <a:r>
              <a:rPr sz="1400" spc="-5" dirty="0">
                <a:latin typeface="Calibri"/>
                <a:cs typeface="Calibri"/>
              </a:rPr>
              <a:t>web-based</a:t>
            </a:r>
            <a:r>
              <a:rPr sz="1400" spc="75" dirty="0">
                <a:latin typeface="Calibri"/>
                <a:cs typeface="Calibri"/>
              </a:rPr>
              <a:t> </a:t>
            </a:r>
            <a:r>
              <a:rPr sz="1400" spc="-5" dirty="0">
                <a:latin typeface="Calibri"/>
                <a:cs typeface="Calibri"/>
              </a:rPr>
              <a:t>email), </a:t>
            </a:r>
            <a:r>
              <a:rPr sz="1400" spc="-260" dirty="0">
                <a:latin typeface="Calibri"/>
                <a:cs typeface="Calibri"/>
              </a:rPr>
              <a:t> </a:t>
            </a:r>
            <a:r>
              <a:rPr sz="1400" dirty="0">
                <a:latin typeface="Calibri"/>
                <a:cs typeface="Calibri"/>
              </a:rPr>
              <a:t>or</a:t>
            </a:r>
            <a:r>
              <a:rPr sz="1400" spc="-10" dirty="0">
                <a:latin typeface="Calibri"/>
                <a:cs typeface="Calibri"/>
              </a:rPr>
              <a:t> </a:t>
            </a:r>
            <a:r>
              <a:rPr sz="1400" dirty="0">
                <a:latin typeface="Calibri"/>
                <a:cs typeface="Calibri"/>
              </a:rPr>
              <a:t>a</a:t>
            </a:r>
            <a:r>
              <a:rPr sz="1400" spc="5" dirty="0">
                <a:latin typeface="Calibri"/>
                <a:cs typeface="Calibri"/>
              </a:rPr>
              <a:t> </a:t>
            </a:r>
            <a:r>
              <a:rPr sz="1400" spc="-10" dirty="0">
                <a:latin typeface="Calibri"/>
                <a:cs typeface="Calibri"/>
              </a:rPr>
              <a:t>program</a:t>
            </a:r>
            <a:r>
              <a:rPr sz="1400" spc="-15" dirty="0">
                <a:latin typeface="Calibri"/>
                <a:cs typeface="Calibri"/>
              </a:rPr>
              <a:t> </a:t>
            </a:r>
            <a:r>
              <a:rPr sz="1400" spc="-5" dirty="0">
                <a:latin typeface="Calibri"/>
                <a:cs typeface="Calibri"/>
              </a:rPr>
              <a:t>interface.</a:t>
            </a:r>
            <a:endParaRPr sz="1400" dirty="0">
              <a:latin typeface="Calibri"/>
              <a:cs typeface="Calibri"/>
            </a:endParaRPr>
          </a:p>
        </p:txBody>
      </p:sp>
      <p:sp>
        <p:nvSpPr>
          <p:cNvPr id="5" name="object 5"/>
          <p:cNvSpPr txBox="1"/>
          <p:nvPr/>
        </p:nvSpPr>
        <p:spPr>
          <a:xfrm>
            <a:off x="369822" y="2010918"/>
            <a:ext cx="76835" cy="107950"/>
          </a:xfrm>
          <a:prstGeom prst="rect">
            <a:avLst/>
          </a:prstGeom>
        </p:spPr>
        <p:txBody>
          <a:bodyPr vert="horz" wrap="square" lIns="0" tIns="11430" rIns="0" bIns="0" rtlCol="0">
            <a:spAutoFit/>
          </a:bodyPr>
          <a:lstStyle/>
          <a:p>
            <a:pPr marL="12700">
              <a:lnSpc>
                <a:spcPct val="100000"/>
              </a:lnSpc>
              <a:spcBef>
                <a:spcPts val="90"/>
              </a:spcBef>
            </a:pPr>
            <a:r>
              <a:rPr sz="550" spc="-10" dirty="0">
                <a:solidFill>
                  <a:srgbClr val="CCCCCC"/>
                </a:solidFill>
                <a:latin typeface="Wingdings"/>
                <a:cs typeface="Wingdings"/>
              </a:rPr>
              <a:t></a:t>
            </a:r>
            <a:endParaRPr sz="550">
              <a:latin typeface="Wingdings"/>
              <a:cs typeface="Wingdings"/>
            </a:endParaRPr>
          </a:p>
        </p:txBody>
      </p:sp>
      <p:sp>
        <p:nvSpPr>
          <p:cNvPr id="6" name="object 6"/>
          <p:cNvSpPr txBox="1"/>
          <p:nvPr/>
        </p:nvSpPr>
        <p:spPr>
          <a:xfrm>
            <a:off x="1001062" y="1927098"/>
            <a:ext cx="8006080" cy="626775"/>
          </a:xfrm>
          <a:prstGeom prst="rect">
            <a:avLst/>
          </a:prstGeom>
        </p:spPr>
        <p:txBody>
          <a:bodyPr vert="horz" wrap="square" lIns="0" tIns="25400" rIns="0" bIns="0" rtlCol="0">
            <a:spAutoFit/>
          </a:bodyPr>
          <a:lstStyle/>
          <a:p>
            <a:pPr marL="12700" marR="5080" algn="just">
              <a:lnSpc>
                <a:spcPct val="92900"/>
              </a:lnSpc>
              <a:spcBef>
                <a:spcPts val="200"/>
              </a:spcBef>
            </a:pPr>
            <a:r>
              <a:rPr sz="1400" dirty="0">
                <a:latin typeface="Calibri"/>
                <a:cs typeface="Calibri"/>
              </a:rPr>
              <a:t>The </a:t>
            </a:r>
            <a:r>
              <a:rPr sz="1400" spc="-5" dirty="0">
                <a:latin typeface="Calibri"/>
                <a:cs typeface="Calibri"/>
              </a:rPr>
              <a:t>consumer </a:t>
            </a:r>
            <a:r>
              <a:rPr sz="1400" dirty="0">
                <a:latin typeface="Calibri"/>
                <a:cs typeface="Calibri"/>
              </a:rPr>
              <a:t>does not </a:t>
            </a:r>
            <a:r>
              <a:rPr sz="1400" spc="-5" dirty="0">
                <a:latin typeface="Calibri"/>
                <a:cs typeface="Calibri"/>
              </a:rPr>
              <a:t>manage or </a:t>
            </a:r>
            <a:r>
              <a:rPr sz="1400" spc="-10" dirty="0">
                <a:latin typeface="Calibri"/>
                <a:cs typeface="Calibri"/>
              </a:rPr>
              <a:t>control </a:t>
            </a:r>
            <a:r>
              <a:rPr sz="1400" spc="-5" dirty="0">
                <a:latin typeface="Calibri"/>
                <a:cs typeface="Calibri"/>
              </a:rPr>
              <a:t>the underlying cloud </a:t>
            </a:r>
            <a:r>
              <a:rPr sz="1400" spc="-10" dirty="0">
                <a:latin typeface="Calibri"/>
                <a:cs typeface="Calibri"/>
              </a:rPr>
              <a:t>infrastructure </a:t>
            </a:r>
            <a:r>
              <a:rPr sz="1400" spc="-5" dirty="0">
                <a:latin typeface="Calibri"/>
                <a:cs typeface="Calibri"/>
              </a:rPr>
              <a:t>including network, servers, </a:t>
            </a:r>
            <a:r>
              <a:rPr sz="1400" spc="-10" dirty="0">
                <a:latin typeface="Calibri"/>
                <a:cs typeface="Calibri"/>
              </a:rPr>
              <a:t>operating </a:t>
            </a:r>
            <a:r>
              <a:rPr sz="1400" spc="-15" dirty="0">
                <a:latin typeface="Calibri"/>
                <a:cs typeface="Calibri"/>
              </a:rPr>
              <a:t>systems, </a:t>
            </a:r>
            <a:r>
              <a:rPr sz="1400" spc="-10" dirty="0">
                <a:latin typeface="Calibri"/>
                <a:cs typeface="Calibri"/>
              </a:rPr>
              <a:t> storage, </a:t>
            </a:r>
            <a:r>
              <a:rPr sz="1400" spc="-5" dirty="0">
                <a:latin typeface="Calibri"/>
                <a:cs typeface="Calibri"/>
              </a:rPr>
              <a:t>or </a:t>
            </a:r>
            <a:r>
              <a:rPr sz="1400" spc="-10" dirty="0">
                <a:latin typeface="Calibri"/>
                <a:cs typeface="Calibri"/>
              </a:rPr>
              <a:t>even individual application </a:t>
            </a:r>
            <a:r>
              <a:rPr sz="1400" spc="-5" dirty="0">
                <a:latin typeface="Calibri"/>
                <a:cs typeface="Calibri"/>
              </a:rPr>
              <a:t>capabilities, with the possible </a:t>
            </a:r>
            <a:r>
              <a:rPr sz="1400" spc="-10" dirty="0">
                <a:latin typeface="Calibri"/>
                <a:cs typeface="Calibri"/>
              </a:rPr>
              <a:t>exception </a:t>
            </a:r>
            <a:r>
              <a:rPr sz="1400" spc="-5" dirty="0">
                <a:latin typeface="Calibri"/>
                <a:cs typeface="Calibri"/>
              </a:rPr>
              <a:t>of limited</a:t>
            </a:r>
            <a:r>
              <a:rPr sz="1400" dirty="0">
                <a:latin typeface="Calibri"/>
                <a:cs typeface="Calibri"/>
              </a:rPr>
              <a:t> </a:t>
            </a:r>
            <a:r>
              <a:rPr sz="1400" spc="-5" dirty="0">
                <a:latin typeface="Calibri"/>
                <a:cs typeface="Calibri"/>
              </a:rPr>
              <a:t>user-specific application </a:t>
            </a:r>
            <a:r>
              <a:rPr sz="1400" spc="-10" dirty="0">
                <a:latin typeface="Calibri"/>
                <a:cs typeface="Calibri"/>
              </a:rPr>
              <a:t>configuration </a:t>
            </a:r>
            <a:r>
              <a:rPr sz="1400" spc="-5" dirty="0">
                <a:latin typeface="Calibri"/>
                <a:cs typeface="Calibri"/>
              </a:rPr>
              <a:t> settings.</a:t>
            </a:r>
            <a:endParaRPr sz="1400" dirty="0">
              <a:latin typeface="Calibri"/>
              <a:cs typeface="Calibri"/>
            </a:endParaRPr>
          </a:p>
        </p:txBody>
      </p:sp>
      <p:sp>
        <p:nvSpPr>
          <p:cNvPr id="7" name="object 7"/>
          <p:cNvSpPr txBox="1"/>
          <p:nvPr/>
        </p:nvSpPr>
        <p:spPr>
          <a:xfrm>
            <a:off x="369822" y="2719832"/>
            <a:ext cx="76835" cy="107950"/>
          </a:xfrm>
          <a:prstGeom prst="rect">
            <a:avLst/>
          </a:prstGeom>
        </p:spPr>
        <p:txBody>
          <a:bodyPr vert="horz" wrap="square" lIns="0" tIns="11430" rIns="0" bIns="0" rtlCol="0">
            <a:spAutoFit/>
          </a:bodyPr>
          <a:lstStyle/>
          <a:p>
            <a:pPr marL="12700">
              <a:lnSpc>
                <a:spcPct val="100000"/>
              </a:lnSpc>
              <a:spcBef>
                <a:spcPts val="90"/>
              </a:spcBef>
            </a:pPr>
            <a:r>
              <a:rPr sz="550" spc="-10" dirty="0">
                <a:solidFill>
                  <a:srgbClr val="CCCCCC"/>
                </a:solidFill>
                <a:latin typeface="Wingdings"/>
                <a:cs typeface="Wingdings"/>
              </a:rPr>
              <a:t></a:t>
            </a:r>
            <a:endParaRPr sz="550">
              <a:latin typeface="Wingdings"/>
              <a:cs typeface="Wingdings"/>
            </a:endParaRPr>
          </a:p>
        </p:txBody>
      </p:sp>
      <p:sp>
        <p:nvSpPr>
          <p:cNvPr id="8" name="object 8"/>
          <p:cNvSpPr txBox="1"/>
          <p:nvPr/>
        </p:nvSpPr>
        <p:spPr>
          <a:xfrm>
            <a:off x="1001062" y="2610104"/>
            <a:ext cx="1817370" cy="239395"/>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e.g:</a:t>
            </a:r>
            <a:r>
              <a:rPr sz="1200" spc="-15" dirty="0">
                <a:latin typeface="Calibri"/>
                <a:cs typeface="Calibri"/>
              </a:rPr>
              <a:t> </a:t>
            </a:r>
            <a:r>
              <a:rPr sz="1400" b="1" i="1" dirty="0">
                <a:solidFill>
                  <a:srgbClr val="4F6128"/>
                </a:solidFill>
                <a:latin typeface="Calibri"/>
                <a:cs typeface="Calibri"/>
              </a:rPr>
              <a:t>Google</a:t>
            </a:r>
            <a:r>
              <a:rPr sz="1400" b="1" i="1" spc="-50" dirty="0">
                <a:solidFill>
                  <a:srgbClr val="4F6128"/>
                </a:solidFill>
                <a:latin typeface="Calibri"/>
                <a:cs typeface="Calibri"/>
              </a:rPr>
              <a:t> </a:t>
            </a:r>
            <a:r>
              <a:rPr sz="1400" b="1" i="1" dirty="0">
                <a:solidFill>
                  <a:srgbClr val="4F6128"/>
                </a:solidFill>
                <a:latin typeface="Calibri"/>
                <a:cs typeface="Calibri"/>
              </a:rPr>
              <a:t>Spread</a:t>
            </a:r>
            <a:r>
              <a:rPr sz="1400" b="1" i="1" spc="-45" dirty="0">
                <a:solidFill>
                  <a:srgbClr val="4F6128"/>
                </a:solidFill>
                <a:latin typeface="Calibri"/>
                <a:cs typeface="Calibri"/>
              </a:rPr>
              <a:t> </a:t>
            </a:r>
            <a:r>
              <a:rPr sz="1400" b="1" i="1" spc="-10" dirty="0">
                <a:solidFill>
                  <a:srgbClr val="4F6128"/>
                </a:solidFill>
                <a:latin typeface="Calibri"/>
                <a:cs typeface="Calibri"/>
              </a:rPr>
              <a:t>Sheet</a:t>
            </a:r>
            <a:endParaRPr sz="1400">
              <a:latin typeface="Calibri"/>
              <a:cs typeface="Calibri"/>
            </a:endParaRPr>
          </a:p>
        </p:txBody>
      </p:sp>
      <p:sp>
        <p:nvSpPr>
          <p:cNvPr id="9" name="object 9"/>
          <p:cNvSpPr txBox="1"/>
          <p:nvPr/>
        </p:nvSpPr>
        <p:spPr>
          <a:xfrm>
            <a:off x="369822" y="2980435"/>
            <a:ext cx="4009390" cy="299720"/>
          </a:xfrm>
          <a:prstGeom prst="rect">
            <a:avLst/>
          </a:prstGeom>
        </p:spPr>
        <p:txBody>
          <a:bodyPr vert="horz" wrap="square" lIns="0" tIns="12700" rIns="0" bIns="0" rtlCol="0">
            <a:spAutoFit/>
          </a:bodyPr>
          <a:lstStyle/>
          <a:p>
            <a:pPr marL="355600" indent="-342900">
              <a:lnSpc>
                <a:spcPct val="100000"/>
              </a:lnSpc>
              <a:spcBef>
                <a:spcPts val="100"/>
              </a:spcBef>
              <a:buClr>
                <a:srgbClr val="4F80BC"/>
              </a:buClr>
              <a:buFont typeface="Arial MT"/>
              <a:buChar char="•"/>
              <a:tabLst>
                <a:tab pos="354965" algn="l"/>
                <a:tab pos="355600" algn="l"/>
              </a:tabLst>
            </a:pPr>
            <a:r>
              <a:rPr sz="1800" b="1" spc="-5" dirty="0">
                <a:latin typeface="Calibri"/>
                <a:cs typeface="Calibri"/>
              </a:rPr>
              <a:t>Cloud</a:t>
            </a:r>
            <a:r>
              <a:rPr sz="1800" b="1" spc="-25" dirty="0">
                <a:latin typeface="Calibri"/>
                <a:cs typeface="Calibri"/>
              </a:rPr>
              <a:t> </a:t>
            </a:r>
            <a:r>
              <a:rPr sz="1800" b="1" spc="-10" dirty="0">
                <a:latin typeface="Calibri"/>
                <a:cs typeface="Calibri"/>
              </a:rPr>
              <a:t>Infrastructure</a:t>
            </a:r>
            <a:r>
              <a:rPr sz="1800" b="1" spc="-35" dirty="0">
                <a:latin typeface="Calibri"/>
                <a:cs typeface="Calibri"/>
              </a:rPr>
              <a:t> </a:t>
            </a:r>
            <a:r>
              <a:rPr sz="1800" b="1" spc="-5" dirty="0">
                <a:latin typeface="Calibri"/>
                <a:cs typeface="Calibri"/>
              </a:rPr>
              <a:t>as </a:t>
            </a:r>
            <a:r>
              <a:rPr sz="1800" b="1" dirty="0">
                <a:latin typeface="Calibri"/>
                <a:cs typeface="Calibri"/>
              </a:rPr>
              <a:t>a</a:t>
            </a:r>
            <a:r>
              <a:rPr sz="1800" b="1" spc="-5" dirty="0">
                <a:latin typeface="Calibri"/>
                <a:cs typeface="Calibri"/>
              </a:rPr>
              <a:t> </a:t>
            </a:r>
            <a:r>
              <a:rPr sz="1800" b="1" dirty="0">
                <a:latin typeface="Calibri"/>
                <a:cs typeface="Calibri"/>
              </a:rPr>
              <a:t>Service</a:t>
            </a:r>
            <a:r>
              <a:rPr sz="1800" b="1" spc="-20" dirty="0">
                <a:latin typeface="Calibri"/>
                <a:cs typeface="Calibri"/>
              </a:rPr>
              <a:t> </a:t>
            </a:r>
            <a:r>
              <a:rPr sz="1800" b="1" spc="-5" dirty="0">
                <a:latin typeface="Calibri"/>
                <a:cs typeface="Calibri"/>
              </a:rPr>
              <a:t>(IaaS)</a:t>
            </a:r>
            <a:endParaRPr sz="1800">
              <a:latin typeface="Calibri"/>
              <a:cs typeface="Calibri"/>
            </a:endParaRPr>
          </a:p>
        </p:txBody>
      </p:sp>
      <p:sp>
        <p:nvSpPr>
          <p:cNvPr id="10" name="object 10"/>
          <p:cNvSpPr txBox="1"/>
          <p:nvPr/>
        </p:nvSpPr>
        <p:spPr>
          <a:xfrm>
            <a:off x="369822" y="3507740"/>
            <a:ext cx="76835" cy="107950"/>
          </a:xfrm>
          <a:prstGeom prst="rect">
            <a:avLst/>
          </a:prstGeom>
        </p:spPr>
        <p:txBody>
          <a:bodyPr vert="horz" wrap="square" lIns="0" tIns="11430" rIns="0" bIns="0" rtlCol="0">
            <a:spAutoFit/>
          </a:bodyPr>
          <a:lstStyle/>
          <a:p>
            <a:pPr marL="12700">
              <a:lnSpc>
                <a:spcPct val="100000"/>
              </a:lnSpc>
              <a:spcBef>
                <a:spcPts val="90"/>
              </a:spcBef>
            </a:pPr>
            <a:r>
              <a:rPr sz="550" spc="-10" dirty="0">
                <a:solidFill>
                  <a:srgbClr val="CCCCCC"/>
                </a:solidFill>
                <a:latin typeface="Wingdings"/>
                <a:cs typeface="Wingdings"/>
              </a:rPr>
              <a:t></a:t>
            </a:r>
            <a:endParaRPr sz="550">
              <a:latin typeface="Wingdings"/>
              <a:cs typeface="Wingdings"/>
            </a:endParaRPr>
          </a:p>
        </p:txBody>
      </p:sp>
      <p:sp>
        <p:nvSpPr>
          <p:cNvPr id="11" name="object 11"/>
          <p:cNvSpPr txBox="1"/>
          <p:nvPr/>
        </p:nvSpPr>
        <p:spPr>
          <a:xfrm>
            <a:off x="369822" y="3754628"/>
            <a:ext cx="76835" cy="107950"/>
          </a:xfrm>
          <a:prstGeom prst="rect">
            <a:avLst/>
          </a:prstGeom>
        </p:spPr>
        <p:txBody>
          <a:bodyPr vert="horz" wrap="square" lIns="0" tIns="11430" rIns="0" bIns="0" rtlCol="0">
            <a:spAutoFit/>
          </a:bodyPr>
          <a:lstStyle/>
          <a:p>
            <a:pPr marL="12700">
              <a:lnSpc>
                <a:spcPct val="100000"/>
              </a:lnSpc>
              <a:spcBef>
                <a:spcPts val="90"/>
              </a:spcBef>
            </a:pPr>
            <a:r>
              <a:rPr sz="550" spc="-10" dirty="0">
                <a:solidFill>
                  <a:srgbClr val="CCCCCC"/>
                </a:solidFill>
                <a:latin typeface="Wingdings"/>
                <a:cs typeface="Wingdings"/>
              </a:rPr>
              <a:t></a:t>
            </a:r>
            <a:endParaRPr sz="550">
              <a:latin typeface="Wingdings"/>
              <a:cs typeface="Wingdings"/>
            </a:endParaRPr>
          </a:p>
        </p:txBody>
      </p:sp>
      <p:sp>
        <p:nvSpPr>
          <p:cNvPr id="12" name="object 12"/>
          <p:cNvSpPr txBox="1"/>
          <p:nvPr/>
        </p:nvSpPr>
        <p:spPr>
          <a:xfrm>
            <a:off x="369822" y="4021633"/>
            <a:ext cx="76835" cy="107950"/>
          </a:xfrm>
          <a:prstGeom prst="rect">
            <a:avLst/>
          </a:prstGeom>
        </p:spPr>
        <p:txBody>
          <a:bodyPr vert="horz" wrap="square" lIns="0" tIns="11430" rIns="0" bIns="0" rtlCol="0">
            <a:spAutoFit/>
          </a:bodyPr>
          <a:lstStyle/>
          <a:p>
            <a:pPr marL="12700">
              <a:lnSpc>
                <a:spcPct val="100000"/>
              </a:lnSpc>
              <a:spcBef>
                <a:spcPts val="90"/>
              </a:spcBef>
            </a:pPr>
            <a:r>
              <a:rPr sz="550" spc="-10" dirty="0">
                <a:solidFill>
                  <a:srgbClr val="CCCCCC"/>
                </a:solidFill>
                <a:latin typeface="Wingdings"/>
                <a:cs typeface="Wingdings"/>
              </a:rPr>
              <a:t></a:t>
            </a:r>
            <a:endParaRPr sz="550">
              <a:latin typeface="Wingdings"/>
              <a:cs typeface="Wingdings"/>
            </a:endParaRPr>
          </a:p>
        </p:txBody>
      </p:sp>
      <p:sp>
        <p:nvSpPr>
          <p:cNvPr id="13" name="object 13"/>
          <p:cNvSpPr txBox="1"/>
          <p:nvPr/>
        </p:nvSpPr>
        <p:spPr>
          <a:xfrm>
            <a:off x="1001062" y="3360343"/>
            <a:ext cx="6946900" cy="1066959"/>
          </a:xfrm>
          <a:prstGeom prst="rect">
            <a:avLst/>
          </a:prstGeom>
        </p:spPr>
        <p:txBody>
          <a:bodyPr vert="horz" wrap="square" lIns="0" tIns="76200" rIns="0" bIns="0" rtlCol="0">
            <a:spAutoFit/>
          </a:bodyPr>
          <a:lstStyle/>
          <a:p>
            <a:pPr marL="12700">
              <a:lnSpc>
                <a:spcPct val="100000"/>
              </a:lnSpc>
              <a:spcBef>
                <a:spcPts val="600"/>
              </a:spcBef>
            </a:pPr>
            <a:r>
              <a:rPr sz="1400" dirty="0">
                <a:latin typeface="Calibri"/>
                <a:cs typeface="Calibri"/>
              </a:rPr>
              <a:t>The </a:t>
            </a:r>
            <a:r>
              <a:rPr sz="1400" spc="-5" dirty="0">
                <a:latin typeface="Calibri"/>
                <a:cs typeface="Calibri"/>
              </a:rPr>
              <a:t>capability</a:t>
            </a:r>
            <a:r>
              <a:rPr sz="1400" spc="-15" dirty="0">
                <a:latin typeface="Calibri"/>
                <a:cs typeface="Calibri"/>
              </a:rPr>
              <a:t> </a:t>
            </a:r>
            <a:r>
              <a:rPr sz="1400" spc="-5" dirty="0">
                <a:latin typeface="Calibri"/>
                <a:cs typeface="Calibri"/>
              </a:rPr>
              <a:t>provided</a:t>
            </a:r>
            <a:r>
              <a:rPr sz="1400" spc="-30" dirty="0">
                <a:latin typeface="Calibri"/>
                <a:cs typeface="Calibri"/>
              </a:rPr>
              <a:t> </a:t>
            </a:r>
            <a:r>
              <a:rPr sz="1400" spc="-5" dirty="0">
                <a:latin typeface="Calibri"/>
                <a:cs typeface="Calibri"/>
              </a:rPr>
              <a:t>to</a:t>
            </a:r>
            <a:r>
              <a:rPr sz="1400" dirty="0">
                <a:latin typeface="Calibri"/>
                <a:cs typeface="Calibri"/>
              </a:rPr>
              <a:t> </a:t>
            </a:r>
            <a:r>
              <a:rPr sz="1400" spc="-5" dirty="0">
                <a:latin typeface="Calibri"/>
                <a:cs typeface="Calibri"/>
              </a:rPr>
              <a:t>provision</a:t>
            </a:r>
            <a:r>
              <a:rPr sz="1400" dirty="0">
                <a:latin typeface="Calibri"/>
                <a:cs typeface="Calibri"/>
              </a:rPr>
              <a:t> </a:t>
            </a:r>
            <a:r>
              <a:rPr sz="1400" spc="-5" dirty="0">
                <a:latin typeface="Calibri"/>
                <a:cs typeface="Calibri"/>
              </a:rPr>
              <a:t>processing,</a:t>
            </a:r>
            <a:r>
              <a:rPr sz="1400" spc="20" dirty="0">
                <a:latin typeface="Calibri"/>
                <a:cs typeface="Calibri"/>
              </a:rPr>
              <a:t> </a:t>
            </a:r>
            <a:r>
              <a:rPr sz="1400" spc="-10" dirty="0">
                <a:latin typeface="Calibri"/>
                <a:cs typeface="Calibri"/>
              </a:rPr>
              <a:t>storage,</a:t>
            </a:r>
            <a:r>
              <a:rPr sz="1400" spc="5" dirty="0">
                <a:latin typeface="Calibri"/>
                <a:cs typeface="Calibri"/>
              </a:rPr>
              <a:t> </a:t>
            </a:r>
            <a:r>
              <a:rPr sz="1400" spc="-10" dirty="0">
                <a:latin typeface="Calibri"/>
                <a:cs typeface="Calibri"/>
              </a:rPr>
              <a:t>networks,</a:t>
            </a:r>
            <a:r>
              <a:rPr sz="1400" spc="25" dirty="0">
                <a:latin typeface="Calibri"/>
                <a:cs typeface="Calibri"/>
              </a:rPr>
              <a:t> </a:t>
            </a:r>
            <a:r>
              <a:rPr sz="1400" dirty="0">
                <a:latin typeface="Calibri"/>
                <a:cs typeface="Calibri"/>
              </a:rPr>
              <a:t>and</a:t>
            </a:r>
            <a:r>
              <a:rPr sz="1400" spc="-10" dirty="0">
                <a:latin typeface="Calibri"/>
                <a:cs typeface="Calibri"/>
              </a:rPr>
              <a:t> </a:t>
            </a:r>
            <a:r>
              <a:rPr sz="1400" dirty="0">
                <a:latin typeface="Calibri"/>
                <a:cs typeface="Calibri"/>
              </a:rPr>
              <a:t>other</a:t>
            </a:r>
            <a:r>
              <a:rPr sz="1400" spc="-10" dirty="0">
                <a:latin typeface="Calibri"/>
                <a:cs typeface="Calibri"/>
              </a:rPr>
              <a:t> </a:t>
            </a:r>
            <a:r>
              <a:rPr sz="1400" spc="-5" dirty="0">
                <a:latin typeface="Calibri"/>
                <a:cs typeface="Calibri"/>
              </a:rPr>
              <a:t>fundamental</a:t>
            </a:r>
            <a:r>
              <a:rPr sz="1400" spc="-20" dirty="0">
                <a:latin typeface="Calibri"/>
                <a:cs typeface="Calibri"/>
              </a:rPr>
              <a:t> </a:t>
            </a:r>
            <a:r>
              <a:rPr sz="1400" spc="-5" dirty="0">
                <a:latin typeface="Calibri"/>
                <a:cs typeface="Calibri"/>
              </a:rPr>
              <a:t>computing resources</a:t>
            </a:r>
            <a:endParaRPr sz="1400" dirty="0">
              <a:latin typeface="Calibri"/>
              <a:cs typeface="Calibri"/>
            </a:endParaRPr>
          </a:p>
          <a:p>
            <a:pPr marL="12700">
              <a:lnSpc>
                <a:spcPct val="100000"/>
              </a:lnSpc>
              <a:spcBef>
                <a:spcPts val="505"/>
              </a:spcBef>
            </a:pPr>
            <a:r>
              <a:rPr sz="1400" spc="-5" dirty="0">
                <a:latin typeface="Calibri"/>
                <a:cs typeface="Calibri"/>
              </a:rPr>
              <a:t>Consumer</a:t>
            </a:r>
            <a:r>
              <a:rPr sz="1400" spc="-20" dirty="0">
                <a:latin typeface="Calibri"/>
                <a:cs typeface="Calibri"/>
              </a:rPr>
              <a:t> </a:t>
            </a:r>
            <a:r>
              <a:rPr sz="1400" spc="-10" dirty="0">
                <a:latin typeface="Calibri"/>
                <a:cs typeface="Calibri"/>
              </a:rPr>
              <a:t>can</a:t>
            </a:r>
            <a:r>
              <a:rPr sz="1400" spc="5" dirty="0">
                <a:latin typeface="Calibri"/>
                <a:cs typeface="Calibri"/>
              </a:rPr>
              <a:t> </a:t>
            </a:r>
            <a:r>
              <a:rPr sz="1400" dirty="0">
                <a:latin typeface="Calibri"/>
                <a:cs typeface="Calibri"/>
              </a:rPr>
              <a:t>deploy</a:t>
            </a:r>
            <a:r>
              <a:rPr sz="1400" spc="-15" dirty="0">
                <a:latin typeface="Calibri"/>
                <a:cs typeface="Calibri"/>
              </a:rPr>
              <a:t> </a:t>
            </a:r>
            <a:r>
              <a:rPr sz="1400" dirty="0">
                <a:latin typeface="Calibri"/>
                <a:cs typeface="Calibri"/>
              </a:rPr>
              <a:t>and</a:t>
            </a:r>
            <a:r>
              <a:rPr sz="1400" spc="-20" dirty="0">
                <a:latin typeface="Calibri"/>
                <a:cs typeface="Calibri"/>
              </a:rPr>
              <a:t> </a:t>
            </a:r>
            <a:r>
              <a:rPr sz="1400" dirty="0">
                <a:latin typeface="Calibri"/>
                <a:cs typeface="Calibri"/>
              </a:rPr>
              <a:t>run</a:t>
            </a:r>
            <a:r>
              <a:rPr sz="1400" spc="-30" dirty="0">
                <a:latin typeface="Calibri"/>
                <a:cs typeface="Calibri"/>
              </a:rPr>
              <a:t> </a:t>
            </a:r>
            <a:r>
              <a:rPr sz="1400" spc="-5" dirty="0">
                <a:latin typeface="Calibri"/>
                <a:cs typeface="Calibri"/>
              </a:rPr>
              <a:t>arbitrary</a:t>
            </a:r>
            <a:r>
              <a:rPr sz="1400" spc="-40" dirty="0">
                <a:latin typeface="Calibri"/>
                <a:cs typeface="Calibri"/>
              </a:rPr>
              <a:t> </a:t>
            </a:r>
            <a:r>
              <a:rPr sz="1400" spc="-5" dirty="0">
                <a:latin typeface="Calibri"/>
                <a:cs typeface="Calibri"/>
              </a:rPr>
              <a:t>software</a:t>
            </a:r>
            <a:endParaRPr sz="1400" dirty="0">
              <a:latin typeface="Calibri"/>
              <a:cs typeface="Calibri"/>
            </a:endParaRPr>
          </a:p>
          <a:p>
            <a:pPr marL="47625">
              <a:lnSpc>
                <a:spcPct val="100000"/>
              </a:lnSpc>
              <a:spcBef>
                <a:spcPts val="459"/>
              </a:spcBef>
            </a:pPr>
            <a:r>
              <a:rPr sz="1400" dirty="0">
                <a:latin typeface="Calibri"/>
                <a:cs typeface="Calibri"/>
              </a:rPr>
              <a:t>e.g:</a:t>
            </a:r>
            <a:r>
              <a:rPr sz="1400" spc="5" dirty="0">
                <a:latin typeface="Calibri"/>
                <a:cs typeface="Calibri"/>
              </a:rPr>
              <a:t> </a:t>
            </a:r>
            <a:r>
              <a:rPr sz="1400" b="1" i="1" spc="-5" dirty="0">
                <a:solidFill>
                  <a:srgbClr val="4F6128"/>
                </a:solidFill>
                <a:latin typeface="Calibri"/>
                <a:cs typeface="Calibri"/>
              </a:rPr>
              <a:t>Amazon</a:t>
            </a:r>
            <a:r>
              <a:rPr sz="1400" b="1" i="1" spc="-30" dirty="0">
                <a:solidFill>
                  <a:srgbClr val="4F6128"/>
                </a:solidFill>
                <a:latin typeface="Calibri"/>
                <a:cs typeface="Calibri"/>
              </a:rPr>
              <a:t> </a:t>
            </a:r>
            <a:r>
              <a:rPr sz="1400" b="1" i="1" spc="-20" dirty="0">
                <a:solidFill>
                  <a:srgbClr val="4F6128"/>
                </a:solidFill>
                <a:latin typeface="Calibri"/>
                <a:cs typeface="Calibri"/>
              </a:rPr>
              <a:t>Web</a:t>
            </a:r>
            <a:r>
              <a:rPr sz="1400" b="1" i="1" spc="-10" dirty="0">
                <a:solidFill>
                  <a:srgbClr val="4F6128"/>
                </a:solidFill>
                <a:latin typeface="Calibri"/>
                <a:cs typeface="Calibri"/>
              </a:rPr>
              <a:t> </a:t>
            </a:r>
            <a:r>
              <a:rPr sz="1400" b="1" i="1" spc="-5" dirty="0">
                <a:solidFill>
                  <a:srgbClr val="4F6128"/>
                </a:solidFill>
                <a:latin typeface="Calibri"/>
                <a:cs typeface="Calibri"/>
              </a:rPr>
              <a:t>Services</a:t>
            </a:r>
            <a:r>
              <a:rPr sz="1400" b="1" i="1" spc="-10" dirty="0">
                <a:solidFill>
                  <a:srgbClr val="4F6128"/>
                </a:solidFill>
                <a:latin typeface="Calibri"/>
                <a:cs typeface="Calibri"/>
              </a:rPr>
              <a:t> </a:t>
            </a:r>
            <a:r>
              <a:rPr sz="1400" b="1" i="1" dirty="0">
                <a:solidFill>
                  <a:srgbClr val="4F6128"/>
                </a:solidFill>
                <a:latin typeface="Calibri"/>
                <a:cs typeface="Calibri"/>
              </a:rPr>
              <a:t>and</a:t>
            </a:r>
            <a:r>
              <a:rPr sz="1400" b="1" i="1" spc="-20" dirty="0">
                <a:solidFill>
                  <a:srgbClr val="4F6128"/>
                </a:solidFill>
                <a:latin typeface="Calibri"/>
                <a:cs typeface="Calibri"/>
              </a:rPr>
              <a:t> </a:t>
            </a:r>
            <a:r>
              <a:rPr sz="1400" b="1" i="1" spc="-10" dirty="0">
                <a:solidFill>
                  <a:srgbClr val="4F6128"/>
                </a:solidFill>
                <a:latin typeface="Calibri"/>
                <a:cs typeface="Calibri"/>
              </a:rPr>
              <a:t>Flexi</a:t>
            </a:r>
            <a:r>
              <a:rPr sz="1400" b="1" i="1" spc="-15" dirty="0">
                <a:solidFill>
                  <a:srgbClr val="4F6128"/>
                </a:solidFill>
                <a:latin typeface="Calibri"/>
                <a:cs typeface="Calibri"/>
              </a:rPr>
              <a:t> </a:t>
            </a:r>
            <a:r>
              <a:rPr sz="1400" b="1" i="1" spc="-5" dirty="0">
                <a:solidFill>
                  <a:srgbClr val="4F6128"/>
                </a:solidFill>
                <a:latin typeface="Calibri"/>
                <a:cs typeface="Calibri"/>
              </a:rPr>
              <a:t>scale</a:t>
            </a:r>
            <a:r>
              <a:rPr sz="1400" b="1" spc="-5" dirty="0">
                <a:latin typeface="Calibri"/>
                <a:cs typeface="Calibri"/>
              </a:rPr>
              <a:t>.</a:t>
            </a:r>
            <a:endParaRPr sz="1400" dirty="0">
              <a:latin typeface="Calibri"/>
              <a:cs typeface="Calibri"/>
            </a:endParaRPr>
          </a:p>
        </p:txBody>
      </p:sp>
      <p:sp>
        <p:nvSpPr>
          <p:cNvPr id="15" name="Footer Placeholder 14">
            <a:extLst>
              <a:ext uri="{FF2B5EF4-FFF2-40B4-BE49-F238E27FC236}">
                <a16:creationId xmlns:a16="http://schemas.microsoft.com/office/drawing/2014/main" id="{B9DD2A76-E7C4-9C35-0C44-97BC3311E5B1}"/>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57116"/>
            <a:ext cx="4755515" cy="504625"/>
          </a:xfrm>
          <a:prstGeom prst="rect">
            <a:avLst/>
          </a:prstGeom>
        </p:spPr>
        <p:txBody>
          <a:bodyPr vert="horz" wrap="square" lIns="0" tIns="12065" rIns="0" bIns="0" rtlCol="0">
            <a:spAutoFit/>
          </a:bodyPr>
          <a:lstStyle/>
          <a:p>
            <a:pPr marL="12700" algn="ctr">
              <a:lnSpc>
                <a:spcPct val="100000"/>
              </a:lnSpc>
              <a:spcBef>
                <a:spcPts val="95"/>
              </a:spcBef>
            </a:pPr>
            <a:r>
              <a:rPr sz="3200" b="1" spc="-10" dirty="0"/>
              <a:t>Cloud</a:t>
            </a:r>
            <a:r>
              <a:rPr sz="3200" b="1" spc="-30" dirty="0"/>
              <a:t> </a:t>
            </a:r>
            <a:r>
              <a:rPr sz="3200" b="1" dirty="0"/>
              <a:t>Services </a:t>
            </a:r>
            <a:r>
              <a:rPr sz="3200" b="1" spc="-10" dirty="0"/>
              <a:t>Models</a:t>
            </a:r>
            <a:endParaRPr sz="3200" b="1" dirty="0"/>
          </a:p>
        </p:txBody>
      </p:sp>
      <p:sp>
        <p:nvSpPr>
          <p:cNvPr id="8" name="object 8"/>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8</a:t>
            </a:r>
          </a:p>
        </p:txBody>
      </p:sp>
      <p:sp>
        <p:nvSpPr>
          <p:cNvPr id="3" name="object 3"/>
          <p:cNvSpPr txBox="1"/>
          <p:nvPr/>
        </p:nvSpPr>
        <p:spPr>
          <a:xfrm>
            <a:off x="461262" y="1140713"/>
            <a:ext cx="3805938" cy="382797"/>
          </a:xfrm>
          <a:prstGeom prst="rect">
            <a:avLst/>
          </a:prstGeom>
        </p:spPr>
        <p:txBody>
          <a:bodyPr vert="horz" wrap="square" lIns="0" tIns="13335" rIns="0" bIns="0" rtlCol="0">
            <a:spAutoFit/>
          </a:bodyPr>
          <a:lstStyle/>
          <a:p>
            <a:pPr marL="12700">
              <a:lnSpc>
                <a:spcPct val="100000"/>
              </a:lnSpc>
              <a:spcBef>
                <a:spcPts val="105"/>
              </a:spcBef>
            </a:pPr>
            <a:r>
              <a:rPr sz="2400" b="1" spc="-5" dirty="0">
                <a:latin typeface="Calibri"/>
                <a:cs typeface="Calibri"/>
              </a:rPr>
              <a:t>Platform</a:t>
            </a:r>
            <a:r>
              <a:rPr sz="2400" b="1" spc="-35" dirty="0">
                <a:latin typeface="Calibri"/>
                <a:cs typeface="Calibri"/>
              </a:rPr>
              <a:t> </a:t>
            </a:r>
            <a:r>
              <a:rPr sz="2400" b="1" spc="-5" dirty="0">
                <a:latin typeface="Calibri"/>
                <a:cs typeface="Calibri"/>
              </a:rPr>
              <a:t>as</a:t>
            </a:r>
            <a:r>
              <a:rPr sz="2400" b="1" spc="-30" dirty="0">
                <a:latin typeface="Calibri"/>
                <a:cs typeface="Calibri"/>
              </a:rPr>
              <a:t> </a:t>
            </a:r>
            <a:r>
              <a:rPr sz="2400" b="1" dirty="0">
                <a:latin typeface="Calibri"/>
                <a:cs typeface="Calibri"/>
              </a:rPr>
              <a:t>a</a:t>
            </a:r>
            <a:r>
              <a:rPr sz="2400" b="1" spc="-20" dirty="0">
                <a:latin typeface="Calibri"/>
                <a:cs typeface="Calibri"/>
              </a:rPr>
              <a:t> </a:t>
            </a:r>
            <a:r>
              <a:rPr sz="2400" b="1" spc="-5" dirty="0">
                <a:latin typeface="Calibri"/>
                <a:cs typeface="Calibri"/>
              </a:rPr>
              <a:t>Service</a:t>
            </a:r>
            <a:r>
              <a:rPr sz="2400" b="1" spc="425" dirty="0">
                <a:latin typeface="Calibri"/>
                <a:cs typeface="Calibri"/>
              </a:rPr>
              <a:t> </a:t>
            </a:r>
            <a:r>
              <a:rPr sz="2400" b="1" spc="-5" dirty="0">
                <a:latin typeface="Calibri"/>
                <a:cs typeface="Calibri"/>
              </a:rPr>
              <a:t>(PaaS)</a:t>
            </a:r>
            <a:endParaRPr sz="2400" dirty="0">
              <a:latin typeface="Calibri"/>
              <a:cs typeface="Calibri"/>
            </a:endParaRPr>
          </a:p>
        </p:txBody>
      </p:sp>
      <p:sp>
        <p:nvSpPr>
          <p:cNvPr id="4" name="object 4"/>
          <p:cNvSpPr txBox="1"/>
          <p:nvPr/>
        </p:nvSpPr>
        <p:spPr>
          <a:xfrm>
            <a:off x="531731" y="1776069"/>
            <a:ext cx="85725" cy="122555"/>
          </a:xfrm>
          <a:prstGeom prst="rect">
            <a:avLst/>
          </a:prstGeom>
        </p:spPr>
        <p:txBody>
          <a:bodyPr vert="horz" wrap="square" lIns="0" tIns="17145" rIns="0" bIns="0" rtlCol="0">
            <a:spAutoFit/>
          </a:bodyPr>
          <a:lstStyle/>
          <a:p>
            <a:pPr marL="12700">
              <a:lnSpc>
                <a:spcPct val="100000"/>
              </a:lnSpc>
              <a:spcBef>
                <a:spcPts val="135"/>
              </a:spcBef>
            </a:pPr>
            <a:r>
              <a:rPr sz="600" spc="25" dirty="0">
                <a:solidFill>
                  <a:srgbClr val="CCCCCC"/>
                </a:solidFill>
                <a:latin typeface="Wingdings"/>
                <a:cs typeface="Wingdings"/>
              </a:rPr>
              <a:t></a:t>
            </a:r>
            <a:endParaRPr sz="600" dirty="0">
              <a:latin typeface="Wingdings"/>
              <a:cs typeface="Wingdings"/>
            </a:endParaRPr>
          </a:p>
        </p:txBody>
      </p:sp>
      <p:sp>
        <p:nvSpPr>
          <p:cNvPr id="5" name="object 5"/>
          <p:cNvSpPr txBox="1"/>
          <p:nvPr/>
        </p:nvSpPr>
        <p:spPr>
          <a:xfrm>
            <a:off x="990600" y="1565950"/>
            <a:ext cx="7746365" cy="1812419"/>
          </a:xfrm>
          <a:prstGeom prst="rect">
            <a:avLst/>
          </a:prstGeom>
        </p:spPr>
        <p:txBody>
          <a:bodyPr vert="horz" wrap="square" lIns="0" tIns="13335" rIns="0" bIns="0" rtlCol="0">
            <a:spAutoFit/>
          </a:bodyPr>
          <a:lstStyle/>
          <a:p>
            <a:pPr marL="12700" marR="5080" algn="just">
              <a:lnSpc>
                <a:spcPct val="150000"/>
              </a:lnSpc>
              <a:spcBef>
                <a:spcPts val="105"/>
              </a:spcBef>
            </a:pPr>
            <a:r>
              <a:rPr sz="2000" spc="-5" dirty="0">
                <a:latin typeface="Calibri"/>
                <a:cs typeface="Calibri"/>
              </a:rPr>
              <a:t>The </a:t>
            </a:r>
            <a:r>
              <a:rPr sz="2000" dirty="0">
                <a:latin typeface="Calibri"/>
                <a:cs typeface="Calibri"/>
              </a:rPr>
              <a:t>capability </a:t>
            </a:r>
            <a:r>
              <a:rPr sz="2000" spc="-10" dirty="0">
                <a:latin typeface="Calibri"/>
                <a:cs typeface="Calibri"/>
              </a:rPr>
              <a:t>provided to </a:t>
            </a:r>
            <a:r>
              <a:rPr sz="2000" dirty="0">
                <a:latin typeface="Calibri"/>
                <a:cs typeface="Calibri"/>
              </a:rPr>
              <a:t>the </a:t>
            </a:r>
            <a:r>
              <a:rPr sz="2000" spc="-5" dirty="0">
                <a:latin typeface="Calibri"/>
                <a:cs typeface="Calibri"/>
              </a:rPr>
              <a:t>consumer </a:t>
            </a:r>
            <a:r>
              <a:rPr sz="2000" dirty="0">
                <a:latin typeface="Calibri"/>
                <a:cs typeface="Calibri"/>
              </a:rPr>
              <a:t>is </a:t>
            </a:r>
            <a:r>
              <a:rPr sz="2000" spc="-10" dirty="0">
                <a:latin typeface="Calibri"/>
                <a:cs typeface="Calibri"/>
              </a:rPr>
              <a:t>to </a:t>
            </a:r>
            <a:r>
              <a:rPr sz="2000" spc="-5" dirty="0">
                <a:latin typeface="Calibri"/>
                <a:cs typeface="Calibri"/>
              </a:rPr>
              <a:t>deploy </a:t>
            </a:r>
            <a:r>
              <a:rPr sz="2000" spc="-10" dirty="0">
                <a:latin typeface="Calibri"/>
                <a:cs typeface="Calibri"/>
              </a:rPr>
              <a:t>onto </a:t>
            </a:r>
            <a:r>
              <a:rPr sz="2000" dirty="0">
                <a:latin typeface="Calibri"/>
                <a:cs typeface="Calibri"/>
              </a:rPr>
              <a:t>the </a:t>
            </a:r>
            <a:r>
              <a:rPr sz="2000" spc="-5" dirty="0">
                <a:latin typeface="Calibri"/>
                <a:cs typeface="Calibri"/>
              </a:rPr>
              <a:t>cloud infrastructure </a:t>
            </a:r>
            <a:r>
              <a:rPr sz="2000" spc="-10" dirty="0">
                <a:latin typeface="Calibri"/>
                <a:cs typeface="Calibri"/>
              </a:rPr>
              <a:t>consumer-created </a:t>
            </a:r>
            <a:r>
              <a:rPr sz="2000" dirty="0">
                <a:latin typeface="Calibri"/>
                <a:cs typeface="Calibri"/>
              </a:rPr>
              <a:t>or </a:t>
            </a:r>
            <a:r>
              <a:rPr sz="2000" spc="5" dirty="0">
                <a:latin typeface="Calibri"/>
                <a:cs typeface="Calibri"/>
              </a:rPr>
              <a:t> </a:t>
            </a:r>
            <a:r>
              <a:rPr sz="2000" spc="-5" dirty="0">
                <a:latin typeface="Calibri"/>
                <a:cs typeface="Calibri"/>
              </a:rPr>
              <a:t>acquired applications </a:t>
            </a:r>
            <a:r>
              <a:rPr sz="2000" spc="-10" dirty="0">
                <a:latin typeface="Calibri"/>
                <a:cs typeface="Calibri"/>
              </a:rPr>
              <a:t>created </a:t>
            </a:r>
            <a:r>
              <a:rPr sz="2000" spc="-5" dirty="0">
                <a:latin typeface="Calibri"/>
                <a:cs typeface="Calibri"/>
              </a:rPr>
              <a:t>using </a:t>
            </a:r>
            <a:r>
              <a:rPr sz="2000" spc="-10" dirty="0">
                <a:latin typeface="Calibri"/>
                <a:cs typeface="Calibri"/>
              </a:rPr>
              <a:t>programming </a:t>
            </a:r>
            <a:r>
              <a:rPr sz="2000" spc="-5" dirty="0">
                <a:latin typeface="Calibri"/>
                <a:cs typeface="Calibri"/>
              </a:rPr>
              <a:t>languages, libraries, services, and </a:t>
            </a:r>
            <a:r>
              <a:rPr sz="2000" dirty="0">
                <a:latin typeface="Calibri"/>
                <a:cs typeface="Calibri"/>
              </a:rPr>
              <a:t>tools </a:t>
            </a:r>
            <a:r>
              <a:rPr sz="2000" spc="-5" dirty="0">
                <a:latin typeface="Calibri"/>
                <a:cs typeface="Calibri"/>
              </a:rPr>
              <a:t>supported </a:t>
            </a:r>
            <a:r>
              <a:rPr sz="2000" spc="-10" dirty="0">
                <a:latin typeface="Calibri"/>
                <a:cs typeface="Calibri"/>
              </a:rPr>
              <a:t>by </a:t>
            </a:r>
            <a:r>
              <a:rPr sz="2000" spc="5" dirty="0">
                <a:latin typeface="Calibri"/>
                <a:cs typeface="Calibri"/>
              </a:rPr>
              <a:t>the </a:t>
            </a:r>
            <a:r>
              <a:rPr sz="2000" spc="10" dirty="0">
                <a:latin typeface="Calibri"/>
                <a:cs typeface="Calibri"/>
              </a:rPr>
              <a:t> </a:t>
            </a:r>
            <a:r>
              <a:rPr sz="2000" spc="-20" dirty="0">
                <a:latin typeface="Calibri"/>
                <a:cs typeface="Calibri"/>
              </a:rPr>
              <a:t>provider.</a:t>
            </a:r>
            <a:endParaRPr sz="2000" dirty="0">
              <a:latin typeface="Calibri"/>
              <a:cs typeface="Calibri"/>
            </a:endParaRPr>
          </a:p>
        </p:txBody>
      </p:sp>
      <p:sp>
        <p:nvSpPr>
          <p:cNvPr id="6" name="object 6"/>
          <p:cNvSpPr txBox="1"/>
          <p:nvPr/>
        </p:nvSpPr>
        <p:spPr>
          <a:xfrm flipV="1">
            <a:off x="571737" y="3510346"/>
            <a:ext cx="45719" cy="109645"/>
          </a:xfrm>
          <a:prstGeom prst="rect">
            <a:avLst/>
          </a:prstGeom>
        </p:spPr>
        <p:txBody>
          <a:bodyPr vert="horz" wrap="square" lIns="0" tIns="17145" rIns="0" bIns="0" rtlCol="0">
            <a:spAutoFit/>
          </a:bodyPr>
          <a:lstStyle/>
          <a:p>
            <a:pPr marL="12700">
              <a:lnSpc>
                <a:spcPct val="100000"/>
              </a:lnSpc>
              <a:spcBef>
                <a:spcPts val="135"/>
              </a:spcBef>
            </a:pPr>
            <a:r>
              <a:rPr sz="600" spc="25" dirty="0">
                <a:solidFill>
                  <a:srgbClr val="CCCCCC"/>
                </a:solidFill>
                <a:latin typeface="Wingdings"/>
                <a:cs typeface="Wingdings"/>
              </a:rPr>
              <a:t></a:t>
            </a:r>
            <a:endParaRPr sz="600" dirty="0">
              <a:latin typeface="Wingdings"/>
              <a:cs typeface="Wingdings"/>
            </a:endParaRPr>
          </a:p>
        </p:txBody>
      </p:sp>
      <p:sp>
        <p:nvSpPr>
          <p:cNvPr id="7" name="object 7"/>
          <p:cNvSpPr txBox="1"/>
          <p:nvPr/>
        </p:nvSpPr>
        <p:spPr>
          <a:xfrm>
            <a:off x="1008845" y="3257550"/>
            <a:ext cx="7746365" cy="1814343"/>
          </a:xfrm>
          <a:prstGeom prst="rect">
            <a:avLst/>
          </a:prstGeom>
        </p:spPr>
        <p:txBody>
          <a:bodyPr vert="horz" wrap="square" lIns="0" tIns="15240" rIns="0" bIns="0" rtlCol="0">
            <a:spAutoFit/>
          </a:bodyPr>
          <a:lstStyle/>
          <a:p>
            <a:pPr marL="12700" marR="5080" algn="just">
              <a:lnSpc>
                <a:spcPct val="150000"/>
              </a:lnSpc>
              <a:spcBef>
                <a:spcPts val="120"/>
              </a:spcBef>
            </a:pPr>
            <a:r>
              <a:rPr sz="2000" spc="-5" dirty="0">
                <a:cs typeface="Calibri"/>
              </a:rPr>
              <a:t>The consumer does not manage </a:t>
            </a:r>
            <a:r>
              <a:rPr sz="2000" dirty="0">
                <a:cs typeface="Calibri"/>
              </a:rPr>
              <a:t>or </a:t>
            </a:r>
            <a:r>
              <a:rPr sz="2000" spc="-10" dirty="0">
                <a:cs typeface="Calibri"/>
              </a:rPr>
              <a:t>control </a:t>
            </a:r>
            <a:r>
              <a:rPr sz="2000" spc="-5" dirty="0">
                <a:cs typeface="Calibri"/>
              </a:rPr>
              <a:t>the </a:t>
            </a:r>
            <a:r>
              <a:rPr sz="2000" dirty="0">
                <a:cs typeface="Calibri"/>
              </a:rPr>
              <a:t>underlying </a:t>
            </a:r>
            <a:r>
              <a:rPr sz="2000" spc="-5" dirty="0">
                <a:cs typeface="Calibri"/>
              </a:rPr>
              <a:t>cloud infrastructure including network, servers, </a:t>
            </a:r>
            <a:r>
              <a:rPr sz="2000" dirty="0">
                <a:cs typeface="Calibri"/>
              </a:rPr>
              <a:t> </a:t>
            </a:r>
            <a:r>
              <a:rPr sz="2000" spc="-10" dirty="0">
                <a:cs typeface="Calibri"/>
              </a:rPr>
              <a:t>operating systems, </a:t>
            </a:r>
            <a:r>
              <a:rPr sz="2000" dirty="0">
                <a:cs typeface="Calibri"/>
              </a:rPr>
              <a:t>or </a:t>
            </a:r>
            <a:r>
              <a:rPr sz="2000" spc="-10" dirty="0">
                <a:cs typeface="Calibri"/>
              </a:rPr>
              <a:t>storage, </a:t>
            </a:r>
            <a:r>
              <a:rPr sz="2000" spc="-5" dirty="0">
                <a:cs typeface="Calibri"/>
              </a:rPr>
              <a:t>but </a:t>
            </a:r>
            <a:r>
              <a:rPr sz="2000" dirty="0">
                <a:cs typeface="Calibri"/>
              </a:rPr>
              <a:t>has </a:t>
            </a:r>
            <a:r>
              <a:rPr sz="2000" spc="-10" dirty="0">
                <a:cs typeface="Calibri"/>
              </a:rPr>
              <a:t>control </a:t>
            </a:r>
            <a:r>
              <a:rPr sz="2000" spc="-5" dirty="0">
                <a:cs typeface="Calibri"/>
              </a:rPr>
              <a:t>over the deployed applications </a:t>
            </a:r>
            <a:r>
              <a:rPr sz="2000" dirty="0">
                <a:cs typeface="Calibri"/>
              </a:rPr>
              <a:t>and </a:t>
            </a:r>
            <a:r>
              <a:rPr sz="2000" spc="-5" dirty="0">
                <a:cs typeface="Calibri"/>
              </a:rPr>
              <a:t>possibly </a:t>
            </a:r>
            <a:r>
              <a:rPr sz="2000" spc="-10" dirty="0">
                <a:cs typeface="Calibri"/>
              </a:rPr>
              <a:t>configuration </a:t>
            </a:r>
            <a:r>
              <a:rPr sz="2000" spc="-5" dirty="0">
                <a:cs typeface="Calibri"/>
              </a:rPr>
              <a:t> </a:t>
            </a:r>
            <a:r>
              <a:rPr sz="2000" spc="-10" dirty="0">
                <a:cs typeface="Calibri"/>
              </a:rPr>
              <a:t>settings</a:t>
            </a:r>
            <a:r>
              <a:rPr sz="2000" spc="30" dirty="0">
                <a:cs typeface="Calibri"/>
              </a:rPr>
              <a:t> </a:t>
            </a:r>
            <a:r>
              <a:rPr sz="2000" spc="-10" dirty="0">
                <a:cs typeface="Calibri"/>
              </a:rPr>
              <a:t>for</a:t>
            </a:r>
            <a:r>
              <a:rPr sz="2000" spc="-25" dirty="0">
                <a:cs typeface="Calibri"/>
              </a:rPr>
              <a:t> </a:t>
            </a:r>
            <a:r>
              <a:rPr sz="2000" spc="-5" dirty="0">
                <a:cs typeface="Calibri"/>
              </a:rPr>
              <a:t>the</a:t>
            </a:r>
            <a:r>
              <a:rPr sz="2000" spc="5" dirty="0">
                <a:cs typeface="Calibri"/>
              </a:rPr>
              <a:t> </a:t>
            </a:r>
            <a:r>
              <a:rPr sz="2000" spc="-5" dirty="0">
                <a:cs typeface="Calibri"/>
              </a:rPr>
              <a:t>application-hosting</a:t>
            </a:r>
            <a:r>
              <a:rPr sz="2000" spc="30" dirty="0">
                <a:cs typeface="Calibri"/>
              </a:rPr>
              <a:t> </a:t>
            </a:r>
            <a:r>
              <a:rPr sz="2000" spc="-10" dirty="0">
                <a:cs typeface="Calibri"/>
              </a:rPr>
              <a:t>environment.</a:t>
            </a:r>
            <a:endParaRPr sz="2000" dirty="0">
              <a:cs typeface="Calibri"/>
            </a:endParaRPr>
          </a:p>
        </p:txBody>
      </p:sp>
      <p:sp>
        <p:nvSpPr>
          <p:cNvPr id="9" name="Footer Placeholder 8">
            <a:extLst>
              <a:ext uri="{FF2B5EF4-FFF2-40B4-BE49-F238E27FC236}">
                <a16:creationId xmlns:a16="http://schemas.microsoft.com/office/drawing/2014/main" id="{6380F701-4680-2EF9-86B9-D441F7279EA9}"/>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48280" y="407020"/>
            <a:ext cx="4754880" cy="504625"/>
          </a:xfrm>
          <a:prstGeom prst="rect">
            <a:avLst/>
          </a:prstGeom>
        </p:spPr>
        <p:txBody>
          <a:bodyPr vert="horz" wrap="square" lIns="0" tIns="12065" rIns="0" bIns="0" rtlCol="0">
            <a:spAutoFit/>
          </a:bodyPr>
          <a:lstStyle/>
          <a:p>
            <a:pPr marL="12700" algn="ctr">
              <a:lnSpc>
                <a:spcPct val="100000"/>
              </a:lnSpc>
              <a:spcBef>
                <a:spcPts val="95"/>
              </a:spcBef>
            </a:pPr>
            <a:r>
              <a:rPr sz="3200" b="1" spc="-5" dirty="0">
                <a:latin typeface="+mn-lt"/>
              </a:rPr>
              <a:t>Cloud</a:t>
            </a:r>
            <a:r>
              <a:rPr sz="3200" b="1" spc="-35" dirty="0">
                <a:latin typeface="+mn-lt"/>
              </a:rPr>
              <a:t> </a:t>
            </a:r>
            <a:r>
              <a:rPr sz="3200" b="1" dirty="0">
                <a:latin typeface="+mn-lt"/>
              </a:rPr>
              <a:t>Services</a:t>
            </a:r>
            <a:r>
              <a:rPr sz="3200" b="1" spc="-30" dirty="0">
                <a:latin typeface="+mn-lt"/>
              </a:rPr>
              <a:t> </a:t>
            </a:r>
            <a:r>
              <a:rPr sz="3200" b="1" spc="-10" dirty="0">
                <a:latin typeface="+mn-lt"/>
              </a:rPr>
              <a:t>Models</a:t>
            </a:r>
            <a:endParaRPr sz="3200" b="1" dirty="0">
              <a:latin typeface="+mn-lt"/>
            </a:endParaRPr>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9</a:t>
            </a:r>
          </a:p>
        </p:txBody>
      </p:sp>
      <p:pic>
        <p:nvPicPr>
          <p:cNvPr id="3" name="object 3"/>
          <p:cNvPicPr/>
          <p:nvPr/>
        </p:nvPicPr>
        <p:blipFill>
          <a:blip r:embed="rId2" cstate="print"/>
          <a:stretch>
            <a:fillRect/>
          </a:stretch>
        </p:blipFill>
        <p:spPr>
          <a:xfrm>
            <a:off x="152400" y="1280287"/>
            <a:ext cx="4114800" cy="3044063"/>
          </a:xfrm>
          <a:prstGeom prst="rect">
            <a:avLst/>
          </a:prstGeom>
        </p:spPr>
      </p:pic>
      <p:sp>
        <p:nvSpPr>
          <p:cNvPr id="5" name="Footer Placeholder 4">
            <a:extLst>
              <a:ext uri="{FF2B5EF4-FFF2-40B4-BE49-F238E27FC236}">
                <a16:creationId xmlns:a16="http://schemas.microsoft.com/office/drawing/2014/main" id="{F47D1438-9F54-112D-2D28-4D5D73C4B85B}"/>
              </a:ext>
            </a:extLst>
          </p:cNvPr>
          <p:cNvSpPr>
            <a:spLocks noGrp="1"/>
          </p:cNvSpPr>
          <p:nvPr>
            <p:ph type="ftr" sz="quarter" idx="11"/>
          </p:nvPr>
        </p:nvSpPr>
        <p:spPr/>
        <p:txBody>
          <a:bodyPr/>
          <a:lstStyle/>
          <a:p>
            <a:r>
              <a:rPr lang="en-US"/>
              <a:t>Department of Computer Application</a:t>
            </a:r>
          </a:p>
          <a:p>
            <a:endParaRPr lang="en-US" dirty="0"/>
          </a:p>
        </p:txBody>
      </p:sp>
      <p:pic>
        <p:nvPicPr>
          <p:cNvPr id="6" name="Picture 3" descr="C:\Users\vvksh\OneDrive\Pictures\Screenshots\2021-10-13 (5).png">
            <a:extLst>
              <a:ext uri="{FF2B5EF4-FFF2-40B4-BE49-F238E27FC236}">
                <a16:creationId xmlns:a16="http://schemas.microsoft.com/office/drawing/2014/main" id="{C8766124-3C7D-E240-6EB7-D5DDABDB46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889" t="24998" r="24931" b="16980"/>
          <a:stretch/>
        </p:blipFill>
        <p:spPr bwMode="auto">
          <a:xfrm>
            <a:off x="4267200" y="1161119"/>
            <a:ext cx="4876800" cy="3295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205516"/>
            <a:ext cx="6267450" cy="998350"/>
          </a:xfrm>
          <a:prstGeom prst="rect">
            <a:avLst/>
          </a:prstGeom>
        </p:spPr>
        <p:txBody>
          <a:bodyPr vert="horz" wrap="square" lIns="0" tIns="13335" rIns="0" bIns="0" rtlCol="0">
            <a:spAutoFit/>
          </a:bodyPr>
          <a:lstStyle/>
          <a:p>
            <a:pPr marL="12700" algn="ctr">
              <a:lnSpc>
                <a:spcPct val="100000"/>
              </a:lnSpc>
              <a:spcBef>
                <a:spcPts val="105"/>
              </a:spcBef>
            </a:pPr>
            <a:r>
              <a:rPr sz="3200" b="1" spc="-25" dirty="0"/>
              <a:t>Types</a:t>
            </a:r>
            <a:r>
              <a:rPr sz="3200" b="1" spc="-10" dirty="0"/>
              <a:t> </a:t>
            </a:r>
            <a:r>
              <a:rPr sz="3200" b="1" dirty="0"/>
              <a:t>of </a:t>
            </a:r>
            <a:r>
              <a:rPr sz="3200" b="1" spc="-5" dirty="0"/>
              <a:t>Cloud</a:t>
            </a:r>
            <a:r>
              <a:rPr sz="3200" b="1" spc="-10" dirty="0"/>
              <a:t> </a:t>
            </a:r>
            <a:br>
              <a:rPr lang="en-US" sz="3200" b="1" spc="-10" dirty="0"/>
            </a:br>
            <a:r>
              <a:rPr sz="3200" b="1" spc="-10" dirty="0"/>
              <a:t>(Deployment</a:t>
            </a:r>
            <a:r>
              <a:rPr sz="3200" b="1" dirty="0"/>
              <a:t> </a:t>
            </a:r>
            <a:r>
              <a:rPr sz="3200" b="1" spc="-5" dirty="0"/>
              <a:t>Models)</a:t>
            </a:r>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10</a:t>
            </a:r>
          </a:p>
        </p:txBody>
      </p:sp>
      <p:sp>
        <p:nvSpPr>
          <p:cNvPr id="3" name="object 3"/>
          <p:cNvSpPr txBox="1"/>
          <p:nvPr/>
        </p:nvSpPr>
        <p:spPr>
          <a:xfrm>
            <a:off x="304800" y="1123950"/>
            <a:ext cx="8324850" cy="3567643"/>
          </a:xfrm>
          <a:prstGeom prst="rect">
            <a:avLst/>
          </a:prstGeom>
        </p:spPr>
        <p:txBody>
          <a:bodyPr vert="horz" wrap="square" lIns="0" tIns="88900" rIns="0" bIns="0" rtlCol="0">
            <a:spAutoFit/>
          </a:bodyPr>
          <a:lstStyle/>
          <a:p>
            <a:pPr marL="403860" indent="-391795">
              <a:lnSpc>
                <a:spcPct val="100000"/>
              </a:lnSpc>
              <a:spcBef>
                <a:spcPts val="700"/>
              </a:spcBef>
              <a:buClr>
                <a:srgbClr val="4F80BC"/>
              </a:buClr>
              <a:buFont typeface="Arial MT"/>
              <a:buChar char="•"/>
              <a:tabLst>
                <a:tab pos="403860" algn="l"/>
                <a:tab pos="404495" algn="l"/>
              </a:tabLst>
            </a:pPr>
            <a:r>
              <a:rPr sz="1600" b="1" spc="-15" dirty="0">
                <a:cs typeface="Calibri"/>
              </a:rPr>
              <a:t>Private</a:t>
            </a:r>
            <a:r>
              <a:rPr sz="1600" b="1" spc="-30" dirty="0">
                <a:cs typeface="Calibri"/>
              </a:rPr>
              <a:t> </a:t>
            </a:r>
            <a:r>
              <a:rPr sz="1600" b="1" spc="-5" dirty="0">
                <a:cs typeface="Calibri"/>
              </a:rPr>
              <a:t>cloud</a:t>
            </a:r>
            <a:endParaRPr sz="1600" dirty="0">
              <a:cs typeface="Calibri"/>
            </a:endParaRPr>
          </a:p>
          <a:p>
            <a:pPr marL="403860">
              <a:lnSpc>
                <a:spcPct val="100000"/>
              </a:lnSpc>
              <a:spcBef>
                <a:spcPts val="600"/>
              </a:spcBef>
            </a:pPr>
            <a:r>
              <a:rPr sz="1600" spc="-5" dirty="0">
                <a:cs typeface="Calibri"/>
              </a:rPr>
              <a:t>The cloud </a:t>
            </a:r>
            <a:r>
              <a:rPr sz="1600" spc="-10" dirty="0">
                <a:cs typeface="Calibri"/>
              </a:rPr>
              <a:t>infrastructure</a:t>
            </a:r>
            <a:r>
              <a:rPr sz="1600" spc="15" dirty="0">
                <a:cs typeface="Calibri"/>
              </a:rPr>
              <a:t> </a:t>
            </a:r>
            <a:r>
              <a:rPr sz="1600" spc="-5" dirty="0">
                <a:cs typeface="Calibri"/>
              </a:rPr>
              <a:t>is</a:t>
            </a:r>
            <a:r>
              <a:rPr sz="1600" spc="-20" dirty="0">
                <a:cs typeface="Calibri"/>
              </a:rPr>
              <a:t> </a:t>
            </a:r>
            <a:r>
              <a:rPr sz="1600" spc="-15" dirty="0">
                <a:cs typeface="Calibri"/>
              </a:rPr>
              <a:t>operated</a:t>
            </a:r>
            <a:r>
              <a:rPr sz="1600" spc="15" dirty="0">
                <a:cs typeface="Calibri"/>
              </a:rPr>
              <a:t> </a:t>
            </a:r>
            <a:r>
              <a:rPr sz="1600" spc="-5" dirty="0">
                <a:cs typeface="Calibri"/>
              </a:rPr>
              <a:t>solely</a:t>
            </a:r>
            <a:r>
              <a:rPr sz="1600" dirty="0">
                <a:cs typeface="Calibri"/>
              </a:rPr>
              <a:t> </a:t>
            </a:r>
            <a:r>
              <a:rPr sz="1600" spc="-15" dirty="0">
                <a:cs typeface="Calibri"/>
              </a:rPr>
              <a:t>for</a:t>
            </a:r>
            <a:r>
              <a:rPr sz="1600" spc="-5" dirty="0">
                <a:cs typeface="Calibri"/>
              </a:rPr>
              <a:t> an</a:t>
            </a:r>
            <a:r>
              <a:rPr sz="1600" dirty="0">
                <a:cs typeface="Calibri"/>
              </a:rPr>
              <a:t> </a:t>
            </a:r>
            <a:r>
              <a:rPr sz="1600" spc="-10" dirty="0">
                <a:cs typeface="Calibri"/>
              </a:rPr>
              <a:t>organization.</a:t>
            </a:r>
            <a:endParaRPr sz="1600" dirty="0">
              <a:cs typeface="Calibri"/>
            </a:endParaRPr>
          </a:p>
          <a:p>
            <a:pPr marL="403860">
              <a:lnSpc>
                <a:spcPct val="100000"/>
              </a:lnSpc>
              <a:spcBef>
                <a:spcPts val="600"/>
              </a:spcBef>
            </a:pPr>
            <a:r>
              <a:rPr sz="1600" dirty="0">
                <a:cs typeface="Calibri"/>
              </a:rPr>
              <a:t>e.g</a:t>
            </a:r>
            <a:r>
              <a:rPr sz="1600" spc="85" dirty="0">
                <a:cs typeface="Calibri"/>
              </a:rPr>
              <a:t> </a:t>
            </a:r>
            <a:r>
              <a:rPr sz="1600" spc="-10" dirty="0">
                <a:cs typeface="Calibri"/>
              </a:rPr>
              <a:t>Window</a:t>
            </a:r>
            <a:r>
              <a:rPr sz="1600" spc="15" dirty="0">
                <a:cs typeface="Calibri"/>
              </a:rPr>
              <a:t> </a:t>
            </a:r>
            <a:r>
              <a:rPr sz="1600" spc="-10" dirty="0">
                <a:cs typeface="Calibri"/>
              </a:rPr>
              <a:t>Server</a:t>
            </a:r>
            <a:r>
              <a:rPr sz="1600" spc="30" dirty="0">
                <a:cs typeface="Calibri"/>
              </a:rPr>
              <a:t> </a:t>
            </a:r>
            <a:r>
              <a:rPr sz="1600" spc="-10" dirty="0">
                <a:cs typeface="Calibri"/>
              </a:rPr>
              <a:t>'Hyper-V'.</a:t>
            </a:r>
            <a:endParaRPr sz="1600" dirty="0">
              <a:cs typeface="Calibri"/>
            </a:endParaRPr>
          </a:p>
          <a:p>
            <a:pPr marL="403860" indent="-391795">
              <a:lnSpc>
                <a:spcPct val="100000"/>
              </a:lnSpc>
              <a:spcBef>
                <a:spcPts val="600"/>
              </a:spcBef>
              <a:buClr>
                <a:srgbClr val="4F80BC"/>
              </a:buClr>
              <a:buFont typeface="Arial MT"/>
              <a:buChar char="•"/>
              <a:tabLst>
                <a:tab pos="403860" algn="l"/>
                <a:tab pos="404495" algn="l"/>
              </a:tabLst>
            </a:pPr>
            <a:r>
              <a:rPr sz="1600" b="1" spc="-10" dirty="0">
                <a:cs typeface="Calibri"/>
              </a:rPr>
              <a:t>Community</a:t>
            </a:r>
            <a:r>
              <a:rPr sz="1600" b="1" spc="15" dirty="0">
                <a:cs typeface="Calibri"/>
              </a:rPr>
              <a:t> </a:t>
            </a:r>
            <a:r>
              <a:rPr sz="1600" b="1" spc="-5" dirty="0">
                <a:cs typeface="Calibri"/>
              </a:rPr>
              <a:t>cloud</a:t>
            </a:r>
            <a:endParaRPr sz="1600" dirty="0">
              <a:cs typeface="Calibri"/>
            </a:endParaRPr>
          </a:p>
          <a:p>
            <a:pPr marL="403860">
              <a:lnSpc>
                <a:spcPct val="100000"/>
              </a:lnSpc>
              <a:spcBef>
                <a:spcPts val="605"/>
              </a:spcBef>
            </a:pPr>
            <a:r>
              <a:rPr sz="1600" spc="-5" dirty="0">
                <a:cs typeface="Calibri"/>
              </a:rPr>
              <a:t>The cloud</a:t>
            </a:r>
            <a:r>
              <a:rPr sz="1600" dirty="0">
                <a:cs typeface="Calibri"/>
              </a:rPr>
              <a:t> </a:t>
            </a:r>
            <a:r>
              <a:rPr sz="1600" spc="-10" dirty="0">
                <a:cs typeface="Calibri"/>
              </a:rPr>
              <a:t>infrastructure</a:t>
            </a:r>
            <a:r>
              <a:rPr sz="1600" spc="20" dirty="0">
                <a:cs typeface="Calibri"/>
              </a:rPr>
              <a:t> </a:t>
            </a:r>
            <a:r>
              <a:rPr sz="1600" spc="-5" dirty="0">
                <a:cs typeface="Calibri"/>
              </a:rPr>
              <a:t>is</a:t>
            </a:r>
            <a:r>
              <a:rPr sz="1600" spc="-15" dirty="0">
                <a:cs typeface="Calibri"/>
              </a:rPr>
              <a:t> </a:t>
            </a:r>
            <a:r>
              <a:rPr sz="1600" spc="-10" dirty="0">
                <a:cs typeface="Calibri"/>
              </a:rPr>
              <a:t>shared</a:t>
            </a:r>
            <a:r>
              <a:rPr sz="1600" spc="10" dirty="0">
                <a:cs typeface="Calibri"/>
              </a:rPr>
              <a:t> </a:t>
            </a:r>
            <a:r>
              <a:rPr sz="1600" spc="-10" dirty="0">
                <a:cs typeface="Calibri"/>
              </a:rPr>
              <a:t>by</a:t>
            </a:r>
            <a:r>
              <a:rPr sz="1600" spc="5" dirty="0">
                <a:cs typeface="Calibri"/>
              </a:rPr>
              <a:t> </a:t>
            </a:r>
            <a:r>
              <a:rPr sz="1600" spc="-15" dirty="0">
                <a:cs typeface="Calibri"/>
              </a:rPr>
              <a:t>several</a:t>
            </a:r>
            <a:r>
              <a:rPr sz="1600" spc="30" dirty="0">
                <a:cs typeface="Calibri"/>
              </a:rPr>
              <a:t> </a:t>
            </a:r>
            <a:r>
              <a:rPr sz="1600" spc="-10" dirty="0">
                <a:cs typeface="Calibri"/>
              </a:rPr>
              <a:t>organizations</a:t>
            </a:r>
            <a:r>
              <a:rPr sz="1600" spc="-20" dirty="0">
                <a:cs typeface="Calibri"/>
              </a:rPr>
              <a:t> </a:t>
            </a:r>
            <a:r>
              <a:rPr sz="1600" spc="-5" dirty="0">
                <a:cs typeface="Calibri"/>
              </a:rPr>
              <a:t>and</a:t>
            </a:r>
            <a:r>
              <a:rPr sz="1600" spc="-15" dirty="0">
                <a:cs typeface="Calibri"/>
              </a:rPr>
              <a:t> </a:t>
            </a:r>
            <a:r>
              <a:rPr sz="1600" spc="-10" dirty="0">
                <a:cs typeface="Calibri"/>
              </a:rPr>
              <a:t>supports</a:t>
            </a:r>
            <a:r>
              <a:rPr sz="1600" spc="5" dirty="0">
                <a:cs typeface="Calibri"/>
              </a:rPr>
              <a:t> </a:t>
            </a:r>
            <a:r>
              <a:rPr sz="1600" spc="-5" dirty="0">
                <a:cs typeface="Calibri"/>
              </a:rPr>
              <a:t>a</a:t>
            </a:r>
            <a:r>
              <a:rPr sz="1600" dirty="0">
                <a:cs typeface="Calibri"/>
              </a:rPr>
              <a:t> </a:t>
            </a:r>
            <a:r>
              <a:rPr sz="1600" spc="-5" dirty="0">
                <a:cs typeface="Calibri"/>
              </a:rPr>
              <a:t>specific</a:t>
            </a:r>
            <a:r>
              <a:rPr sz="1600" spc="-15" dirty="0">
                <a:cs typeface="Calibri"/>
              </a:rPr>
              <a:t> </a:t>
            </a:r>
            <a:r>
              <a:rPr sz="1600" spc="-5" dirty="0">
                <a:cs typeface="Calibri"/>
              </a:rPr>
              <a:t>goal.</a:t>
            </a:r>
            <a:endParaRPr sz="1600" dirty="0">
              <a:cs typeface="Calibri"/>
            </a:endParaRPr>
          </a:p>
          <a:p>
            <a:pPr marL="403860" indent="-391795">
              <a:lnSpc>
                <a:spcPct val="100000"/>
              </a:lnSpc>
              <a:spcBef>
                <a:spcPts val="600"/>
              </a:spcBef>
              <a:buClr>
                <a:srgbClr val="4F80BC"/>
              </a:buClr>
              <a:buFont typeface="Arial MT"/>
              <a:buChar char="•"/>
              <a:tabLst>
                <a:tab pos="403860" algn="l"/>
                <a:tab pos="404495" algn="l"/>
              </a:tabLst>
            </a:pPr>
            <a:r>
              <a:rPr sz="1600" b="1" spc="-5" dirty="0">
                <a:cs typeface="Calibri"/>
              </a:rPr>
              <a:t>Public</a:t>
            </a:r>
            <a:r>
              <a:rPr sz="1600" b="1" spc="315" dirty="0">
                <a:cs typeface="Calibri"/>
              </a:rPr>
              <a:t> </a:t>
            </a:r>
            <a:r>
              <a:rPr sz="1600" b="1" spc="-5" dirty="0">
                <a:cs typeface="Calibri"/>
              </a:rPr>
              <a:t>cloud</a:t>
            </a:r>
            <a:endParaRPr sz="1600" dirty="0">
              <a:cs typeface="Calibri"/>
            </a:endParaRPr>
          </a:p>
          <a:p>
            <a:pPr marL="403860">
              <a:lnSpc>
                <a:spcPct val="100000"/>
              </a:lnSpc>
              <a:spcBef>
                <a:spcPts val="600"/>
              </a:spcBef>
            </a:pPr>
            <a:r>
              <a:rPr sz="1600" spc="-5" dirty="0">
                <a:cs typeface="Calibri"/>
              </a:rPr>
              <a:t>The cloud </a:t>
            </a:r>
            <a:r>
              <a:rPr sz="1600" spc="-10" dirty="0">
                <a:cs typeface="Calibri"/>
              </a:rPr>
              <a:t>infrastructure</a:t>
            </a:r>
            <a:r>
              <a:rPr sz="1600" spc="15" dirty="0">
                <a:cs typeface="Calibri"/>
              </a:rPr>
              <a:t> </a:t>
            </a:r>
            <a:r>
              <a:rPr sz="1600" spc="-5" dirty="0">
                <a:cs typeface="Calibri"/>
              </a:rPr>
              <a:t>is</a:t>
            </a:r>
            <a:r>
              <a:rPr sz="1600" spc="-15" dirty="0">
                <a:cs typeface="Calibri"/>
              </a:rPr>
              <a:t> </a:t>
            </a:r>
            <a:r>
              <a:rPr sz="1600" spc="-5" dirty="0">
                <a:cs typeface="Calibri"/>
              </a:rPr>
              <a:t>made</a:t>
            </a:r>
            <a:r>
              <a:rPr sz="1600" spc="5" dirty="0">
                <a:cs typeface="Calibri"/>
              </a:rPr>
              <a:t> </a:t>
            </a:r>
            <a:r>
              <a:rPr sz="1600" spc="-10" dirty="0">
                <a:cs typeface="Calibri"/>
              </a:rPr>
              <a:t>available</a:t>
            </a:r>
            <a:r>
              <a:rPr sz="1600" spc="-30" dirty="0">
                <a:cs typeface="Calibri"/>
              </a:rPr>
              <a:t> </a:t>
            </a:r>
            <a:r>
              <a:rPr sz="1600" spc="-10" dirty="0">
                <a:cs typeface="Calibri"/>
              </a:rPr>
              <a:t>to</a:t>
            </a:r>
            <a:r>
              <a:rPr sz="1600" spc="-5" dirty="0">
                <a:cs typeface="Calibri"/>
              </a:rPr>
              <a:t> the</a:t>
            </a:r>
            <a:r>
              <a:rPr sz="1600" dirty="0">
                <a:cs typeface="Calibri"/>
              </a:rPr>
              <a:t> </a:t>
            </a:r>
            <a:r>
              <a:rPr sz="1600" spc="-10" dirty="0">
                <a:cs typeface="Calibri"/>
              </a:rPr>
              <a:t>general</a:t>
            </a:r>
            <a:r>
              <a:rPr sz="1600" dirty="0">
                <a:cs typeface="Calibri"/>
              </a:rPr>
              <a:t> </a:t>
            </a:r>
            <a:r>
              <a:rPr sz="1600" spc="-5" dirty="0">
                <a:cs typeface="Calibri"/>
              </a:rPr>
              <a:t>public</a:t>
            </a:r>
            <a:endParaRPr sz="1600" dirty="0">
              <a:cs typeface="Calibri"/>
            </a:endParaRPr>
          </a:p>
          <a:p>
            <a:pPr marL="403860">
              <a:lnSpc>
                <a:spcPct val="100000"/>
              </a:lnSpc>
              <a:spcBef>
                <a:spcPts val="600"/>
              </a:spcBef>
            </a:pPr>
            <a:r>
              <a:rPr sz="1600" dirty="0">
                <a:cs typeface="Calibri"/>
              </a:rPr>
              <a:t>e.g </a:t>
            </a:r>
            <a:r>
              <a:rPr sz="1600" spc="-5" dirty="0">
                <a:cs typeface="Calibri"/>
              </a:rPr>
              <a:t>Google</a:t>
            </a:r>
            <a:r>
              <a:rPr sz="1600" spc="10" dirty="0">
                <a:cs typeface="Calibri"/>
              </a:rPr>
              <a:t> </a:t>
            </a:r>
            <a:r>
              <a:rPr sz="1600" spc="-10" dirty="0">
                <a:cs typeface="Calibri"/>
              </a:rPr>
              <a:t>Doc,</a:t>
            </a:r>
            <a:r>
              <a:rPr sz="1600" spc="10" dirty="0">
                <a:cs typeface="Calibri"/>
              </a:rPr>
              <a:t> </a:t>
            </a:r>
            <a:r>
              <a:rPr sz="1600" spc="-10" dirty="0">
                <a:cs typeface="Calibri"/>
              </a:rPr>
              <a:t>Spreadsheet,</a:t>
            </a:r>
            <a:endParaRPr sz="1600" dirty="0">
              <a:cs typeface="Calibri"/>
            </a:endParaRPr>
          </a:p>
          <a:p>
            <a:pPr marL="403860" indent="-391795">
              <a:lnSpc>
                <a:spcPct val="100000"/>
              </a:lnSpc>
              <a:spcBef>
                <a:spcPts val="600"/>
              </a:spcBef>
              <a:buClr>
                <a:srgbClr val="4F80BC"/>
              </a:buClr>
              <a:buFont typeface="Arial MT"/>
              <a:buChar char="•"/>
              <a:tabLst>
                <a:tab pos="403860" algn="l"/>
                <a:tab pos="404495" algn="l"/>
              </a:tabLst>
            </a:pPr>
            <a:r>
              <a:rPr sz="1600" b="1" spc="-5" dirty="0">
                <a:cs typeface="Calibri"/>
              </a:rPr>
              <a:t>Hybrid cloud</a:t>
            </a:r>
            <a:endParaRPr sz="1600" dirty="0">
              <a:cs typeface="Calibri"/>
            </a:endParaRPr>
          </a:p>
          <a:p>
            <a:pPr marL="403860">
              <a:lnSpc>
                <a:spcPct val="100000"/>
              </a:lnSpc>
              <a:spcBef>
                <a:spcPts val="600"/>
              </a:spcBef>
              <a:tabLst>
                <a:tab pos="6508115" algn="l"/>
              </a:tabLst>
            </a:pPr>
            <a:r>
              <a:rPr sz="1600" spc="-5" dirty="0">
                <a:cs typeface="Calibri"/>
              </a:rPr>
              <a:t>The</a:t>
            </a:r>
            <a:r>
              <a:rPr sz="1600" spc="5" dirty="0">
                <a:cs typeface="Calibri"/>
              </a:rPr>
              <a:t> </a:t>
            </a:r>
            <a:r>
              <a:rPr sz="1600" spc="-5" dirty="0">
                <a:cs typeface="Calibri"/>
              </a:rPr>
              <a:t>cloud</a:t>
            </a:r>
            <a:r>
              <a:rPr sz="1600" spc="5" dirty="0">
                <a:cs typeface="Calibri"/>
              </a:rPr>
              <a:t> </a:t>
            </a:r>
            <a:r>
              <a:rPr sz="1600" spc="-10" dirty="0">
                <a:cs typeface="Calibri"/>
              </a:rPr>
              <a:t>infrastructure</a:t>
            </a:r>
            <a:r>
              <a:rPr sz="1600" spc="30" dirty="0">
                <a:cs typeface="Calibri"/>
              </a:rPr>
              <a:t> </a:t>
            </a:r>
            <a:r>
              <a:rPr sz="1600" spc="-5" dirty="0">
                <a:cs typeface="Calibri"/>
              </a:rPr>
              <a:t>is</a:t>
            </a:r>
            <a:r>
              <a:rPr sz="1600" spc="-10" dirty="0">
                <a:cs typeface="Calibri"/>
              </a:rPr>
              <a:t> </a:t>
            </a:r>
            <a:r>
              <a:rPr sz="1600" spc="-5" dirty="0">
                <a:cs typeface="Calibri"/>
              </a:rPr>
              <a:t>a</a:t>
            </a:r>
            <a:r>
              <a:rPr sz="1600" spc="5" dirty="0">
                <a:cs typeface="Calibri"/>
              </a:rPr>
              <a:t> </a:t>
            </a:r>
            <a:r>
              <a:rPr sz="1600" spc="-10" dirty="0">
                <a:cs typeface="Calibri"/>
              </a:rPr>
              <a:t>composition</a:t>
            </a:r>
            <a:r>
              <a:rPr sz="1600" spc="20" dirty="0">
                <a:cs typeface="Calibri"/>
              </a:rPr>
              <a:t> </a:t>
            </a:r>
            <a:r>
              <a:rPr sz="1600" spc="-5" dirty="0">
                <a:cs typeface="Calibri"/>
              </a:rPr>
              <a:t>of</a:t>
            </a:r>
            <a:r>
              <a:rPr sz="1600" spc="15" dirty="0">
                <a:cs typeface="Calibri"/>
              </a:rPr>
              <a:t> </a:t>
            </a:r>
            <a:r>
              <a:rPr sz="1600" spc="-10" dirty="0">
                <a:cs typeface="Calibri"/>
              </a:rPr>
              <a:t>two</a:t>
            </a:r>
            <a:r>
              <a:rPr sz="1600" spc="10" dirty="0">
                <a:cs typeface="Calibri"/>
              </a:rPr>
              <a:t> </a:t>
            </a:r>
            <a:r>
              <a:rPr sz="1600" spc="-5" dirty="0">
                <a:cs typeface="Calibri"/>
              </a:rPr>
              <a:t>or</a:t>
            </a:r>
            <a:r>
              <a:rPr sz="1600" spc="25" dirty="0">
                <a:cs typeface="Calibri"/>
              </a:rPr>
              <a:t> </a:t>
            </a:r>
            <a:r>
              <a:rPr sz="1600" spc="-15" dirty="0">
                <a:cs typeface="Calibri"/>
              </a:rPr>
              <a:t>more</a:t>
            </a:r>
            <a:r>
              <a:rPr sz="1600" spc="35" dirty="0">
                <a:cs typeface="Calibri"/>
              </a:rPr>
              <a:t> </a:t>
            </a:r>
            <a:r>
              <a:rPr sz="1600" spc="-5" dirty="0">
                <a:cs typeface="Calibri"/>
              </a:rPr>
              <a:t>clouds</a:t>
            </a:r>
            <a:r>
              <a:rPr sz="1600" spc="10" dirty="0">
                <a:cs typeface="Calibri"/>
              </a:rPr>
              <a:t> </a:t>
            </a:r>
            <a:r>
              <a:rPr sz="1600" spc="-10" dirty="0">
                <a:cs typeface="Calibri"/>
              </a:rPr>
              <a:t>(private,</a:t>
            </a:r>
            <a:r>
              <a:rPr sz="1600" spc="-10" dirty="0">
                <a:cs typeface="Times New Roman"/>
              </a:rPr>
              <a:t>	</a:t>
            </a:r>
            <a:r>
              <a:rPr sz="1600" spc="-20" dirty="0">
                <a:cs typeface="Calibri"/>
              </a:rPr>
              <a:t>community,</a:t>
            </a:r>
            <a:r>
              <a:rPr sz="1600" spc="-25" dirty="0">
                <a:cs typeface="Calibri"/>
              </a:rPr>
              <a:t> </a:t>
            </a:r>
            <a:r>
              <a:rPr sz="1600" spc="-5" dirty="0">
                <a:cs typeface="Calibri"/>
              </a:rPr>
              <a:t>or</a:t>
            </a:r>
            <a:r>
              <a:rPr sz="1600" spc="-15" dirty="0">
                <a:cs typeface="Calibri"/>
              </a:rPr>
              <a:t> </a:t>
            </a:r>
            <a:r>
              <a:rPr sz="1600" spc="-5" dirty="0">
                <a:cs typeface="Calibri"/>
              </a:rPr>
              <a:t>public)</a:t>
            </a:r>
            <a:endParaRPr sz="1600" dirty="0">
              <a:cs typeface="Calibri"/>
            </a:endParaRPr>
          </a:p>
          <a:p>
            <a:pPr marL="403860">
              <a:lnSpc>
                <a:spcPct val="100000"/>
              </a:lnSpc>
              <a:spcBef>
                <a:spcPts val="600"/>
              </a:spcBef>
            </a:pPr>
            <a:r>
              <a:rPr sz="1600" dirty="0">
                <a:cs typeface="Calibri"/>
              </a:rPr>
              <a:t>e.g </a:t>
            </a:r>
            <a:r>
              <a:rPr sz="1600" spc="-5" dirty="0">
                <a:cs typeface="Calibri"/>
              </a:rPr>
              <a:t>Cloud</a:t>
            </a:r>
            <a:r>
              <a:rPr sz="1600" spc="-10" dirty="0">
                <a:cs typeface="Calibri"/>
              </a:rPr>
              <a:t> Bursting</a:t>
            </a:r>
            <a:r>
              <a:rPr sz="1600" spc="-15" dirty="0">
                <a:cs typeface="Calibri"/>
              </a:rPr>
              <a:t> for</a:t>
            </a:r>
            <a:r>
              <a:rPr sz="1600" spc="10" dirty="0">
                <a:cs typeface="Calibri"/>
              </a:rPr>
              <a:t> </a:t>
            </a:r>
            <a:r>
              <a:rPr sz="1600" spc="-5" dirty="0">
                <a:cs typeface="Calibri"/>
              </a:rPr>
              <a:t>load</a:t>
            </a:r>
            <a:r>
              <a:rPr sz="1600" spc="-10" dirty="0">
                <a:cs typeface="Calibri"/>
              </a:rPr>
              <a:t> </a:t>
            </a:r>
            <a:r>
              <a:rPr sz="1600" spc="-5" dirty="0">
                <a:cs typeface="Calibri"/>
              </a:rPr>
              <a:t>balancing</a:t>
            </a:r>
            <a:r>
              <a:rPr sz="1600" spc="-50" dirty="0">
                <a:cs typeface="Calibri"/>
              </a:rPr>
              <a:t> </a:t>
            </a:r>
            <a:r>
              <a:rPr sz="1600" spc="-10" dirty="0">
                <a:cs typeface="Calibri"/>
              </a:rPr>
              <a:t>between</a:t>
            </a:r>
            <a:r>
              <a:rPr sz="1600" spc="25" dirty="0">
                <a:cs typeface="Calibri"/>
              </a:rPr>
              <a:t> </a:t>
            </a:r>
            <a:r>
              <a:rPr sz="1600" spc="-5" dirty="0">
                <a:cs typeface="Calibri"/>
              </a:rPr>
              <a:t>clouds.</a:t>
            </a:r>
            <a:endParaRPr sz="1600" dirty="0">
              <a:cs typeface="Calibri"/>
            </a:endParaRPr>
          </a:p>
        </p:txBody>
      </p:sp>
      <p:sp>
        <p:nvSpPr>
          <p:cNvPr id="5" name="Footer Placeholder 4">
            <a:extLst>
              <a:ext uri="{FF2B5EF4-FFF2-40B4-BE49-F238E27FC236}">
                <a16:creationId xmlns:a16="http://schemas.microsoft.com/office/drawing/2014/main" id="{41BC6F3A-5963-6358-4A39-75A13A10DD1C}"/>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AD8B6-81A0-C621-4A26-C92EA3891DB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C21DB4-D844-0D2F-C177-5277272E5469}"/>
              </a:ext>
            </a:extLst>
          </p:cNvPr>
          <p:cNvSpPr txBox="1">
            <a:spLocks noGrp="1"/>
          </p:cNvSpPr>
          <p:nvPr>
            <p:ph type="title"/>
          </p:nvPr>
        </p:nvSpPr>
        <p:spPr>
          <a:xfrm>
            <a:off x="1752600" y="482515"/>
            <a:ext cx="6267450" cy="444352"/>
          </a:xfrm>
          <a:prstGeom prst="rect">
            <a:avLst/>
          </a:prstGeom>
        </p:spPr>
        <p:txBody>
          <a:bodyPr vert="horz" wrap="square" lIns="0" tIns="13335" rIns="0" bIns="0" rtlCol="0">
            <a:spAutoFit/>
          </a:bodyPr>
          <a:lstStyle/>
          <a:p>
            <a:pPr marL="12700" algn="ctr">
              <a:lnSpc>
                <a:spcPct val="100000"/>
              </a:lnSpc>
              <a:spcBef>
                <a:spcPts val="105"/>
              </a:spcBef>
            </a:pPr>
            <a:r>
              <a:rPr sz="2800" b="1" spc="-25" dirty="0"/>
              <a:t>Types</a:t>
            </a:r>
            <a:r>
              <a:rPr sz="2800" b="1" spc="-10" dirty="0"/>
              <a:t> </a:t>
            </a:r>
            <a:r>
              <a:rPr sz="2800" b="1" dirty="0"/>
              <a:t>of </a:t>
            </a:r>
            <a:r>
              <a:rPr sz="2800" b="1" spc="-5" dirty="0"/>
              <a:t>Cloud</a:t>
            </a:r>
            <a:r>
              <a:rPr sz="2800" b="1" spc="-10" dirty="0"/>
              <a:t> (Deployment</a:t>
            </a:r>
            <a:r>
              <a:rPr sz="2800" b="1" dirty="0"/>
              <a:t> </a:t>
            </a:r>
            <a:r>
              <a:rPr sz="2800" b="1" spc="-5" dirty="0"/>
              <a:t>Models)</a:t>
            </a:r>
          </a:p>
        </p:txBody>
      </p:sp>
      <p:sp>
        <p:nvSpPr>
          <p:cNvPr id="4" name="object 4">
            <a:extLst>
              <a:ext uri="{FF2B5EF4-FFF2-40B4-BE49-F238E27FC236}">
                <a16:creationId xmlns:a16="http://schemas.microsoft.com/office/drawing/2014/main" id="{192F9944-378D-82F2-8485-3698214285CA}"/>
              </a:ext>
            </a:extLst>
          </p:cNvPr>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10</a:t>
            </a:r>
          </a:p>
        </p:txBody>
      </p:sp>
      <p:sp>
        <p:nvSpPr>
          <p:cNvPr id="5" name="Footer Placeholder 4">
            <a:extLst>
              <a:ext uri="{FF2B5EF4-FFF2-40B4-BE49-F238E27FC236}">
                <a16:creationId xmlns:a16="http://schemas.microsoft.com/office/drawing/2014/main" id="{BB6DAA74-4ECD-10C7-D788-4E09A4816A75}"/>
              </a:ext>
            </a:extLst>
          </p:cNvPr>
          <p:cNvSpPr>
            <a:spLocks noGrp="1"/>
          </p:cNvSpPr>
          <p:nvPr>
            <p:ph type="ftr" sz="quarter" idx="11"/>
          </p:nvPr>
        </p:nvSpPr>
        <p:spPr/>
        <p:txBody>
          <a:bodyPr/>
          <a:lstStyle/>
          <a:p>
            <a:r>
              <a:rPr lang="en-US"/>
              <a:t>Department of Computer Application </a:t>
            </a:r>
            <a:endParaRPr lang="en-US" dirty="0"/>
          </a:p>
        </p:txBody>
      </p:sp>
      <p:pic>
        <p:nvPicPr>
          <p:cNvPr id="6" name="Picture 2" descr="C:\Users\vvksh\OneDrive\Pictures\Screenshots\2021-10-13 (4).png">
            <a:extLst>
              <a:ext uri="{FF2B5EF4-FFF2-40B4-BE49-F238E27FC236}">
                <a16:creationId xmlns:a16="http://schemas.microsoft.com/office/drawing/2014/main" id="{3A235E95-AE44-7C82-A1C0-0E210C5946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100" t="25932" r="22831" b="14179"/>
          <a:stretch/>
        </p:blipFill>
        <p:spPr bwMode="auto">
          <a:xfrm>
            <a:off x="1524000" y="990600"/>
            <a:ext cx="6496050"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722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1FE82-FC13-BD5C-E4A0-5FAB62841D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F53787-F98E-CC92-437E-A4A943104B0D}"/>
              </a:ext>
            </a:extLst>
          </p:cNvPr>
          <p:cNvSpPr txBox="1">
            <a:spLocks noGrp="1"/>
          </p:cNvSpPr>
          <p:nvPr>
            <p:ph type="title"/>
          </p:nvPr>
        </p:nvSpPr>
        <p:spPr>
          <a:xfrm>
            <a:off x="1752600" y="451737"/>
            <a:ext cx="6267450" cy="505908"/>
          </a:xfrm>
          <a:prstGeom prst="rect">
            <a:avLst/>
          </a:prstGeom>
        </p:spPr>
        <p:txBody>
          <a:bodyPr vert="horz" wrap="square" lIns="0" tIns="13335" rIns="0" bIns="0" rtlCol="0">
            <a:spAutoFit/>
          </a:bodyPr>
          <a:lstStyle/>
          <a:p>
            <a:pPr marL="12700" algn="ctr">
              <a:lnSpc>
                <a:spcPct val="100000"/>
              </a:lnSpc>
              <a:spcBef>
                <a:spcPts val="105"/>
              </a:spcBef>
            </a:pPr>
            <a:r>
              <a:rPr lang="en-IN" sz="3200" b="1" dirty="0"/>
              <a:t>Challenges ahead</a:t>
            </a:r>
            <a:endParaRPr sz="3200" b="1" spc="-5" dirty="0"/>
          </a:p>
        </p:txBody>
      </p:sp>
      <p:sp>
        <p:nvSpPr>
          <p:cNvPr id="4" name="object 4">
            <a:extLst>
              <a:ext uri="{FF2B5EF4-FFF2-40B4-BE49-F238E27FC236}">
                <a16:creationId xmlns:a16="http://schemas.microsoft.com/office/drawing/2014/main" id="{8D0F0005-34AE-2BA2-8357-7F5A259AC2EC}"/>
              </a:ext>
            </a:extLst>
          </p:cNvPr>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10</a:t>
            </a:r>
          </a:p>
        </p:txBody>
      </p:sp>
      <p:sp>
        <p:nvSpPr>
          <p:cNvPr id="3" name="object 3">
            <a:extLst>
              <a:ext uri="{FF2B5EF4-FFF2-40B4-BE49-F238E27FC236}">
                <a16:creationId xmlns:a16="http://schemas.microsoft.com/office/drawing/2014/main" id="{74BB61FA-1293-F2E6-1B2B-E3C8D9413E70}"/>
              </a:ext>
            </a:extLst>
          </p:cNvPr>
          <p:cNvSpPr txBox="1"/>
          <p:nvPr/>
        </p:nvSpPr>
        <p:spPr>
          <a:xfrm>
            <a:off x="304800" y="971550"/>
            <a:ext cx="8324850" cy="3991734"/>
          </a:xfrm>
          <a:prstGeom prst="rect">
            <a:avLst/>
          </a:prstGeom>
        </p:spPr>
        <p:txBody>
          <a:bodyPr vert="horz" wrap="square" lIns="0" tIns="88900" rIns="0" bIns="0" rtlCol="0">
            <a:spAutoFit/>
          </a:bodyPr>
          <a:lstStyle/>
          <a:p>
            <a:pPr marL="342900" indent="-342900" algn="just">
              <a:lnSpc>
                <a:spcPct val="150000"/>
              </a:lnSpc>
              <a:buFont typeface="Arial" panose="020B0604020202020204" pitchFamily="34" charset="0"/>
              <a:buChar char="•"/>
            </a:pPr>
            <a:r>
              <a:rPr lang="en-IN" sz="1900" dirty="0"/>
              <a:t>As any new technology develops and becomes popular, new issues have to be faced.</a:t>
            </a:r>
          </a:p>
          <a:p>
            <a:pPr marL="342900" indent="-342900" algn="just">
              <a:lnSpc>
                <a:spcPct val="150000"/>
              </a:lnSpc>
              <a:buFont typeface="Arial" panose="020B0604020202020204" pitchFamily="34" charset="0"/>
              <a:buChar char="•"/>
            </a:pPr>
            <a:r>
              <a:rPr lang="en-IN" sz="1900" dirty="0"/>
              <a:t>New, interesting problems and challenges are regularly being posed to the cloud community, including IT practitioners, managers, governments, and regulators.</a:t>
            </a:r>
          </a:p>
          <a:p>
            <a:pPr marL="342900" indent="-342900" algn="just">
              <a:lnSpc>
                <a:spcPct val="150000"/>
              </a:lnSpc>
              <a:buFont typeface="Arial" panose="020B0604020202020204" pitchFamily="34" charset="0"/>
              <a:buChar char="•"/>
            </a:pPr>
            <a:r>
              <a:rPr lang="en-IN" sz="1900" dirty="0"/>
              <a:t>which are related to configuration, networking, and sizing of cloud computing systems, a new set of challenges concerning the dynamic provisioning of cloud computing services and resources arises.</a:t>
            </a:r>
          </a:p>
          <a:p>
            <a:pPr marL="342900" indent="-342900" algn="just">
              <a:lnSpc>
                <a:spcPct val="150000"/>
              </a:lnSpc>
              <a:buFont typeface="Arial" panose="020B0604020202020204" pitchFamily="34" charset="0"/>
              <a:buChar char="•"/>
            </a:pPr>
            <a:r>
              <a:rPr lang="en-IN" sz="1900" dirty="0"/>
              <a:t>Technical challenges also arise for cloud service providers for the management of large computing infrastructures and the use of virtualization technologies .</a:t>
            </a:r>
          </a:p>
        </p:txBody>
      </p:sp>
      <p:sp>
        <p:nvSpPr>
          <p:cNvPr id="5" name="Footer Placeholder 4">
            <a:extLst>
              <a:ext uri="{FF2B5EF4-FFF2-40B4-BE49-F238E27FC236}">
                <a16:creationId xmlns:a16="http://schemas.microsoft.com/office/drawing/2014/main" id="{BC8B0D82-6400-AE4A-0E1E-AEDDF025B782}"/>
              </a:ext>
            </a:extLst>
          </p:cNvPr>
          <p:cNvSpPr>
            <a:spLocks noGrp="1"/>
          </p:cNvSpPr>
          <p:nvPr>
            <p:ph type="ftr" sz="quarter" idx="11"/>
          </p:nvPr>
        </p:nvSpPr>
        <p:spPr/>
        <p:txBody>
          <a:bodyPr/>
          <a:lstStyle/>
          <a:p>
            <a:r>
              <a:rPr lang="en-US"/>
              <a:t>Department of Computer Application </a:t>
            </a:r>
            <a:endParaRPr lang="en-US" dirty="0"/>
          </a:p>
        </p:txBody>
      </p:sp>
    </p:spTree>
    <p:extLst>
      <p:ext uri="{BB962C8B-B14F-4D97-AF65-F5344CB8AC3E}">
        <p14:creationId xmlns:p14="http://schemas.microsoft.com/office/powerpoint/2010/main" val="1387451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481D8-E695-B391-24F9-596399A879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3E0C69-CA78-0C81-F4EB-AF6771B9E292}"/>
              </a:ext>
            </a:extLst>
          </p:cNvPr>
          <p:cNvSpPr txBox="1">
            <a:spLocks noGrp="1"/>
          </p:cNvSpPr>
          <p:nvPr>
            <p:ph type="title"/>
          </p:nvPr>
        </p:nvSpPr>
        <p:spPr>
          <a:xfrm>
            <a:off x="1752600" y="451737"/>
            <a:ext cx="6267450" cy="505908"/>
          </a:xfrm>
          <a:prstGeom prst="rect">
            <a:avLst/>
          </a:prstGeom>
        </p:spPr>
        <p:txBody>
          <a:bodyPr vert="horz" wrap="square" lIns="0" tIns="13335" rIns="0" bIns="0" rtlCol="0">
            <a:spAutoFit/>
          </a:bodyPr>
          <a:lstStyle/>
          <a:p>
            <a:pPr marL="12700" algn="ctr">
              <a:lnSpc>
                <a:spcPct val="100000"/>
              </a:lnSpc>
              <a:spcBef>
                <a:spcPts val="105"/>
              </a:spcBef>
            </a:pPr>
            <a:r>
              <a:rPr lang="en-IN" sz="3200" b="1" dirty="0"/>
              <a:t>Challenges ahead</a:t>
            </a:r>
            <a:endParaRPr sz="3200" b="1" spc="-5" dirty="0"/>
          </a:p>
        </p:txBody>
      </p:sp>
      <p:sp>
        <p:nvSpPr>
          <p:cNvPr id="4" name="object 4">
            <a:extLst>
              <a:ext uri="{FF2B5EF4-FFF2-40B4-BE49-F238E27FC236}">
                <a16:creationId xmlns:a16="http://schemas.microsoft.com/office/drawing/2014/main" id="{B2ED364F-35BB-6D4E-FBDA-844DD6398D94}"/>
              </a:ext>
            </a:extLst>
          </p:cNvPr>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10</a:t>
            </a:r>
          </a:p>
        </p:txBody>
      </p:sp>
      <p:sp>
        <p:nvSpPr>
          <p:cNvPr id="3" name="object 3">
            <a:extLst>
              <a:ext uri="{FF2B5EF4-FFF2-40B4-BE49-F238E27FC236}">
                <a16:creationId xmlns:a16="http://schemas.microsoft.com/office/drawing/2014/main" id="{814BC2E3-1CF8-18FB-A62A-1186A577C3A2}"/>
              </a:ext>
            </a:extLst>
          </p:cNvPr>
          <p:cNvSpPr txBox="1"/>
          <p:nvPr/>
        </p:nvSpPr>
        <p:spPr>
          <a:xfrm>
            <a:off x="533400" y="971550"/>
            <a:ext cx="8096250" cy="3735382"/>
          </a:xfrm>
          <a:prstGeom prst="rect">
            <a:avLst/>
          </a:prstGeom>
        </p:spPr>
        <p:txBody>
          <a:bodyPr vert="horz" wrap="square" lIns="0" tIns="88900" rIns="0" bIns="0" rtlCol="0">
            <a:spAutoFit/>
          </a:bodyPr>
          <a:lstStyle/>
          <a:p>
            <a:pPr marL="285750" indent="-285750" algn="just">
              <a:lnSpc>
                <a:spcPct val="150000"/>
              </a:lnSpc>
              <a:buFont typeface="Arial" panose="020B0604020202020204" pitchFamily="34" charset="0"/>
              <a:buChar char="•"/>
            </a:pPr>
            <a:r>
              <a:rPr lang="en-IN" sz="2000" dirty="0"/>
              <a:t>Security in terms of confidentiality, secrecy, and protection of data in a cloud environment is another important challenge.</a:t>
            </a:r>
          </a:p>
          <a:p>
            <a:pPr marL="285750" indent="-285750" algn="just">
              <a:lnSpc>
                <a:spcPct val="150000"/>
              </a:lnSpc>
              <a:buFont typeface="Arial" panose="020B0604020202020204" pitchFamily="34" charset="0"/>
              <a:buChar char="•"/>
            </a:pPr>
            <a:r>
              <a:rPr lang="en-IN" sz="2000" dirty="0"/>
              <a:t>The confidentiality of data and compliance to security standards, which give a minimum guarantee on the treatment of information on cloud computing systems (Cryptographic).</a:t>
            </a:r>
          </a:p>
          <a:p>
            <a:pPr marL="285750" indent="-285750" algn="just">
              <a:lnSpc>
                <a:spcPct val="150000"/>
              </a:lnSpc>
              <a:buFont typeface="Arial" panose="020B0604020202020204" pitchFamily="34" charset="0"/>
              <a:buChar char="•"/>
            </a:pPr>
            <a:r>
              <a:rPr lang="en-IN" sz="2000" dirty="0"/>
              <a:t>Different legislation about privacy in different countries may potentially create disputes as to the rights that third parties (including government agencies) have to your data.</a:t>
            </a:r>
          </a:p>
        </p:txBody>
      </p:sp>
      <p:sp>
        <p:nvSpPr>
          <p:cNvPr id="5" name="Footer Placeholder 4">
            <a:extLst>
              <a:ext uri="{FF2B5EF4-FFF2-40B4-BE49-F238E27FC236}">
                <a16:creationId xmlns:a16="http://schemas.microsoft.com/office/drawing/2014/main" id="{DAA56500-D3D0-30EE-2938-62FC5EC00FB9}"/>
              </a:ext>
            </a:extLst>
          </p:cNvPr>
          <p:cNvSpPr>
            <a:spLocks noGrp="1"/>
          </p:cNvSpPr>
          <p:nvPr>
            <p:ph type="ftr" sz="quarter" idx="11"/>
          </p:nvPr>
        </p:nvSpPr>
        <p:spPr/>
        <p:txBody>
          <a:bodyPr/>
          <a:lstStyle/>
          <a:p>
            <a:r>
              <a:rPr lang="en-US"/>
              <a:t>Department of Computer Application </a:t>
            </a:r>
            <a:endParaRPr lang="en-US" dirty="0"/>
          </a:p>
        </p:txBody>
      </p:sp>
    </p:spTree>
    <p:extLst>
      <p:ext uri="{BB962C8B-B14F-4D97-AF65-F5344CB8AC3E}">
        <p14:creationId xmlns:p14="http://schemas.microsoft.com/office/powerpoint/2010/main" val="1149563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gn="just">
              <a:lnSpc>
                <a:spcPct val="150000"/>
              </a:lnSpc>
              <a:buBlip>
                <a:blip r:embed="rId3"/>
              </a:buBlip>
            </a:pPr>
            <a:r>
              <a:rPr lang="en-US" sz="1800" b="1" dirty="0"/>
              <a:t>On-Demand Access to Resources</a:t>
            </a:r>
            <a:r>
              <a:rPr lang="en-US" sz="1800" dirty="0"/>
              <a:t>: Cloud computing allows users to access computing resources like storage, computing power, and software over the internet, eliminating the need for physical hardware and infrastructure.</a:t>
            </a:r>
          </a:p>
          <a:p>
            <a:pPr algn="just">
              <a:lnSpc>
                <a:spcPct val="150000"/>
              </a:lnSpc>
              <a:buBlip>
                <a:blip r:embed="rId3"/>
              </a:buBlip>
            </a:pPr>
            <a:r>
              <a:rPr lang="en-US" sz="1800" b="1" dirty="0"/>
              <a:t>Scalability &amp; Cost Efficiency</a:t>
            </a:r>
            <a:r>
              <a:rPr lang="en-US" sz="1800" dirty="0"/>
              <a:t>: Cloud computing provides the ability to scale resources up or down as needed, with a pay-as-you-go pricing model, reducing costs and optimizing resource usage.</a:t>
            </a:r>
          </a:p>
          <a:p>
            <a:pPr algn="just">
              <a:lnSpc>
                <a:spcPct val="150000"/>
              </a:lnSpc>
              <a:buBlip>
                <a:blip r:embed="rId3"/>
              </a:buBlip>
            </a:pPr>
            <a:r>
              <a:rPr lang="en-US" sz="1800" dirty="0"/>
              <a:t>Flexible Service Models</a:t>
            </a:r>
          </a:p>
          <a:p>
            <a:pPr algn="just">
              <a:lnSpc>
                <a:spcPct val="150000"/>
              </a:lnSpc>
              <a:buBlip>
                <a:blip r:embed="rId3"/>
              </a:buBlip>
            </a:pPr>
            <a:r>
              <a:rPr lang="en-US" sz="1800" dirty="0"/>
              <a:t>Deployment Flexibility</a:t>
            </a:r>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22</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23</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24</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203</TotalTime>
  <Words>1842</Words>
  <Application>Microsoft Office PowerPoint</Application>
  <PresentationFormat>On-screen Show (16:9)</PresentationFormat>
  <Paragraphs>207</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The vision of cloud computing</vt:lpstr>
      <vt:lpstr>Cloud Computing</vt:lpstr>
      <vt:lpstr>Essential Characteristics</vt:lpstr>
      <vt:lpstr>Cloud Characteristics</vt:lpstr>
      <vt:lpstr>Common Characteristics</vt:lpstr>
      <vt:lpstr>Cloud Services Models</vt:lpstr>
      <vt:lpstr>Cloud Services Models</vt:lpstr>
      <vt:lpstr>Cloud Services Models</vt:lpstr>
      <vt:lpstr>Types of Cloud  (Deployment Models)</vt:lpstr>
      <vt:lpstr>Types of Cloud (Deployment Models)</vt:lpstr>
      <vt:lpstr>Challenges ahead</vt:lpstr>
      <vt:lpstr>Challenges ahead</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14</cp:revision>
  <dcterms:created xsi:type="dcterms:W3CDTF">2024-12-06T17:10:37Z</dcterms:created>
  <dcterms:modified xsi:type="dcterms:W3CDTF">2024-12-15T16:51:28Z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