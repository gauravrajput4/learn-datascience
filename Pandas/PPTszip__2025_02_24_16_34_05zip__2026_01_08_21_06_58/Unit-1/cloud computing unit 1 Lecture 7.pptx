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0"/>
  </p:notesMasterIdLst>
  <p:sldIdLst>
    <p:sldId id="423" r:id="rId2"/>
    <p:sldId id="424" r:id="rId3"/>
    <p:sldId id="425" r:id="rId4"/>
    <p:sldId id="426" r:id="rId5"/>
    <p:sldId id="427" r:id="rId6"/>
    <p:sldId id="416" r:id="rId7"/>
    <p:sldId id="417" r:id="rId8"/>
    <p:sldId id="418" r:id="rId9"/>
    <p:sldId id="419" r:id="rId10"/>
    <p:sldId id="275" r:id="rId11"/>
    <p:sldId id="276" r:id="rId12"/>
    <p:sldId id="277" r:id="rId13"/>
    <p:sldId id="278" r:id="rId14"/>
    <p:sldId id="279" r:id="rId15"/>
    <p:sldId id="280" r:id="rId16"/>
    <p:sldId id="421" r:id="rId17"/>
    <p:sldId id="422" r:id="rId18"/>
    <p:sldId id="352" r:id="rId19"/>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12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12/15/2024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12/15/2024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12/15/2024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12/15/2024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12/15/2024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12/15/2024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12/15/2024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12/15/2024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12/15/2024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12/15/2024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dirty="0"/>
              <a:t>Department of Computer Application</a:t>
            </a:r>
          </a:p>
          <a:p>
            <a:endParaRPr lang="en-US" dirty="0"/>
          </a:p>
        </p:txBody>
      </p:sp>
      <p:sp>
        <p:nvSpPr>
          <p:cNvPr id="6" name="Holder 6"/>
          <p:cNvSpPr>
            <a:spLocks noGrp="1"/>
          </p:cNvSpPr>
          <p:nvPr>
            <p:ph type="dt" sz="half" idx="6"/>
          </p:nvPr>
        </p:nvSpPr>
        <p:spPr>
          <a:xfrm>
            <a:off x="628650" y="4767263"/>
            <a:ext cx="2057400" cy="273844"/>
          </a:xfrm>
          <a:prstGeom prst="rect">
            <a:avLst/>
          </a:prstGeom>
        </p:spPr>
        <p:txBody>
          <a:bodyPr lIns="0" tIns="0" rIns="0" bIns="0"/>
          <a:lstStyle>
            <a:lvl1pPr algn="l">
              <a:defRPr>
                <a:solidFill>
                  <a:schemeClr val="tx1">
                    <a:tint val="75000"/>
                  </a:schemeClr>
                </a:solidFill>
              </a:defRPr>
            </a:lvl1pPr>
          </a:lstStyle>
          <a:p>
            <a:fld id="{788592C8-5D7C-4B56-AA77-C624EA73FAD7}" type="datetime1">
              <a:rPr lang="en-US" smtClean="0"/>
              <a:t>12/15/2024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305134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lnSpcReduction="10000"/>
          </a:bodyPr>
          <a:lstStyle/>
          <a:p>
            <a:pPr marL="0" indent="0" algn="ctr">
              <a:buNone/>
            </a:pPr>
            <a:r>
              <a:rPr lang="en-US" sz="3600" b="1" dirty="0"/>
              <a:t>Chandigarh School of Business, Jhanjeri</a:t>
            </a:r>
          </a:p>
          <a:p>
            <a:pPr marL="0" indent="0" algn="ctr">
              <a:buNone/>
            </a:pPr>
            <a:r>
              <a:rPr lang="en-US" sz="3200" b="1" dirty="0"/>
              <a:t>Department of Computer Application </a:t>
            </a:r>
          </a:p>
          <a:p>
            <a:pPr marL="0" indent="0" algn="ctr">
              <a:buNone/>
            </a:pPr>
            <a:r>
              <a:rPr lang="en-US" sz="2400" b="1" dirty="0"/>
              <a:t>Program </a:t>
            </a:r>
            <a:r>
              <a:rPr lang="en-US" sz="2400" b="1" dirty="0" err="1"/>
              <a:t>Code:NA</a:t>
            </a:r>
            <a:endParaRPr lang="en-US" sz="2400" b="1" dirty="0"/>
          </a:p>
          <a:p>
            <a:pPr marL="0" indent="0" algn="ctr">
              <a:buNone/>
            </a:pPr>
            <a:r>
              <a:rPr lang="en-US" sz="2400" b="1" dirty="0"/>
              <a:t>Program Name: MCA</a:t>
            </a:r>
          </a:p>
          <a:p>
            <a:pPr marL="0" indent="0" algn="ctr">
              <a:buNone/>
            </a:pPr>
            <a:r>
              <a:rPr lang="en-US" sz="2400" b="1" dirty="0"/>
              <a:t>Course Code: </a:t>
            </a:r>
            <a:r>
              <a:rPr lang="en-US" sz="2400" b="1" i="0" u="none" strike="noStrike" baseline="0" dirty="0">
                <a:solidFill>
                  <a:srgbClr val="000000"/>
                </a:solidFill>
              </a:rPr>
              <a:t>PGCA1937 </a:t>
            </a:r>
            <a:r>
              <a:rPr lang="en-US" sz="2400" b="1" dirty="0">
                <a:solidFill>
                  <a:srgbClr val="000000"/>
                </a:solidFill>
              </a:rPr>
              <a:t> </a:t>
            </a:r>
            <a:endParaRPr lang="en-US" sz="2400" b="1" dirty="0"/>
          </a:p>
          <a:p>
            <a:pPr marL="0" indent="0" algn="ctr">
              <a:buNone/>
            </a:pPr>
            <a:r>
              <a:rPr lang="en-US" sz="2400" b="1" dirty="0"/>
              <a:t>Course Name: </a:t>
            </a:r>
            <a:r>
              <a:rPr lang="en-US" sz="2400" b="1" i="0" u="none" strike="noStrike" baseline="0" dirty="0">
                <a:solidFill>
                  <a:srgbClr val="000000"/>
                </a:solidFill>
              </a:rPr>
              <a:t>Cloud Computing </a:t>
            </a:r>
            <a:endParaRPr lang="en-US" sz="24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3235978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43791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13597"/>
            <a:ext cx="7886700" cy="3508773"/>
          </a:xfrm>
        </p:spPr>
        <p:txBody>
          <a:bodyPr>
            <a:normAutofit fontScale="40000" lnSpcReduction="20000"/>
          </a:bodyPr>
          <a:lstStyle/>
          <a:p>
            <a:pPr marL="0" indent="0" algn="ctr">
              <a:buNone/>
            </a:pPr>
            <a:r>
              <a:rPr lang="en-US" sz="3800" b="1" dirty="0">
                <a:solidFill>
                  <a:srgbClr val="000000"/>
                </a:solidFill>
              </a:rPr>
              <a:t>Part-A</a:t>
            </a:r>
            <a:endParaRPr lang="en-US" sz="3800" dirty="0">
              <a:solidFill>
                <a:srgbClr val="000000"/>
              </a:solidFill>
            </a:endParaRPr>
          </a:p>
          <a:p>
            <a:pPr algn="just">
              <a:lnSpc>
                <a:spcPct val="120000"/>
              </a:lnSpc>
            </a:pPr>
            <a:r>
              <a:rPr lang="en-US" sz="3800" b="1" i="0" u="none" strike="noStrike" baseline="0" dirty="0">
                <a:solidFill>
                  <a:srgbClr val="000000"/>
                </a:solidFill>
              </a:rPr>
              <a:t>Overview of Computing Paradigm: </a:t>
            </a:r>
            <a:r>
              <a:rPr lang="en-US" sz="3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800" b="1" i="0" u="none" strike="noStrike" baseline="0" dirty="0">
                <a:solidFill>
                  <a:srgbClr val="000000"/>
                </a:solidFill>
              </a:rPr>
              <a:t>Introduction to Cloud Computing: </a:t>
            </a:r>
            <a:r>
              <a:rPr lang="en-US" sz="3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800" b="1" i="0" u="none" strike="noStrike" baseline="0" dirty="0">
                <a:solidFill>
                  <a:srgbClr val="000000"/>
                </a:solidFill>
              </a:rPr>
              <a:t>Migrating into a Cloud: </a:t>
            </a:r>
            <a:r>
              <a:rPr lang="en-US" sz="3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800" b="1" i="0" u="none" strike="noStrike" baseline="0" dirty="0">
                <a:solidFill>
                  <a:srgbClr val="000000"/>
                </a:solidFill>
              </a:rPr>
              <a:t>Virtualization: </a:t>
            </a:r>
            <a:r>
              <a:rPr lang="en-US" sz="3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800" b="1" i="0" u="none" strike="noStrike" baseline="0" dirty="0">
                <a:solidFill>
                  <a:srgbClr val="000000"/>
                </a:solidFill>
              </a:rPr>
              <a:t>Capacity Planning: </a:t>
            </a:r>
            <a:r>
              <a:rPr lang="en-US" sz="3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2098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pPr algn="ctr"/>
            <a:r>
              <a:rPr lang="en-US" altLang="en-US" sz="3200" b="1" kern="0" dirty="0">
                <a:latin typeface="+mj-lt"/>
              </a:rPr>
              <a:t>Key objectives or learning outcomes</a:t>
            </a:r>
            <a:endParaRPr lang="en-IN" sz="3200" dirty="0">
              <a:latin typeface="+mj-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305800" cy="2590800"/>
          </a:xfrm>
        </p:spPr>
        <p:txBody>
          <a:bodyPr>
            <a:noAutofit/>
          </a:bodyPr>
          <a:lstStyle/>
          <a:p>
            <a:pPr algn="just"/>
            <a:r>
              <a:rPr lang="en-US" sz="2000" b="0" i="0" u="none" strike="noStrike" baseline="0" dirty="0">
                <a:solidFill>
                  <a:srgbClr val="000000"/>
                </a:solidFill>
              </a:rPr>
              <a:t>CO1 	Understand the basic concept and importance of cloud computing. </a:t>
            </a:r>
          </a:p>
          <a:p>
            <a:pPr algn="just"/>
            <a:r>
              <a:rPr lang="en-US" sz="2000" b="0" i="0" u="none" strike="noStrike" baseline="0" dirty="0">
                <a:solidFill>
                  <a:srgbClr val="000000"/>
                </a:solidFill>
              </a:rPr>
              <a:t>CO2 	Access the suitability of migrating to a cloud solution for different applications.</a:t>
            </a:r>
          </a:p>
          <a:p>
            <a:pPr algn="just"/>
            <a:r>
              <a:rPr lang="en-US" sz="2000" b="0" i="0" u="none" strike="noStrike" baseline="0" dirty="0">
                <a:solidFill>
                  <a:srgbClr val="000000"/>
                </a:solidFill>
              </a:rPr>
              <a:t>CO3 	Compare and evaluate the virtualization technologies. 	</a:t>
            </a:r>
          </a:p>
          <a:p>
            <a:pPr algn="just"/>
            <a:r>
              <a:rPr lang="en-US" sz="2000" b="0" i="0" u="none" strike="noStrike" baseline="0" dirty="0">
                <a:solidFill>
                  <a:srgbClr val="000000"/>
                </a:solidFill>
              </a:rPr>
              <a:t>CO4 	Monitor and manage the cloud resources, applications and data while addressing 	the security concerns. 	</a:t>
            </a:r>
            <a:endParaRPr lang="en-US" sz="2000" dirty="0">
              <a:solidFill>
                <a:srgbClr val="000000"/>
              </a:solidFill>
            </a:endParaRPr>
          </a:p>
          <a:p>
            <a:pPr algn="just"/>
            <a:r>
              <a:rPr lang="en-US" sz="20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80449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t>CO Introduction</a:t>
            </a:r>
            <a:endParaRPr lang="en-IN" sz="3200" dirty="0"/>
          </a:p>
        </p:txBody>
      </p:sp>
      <p:graphicFrame>
        <p:nvGraphicFramePr>
          <p:cNvPr id="10" name="Content Placeholder 9"/>
          <p:cNvGraphicFramePr>
            <a:graphicFrameLocks noGrp="1"/>
          </p:cNvGraphicFramePr>
          <p:nvPr>
            <p:ph idx="1"/>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958725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124201" y="0"/>
            <a:ext cx="2990850" cy="857250"/>
          </a:xfrm>
        </p:spPr>
        <p:txBody>
          <a:bodyPr>
            <a:noAutofit/>
          </a:bodyPr>
          <a:lstStyle/>
          <a:p>
            <a:pPr algn="ctr"/>
            <a:r>
              <a:rPr lang="en-IN" sz="3200" b="1" kern="0" dirty="0"/>
              <a:t>Topic Overview</a:t>
            </a:r>
            <a:endParaRPr lang="en-IN" sz="3200" dirty="0"/>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rmAutofit/>
          </a:bodyPr>
          <a:lstStyle/>
          <a:p>
            <a:pPr algn="just">
              <a:lnSpc>
                <a:spcPct val="150000"/>
              </a:lnSpc>
            </a:pPr>
            <a:r>
              <a:rPr lang="en-US" sz="1800" b="1" dirty="0"/>
              <a:t>Evolution and Integration</a:t>
            </a:r>
            <a:r>
              <a:rPr lang="en-US" sz="1800" dirty="0"/>
              <a:t>: Recent trends in computing, such as Grid Computing, Cluster Computing, and Distributed Computing, focus on optimizing resource utilization across multiple systems. </a:t>
            </a:r>
          </a:p>
          <a:p>
            <a:pPr algn="just">
              <a:lnSpc>
                <a:spcPct val="150000"/>
              </a:lnSpc>
            </a:pPr>
            <a:r>
              <a:rPr lang="en-US" sz="1800" dirty="0"/>
              <a:t>These paradigms enable parallel processing and resource sharing, improving performance, scalability, and fault tolerance. </a:t>
            </a:r>
          </a:p>
          <a:p>
            <a:pPr algn="just">
              <a:lnSpc>
                <a:spcPct val="150000"/>
              </a:lnSpc>
            </a:pPr>
            <a:r>
              <a:rPr lang="en-US" sz="1800" dirty="0"/>
              <a:t>Grid Computing uses distributed resources to solve complex tasks, Cluster Computing groups tightly coupled systems for enhanced performance, and Distributed Computing splits workloads across geographically dispersed networks.</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pPr algn="ctr"/>
            <a:r>
              <a:rPr lang="en-US" altLang="en-US" sz="3200" b="1" kern="0" dirty="0"/>
              <a:t>Brief of what the presentation will</a:t>
            </a:r>
            <a:endParaRPr lang="en-IN" sz="32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sz="2400" dirty="0"/>
              <a:t>The presentation will cover the following points:</a:t>
            </a:r>
          </a:p>
          <a:p>
            <a:pPr marL="342900" indent="-342900">
              <a:buFont typeface="+mj-lt"/>
              <a:buAutoNum type="arabicPeriod"/>
            </a:pPr>
            <a:r>
              <a:rPr lang="en-US" sz="2400" b="1" i="0" u="none" strike="noStrike" baseline="0" dirty="0">
                <a:solidFill>
                  <a:srgbClr val="000000"/>
                </a:solidFill>
              </a:rPr>
              <a:t>Introduction to Cloud Computing 	</a:t>
            </a:r>
          </a:p>
          <a:p>
            <a:pPr marL="342900" indent="-342900">
              <a:buFont typeface="+mj-lt"/>
              <a:buAutoNum type="arabicPeriod"/>
            </a:pPr>
            <a:r>
              <a:rPr lang="en-US" sz="2400" b="1" i="0" u="none" strike="noStrike" baseline="0" dirty="0">
                <a:solidFill>
                  <a:srgbClr val="000000"/>
                </a:solidFill>
              </a:rPr>
              <a:t>Grid vs. Cloud computing  </a:t>
            </a:r>
          </a:p>
          <a:p>
            <a:pPr marL="342900" indent="-342900">
              <a:buFont typeface="+mj-lt"/>
              <a:buAutoNum type="arabicPeriod"/>
            </a:pPr>
            <a:r>
              <a:rPr lang="en-US" sz="2400" b="1" i="0" u="none" strike="noStrike" baseline="0" dirty="0">
                <a:solidFill>
                  <a:srgbClr val="000000"/>
                </a:solidFill>
              </a:rPr>
              <a:t>Cluster vs. Grid computing </a:t>
            </a:r>
          </a:p>
          <a:p>
            <a:pPr marL="342900" indent="-342900">
              <a:buFont typeface="+mj-lt"/>
              <a:buAutoNum type="arabicPeriod"/>
            </a:pPr>
            <a:r>
              <a:rPr lang="en-US" sz="2400" b="1" i="0" u="none" strike="noStrike" baseline="0" dirty="0">
                <a:solidFill>
                  <a:srgbClr val="000000"/>
                </a:solidFill>
              </a:rPr>
              <a:t>Grid vs. cluster vs. cloud computing 	</a:t>
            </a:r>
          </a:p>
          <a:p>
            <a:pPr marL="0" indent="0">
              <a:buNone/>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b="1" dirty="0"/>
              <a:t>Scalability and Flexibility</a:t>
            </a:r>
            <a:r>
              <a:rPr lang="en-US" dirty="0"/>
              <a:t>: Cloud computing provides on-demand access to a vast range of resources, enabling businesses to scale up or down based on their needs.</a:t>
            </a:r>
          </a:p>
          <a:p>
            <a:pPr algn="just"/>
            <a:r>
              <a:rPr lang="en-US" b="1" dirty="0"/>
              <a:t>Cost Efficiency</a:t>
            </a:r>
            <a:r>
              <a:rPr lang="en-US" dirty="0"/>
              <a:t>: By using cloud services, businesses can significantly reduce costs associated with maintaining and upgrading physical hardware.</a:t>
            </a:r>
          </a:p>
          <a:p>
            <a:pPr algn="just"/>
            <a:r>
              <a:rPr lang="en-US" b="1" dirty="0"/>
              <a:t>Accessibility and Collaboration</a:t>
            </a:r>
            <a:r>
              <a:rPr lang="en-US"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p:txBody>
          <a:bodyPr>
            <a:normAutofit fontScale="55000" lnSpcReduction="20000"/>
          </a:bodyPr>
          <a:lstStyle/>
          <a:p>
            <a:pPr marL="12065" indent="0">
              <a:lnSpc>
                <a:spcPct val="100000"/>
              </a:lnSpc>
              <a:spcBef>
                <a:spcPts val="95"/>
              </a:spcBef>
              <a:buNone/>
              <a:tabLst>
                <a:tab pos="355600" algn="l"/>
                <a:tab pos="356235" algn="l"/>
              </a:tabLst>
            </a:pPr>
            <a:r>
              <a:rPr lang="en-US" sz="2800" spc="-10" dirty="0">
                <a:latin typeface="Calibri"/>
                <a:cs typeface="Calibri"/>
              </a:rPr>
              <a:t>The</a:t>
            </a:r>
            <a:r>
              <a:rPr lang="en-US" sz="2800" spc="20" dirty="0">
                <a:latin typeface="Calibri"/>
                <a:cs typeface="Calibri"/>
              </a:rPr>
              <a:t> </a:t>
            </a:r>
            <a:r>
              <a:rPr lang="en-US" sz="2800" spc="-10" dirty="0">
                <a:latin typeface="Calibri"/>
                <a:cs typeface="Calibri"/>
              </a:rPr>
              <a:t>ACM</a:t>
            </a:r>
            <a:r>
              <a:rPr lang="en-US" sz="2800" spc="-5" dirty="0">
                <a:latin typeface="Calibri"/>
                <a:cs typeface="Calibri"/>
              </a:rPr>
              <a:t> </a:t>
            </a:r>
            <a:r>
              <a:rPr lang="en-US" sz="2800" i="1" spc="-5" dirty="0">
                <a:latin typeface="Calibri"/>
                <a:cs typeface="Calibri"/>
              </a:rPr>
              <a:t>Computing</a:t>
            </a:r>
            <a:r>
              <a:rPr lang="en-US" sz="2800" i="1" spc="-10" dirty="0">
                <a:latin typeface="Calibri"/>
                <a:cs typeface="Calibri"/>
              </a:rPr>
              <a:t> </a:t>
            </a:r>
            <a:r>
              <a:rPr lang="en-US" sz="2800" i="1" spc="-5" dirty="0">
                <a:latin typeface="Calibri"/>
                <a:cs typeface="Calibri"/>
              </a:rPr>
              <a:t>Curricula</a:t>
            </a:r>
            <a:r>
              <a:rPr lang="en-US" sz="2800" i="1" spc="-35" dirty="0">
                <a:latin typeface="Calibri"/>
                <a:cs typeface="Calibri"/>
              </a:rPr>
              <a:t> </a:t>
            </a:r>
            <a:r>
              <a:rPr lang="en-US" sz="2800" i="1" spc="-5" dirty="0">
                <a:latin typeface="Calibri"/>
                <a:cs typeface="Calibri"/>
              </a:rPr>
              <a:t>2005</a:t>
            </a:r>
            <a:r>
              <a:rPr lang="en-US" sz="2800" i="1" spc="-170" dirty="0">
                <a:latin typeface="Calibri"/>
                <a:cs typeface="Calibri"/>
              </a:rPr>
              <a:t> </a:t>
            </a:r>
            <a:r>
              <a:rPr lang="en-US" sz="2800" spc="-10" dirty="0">
                <a:latin typeface="Calibri"/>
                <a:cs typeface="Calibri"/>
              </a:rPr>
              <a:t>defined</a:t>
            </a:r>
            <a:r>
              <a:rPr lang="en-US" sz="2800" spc="15" dirty="0">
                <a:latin typeface="Calibri"/>
                <a:cs typeface="Calibri"/>
              </a:rPr>
              <a:t> </a:t>
            </a:r>
            <a:r>
              <a:rPr lang="en-US" sz="2800" spc="-10" dirty="0">
                <a:latin typeface="Calibri"/>
                <a:cs typeface="Calibri"/>
              </a:rPr>
              <a:t>"computing"</a:t>
            </a:r>
            <a:r>
              <a:rPr lang="en-US" sz="2800" spc="40" dirty="0">
                <a:latin typeface="Calibri"/>
                <a:cs typeface="Calibri"/>
              </a:rPr>
              <a:t> </a:t>
            </a:r>
            <a:r>
              <a:rPr lang="en-US" sz="2800" spc="-5" dirty="0">
                <a:latin typeface="Calibri"/>
                <a:cs typeface="Calibri"/>
              </a:rPr>
              <a:t>as</a:t>
            </a:r>
            <a:endParaRPr lang="en-US" sz="2800" dirty="0">
              <a:latin typeface="Calibri"/>
              <a:cs typeface="Calibri"/>
            </a:endParaRPr>
          </a:p>
          <a:p>
            <a:pPr>
              <a:lnSpc>
                <a:spcPct val="100000"/>
              </a:lnSpc>
              <a:spcBef>
                <a:spcPts val="55"/>
              </a:spcBef>
            </a:pPr>
            <a:endParaRPr lang="en-US" sz="3200" dirty="0">
              <a:latin typeface="Calibri"/>
              <a:cs typeface="Calibri"/>
            </a:endParaRPr>
          </a:p>
          <a:p>
            <a:pPr marL="12700" marR="5080" algn="just">
              <a:lnSpc>
                <a:spcPct val="170000"/>
              </a:lnSpc>
            </a:pPr>
            <a:r>
              <a:rPr lang="en-US" sz="2800" spc="-5" dirty="0">
                <a:cs typeface="Calibri"/>
              </a:rPr>
              <a:t>"In a </a:t>
            </a:r>
            <a:r>
              <a:rPr lang="en-US" sz="2800" spc="-15" dirty="0">
                <a:cs typeface="Calibri"/>
              </a:rPr>
              <a:t>general </a:t>
            </a:r>
            <a:r>
              <a:rPr lang="en-US" sz="2800" spc="-60" dirty="0">
                <a:cs typeface="Calibri"/>
              </a:rPr>
              <a:t>way, </a:t>
            </a:r>
            <a:r>
              <a:rPr lang="en-US" sz="2800" spc="-15" dirty="0">
                <a:cs typeface="Calibri"/>
              </a:rPr>
              <a:t>we can </a:t>
            </a:r>
            <a:r>
              <a:rPr lang="en-US" sz="2800" spc="-10" dirty="0">
                <a:cs typeface="Calibri"/>
              </a:rPr>
              <a:t>define </a:t>
            </a:r>
            <a:r>
              <a:rPr lang="en-US" sz="2800" spc="-5" dirty="0">
                <a:uFill>
                  <a:solidFill>
                    <a:srgbClr val="000000"/>
                  </a:solidFill>
                </a:uFill>
                <a:cs typeface="Calibri"/>
              </a:rPr>
              <a:t>computing </a:t>
            </a:r>
            <a:r>
              <a:rPr lang="en-US" sz="2800" spc="-20" dirty="0">
                <a:uFill>
                  <a:solidFill>
                    <a:srgbClr val="000000"/>
                  </a:solidFill>
                </a:uFill>
                <a:cs typeface="Calibri"/>
              </a:rPr>
              <a:t>to </a:t>
            </a:r>
            <a:r>
              <a:rPr lang="en-US" sz="2800" spc="-5" dirty="0">
                <a:uFill>
                  <a:solidFill>
                    <a:srgbClr val="000000"/>
                  </a:solidFill>
                </a:uFill>
                <a:cs typeface="Calibri"/>
              </a:rPr>
              <a:t>mean </a:t>
            </a:r>
            <a:r>
              <a:rPr lang="en-US" sz="2800" spc="-15" dirty="0">
                <a:uFill>
                  <a:solidFill>
                    <a:srgbClr val="000000"/>
                  </a:solidFill>
                </a:uFill>
                <a:cs typeface="Calibri"/>
              </a:rPr>
              <a:t>any </a:t>
            </a:r>
            <a:r>
              <a:rPr lang="en-US" sz="2800" spc="-10" dirty="0">
                <a:uFill>
                  <a:solidFill>
                    <a:srgbClr val="000000"/>
                  </a:solidFill>
                </a:uFill>
                <a:cs typeface="Calibri"/>
              </a:rPr>
              <a:t>goal-oriented </a:t>
            </a:r>
            <a:r>
              <a:rPr lang="en-US" sz="2800" spc="-5" dirty="0">
                <a:cs typeface="Calibri"/>
              </a:rPr>
              <a:t> </a:t>
            </a:r>
            <a:r>
              <a:rPr lang="en-US" sz="2800" spc="-5" dirty="0">
                <a:uFill>
                  <a:solidFill>
                    <a:srgbClr val="000000"/>
                  </a:solidFill>
                </a:uFill>
                <a:cs typeface="Calibri"/>
              </a:rPr>
              <a:t>activity</a:t>
            </a:r>
            <a:r>
              <a:rPr lang="en-US" sz="2800" dirty="0">
                <a:uFill>
                  <a:solidFill>
                    <a:srgbClr val="000000"/>
                  </a:solidFill>
                </a:uFill>
                <a:cs typeface="Calibri"/>
              </a:rPr>
              <a:t> </a:t>
            </a:r>
            <a:r>
              <a:rPr lang="en-US" sz="2800" spc="-5" dirty="0">
                <a:uFill>
                  <a:solidFill>
                    <a:srgbClr val="000000"/>
                  </a:solidFill>
                </a:uFill>
                <a:cs typeface="Calibri"/>
              </a:rPr>
              <a:t>requiring</a:t>
            </a:r>
            <a:r>
              <a:rPr lang="en-US" sz="2800" spc="-5" dirty="0">
                <a:cs typeface="Calibri"/>
              </a:rPr>
              <a:t>,</a:t>
            </a:r>
            <a:r>
              <a:rPr lang="en-US" sz="2800" dirty="0">
                <a:cs typeface="Calibri"/>
              </a:rPr>
              <a:t> </a:t>
            </a:r>
            <a:r>
              <a:rPr lang="en-US" sz="2800" spc="-10" dirty="0">
                <a:cs typeface="Calibri"/>
              </a:rPr>
              <a:t>benefiting</a:t>
            </a:r>
            <a:r>
              <a:rPr lang="en-US" sz="2800" spc="-5" dirty="0">
                <a:cs typeface="Calibri"/>
              </a:rPr>
              <a:t> </a:t>
            </a:r>
            <a:r>
              <a:rPr lang="en-US" sz="2800" spc="-15" dirty="0">
                <a:cs typeface="Calibri"/>
              </a:rPr>
              <a:t>from,</a:t>
            </a:r>
            <a:r>
              <a:rPr lang="en-US" sz="2800" spc="-10" dirty="0">
                <a:cs typeface="Calibri"/>
              </a:rPr>
              <a:t> </a:t>
            </a:r>
            <a:r>
              <a:rPr lang="en-US" sz="2800" spc="-5" dirty="0">
                <a:cs typeface="Calibri"/>
              </a:rPr>
              <a:t>or</a:t>
            </a:r>
            <a:r>
              <a:rPr lang="en-US" sz="2800" dirty="0">
                <a:cs typeface="Calibri"/>
              </a:rPr>
              <a:t> </a:t>
            </a:r>
            <a:r>
              <a:rPr lang="en-US" sz="2800" spc="-10" dirty="0">
                <a:cs typeface="Calibri"/>
              </a:rPr>
              <a:t>creating</a:t>
            </a:r>
            <a:r>
              <a:rPr lang="en-US" sz="2800" spc="-5" dirty="0">
                <a:cs typeface="Calibri"/>
              </a:rPr>
              <a:t> </a:t>
            </a:r>
            <a:r>
              <a:rPr lang="en-US" sz="2800" spc="-15" dirty="0">
                <a:cs typeface="Calibri"/>
              </a:rPr>
              <a:t>computers.</a:t>
            </a:r>
            <a:r>
              <a:rPr lang="en-US" sz="2800" spc="-10" dirty="0">
                <a:cs typeface="Calibri"/>
              </a:rPr>
              <a:t> Thus, </a:t>
            </a:r>
            <a:r>
              <a:rPr lang="en-US" sz="2800" spc="-484" dirty="0">
                <a:cs typeface="Calibri"/>
              </a:rPr>
              <a:t> </a:t>
            </a:r>
            <a:r>
              <a:rPr lang="en-US" sz="2800" spc="-10" dirty="0">
                <a:cs typeface="Calibri"/>
              </a:rPr>
              <a:t>computing</a:t>
            </a:r>
            <a:r>
              <a:rPr lang="en-US" sz="2800" spc="-5" dirty="0">
                <a:cs typeface="Calibri"/>
              </a:rPr>
              <a:t> </a:t>
            </a:r>
            <a:r>
              <a:rPr lang="en-US" sz="2800" spc="-10" dirty="0">
                <a:cs typeface="Calibri"/>
              </a:rPr>
              <a:t>includes</a:t>
            </a:r>
            <a:r>
              <a:rPr lang="en-US" sz="2800" spc="-5" dirty="0">
                <a:cs typeface="Calibri"/>
              </a:rPr>
              <a:t> designing</a:t>
            </a:r>
            <a:r>
              <a:rPr lang="en-US" sz="2800" dirty="0">
                <a:cs typeface="Calibri"/>
              </a:rPr>
              <a:t> </a:t>
            </a:r>
            <a:r>
              <a:rPr lang="en-US" sz="2800" spc="-5" dirty="0">
                <a:cs typeface="Calibri"/>
              </a:rPr>
              <a:t>and</a:t>
            </a:r>
            <a:r>
              <a:rPr lang="en-US" sz="2800" dirty="0">
                <a:cs typeface="Calibri"/>
              </a:rPr>
              <a:t> </a:t>
            </a:r>
            <a:r>
              <a:rPr lang="en-US" sz="2800" spc="-10" dirty="0">
                <a:cs typeface="Calibri"/>
              </a:rPr>
              <a:t>building</a:t>
            </a:r>
            <a:r>
              <a:rPr lang="en-US" sz="2800" spc="-5" dirty="0">
                <a:cs typeface="Calibri"/>
              </a:rPr>
              <a:t> </a:t>
            </a:r>
            <a:r>
              <a:rPr lang="en-US" sz="2800" spc="-15" dirty="0">
                <a:cs typeface="Calibri"/>
              </a:rPr>
              <a:t>hardware</a:t>
            </a:r>
            <a:r>
              <a:rPr lang="en-US" sz="2800" spc="-10" dirty="0">
                <a:cs typeface="Calibri"/>
              </a:rPr>
              <a:t> </a:t>
            </a:r>
            <a:r>
              <a:rPr lang="en-US" sz="2800" spc="-5" dirty="0">
                <a:cs typeface="Calibri"/>
              </a:rPr>
              <a:t>and</a:t>
            </a:r>
            <a:r>
              <a:rPr lang="en-US" sz="2800" dirty="0">
                <a:cs typeface="Calibri"/>
              </a:rPr>
              <a:t> </a:t>
            </a:r>
            <a:r>
              <a:rPr lang="en-US" sz="2800" spc="-10" dirty="0">
                <a:cs typeface="Calibri"/>
              </a:rPr>
              <a:t>software </a:t>
            </a:r>
            <a:r>
              <a:rPr lang="en-US" sz="2800" spc="-5" dirty="0">
                <a:cs typeface="Calibri"/>
              </a:rPr>
              <a:t> </a:t>
            </a:r>
            <a:r>
              <a:rPr lang="en-US" sz="2800" spc="-20" dirty="0">
                <a:cs typeface="Calibri"/>
              </a:rPr>
              <a:t>systems</a:t>
            </a:r>
            <a:r>
              <a:rPr lang="en-US" sz="2800" spc="-15" dirty="0">
                <a:cs typeface="Calibri"/>
              </a:rPr>
              <a:t> </a:t>
            </a:r>
            <a:r>
              <a:rPr lang="en-US" sz="2800" spc="-20" dirty="0">
                <a:cs typeface="Calibri"/>
              </a:rPr>
              <a:t>for</a:t>
            </a:r>
            <a:r>
              <a:rPr lang="en-US" sz="2800" spc="-15" dirty="0">
                <a:cs typeface="Calibri"/>
              </a:rPr>
              <a:t> </a:t>
            </a:r>
            <a:r>
              <a:rPr lang="en-US" sz="2800" spc="-5" dirty="0">
                <a:cs typeface="Calibri"/>
              </a:rPr>
              <a:t>a</a:t>
            </a:r>
            <a:r>
              <a:rPr lang="en-US" sz="2800" dirty="0">
                <a:cs typeface="Calibri"/>
              </a:rPr>
              <a:t> </a:t>
            </a:r>
            <a:r>
              <a:rPr lang="en-US" sz="2800" spc="-5" dirty="0">
                <a:cs typeface="Calibri"/>
              </a:rPr>
              <a:t>wide</a:t>
            </a:r>
            <a:r>
              <a:rPr lang="en-US" sz="2800" dirty="0">
                <a:cs typeface="Calibri"/>
              </a:rPr>
              <a:t> </a:t>
            </a:r>
            <a:r>
              <a:rPr lang="en-US" sz="2800" spc="-15" dirty="0">
                <a:cs typeface="Calibri"/>
              </a:rPr>
              <a:t>range</a:t>
            </a:r>
            <a:r>
              <a:rPr lang="en-US" sz="2800" spc="-10" dirty="0">
                <a:cs typeface="Calibri"/>
              </a:rPr>
              <a:t> </a:t>
            </a:r>
            <a:r>
              <a:rPr lang="en-US" sz="2800" dirty="0">
                <a:cs typeface="Calibri"/>
              </a:rPr>
              <a:t>of</a:t>
            </a:r>
            <a:r>
              <a:rPr lang="en-US" sz="2800" spc="5" dirty="0">
                <a:cs typeface="Calibri"/>
              </a:rPr>
              <a:t> </a:t>
            </a:r>
            <a:r>
              <a:rPr lang="en-US" sz="2800" spc="-5" dirty="0">
                <a:cs typeface="Calibri"/>
              </a:rPr>
              <a:t>purposes;</a:t>
            </a:r>
            <a:r>
              <a:rPr lang="en-US" sz="2800" dirty="0">
                <a:cs typeface="Calibri"/>
              </a:rPr>
              <a:t> </a:t>
            </a:r>
            <a:r>
              <a:rPr lang="en-US" sz="2800" spc="-5" dirty="0">
                <a:cs typeface="Calibri"/>
              </a:rPr>
              <a:t>processing,</a:t>
            </a:r>
            <a:r>
              <a:rPr lang="en-US" sz="2800" dirty="0">
                <a:cs typeface="Calibri"/>
              </a:rPr>
              <a:t> </a:t>
            </a:r>
            <a:r>
              <a:rPr lang="en-US" sz="2800" spc="-5" dirty="0">
                <a:cs typeface="Calibri"/>
              </a:rPr>
              <a:t>structuring,</a:t>
            </a:r>
            <a:r>
              <a:rPr lang="en-US" sz="2800" dirty="0">
                <a:cs typeface="Calibri"/>
              </a:rPr>
              <a:t> </a:t>
            </a:r>
            <a:r>
              <a:rPr lang="en-US" sz="2800" spc="-5" dirty="0">
                <a:cs typeface="Calibri"/>
              </a:rPr>
              <a:t>and </a:t>
            </a:r>
            <a:r>
              <a:rPr lang="en-US" sz="2800" spc="-484" dirty="0">
                <a:cs typeface="Calibri"/>
              </a:rPr>
              <a:t> </a:t>
            </a:r>
            <a:r>
              <a:rPr lang="en-US" sz="2800" spc="-5" dirty="0">
                <a:cs typeface="Calibri"/>
              </a:rPr>
              <a:t>managing </a:t>
            </a:r>
            <a:r>
              <a:rPr lang="en-US" sz="2800" spc="-10" dirty="0">
                <a:cs typeface="Calibri"/>
              </a:rPr>
              <a:t>various </a:t>
            </a:r>
            <a:r>
              <a:rPr lang="en-US" sz="2800" spc="-5" dirty="0">
                <a:cs typeface="Calibri"/>
              </a:rPr>
              <a:t>kinds </a:t>
            </a:r>
            <a:r>
              <a:rPr lang="en-US" sz="2800" spc="-10" dirty="0">
                <a:cs typeface="Calibri"/>
              </a:rPr>
              <a:t>of information; </a:t>
            </a:r>
            <a:r>
              <a:rPr lang="en-US" sz="2800" spc="-5" dirty="0">
                <a:cs typeface="Calibri"/>
              </a:rPr>
              <a:t>doing scientific </a:t>
            </a:r>
            <a:r>
              <a:rPr lang="en-US" sz="2800" spc="-10" dirty="0">
                <a:cs typeface="Calibri"/>
              </a:rPr>
              <a:t>studies using </a:t>
            </a:r>
            <a:r>
              <a:rPr lang="en-US" sz="2800" spc="-5" dirty="0">
                <a:cs typeface="Calibri"/>
              </a:rPr>
              <a:t> </a:t>
            </a:r>
            <a:r>
              <a:rPr lang="en-US" sz="2800" spc="-10" dirty="0">
                <a:cs typeface="Calibri"/>
              </a:rPr>
              <a:t>computers;</a:t>
            </a:r>
            <a:r>
              <a:rPr lang="en-US" sz="2800" spc="-5" dirty="0">
                <a:cs typeface="Calibri"/>
              </a:rPr>
              <a:t> making</a:t>
            </a:r>
            <a:r>
              <a:rPr lang="en-US" sz="2800" dirty="0">
                <a:cs typeface="Calibri"/>
              </a:rPr>
              <a:t> </a:t>
            </a:r>
            <a:r>
              <a:rPr lang="en-US" sz="2800" spc="-15" dirty="0">
                <a:cs typeface="Calibri"/>
              </a:rPr>
              <a:t>computer</a:t>
            </a:r>
            <a:r>
              <a:rPr lang="en-US" sz="2800" spc="-10" dirty="0">
                <a:cs typeface="Calibri"/>
              </a:rPr>
              <a:t> </a:t>
            </a:r>
            <a:r>
              <a:rPr lang="en-US" sz="2800" spc="-15" dirty="0">
                <a:cs typeface="Calibri"/>
              </a:rPr>
              <a:t>systems</a:t>
            </a:r>
            <a:r>
              <a:rPr lang="en-US" sz="2800" spc="-10" dirty="0">
                <a:cs typeface="Calibri"/>
              </a:rPr>
              <a:t> </a:t>
            </a:r>
            <a:r>
              <a:rPr lang="en-US" sz="2800" spc="-15" dirty="0">
                <a:cs typeface="Calibri"/>
              </a:rPr>
              <a:t>behave</a:t>
            </a:r>
            <a:r>
              <a:rPr lang="en-US" sz="2800" spc="-10" dirty="0">
                <a:cs typeface="Calibri"/>
              </a:rPr>
              <a:t> intelligently;</a:t>
            </a:r>
            <a:r>
              <a:rPr lang="en-US" sz="2800" spc="475" dirty="0">
                <a:cs typeface="Calibri"/>
              </a:rPr>
              <a:t> </a:t>
            </a:r>
            <a:r>
              <a:rPr lang="en-US" sz="2800" spc="-10" dirty="0">
                <a:cs typeface="Calibri"/>
              </a:rPr>
              <a:t>creating </a:t>
            </a:r>
            <a:r>
              <a:rPr lang="en-US" sz="2800" spc="-5" dirty="0">
                <a:cs typeface="Calibri"/>
              </a:rPr>
              <a:t> and</a:t>
            </a:r>
            <a:r>
              <a:rPr lang="en-US" sz="2800" dirty="0">
                <a:cs typeface="Calibri"/>
              </a:rPr>
              <a:t> </a:t>
            </a:r>
            <a:r>
              <a:rPr lang="en-US" sz="2800" spc="-5" dirty="0">
                <a:cs typeface="Calibri"/>
              </a:rPr>
              <a:t>using</a:t>
            </a:r>
            <a:r>
              <a:rPr lang="en-US" sz="2800" dirty="0">
                <a:cs typeface="Calibri"/>
              </a:rPr>
              <a:t> </a:t>
            </a:r>
            <a:r>
              <a:rPr lang="en-US" sz="2800" spc="-10" dirty="0">
                <a:cs typeface="Calibri"/>
              </a:rPr>
              <a:t>communications</a:t>
            </a:r>
            <a:r>
              <a:rPr lang="en-US" sz="2800" spc="-5" dirty="0">
                <a:cs typeface="Calibri"/>
              </a:rPr>
              <a:t> and</a:t>
            </a:r>
            <a:r>
              <a:rPr lang="en-US" sz="2800" dirty="0">
                <a:cs typeface="Calibri"/>
              </a:rPr>
              <a:t> </a:t>
            </a:r>
            <a:r>
              <a:rPr lang="en-US" sz="2800" spc="-15" dirty="0">
                <a:cs typeface="Calibri"/>
              </a:rPr>
              <a:t>entertainment</a:t>
            </a:r>
            <a:r>
              <a:rPr lang="en-US" sz="2800" spc="-10" dirty="0">
                <a:cs typeface="Calibri"/>
              </a:rPr>
              <a:t> </a:t>
            </a:r>
            <a:r>
              <a:rPr lang="en-US" sz="2800" spc="-5" dirty="0">
                <a:cs typeface="Calibri"/>
              </a:rPr>
              <a:t>media;</a:t>
            </a:r>
            <a:r>
              <a:rPr lang="en-US" sz="2800" dirty="0">
                <a:cs typeface="Calibri"/>
              </a:rPr>
              <a:t> </a:t>
            </a:r>
            <a:r>
              <a:rPr lang="en-US" sz="2800" spc="-5" dirty="0">
                <a:cs typeface="Calibri"/>
              </a:rPr>
              <a:t>finding</a:t>
            </a:r>
            <a:r>
              <a:rPr lang="en-US" sz="2800" dirty="0">
                <a:cs typeface="Calibri"/>
              </a:rPr>
              <a:t> </a:t>
            </a:r>
            <a:r>
              <a:rPr lang="en-US" sz="2800" spc="-5" dirty="0">
                <a:cs typeface="Calibri"/>
              </a:rPr>
              <a:t>and </a:t>
            </a:r>
            <a:r>
              <a:rPr lang="en-US" sz="2800" dirty="0">
                <a:cs typeface="Calibri"/>
              </a:rPr>
              <a:t> </a:t>
            </a:r>
            <a:r>
              <a:rPr lang="en-US" sz="2800" spc="-10" dirty="0">
                <a:cs typeface="Calibri"/>
              </a:rPr>
              <a:t>gathering information </a:t>
            </a:r>
            <a:r>
              <a:rPr lang="en-US" sz="2800" spc="-15" dirty="0">
                <a:cs typeface="Calibri"/>
              </a:rPr>
              <a:t>relevant </a:t>
            </a:r>
            <a:r>
              <a:rPr lang="en-US" sz="2800" spc="-20" dirty="0">
                <a:cs typeface="Calibri"/>
              </a:rPr>
              <a:t>to </a:t>
            </a:r>
            <a:r>
              <a:rPr lang="en-US" sz="2800" spc="-15" dirty="0">
                <a:cs typeface="Calibri"/>
              </a:rPr>
              <a:t>any </a:t>
            </a:r>
            <a:r>
              <a:rPr lang="en-US" sz="2800" spc="-10" dirty="0">
                <a:cs typeface="Calibri"/>
              </a:rPr>
              <a:t>particular </a:t>
            </a:r>
            <a:r>
              <a:rPr lang="en-US" sz="2800" spc="-5" dirty="0">
                <a:cs typeface="Calibri"/>
              </a:rPr>
              <a:t>purpose, and </a:t>
            </a:r>
            <a:r>
              <a:rPr lang="en-US" sz="2800" dirty="0">
                <a:cs typeface="Calibri"/>
              </a:rPr>
              <a:t>so </a:t>
            </a:r>
            <a:r>
              <a:rPr lang="en-US" sz="2800" spc="-5" dirty="0">
                <a:cs typeface="Calibri"/>
              </a:rPr>
              <a:t>on. </a:t>
            </a:r>
            <a:r>
              <a:rPr lang="en-US" sz="2800" dirty="0">
                <a:cs typeface="Calibri"/>
              </a:rPr>
              <a:t> </a:t>
            </a:r>
            <a:r>
              <a:rPr lang="en-US" sz="2800" spc="-10" dirty="0">
                <a:cs typeface="Calibri"/>
              </a:rPr>
              <a:t>The</a:t>
            </a:r>
            <a:r>
              <a:rPr lang="en-US" sz="2800" spc="15" dirty="0">
                <a:cs typeface="Calibri"/>
              </a:rPr>
              <a:t> </a:t>
            </a:r>
            <a:r>
              <a:rPr lang="en-US" sz="2800" spc="-10" dirty="0">
                <a:cs typeface="Calibri"/>
              </a:rPr>
              <a:t>list </a:t>
            </a:r>
            <a:r>
              <a:rPr lang="en-US" sz="2800" spc="-5" dirty="0">
                <a:cs typeface="Calibri"/>
              </a:rPr>
              <a:t>is</a:t>
            </a:r>
            <a:r>
              <a:rPr lang="en-US" sz="2800" dirty="0">
                <a:cs typeface="Calibri"/>
              </a:rPr>
              <a:t> </a:t>
            </a:r>
            <a:r>
              <a:rPr lang="en-US" sz="2800" spc="-5" dirty="0">
                <a:cs typeface="Calibri"/>
              </a:rPr>
              <a:t>virtually</a:t>
            </a:r>
            <a:r>
              <a:rPr lang="en-US" sz="2800" spc="-15" dirty="0">
                <a:cs typeface="Calibri"/>
              </a:rPr>
              <a:t> </a:t>
            </a:r>
            <a:r>
              <a:rPr lang="en-US" sz="2800" spc="-5" dirty="0">
                <a:cs typeface="Calibri"/>
              </a:rPr>
              <a:t>endless,</a:t>
            </a:r>
            <a:r>
              <a:rPr lang="en-US" sz="2800" spc="20" dirty="0">
                <a:cs typeface="Calibri"/>
              </a:rPr>
              <a:t> </a:t>
            </a:r>
            <a:r>
              <a:rPr lang="en-US" sz="2800" spc="-5" dirty="0">
                <a:cs typeface="Calibri"/>
              </a:rPr>
              <a:t>and the</a:t>
            </a:r>
            <a:r>
              <a:rPr lang="en-US" sz="2800" dirty="0">
                <a:cs typeface="Calibri"/>
              </a:rPr>
              <a:t> </a:t>
            </a:r>
            <a:r>
              <a:rPr lang="en-US" sz="2800" spc="-5" dirty="0">
                <a:cs typeface="Calibri"/>
              </a:rPr>
              <a:t>possibilities </a:t>
            </a:r>
            <a:r>
              <a:rPr lang="en-US" sz="2800" spc="-10" dirty="0">
                <a:cs typeface="Calibri"/>
              </a:rPr>
              <a:t>are</a:t>
            </a:r>
            <a:r>
              <a:rPr lang="en-US" sz="2800" spc="-5" dirty="0">
                <a:cs typeface="Calibri"/>
              </a:rPr>
              <a:t> </a:t>
            </a:r>
            <a:r>
              <a:rPr lang="en-US" sz="2800" spc="-15" dirty="0">
                <a:cs typeface="Calibri"/>
              </a:rPr>
              <a:t>vast."</a:t>
            </a:r>
            <a:endParaRPr lang="en-US" sz="28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275955"/>
            <a:ext cx="3528695" cy="504625"/>
          </a:xfrm>
          <a:prstGeom prst="rect">
            <a:avLst/>
          </a:prstGeom>
        </p:spPr>
        <p:txBody>
          <a:bodyPr vert="horz" wrap="square" lIns="0" tIns="12065" rIns="0" bIns="0" rtlCol="0">
            <a:spAutoFit/>
          </a:bodyPr>
          <a:lstStyle/>
          <a:p>
            <a:pPr marL="12700" algn="ctr">
              <a:lnSpc>
                <a:spcPct val="100000"/>
              </a:lnSpc>
              <a:spcBef>
                <a:spcPts val="95"/>
              </a:spcBef>
            </a:pPr>
            <a:r>
              <a:rPr lang="en-US" sz="3200" b="1" spc="-5" dirty="0">
                <a:solidFill>
                  <a:srgbClr val="000000"/>
                </a:solidFill>
                <a:cs typeface="Calibri"/>
              </a:rPr>
              <a:t>Cloud</a:t>
            </a:r>
            <a:r>
              <a:rPr sz="3200" b="1" spc="-50" dirty="0">
                <a:solidFill>
                  <a:srgbClr val="000000"/>
                </a:solidFill>
                <a:cs typeface="Calibri"/>
              </a:rPr>
              <a:t> </a:t>
            </a:r>
            <a:r>
              <a:rPr sz="3200" b="1" spc="-5" dirty="0">
                <a:solidFill>
                  <a:srgbClr val="000000"/>
                </a:solidFill>
                <a:cs typeface="Calibri"/>
              </a:rPr>
              <a:t>Computing?</a:t>
            </a:r>
            <a:endParaRPr sz="32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3" name="object 3"/>
          <p:cNvSpPr txBox="1"/>
          <p:nvPr/>
        </p:nvSpPr>
        <p:spPr>
          <a:xfrm>
            <a:off x="383540" y="943813"/>
            <a:ext cx="8343265" cy="4125488"/>
          </a:xfrm>
          <a:prstGeom prst="rect">
            <a:avLst/>
          </a:prstGeom>
        </p:spPr>
        <p:txBody>
          <a:bodyPr vert="horz" wrap="square" lIns="0" tIns="13335" rIns="0" bIns="0" rtlCol="0">
            <a:spAutoFit/>
          </a:bodyPr>
          <a:lstStyle/>
          <a:p>
            <a:pPr marL="285750" indent="-285750" algn="just">
              <a:lnSpc>
                <a:spcPct val="150000"/>
              </a:lnSpc>
              <a:buFont typeface="Arial" panose="020B0604020202020204" pitchFamily="34" charset="0"/>
              <a:buChar char="•"/>
            </a:pPr>
            <a:r>
              <a:rPr lang="en-US" sz="1800" b="0" i="0" u="none" strike="noStrike" baseline="0" dirty="0"/>
              <a:t>Small as well as large IT companies, follow the traditional methods to provide the IT infrastructure. That means for any IT company, we need a Server Room that is the basic need of IT companies.</a:t>
            </a:r>
          </a:p>
          <a:p>
            <a:pPr marL="285750" indent="-285750" algn="just">
              <a:lnSpc>
                <a:spcPct val="150000"/>
              </a:lnSpc>
              <a:buFont typeface="Arial" panose="020B0604020202020204" pitchFamily="34" charset="0"/>
              <a:buChar char="•"/>
            </a:pPr>
            <a:r>
              <a:rPr lang="en-US" sz="1800" b="0" i="0" u="none" strike="noStrike" baseline="0" dirty="0"/>
              <a:t>In that server room, there should be a database server, mail server, networking, firewalls, routers, modem, switches, QPS (Query Per Second means how much queries or load will be handled by the server), configurable system, high net speed, and the maintenance engineers.</a:t>
            </a:r>
          </a:p>
          <a:p>
            <a:pPr marL="285750" indent="-285750" algn="just">
              <a:lnSpc>
                <a:spcPct val="150000"/>
              </a:lnSpc>
              <a:buFont typeface="Arial" panose="020B0604020202020204" pitchFamily="34" charset="0"/>
              <a:buChar char="•"/>
            </a:pPr>
            <a:r>
              <a:rPr lang="en-US" sz="1800" b="0" i="0" u="none" strike="noStrike" baseline="0" dirty="0"/>
              <a:t>To establish such IT infrastructure, we need to spend lots of money. To overcome all these problems and to reduce the IT infrastructure cost, Cloud Computing comes into existence.</a:t>
            </a:r>
            <a:endParaRPr sz="1900" dirty="0">
              <a:cs typeface="Calibri"/>
            </a:endParaRP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599" y="296276"/>
            <a:ext cx="5485511" cy="504625"/>
          </a:xfrm>
          <a:prstGeom prst="rect">
            <a:avLst/>
          </a:prstGeom>
        </p:spPr>
        <p:txBody>
          <a:bodyPr vert="horz" wrap="square" lIns="0" tIns="12065" rIns="0" bIns="0" rtlCol="0">
            <a:spAutoFit/>
          </a:bodyPr>
          <a:lstStyle/>
          <a:p>
            <a:pPr marL="169545" algn="ctr">
              <a:lnSpc>
                <a:spcPct val="100000"/>
              </a:lnSpc>
              <a:spcBef>
                <a:spcPts val="1210"/>
              </a:spcBef>
            </a:pPr>
            <a:r>
              <a:rPr lang="en-US" spc="-5" dirty="0">
                <a:solidFill>
                  <a:schemeClr val="tx1"/>
                </a:solidFill>
                <a:latin typeface="+mn-lt"/>
                <a:cs typeface="Calibri"/>
              </a:rPr>
              <a:t>Grid Vs Cloud</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r>
              <a:rPr dirty="0"/>
              <a:t>8</a:t>
            </a:r>
          </a:p>
        </p:txBody>
      </p:sp>
      <p:sp>
        <p:nvSpPr>
          <p:cNvPr id="3" name="object 3"/>
          <p:cNvSpPr txBox="1"/>
          <p:nvPr/>
        </p:nvSpPr>
        <p:spPr>
          <a:xfrm>
            <a:off x="307340" y="1210084"/>
            <a:ext cx="8455660" cy="3048270"/>
          </a:xfrm>
          <a:prstGeom prst="rect">
            <a:avLst/>
          </a:prstGeom>
        </p:spPr>
        <p:txBody>
          <a:bodyPr vert="horz" wrap="square" lIns="0" tIns="153670" rIns="0" bIns="0" rtlCol="0">
            <a:spAutoFit/>
          </a:bodyPr>
          <a:lstStyle/>
          <a:p>
            <a:pPr marL="512445" indent="-342900" algn="just">
              <a:lnSpc>
                <a:spcPct val="100000"/>
              </a:lnSpc>
              <a:spcBef>
                <a:spcPts val="1210"/>
              </a:spcBef>
              <a:buFont typeface="Arial" panose="020B0604020202020204" pitchFamily="34" charset="0"/>
              <a:buChar char="•"/>
            </a:pPr>
            <a:r>
              <a:rPr lang="en-US" sz="2400" b="1" spc="-5" dirty="0">
                <a:cs typeface="Calibri"/>
              </a:rPr>
              <a:t>Resource distribution: </a:t>
            </a:r>
            <a:r>
              <a:rPr lang="en-US" sz="2400" spc="-5" dirty="0">
                <a:cs typeface="Calibri"/>
              </a:rPr>
              <a:t>Grid is a decentralized cloud computing is a centralized.</a:t>
            </a:r>
          </a:p>
          <a:p>
            <a:pPr marL="512445" indent="-342900" algn="just">
              <a:lnSpc>
                <a:spcPct val="100000"/>
              </a:lnSpc>
              <a:spcBef>
                <a:spcPts val="1210"/>
              </a:spcBef>
              <a:buFont typeface="Arial" panose="020B0604020202020204" pitchFamily="34" charset="0"/>
              <a:buChar char="•"/>
            </a:pPr>
            <a:r>
              <a:rPr lang="en-US" sz="2400" b="1" spc="-5" dirty="0">
                <a:cs typeface="Calibri"/>
              </a:rPr>
              <a:t>Administration :</a:t>
            </a:r>
            <a:r>
              <a:rPr lang="en-US" sz="2400" spc="-5" dirty="0">
                <a:cs typeface="Calibri"/>
              </a:rPr>
              <a:t> Grid have many administrative domains. Cloud computing has a single administrative domain.</a:t>
            </a:r>
          </a:p>
          <a:p>
            <a:pPr marL="512445" indent="-342900" algn="just">
              <a:lnSpc>
                <a:spcPct val="100000"/>
              </a:lnSpc>
              <a:spcBef>
                <a:spcPts val="1210"/>
              </a:spcBef>
              <a:buFont typeface="Arial" panose="020B0604020202020204" pitchFamily="34" charset="0"/>
              <a:buChar char="•"/>
            </a:pPr>
            <a:r>
              <a:rPr lang="en-US" sz="2400" b="1" spc="-5" dirty="0">
                <a:cs typeface="Calibri"/>
              </a:rPr>
              <a:t>Ownership: </a:t>
            </a:r>
            <a:r>
              <a:rPr lang="en-US" sz="2400" spc="-5" dirty="0">
                <a:cs typeface="Calibri"/>
              </a:rPr>
              <a:t>Grid is owned by multiple parties in multiple locations. Cloud computing is a collection of computers usually owned by a single party.</a:t>
            </a:r>
            <a:endParaRPr sz="2400" dirty="0">
              <a:cs typeface="Calibri"/>
            </a:endParaRPr>
          </a:p>
        </p:txBody>
      </p:sp>
      <p:sp>
        <p:nvSpPr>
          <p:cNvPr id="6" name="Footer Placeholder 5">
            <a:extLst>
              <a:ext uri="{FF2B5EF4-FFF2-40B4-BE49-F238E27FC236}">
                <a16:creationId xmlns:a16="http://schemas.microsoft.com/office/drawing/2014/main" id="{9EF65567-EA59-204B-9442-759FC19EEAA1}"/>
              </a:ext>
            </a:extLst>
          </p:cNvPr>
          <p:cNvSpPr>
            <a:spLocks noGrp="1"/>
          </p:cNvSpPr>
          <p:nvPr>
            <p:ph type="ftr" sz="quarter" idx="5"/>
          </p:nvPr>
        </p:nvSpPr>
        <p:spPr/>
        <p:txBody>
          <a:bodyPr/>
          <a:lstStyle/>
          <a:p>
            <a:r>
              <a:rPr lang="en-US"/>
              <a:t>Department of Computer Application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123924"/>
            <a:ext cx="4572000" cy="504625"/>
          </a:xfrm>
          <a:prstGeom prst="rect">
            <a:avLst/>
          </a:prstGeom>
        </p:spPr>
        <p:txBody>
          <a:bodyPr vert="horz" wrap="square" lIns="0" tIns="12065" rIns="0" bIns="0" rtlCol="0">
            <a:spAutoFit/>
          </a:bodyPr>
          <a:lstStyle/>
          <a:p>
            <a:pPr marL="12700" algn="ctr">
              <a:lnSpc>
                <a:spcPct val="100000"/>
              </a:lnSpc>
              <a:spcBef>
                <a:spcPts val="95"/>
              </a:spcBef>
            </a:pPr>
            <a:r>
              <a:rPr lang="en-US" sz="3200" b="1" spc="-5" dirty="0">
                <a:solidFill>
                  <a:srgbClr val="000000"/>
                </a:solidFill>
                <a:latin typeface="Calibri"/>
                <a:cs typeface="Calibri"/>
              </a:rPr>
              <a:t>Cluster vs Grid</a:t>
            </a:r>
            <a:r>
              <a:rPr sz="3200" b="1" spc="-50" dirty="0">
                <a:solidFill>
                  <a:srgbClr val="000000"/>
                </a:solidFill>
                <a:latin typeface="Calibri"/>
                <a:cs typeface="Calibri"/>
              </a:rPr>
              <a:t> </a:t>
            </a:r>
            <a:r>
              <a:rPr sz="3200" b="1" spc="-5" dirty="0">
                <a:solidFill>
                  <a:srgbClr val="000000"/>
                </a:solidFill>
                <a:latin typeface="Calibri"/>
                <a:cs typeface="Calibri"/>
              </a:rPr>
              <a:t>Computing</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9</a:t>
            </a:r>
          </a:p>
        </p:txBody>
      </p:sp>
      <p:sp>
        <p:nvSpPr>
          <p:cNvPr id="3" name="object 3"/>
          <p:cNvSpPr txBox="1"/>
          <p:nvPr/>
        </p:nvSpPr>
        <p:spPr>
          <a:xfrm>
            <a:off x="628650" y="998283"/>
            <a:ext cx="8067040" cy="3768980"/>
          </a:xfrm>
          <a:prstGeom prst="rect">
            <a:avLst/>
          </a:prstGeom>
        </p:spPr>
        <p:txBody>
          <a:bodyPr vert="horz" wrap="square" lIns="0" tIns="71755" rIns="0" bIns="0" rtlCol="0">
            <a:spAutoFit/>
          </a:bodyPr>
          <a:lstStyle/>
          <a:p>
            <a:pPr algn="just">
              <a:lnSpc>
                <a:spcPct val="150000"/>
              </a:lnSpc>
            </a:pPr>
            <a:r>
              <a:rPr lang="en-US" sz="1800" b="1" i="0" u="none" strike="noStrike" baseline="0" dirty="0"/>
              <a:t>Cluster Computing</a:t>
            </a:r>
          </a:p>
          <a:p>
            <a:pPr algn="just">
              <a:lnSpc>
                <a:spcPct val="150000"/>
              </a:lnSpc>
            </a:pPr>
            <a:r>
              <a:rPr lang="en-US" sz="1800" b="0" i="0" u="none" strike="noStrike" baseline="0" dirty="0"/>
              <a:t>A cluster computer refers to a network of same type of computers whose target is to work as a same unit. Such a network is used when a resource hungry task requires high computing power or memory. Two or more same types of computers are clubbed together to make a cluster and perform the task.</a:t>
            </a:r>
          </a:p>
          <a:p>
            <a:pPr algn="just">
              <a:lnSpc>
                <a:spcPct val="150000"/>
              </a:lnSpc>
            </a:pPr>
            <a:r>
              <a:rPr lang="en-US" sz="1800" b="1" i="0" u="none" strike="noStrike" baseline="0" dirty="0"/>
              <a:t>Grid Computing</a:t>
            </a:r>
          </a:p>
          <a:p>
            <a:pPr algn="just">
              <a:lnSpc>
                <a:spcPct val="150000"/>
              </a:lnSpc>
            </a:pPr>
            <a:r>
              <a:rPr lang="en-US" sz="1800" b="0" i="0" u="none" strike="noStrike" baseline="0" dirty="0"/>
              <a:t>Grid computing refers to a network of same or different types of computers whose target is to provide a environment where a task can be performed by multiple computers together on need basis. Each computer can work independently as well.</a:t>
            </a:r>
            <a:endParaRPr sz="2000" dirty="0">
              <a:cs typeface="Calibri"/>
            </a:endParaRPr>
          </a:p>
        </p:txBody>
      </p:sp>
      <p:sp>
        <p:nvSpPr>
          <p:cNvPr id="5" name="Footer Placeholder 4">
            <a:extLst>
              <a:ext uri="{FF2B5EF4-FFF2-40B4-BE49-F238E27FC236}">
                <a16:creationId xmlns:a16="http://schemas.microsoft.com/office/drawing/2014/main" id="{FFE8EBD2-62C8-530E-BA79-3949CFD9F06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799" y="299686"/>
            <a:ext cx="5271643" cy="505908"/>
          </a:xfrm>
          <a:prstGeom prst="rect">
            <a:avLst/>
          </a:prstGeom>
        </p:spPr>
        <p:txBody>
          <a:bodyPr vert="horz" wrap="square" lIns="0" tIns="13335" rIns="0" bIns="0" rtlCol="0">
            <a:spAutoFit/>
          </a:bodyPr>
          <a:lstStyle/>
          <a:p>
            <a:pPr marL="12700" algn="ctr">
              <a:lnSpc>
                <a:spcPct val="100000"/>
              </a:lnSpc>
              <a:spcBef>
                <a:spcPts val="105"/>
              </a:spcBef>
            </a:pPr>
            <a:r>
              <a:rPr lang="en-US" sz="3200" b="1" spc="-5" dirty="0">
                <a:solidFill>
                  <a:srgbClr val="000000"/>
                </a:solidFill>
                <a:latin typeface="Calibri"/>
                <a:cs typeface="Calibri"/>
              </a:rPr>
              <a:t>Cluster vs Grid</a:t>
            </a:r>
            <a:r>
              <a:rPr lang="en-US" sz="3200" b="1" spc="-50" dirty="0">
                <a:solidFill>
                  <a:srgbClr val="000000"/>
                </a:solidFill>
                <a:latin typeface="Calibri"/>
                <a:cs typeface="Calibri"/>
              </a:rPr>
              <a:t> </a:t>
            </a:r>
            <a:r>
              <a:rPr lang="en-US" sz="3200" b="1" spc="-5" dirty="0">
                <a:solidFill>
                  <a:srgbClr val="000000"/>
                </a:solidFill>
                <a:latin typeface="Calibri"/>
                <a:cs typeface="Calibri"/>
              </a:rPr>
              <a:t>Computing</a:t>
            </a:r>
            <a:endParaRPr sz="3200" b="1" dirty="0">
              <a:latin typeface="Calibri"/>
              <a:cs typeface="Calibri"/>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B5193DD6-ADEB-282F-9949-D6463F2EC4AA}"/>
              </a:ext>
            </a:extLst>
          </p:cNvPr>
          <p:cNvSpPr>
            <a:spLocks noGrp="1"/>
          </p:cNvSpPr>
          <p:nvPr>
            <p:ph type="ftr" sz="quarter" idx="11"/>
          </p:nvPr>
        </p:nvSpPr>
        <p:spPr/>
        <p:txBody>
          <a:bodyPr/>
          <a:lstStyle/>
          <a:p>
            <a:r>
              <a:rPr lang="en-US"/>
              <a:t>Department of Computer Application </a:t>
            </a:r>
            <a:endParaRPr lang="en-US" dirty="0"/>
          </a:p>
        </p:txBody>
      </p:sp>
      <p:pic>
        <p:nvPicPr>
          <p:cNvPr id="9" name="Picture 8">
            <a:extLst>
              <a:ext uri="{FF2B5EF4-FFF2-40B4-BE49-F238E27FC236}">
                <a16:creationId xmlns:a16="http://schemas.microsoft.com/office/drawing/2014/main" id="{BBDF9FF7-D2DC-FFD9-4363-B8FF2C4B3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799" y="895350"/>
            <a:ext cx="6400801" cy="3962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299686"/>
            <a:ext cx="5318251" cy="505908"/>
          </a:xfrm>
          <a:prstGeom prst="rect">
            <a:avLst/>
          </a:prstGeom>
        </p:spPr>
        <p:txBody>
          <a:bodyPr vert="horz" wrap="square" lIns="0" tIns="13335" rIns="0" bIns="0" rtlCol="0">
            <a:spAutoFit/>
          </a:bodyPr>
          <a:lstStyle/>
          <a:p>
            <a:pPr marL="12700" algn="ctr">
              <a:lnSpc>
                <a:spcPct val="100000"/>
              </a:lnSpc>
              <a:spcBef>
                <a:spcPts val="105"/>
              </a:spcBef>
            </a:pPr>
            <a:r>
              <a:rPr lang="en-US" sz="3200" b="1" spc="-5" dirty="0">
                <a:solidFill>
                  <a:srgbClr val="000000"/>
                </a:solidFill>
                <a:latin typeface="Calibri"/>
                <a:cs typeface="Calibri"/>
              </a:rPr>
              <a:t>Cluster vs Grid</a:t>
            </a:r>
            <a:r>
              <a:rPr lang="en-US" sz="3200" b="1" spc="-50" dirty="0">
                <a:solidFill>
                  <a:srgbClr val="000000"/>
                </a:solidFill>
                <a:latin typeface="Calibri"/>
                <a:cs typeface="Calibri"/>
              </a:rPr>
              <a:t> </a:t>
            </a:r>
            <a:r>
              <a:rPr lang="en-US" sz="3200" b="1" spc="-5" dirty="0">
                <a:solidFill>
                  <a:srgbClr val="000000"/>
                </a:solidFill>
                <a:latin typeface="Calibri"/>
                <a:cs typeface="Calibri"/>
              </a:rPr>
              <a:t>Computing</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11</a:t>
            </a:r>
          </a:p>
        </p:txBody>
      </p:sp>
      <p:sp>
        <p:nvSpPr>
          <p:cNvPr id="5" name="Footer Placeholder 4">
            <a:extLst>
              <a:ext uri="{FF2B5EF4-FFF2-40B4-BE49-F238E27FC236}">
                <a16:creationId xmlns:a16="http://schemas.microsoft.com/office/drawing/2014/main" id="{047BC097-630E-D63D-0D95-BC83782D070B}"/>
              </a:ext>
            </a:extLst>
          </p:cNvPr>
          <p:cNvSpPr>
            <a:spLocks noGrp="1"/>
          </p:cNvSpPr>
          <p:nvPr>
            <p:ph type="ftr" sz="quarter" idx="11"/>
          </p:nvPr>
        </p:nvSpPr>
        <p:spPr/>
        <p:txBody>
          <a:bodyPr/>
          <a:lstStyle/>
          <a:p>
            <a:r>
              <a:rPr lang="en-US"/>
              <a:t>Department of Computer Application</a:t>
            </a:r>
          </a:p>
          <a:p>
            <a:endParaRPr lang="en-US" dirty="0"/>
          </a:p>
        </p:txBody>
      </p:sp>
      <p:pic>
        <p:nvPicPr>
          <p:cNvPr id="7" name="Picture 6">
            <a:extLst>
              <a:ext uri="{FF2B5EF4-FFF2-40B4-BE49-F238E27FC236}">
                <a16:creationId xmlns:a16="http://schemas.microsoft.com/office/drawing/2014/main" id="{79C68153-427C-9BCA-15A6-99306EEDF9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895351"/>
            <a:ext cx="6477000" cy="381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130374"/>
            <a:ext cx="4876799" cy="998350"/>
          </a:xfrm>
          <a:prstGeom prst="rect">
            <a:avLst/>
          </a:prstGeom>
        </p:spPr>
        <p:txBody>
          <a:bodyPr vert="horz" wrap="square" lIns="0" tIns="13335" rIns="0" bIns="0" rtlCol="0">
            <a:spAutoFit/>
          </a:bodyPr>
          <a:lstStyle/>
          <a:p>
            <a:pPr marL="12700" marR="344170" algn="ctr">
              <a:lnSpc>
                <a:spcPct val="100000"/>
              </a:lnSpc>
              <a:spcBef>
                <a:spcPts val="95"/>
              </a:spcBef>
              <a:tabLst>
                <a:tab pos="354965" algn="l"/>
                <a:tab pos="355600" algn="l"/>
              </a:tabLst>
            </a:pPr>
            <a:r>
              <a:rPr lang="en-US" sz="3200" b="1" spc="-10" dirty="0">
                <a:latin typeface="Calibri"/>
                <a:cs typeface="Calibri"/>
              </a:rPr>
              <a:t>Cluster Vs Grid &amp; Cloud computing</a:t>
            </a:r>
            <a:endParaRPr lang="en-US" sz="3200"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12</a:t>
            </a:r>
          </a:p>
        </p:txBody>
      </p:sp>
      <p:sp>
        <p:nvSpPr>
          <p:cNvPr id="3" name="object 3"/>
          <p:cNvSpPr txBox="1"/>
          <p:nvPr/>
        </p:nvSpPr>
        <p:spPr>
          <a:xfrm>
            <a:off x="459740" y="1107183"/>
            <a:ext cx="8070215" cy="3756798"/>
          </a:xfrm>
          <a:prstGeom prst="rect">
            <a:avLst/>
          </a:prstGeom>
        </p:spPr>
        <p:txBody>
          <a:bodyPr vert="horz" wrap="square" lIns="0" tIns="12065" rIns="0" bIns="0" rtlCol="0">
            <a:spAutoFit/>
          </a:bodyPr>
          <a:lstStyle/>
          <a:p>
            <a:pPr marL="355600" marR="344170" indent="-342900" algn="just">
              <a:spcBef>
                <a:spcPts val="95"/>
              </a:spcBef>
              <a:buFont typeface="Arial" panose="020B0604020202020204" pitchFamily="34" charset="0"/>
              <a:buChar char="•"/>
              <a:tabLst>
                <a:tab pos="354965" algn="l"/>
                <a:tab pos="355600" algn="l"/>
              </a:tabLst>
            </a:pPr>
            <a:r>
              <a:rPr lang="en-US" sz="2400" dirty="0">
                <a:cs typeface="Calibri"/>
              </a:rPr>
              <a:t>Cluster is a group of computers connected by a local area network (LAN)</a:t>
            </a:r>
          </a:p>
          <a:p>
            <a:pPr marL="355600" marR="344170" indent="-342900" algn="just">
              <a:spcBef>
                <a:spcPts val="95"/>
              </a:spcBef>
              <a:buFont typeface="Arial" panose="020B0604020202020204" pitchFamily="34" charset="0"/>
              <a:buChar char="•"/>
              <a:tabLst>
                <a:tab pos="354965" algn="l"/>
                <a:tab pos="355600" algn="l"/>
              </a:tabLst>
            </a:pPr>
            <a:r>
              <a:rPr lang="en-US" sz="2400" dirty="0">
                <a:cs typeface="Calibri"/>
              </a:rPr>
              <a:t>Grid and Cloud are more wide scale and can be geographically distributed (WAN)</a:t>
            </a:r>
          </a:p>
          <a:p>
            <a:pPr marL="355600" marR="344170" indent="-342900" algn="just">
              <a:spcBef>
                <a:spcPts val="95"/>
              </a:spcBef>
              <a:buFont typeface="Arial" panose="020B0604020202020204" pitchFamily="34" charset="0"/>
              <a:buChar char="•"/>
              <a:tabLst>
                <a:tab pos="354965" algn="l"/>
                <a:tab pos="355600" algn="l"/>
              </a:tabLst>
            </a:pPr>
            <a:r>
              <a:rPr lang="en-US" sz="2400" dirty="0">
                <a:cs typeface="Calibri"/>
              </a:rPr>
              <a:t>Cluster is a Tightly coupled , made up of machines with similar hardware and OS.</a:t>
            </a:r>
          </a:p>
          <a:p>
            <a:pPr marL="355600" marR="344170" indent="-342900" algn="just">
              <a:spcBef>
                <a:spcPts val="95"/>
              </a:spcBef>
              <a:buFont typeface="Arial" panose="020B0604020202020204" pitchFamily="34" charset="0"/>
              <a:buChar char="•"/>
              <a:tabLst>
                <a:tab pos="354965" algn="l"/>
                <a:tab pos="355600" algn="l"/>
              </a:tabLst>
            </a:pPr>
            <a:r>
              <a:rPr lang="en-US" sz="2400" dirty="0">
                <a:cs typeface="Calibri"/>
              </a:rPr>
              <a:t>Grid and cloud are Loosely Coupled and made up of machines with different hardware configurations and OS.</a:t>
            </a:r>
          </a:p>
          <a:p>
            <a:pPr marL="355600" marR="344170" indent="-342900" algn="just">
              <a:spcBef>
                <a:spcPts val="95"/>
              </a:spcBef>
              <a:buFont typeface="Arial" panose="020B0604020202020204" pitchFamily="34" charset="0"/>
              <a:buChar char="•"/>
              <a:tabLst>
                <a:tab pos="354965" algn="l"/>
                <a:tab pos="355600" algn="l"/>
              </a:tabLst>
            </a:pPr>
            <a:r>
              <a:rPr lang="en-US" sz="2400" dirty="0">
                <a:cs typeface="Calibri"/>
              </a:rPr>
              <a:t>Cluster is a Homogeneous and Grid &amp; Cloud are Heterogeneous.</a:t>
            </a:r>
            <a:endParaRPr sz="2400" dirty="0">
              <a:cs typeface="Calibri"/>
            </a:endParaRPr>
          </a:p>
        </p:txBody>
      </p:sp>
      <p:sp>
        <p:nvSpPr>
          <p:cNvPr id="5" name="Footer Placeholder 4">
            <a:extLst>
              <a:ext uri="{FF2B5EF4-FFF2-40B4-BE49-F238E27FC236}">
                <a16:creationId xmlns:a16="http://schemas.microsoft.com/office/drawing/2014/main" id="{942E2581-DD1F-3E3B-B692-F34C7976927D}"/>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3200" b="1" kern="0" dirty="0"/>
              <a:t>Summary</a:t>
            </a:r>
            <a:endParaRPr lang="en-IN" sz="32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1082842"/>
            <a:ext cx="8229600" cy="3404937"/>
          </a:xfrm>
        </p:spPr>
        <p:txBody>
          <a:bodyPr>
            <a:noAutofit/>
          </a:bodyPr>
          <a:lstStyle/>
          <a:p>
            <a:pPr algn="just">
              <a:lnSpc>
                <a:spcPct val="150000"/>
              </a:lnSpc>
              <a:buBlip>
                <a:blip r:embed="rId2"/>
              </a:buBlip>
            </a:pPr>
            <a:r>
              <a:rPr lang="en-US" sz="1800" b="1" dirty="0"/>
              <a:t>Cloud Computing</a:t>
            </a:r>
            <a:r>
              <a:rPr lang="en-US" sz="1800" dirty="0"/>
              <a:t>: Primarily used for applications requiring flexible, on-demand access to computing resources (e.g., web hosting, data storage, SaaS).</a:t>
            </a:r>
          </a:p>
          <a:p>
            <a:pPr algn="just">
              <a:lnSpc>
                <a:spcPct val="150000"/>
              </a:lnSpc>
              <a:buBlip>
                <a:blip r:embed="rId2"/>
              </a:buBlip>
            </a:pPr>
            <a:r>
              <a:rPr lang="en-US" sz="1800" b="1" dirty="0"/>
              <a:t>Grid Computing</a:t>
            </a:r>
            <a:r>
              <a:rPr lang="en-US" sz="1800" dirty="0"/>
              <a:t>: Often used for scientific, research, or large computational tasks where diverse resources are pooled together for solving complex problems (e.g., simulations, data analysis).</a:t>
            </a:r>
          </a:p>
          <a:p>
            <a:pPr algn="just">
              <a:lnSpc>
                <a:spcPct val="150000"/>
              </a:lnSpc>
              <a:buBlip>
                <a:blip r:embed="rId2"/>
              </a:buBlip>
            </a:pPr>
            <a:r>
              <a:rPr lang="en-US" sz="1800" b="1" dirty="0"/>
              <a:t>Cluster Computing</a:t>
            </a:r>
            <a:r>
              <a:rPr lang="en-US" sz="1800" dirty="0"/>
              <a:t>: Focuses on providing high-performance computing for intensive applications like scientific simulations, rendering, and data processing in a controlled environment.</a:t>
            </a:r>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17</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18</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148</TotalTime>
  <Words>1379</Words>
  <Application>Microsoft Office PowerPoint</Application>
  <PresentationFormat>On-screen Show (16:9)</PresentationFormat>
  <Paragraphs>139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Cloud Computing?</vt:lpstr>
      <vt:lpstr>Grid Vs Cloud</vt:lpstr>
      <vt:lpstr>Cluster vs Grid Computing</vt:lpstr>
      <vt:lpstr>Cluster vs Grid Computing</vt:lpstr>
      <vt:lpstr>Cluster vs Grid Computing</vt:lpstr>
      <vt:lpstr>Cluster Vs Grid &amp; Cloud computing</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11</cp:revision>
  <dcterms:created xsi:type="dcterms:W3CDTF">2024-12-06T17:10:37Z</dcterms:created>
  <dcterms:modified xsi:type="dcterms:W3CDTF">2024-12-15T16:55:59Z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