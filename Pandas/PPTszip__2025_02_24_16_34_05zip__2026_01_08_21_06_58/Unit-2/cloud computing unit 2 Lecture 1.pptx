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3"/>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279" r:id="rId15"/>
    <p:sldId id="280" r:id="rId16"/>
    <p:sldId id="281" r:id="rId17"/>
    <p:sldId id="282" r:id="rId18"/>
    <p:sldId id="423" r:id="rId19"/>
    <p:sldId id="421" r:id="rId20"/>
    <p:sldId id="422" r:id="rId21"/>
    <p:sldId id="352" r:id="rId22"/>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12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12/19/2024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12/19/2024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12/19/2024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12/19/2024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12/19/2024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12/19/2024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12/19/2024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12/19/2024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12/19/2024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12/19/2024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12/19/2024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geeksforgeeks.org/7-steps-of-migrating-model-in-cloud/" TargetMode="External"/><Relationship Id="rId4" Type="http://schemas.openxmlformats.org/officeDocument/2006/relationships/hyperlink" Target="https://www.slideshare.net/slideshow/cloud-migration-presentation-246744264/246744264?from_action=download&amp;slideshow_id=246744264&amp;original_file=true" TargetMode="External"/><Relationship Id="rId9"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3200" b="1" dirty="0"/>
              <a:t>Chandigarh School of Business, Jhanjeri</a:t>
            </a:r>
          </a:p>
          <a:p>
            <a:pPr marL="0" indent="0" algn="ctr">
              <a:buNone/>
            </a:pPr>
            <a:r>
              <a:rPr lang="en-US" sz="2800" b="1" dirty="0"/>
              <a:t>Department of Computer Application </a:t>
            </a:r>
          </a:p>
          <a:p>
            <a:pPr marL="0" indent="0" algn="ctr">
              <a:buNone/>
            </a:pPr>
            <a:r>
              <a:rPr lang="en-US" sz="2000" b="1" dirty="0"/>
              <a:t>Program Code: NA</a:t>
            </a:r>
          </a:p>
          <a:p>
            <a:pPr marL="0" indent="0" algn="ctr">
              <a:buNone/>
            </a:pPr>
            <a:r>
              <a:rPr lang="en-US" sz="2000" b="1" dirty="0"/>
              <a:t>Program Name: MCA</a:t>
            </a:r>
          </a:p>
          <a:p>
            <a:pPr marL="0" indent="0" algn="ctr">
              <a:buNone/>
            </a:pPr>
            <a:r>
              <a:rPr lang="en-US" sz="2000" b="1" dirty="0"/>
              <a:t>Course Code: </a:t>
            </a:r>
            <a:r>
              <a:rPr lang="en-US" sz="2000" b="1" i="0" u="none" strike="noStrike" baseline="0" dirty="0">
                <a:solidFill>
                  <a:srgbClr val="000000"/>
                </a:solidFill>
              </a:rPr>
              <a:t>PGCA1937 </a:t>
            </a:r>
            <a:r>
              <a:rPr lang="en-US" sz="2000" b="1" dirty="0">
                <a:solidFill>
                  <a:srgbClr val="000000"/>
                </a:solidFill>
              </a:rPr>
              <a:t> </a:t>
            </a:r>
            <a:endParaRPr lang="en-US" sz="2000" b="1" dirty="0"/>
          </a:p>
          <a:p>
            <a:pPr marL="0" indent="0" algn="ctr">
              <a:buNone/>
            </a:pPr>
            <a:r>
              <a:rPr lang="en-US" sz="2000" b="1" dirty="0"/>
              <a:t>Course Name: </a:t>
            </a:r>
            <a:r>
              <a:rPr lang="en-US" sz="2000" b="1" i="0" u="none" strike="noStrike" baseline="0" dirty="0">
                <a:solidFill>
                  <a:srgbClr val="000000"/>
                </a:solidFill>
              </a:rPr>
              <a:t>Cloud Computing</a:t>
            </a:r>
            <a:r>
              <a:rPr lang="en-US" sz="1800" b="1" i="0" u="none" strike="noStrike" baseline="0" dirty="0">
                <a:solidFill>
                  <a:srgbClr val="000000"/>
                </a:solidFill>
              </a:rPr>
              <a:t>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a:xfrm>
            <a:off x="628650" y="1200150"/>
            <a:ext cx="7886700" cy="3432573"/>
          </a:xfrm>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228600" y="788825"/>
            <a:ext cx="8610600" cy="4068925"/>
          </a:xfrm>
        </p:spPr>
        <p:txBody>
          <a:bodyPr>
            <a:normAutofit fontScale="25000" lnSpcReduction="20000"/>
          </a:bodyPr>
          <a:lstStyle/>
          <a:p>
            <a:pPr marL="0" indent="0" algn="ctr">
              <a:buNone/>
            </a:pPr>
            <a:r>
              <a:rPr lang="en-US" sz="6800" b="1" dirty="0">
                <a:solidFill>
                  <a:srgbClr val="000000"/>
                </a:solidFill>
              </a:rPr>
              <a:t>Part-A</a:t>
            </a:r>
            <a:endParaRPr lang="en-US" sz="6800" dirty="0">
              <a:solidFill>
                <a:srgbClr val="000000"/>
              </a:solidFill>
            </a:endParaRPr>
          </a:p>
          <a:p>
            <a:pPr algn="just">
              <a:lnSpc>
                <a:spcPct val="120000"/>
              </a:lnSpc>
            </a:pPr>
            <a:r>
              <a:rPr lang="en-US" sz="6800" b="1" i="0" u="none" strike="noStrike" baseline="0" dirty="0">
                <a:solidFill>
                  <a:srgbClr val="000000"/>
                </a:solidFill>
              </a:rPr>
              <a:t>Overview of Computing Paradigm: </a:t>
            </a:r>
            <a:r>
              <a:rPr lang="en-US" sz="6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6800" b="1" i="0" u="none" strike="noStrike" baseline="0" dirty="0">
                <a:solidFill>
                  <a:srgbClr val="000000"/>
                </a:solidFill>
              </a:rPr>
              <a:t>Introduction to Cloud Computing: </a:t>
            </a:r>
            <a:r>
              <a:rPr lang="en-US" sz="6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6800" b="1" i="0" u="none" strike="noStrike" baseline="0" dirty="0">
                <a:solidFill>
                  <a:srgbClr val="000000"/>
                </a:solidFill>
              </a:rPr>
              <a:t>Migrating into a Cloud: </a:t>
            </a:r>
            <a:r>
              <a:rPr lang="en-US" sz="6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6800" b="1" i="0" u="none" strike="noStrike" baseline="0" dirty="0">
                <a:solidFill>
                  <a:srgbClr val="000000"/>
                </a:solidFill>
              </a:rPr>
              <a:t>Virtualization: </a:t>
            </a:r>
            <a:r>
              <a:rPr lang="en-US" sz="6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6800" b="1" i="0" u="none" strike="noStrike" baseline="0" dirty="0">
                <a:solidFill>
                  <a:srgbClr val="000000"/>
                </a:solidFill>
              </a:rPr>
              <a:t>Capacity Planning: </a:t>
            </a:r>
            <a:r>
              <a:rPr lang="en-US" sz="6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3200" b="1" kern="0" dirty="0">
                <a:latin typeface="+mn-lt"/>
              </a:rPr>
              <a:t>Key objectives or learning outcomes</a:t>
            </a:r>
            <a:endParaRPr lang="en-IN" sz="32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2400" b="1" kern="0" dirty="0">
                <a:latin typeface="+mn-lt"/>
              </a:rPr>
              <a:t>CO Introduction</a:t>
            </a:r>
            <a:endParaRPr lang="en-IN" sz="2400" dirty="0">
              <a:latin typeface="+mn-lt"/>
            </a:endParaRP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4159225574"/>
              </p:ext>
            </p:extLst>
          </p:nvPr>
        </p:nvGraphicFramePr>
        <p:xfrm>
          <a:off x="635741" y="1056233"/>
          <a:ext cx="7764059" cy="391951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CO2</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Migrating into a Cloud:</a:t>
                      </a:r>
                      <a:r>
                        <a:rPr lang="en-US" sz="1800" b="0" i="0" u="none" strike="noStrike" kern="1200" baseline="0" dirty="0">
                          <a:solidFill>
                            <a:schemeClr val="tx1"/>
                          </a:solidFill>
                          <a:latin typeface="+mn-lt"/>
                          <a:ea typeface="+mn-ea"/>
                          <a:cs typeface="+mn-cs"/>
                        </a:rPr>
                        <a:t> Introduction, Broad approaches to Migrating into the Cloud, The Seven-Step Model of Migration Into a Cloud.</a:t>
                      </a:r>
                    </a:p>
                    <a:p>
                      <a:pPr algn="just"/>
                      <a:r>
                        <a:rPr lang="en-US" sz="1800" b="1" i="0" u="none" strike="noStrike" kern="1200" baseline="0" dirty="0">
                          <a:solidFill>
                            <a:schemeClr val="tx1"/>
                          </a:solidFill>
                          <a:latin typeface="+mn-lt"/>
                          <a:ea typeface="+mn-ea"/>
                          <a:cs typeface="+mn-cs"/>
                        </a:rPr>
                        <a:t>Virtualization: </a:t>
                      </a:r>
                      <a:r>
                        <a:rPr lang="en-US" sz="1800" b="0" i="0" u="none" strike="noStrike" kern="1200" baseline="0" dirty="0">
                          <a:solidFill>
                            <a:schemeClr val="tx1"/>
                          </a:solidFill>
                          <a:latin typeface="+mn-lt"/>
                          <a:ea typeface="+mn-ea"/>
                          <a:cs typeface="+mn-cs"/>
                        </a:rPr>
                        <a:t>Introduction, Characteristics of Virtualized environment, Taxonomy of Virtualization techniques, Virtualization and Cloud Computing, Pros and Cons of Virtualization, Technology Examples- Xen, VMware, Microsoft Hyper-V.</a:t>
                      </a:r>
                    </a:p>
                    <a:p>
                      <a:pPr algn="just"/>
                      <a:r>
                        <a:rPr lang="en-US" sz="1800" b="1" i="0" u="none" strike="noStrike" kern="1200" baseline="0" dirty="0">
                          <a:solidFill>
                            <a:schemeClr val="tx1"/>
                          </a:solidFill>
                          <a:latin typeface="+mn-lt"/>
                          <a:ea typeface="+mn-ea"/>
                          <a:cs typeface="+mn-cs"/>
                        </a:rPr>
                        <a:t>Capacity Planning: </a:t>
                      </a:r>
                      <a:r>
                        <a:rPr lang="en-US" sz="1800" b="0" i="0" u="none" strike="noStrike" kern="1200" baseline="0" dirty="0">
                          <a:solidFill>
                            <a:schemeClr val="tx1"/>
                          </a:solidFill>
                          <a:latin typeface="+mn-lt"/>
                          <a:ea typeface="+mn-ea"/>
                          <a:cs typeface="+mn-cs"/>
                        </a:rPr>
                        <a:t>Introduction, Defining Baseline and Metrics-Baseline Measurements, System Metrics, Load Testing, Resource Ceilings, Server and Instance types; Network Capacity, Scaling.</a:t>
                      </a:r>
                      <a:endParaRPr lang="en-US" sz="1350" b="0" i="0" u="none" strike="noStrike" kern="1200" baseline="0" dirty="0">
                        <a:solidFill>
                          <a:schemeClr val="tx1"/>
                        </a:solidFill>
                        <a:latin typeface="+mn-lt"/>
                        <a:ea typeface="+mn-ea"/>
                        <a:cs typeface="+mn-cs"/>
                      </a:endParaRP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2564259" cy="857250"/>
          </a:xfrm>
        </p:spPr>
        <p:txBody>
          <a:bodyPr>
            <a:normAutofit/>
          </a:bodyPr>
          <a:lstStyle/>
          <a:p>
            <a:r>
              <a:rPr lang="en-IN" sz="2400" b="1" kern="0" dirty="0">
                <a:latin typeface="+mn-lt"/>
              </a:rPr>
              <a:t>Topic Overview</a:t>
            </a:r>
            <a:endParaRPr lang="en-IN" sz="24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927190"/>
            <a:ext cx="8229600" cy="4023805"/>
          </a:xfrm>
        </p:spPr>
        <p:txBody>
          <a:bodyPr>
            <a:noAutofit/>
          </a:bodyPr>
          <a:lstStyle/>
          <a:p>
            <a:pPr algn="just">
              <a:lnSpc>
                <a:spcPct val="150000"/>
              </a:lnSpc>
            </a:pPr>
            <a:r>
              <a:rPr lang="en-US" sz="1800" dirty="0"/>
              <a:t>Migrating to the cloud enables businesses to scale, reduce costs, and leverage advanced technologies like AI and analytics.</a:t>
            </a:r>
          </a:p>
          <a:p>
            <a:pPr algn="just">
              <a:lnSpc>
                <a:spcPct val="150000"/>
              </a:lnSpc>
            </a:pPr>
            <a:r>
              <a:rPr lang="en-US" sz="1800" dirty="0"/>
              <a:t>The process involves assessing current systems, choosing the right cloud model (public, private, or hybrid), and executing migration strategies like rehosting or rearchitecting.</a:t>
            </a:r>
          </a:p>
          <a:p>
            <a:pPr algn="just">
              <a:lnSpc>
                <a:spcPct val="150000"/>
              </a:lnSpc>
            </a:pPr>
            <a:r>
              <a:rPr lang="en-US" sz="1800" dirty="0"/>
              <a:t>Key benefits include flexibility, improved performance, and enhanced disaster recovery. </a:t>
            </a:r>
          </a:p>
          <a:p>
            <a:pPr algn="just">
              <a:lnSpc>
                <a:spcPct val="150000"/>
              </a:lnSpc>
            </a:pPr>
            <a:r>
              <a:rPr lang="en-US" sz="1800" dirty="0"/>
              <a:t>However, challenges like security, compliance, and cost management must be addressed for a successful transition.</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487107" y="70037"/>
            <a:ext cx="5000616" cy="857250"/>
          </a:xfrm>
        </p:spPr>
        <p:txBody>
          <a:bodyPr>
            <a:noAutofit/>
          </a:bodyPr>
          <a:lstStyle/>
          <a:p>
            <a:pPr algn="ctr"/>
            <a:r>
              <a:rPr lang="en-US" altLang="en-US" sz="2800" b="1" kern="0" dirty="0"/>
              <a:t>Brief of what the presentation will</a:t>
            </a:r>
            <a:endParaRPr lang="en-IN" sz="28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a:xfrm>
            <a:off x="628650" y="1240618"/>
            <a:ext cx="7886700" cy="3263504"/>
          </a:xfrm>
        </p:spPr>
        <p:txBody>
          <a:bodyPr>
            <a:normAutofit/>
          </a:bodyPr>
          <a:lstStyle/>
          <a:p>
            <a:pPr marL="0" indent="0">
              <a:buNone/>
            </a:pPr>
            <a:r>
              <a:rPr lang="en-US" sz="2400" dirty="0"/>
              <a:t>The presentation will cover the following points:</a:t>
            </a:r>
          </a:p>
          <a:p>
            <a:pPr>
              <a:buFont typeface="+mj-lt"/>
              <a:buAutoNum type="arabicPeriod"/>
            </a:pPr>
            <a:r>
              <a:rPr lang="en-US" sz="2400" b="1" i="0" u="none" strike="noStrike" baseline="0" dirty="0">
                <a:solidFill>
                  <a:srgbClr val="000000"/>
                </a:solidFill>
              </a:rPr>
              <a:t>Migrating into a Cloud: </a:t>
            </a:r>
          </a:p>
          <a:p>
            <a:pPr>
              <a:buFont typeface="+mj-lt"/>
              <a:buAutoNum type="arabicPeriod"/>
            </a:pPr>
            <a:r>
              <a:rPr lang="en-US" sz="2400" b="1" i="0" u="none" strike="noStrike" baseline="0" dirty="0">
                <a:solidFill>
                  <a:srgbClr val="000000"/>
                </a:solidFill>
              </a:rPr>
              <a:t>Introduction, </a:t>
            </a:r>
          </a:p>
          <a:p>
            <a:pPr>
              <a:buFont typeface="+mj-lt"/>
              <a:buAutoNum type="arabicPeriod"/>
            </a:pPr>
            <a:r>
              <a:rPr lang="en-US" sz="2400" b="1" i="0" u="none" strike="noStrike" baseline="0" dirty="0">
                <a:solidFill>
                  <a:srgbClr val="000000"/>
                </a:solidFill>
              </a:rPr>
              <a:t>Broad approaches to Migrating into the Cloud, </a:t>
            </a:r>
          </a:p>
          <a:p>
            <a:pPr>
              <a:buFont typeface="+mj-lt"/>
              <a:buAutoNum type="arabicPeriod"/>
            </a:pPr>
            <a:r>
              <a:rPr lang="en-US" sz="2400" b="1" i="0" u="none" strike="noStrike" baseline="0" dirty="0">
                <a:solidFill>
                  <a:srgbClr val="000000"/>
                </a:solidFill>
              </a:rPr>
              <a:t>The Seven-Step Model of Migration Into a Cloud. </a:t>
            </a:r>
            <a:r>
              <a:rPr lang="en-US" sz="2400" b="0" i="0" u="none" strike="noStrike" baseline="0" dirty="0">
                <a:solidFill>
                  <a:srgbClr val="000000"/>
                </a:solidFill>
              </a:rPr>
              <a:t>	</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7" name="Content Placeholder 6">
            <a:extLst>
              <a:ext uri="{FF2B5EF4-FFF2-40B4-BE49-F238E27FC236}">
                <a16:creationId xmlns:a16="http://schemas.microsoft.com/office/drawing/2014/main" id="{C05D211D-56BC-A519-0A90-7523B1284AAC}"/>
              </a:ext>
            </a:extLst>
          </p:cNvPr>
          <p:cNvSpPr>
            <a:spLocks noGrp="1"/>
          </p:cNvSpPr>
          <p:nvPr>
            <p:ph idx="1"/>
          </p:nvPr>
        </p:nvSpPr>
        <p:spPr>
          <a:xfrm>
            <a:off x="457200" y="1046747"/>
            <a:ext cx="8229600" cy="3723425"/>
          </a:xfrm>
        </p:spPr>
        <p:txBody>
          <a:bodyPr>
            <a:normAutofit fontScale="92500" lnSpcReduction="10000"/>
          </a:bodyPr>
          <a:lstStyle/>
          <a:p>
            <a:r>
              <a:rPr lang="en-US" b="1" dirty="0"/>
              <a:t>Scalability and Flexibility</a:t>
            </a:r>
            <a:r>
              <a:rPr lang="en-US" dirty="0"/>
              <a:t>:</a:t>
            </a:r>
          </a:p>
          <a:p>
            <a:pPr marL="0" indent="0" algn="just">
              <a:buNone/>
            </a:pPr>
            <a:r>
              <a:rPr lang="en-US" dirty="0"/>
              <a:t>Cloud migration allows businesses to scale resources up or down based on demand, ensuring agility and efficiency while reducing dependency on physical infrastructure.</a:t>
            </a:r>
          </a:p>
          <a:p>
            <a:r>
              <a:rPr lang="en-US" b="1" dirty="0"/>
              <a:t>Cost Optimization</a:t>
            </a:r>
            <a:r>
              <a:rPr lang="en-US" dirty="0"/>
              <a:t>:</a:t>
            </a:r>
          </a:p>
          <a:p>
            <a:pPr marL="0" indent="0" algn="just">
              <a:buNone/>
            </a:pPr>
            <a:r>
              <a:rPr lang="en-US" dirty="0"/>
              <a:t>Shifting to the cloud reduces capital expenditure by transitioning to a pay-as-you-go model, optimizing operational costs, and eliminating the need for hardware maintenance.</a:t>
            </a:r>
          </a:p>
          <a:p>
            <a:r>
              <a:rPr lang="en-US" b="1" dirty="0"/>
              <a:t>Enhanced Performance and Innovation</a:t>
            </a:r>
            <a:r>
              <a:rPr lang="en-US" dirty="0"/>
              <a:t>:</a:t>
            </a:r>
          </a:p>
          <a:p>
            <a:pPr marL="0" indent="0" algn="just">
              <a:buNone/>
            </a:pPr>
            <a:r>
              <a:rPr lang="en-US" dirty="0"/>
              <a:t>Cloud platforms provide faster performance, global accessibility, and access to advanced technologies like AI, big data, and automation, driving innovation and competitive advantage.</a:t>
            </a:r>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09600" y="895350"/>
            <a:ext cx="8001000" cy="3737373"/>
          </a:xfrm>
        </p:spPr>
        <p:txBody>
          <a:bodyPr>
            <a:normAutofit/>
          </a:bodyPr>
          <a:lstStyle/>
          <a:p>
            <a:pPr algn="just"/>
            <a:r>
              <a:rPr lang="en-US" sz="2400" dirty="0"/>
              <a:t>Migrating to the cloud is crucial for scalability, enabling businesses to adapt quickly to changing demands while optimizing resource usage. </a:t>
            </a:r>
          </a:p>
          <a:p>
            <a:pPr algn="just"/>
            <a:r>
              <a:rPr lang="en-US" sz="2400" dirty="0"/>
              <a:t>It reduces costs by shifting from capital expenses to a pay-as-you-go model and eliminating hardware maintenance. Cloud platforms enhance performance and accessibility, supporting global operations and seamless collaboration. </a:t>
            </a:r>
          </a:p>
          <a:p>
            <a:pPr algn="just"/>
            <a:r>
              <a:rPr lang="en-US" sz="2400" dirty="0"/>
              <a:t>Additionally, they provide access to cutting-edge technologies like AI and analytics, fostering innovation and growth.</a:t>
            </a:r>
            <a:endParaRPr lang="en-IN" sz="24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4048506" cy="504625"/>
          </a:xfrm>
          <a:prstGeom prst="rect">
            <a:avLst/>
          </a:prstGeom>
        </p:spPr>
        <p:txBody>
          <a:bodyPr vert="horz" wrap="square" lIns="0" tIns="12065" rIns="0" bIns="0" rtlCol="0">
            <a:spAutoFit/>
          </a:bodyPr>
          <a:lstStyle/>
          <a:p>
            <a:pPr marL="12700" algn="ctr">
              <a:lnSpc>
                <a:spcPct val="100000"/>
              </a:lnSpc>
              <a:spcBef>
                <a:spcPts val="95"/>
              </a:spcBef>
            </a:pPr>
            <a:r>
              <a:rPr lang="en-US" sz="3200" b="1" dirty="0"/>
              <a:t>Cloud Migration</a:t>
            </a:r>
            <a:r>
              <a:rPr sz="3200" b="1" spc="-5" dirty="0">
                <a:solidFill>
                  <a:srgbClr val="000000"/>
                </a:solidFill>
                <a:cs typeface="Calibri"/>
              </a:rPr>
              <a:t>?</a:t>
            </a:r>
            <a:endParaRPr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383540" y="943813"/>
            <a:ext cx="8343265" cy="4027385"/>
          </a:xfrm>
          <a:prstGeom prst="rect">
            <a:avLst/>
          </a:prstGeom>
        </p:spPr>
        <p:txBody>
          <a:bodyPr vert="horz" wrap="square" lIns="0" tIns="13335" rIns="0" bIns="0" rtlCol="0">
            <a:spAutoFit/>
          </a:bodyPr>
          <a:lstStyle/>
          <a:p>
            <a:pPr algn="just"/>
            <a:r>
              <a:rPr lang="en-US" sz="2400" dirty="0"/>
              <a:t>A cloud migration is when a company moves some or all of its data center capabilities into the cloud, usually to run on the cloud-based infrastructure provided by a cloud service provider such as AWS, Google Cloud, or Azure.</a:t>
            </a:r>
            <a:endParaRPr kumimoji="0" lang="en-US" sz="2400" b="0" i="0" u="none" strike="noStrike" kern="1200" cap="none" spc="0" normalizeH="0" baseline="0" noProof="0" dirty="0">
              <a:ln>
                <a:noFill/>
              </a:ln>
              <a:solidFill>
                <a:schemeClr val="tx2"/>
              </a:solidFill>
              <a:effectLst/>
              <a:uLnTx/>
              <a:uFillTx/>
              <a:ea typeface="+mj-ea"/>
              <a:cs typeface="+mj-cs"/>
            </a:endParaRPr>
          </a:p>
          <a:p>
            <a:pPr algn="just"/>
            <a:r>
              <a:rPr kumimoji="0" lang="en-US" sz="2400" b="1" i="0" u="none" strike="noStrike" kern="1200" cap="none" spc="0" normalizeH="0" baseline="0" noProof="0" dirty="0">
                <a:ln>
                  <a:noFill/>
                </a:ln>
                <a:solidFill>
                  <a:schemeClr val="tx2"/>
                </a:solidFill>
                <a:effectLst/>
                <a:uLnTx/>
                <a:uFillTx/>
                <a:ea typeface="+mj-ea"/>
                <a:cs typeface="+mj-cs"/>
              </a:rPr>
              <a:t>Questions</a:t>
            </a:r>
            <a:endParaRPr lang="en-US" sz="2400" b="1" i="1" dirty="0">
              <a:solidFill>
                <a:schemeClr val="accent6">
                  <a:lumMod val="75000"/>
                </a:schemeClr>
              </a:solidFill>
            </a:endParaRPr>
          </a:p>
          <a:p>
            <a:r>
              <a:rPr lang="en-US" sz="2400" i="1" dirty="0">
                <a:solidFill>
                  <a:schemeClr val="accent6">
                    <a:lumMod val="75000"/>
                  </a:schemeClr>
                </a:solidFill>
              </a:rPr>
              <a:t>When and how to migrate one’s application into cloud?</a:t>
            </a:r>
          </a:p>
          <a:p>
            <a:r>
              <a:rPr lang="en-US" sz="2400" i="1" dirty="0">
                <a:solidFill>
                  <a:schemeClr val="accent6">
                    <a:lumMod val="75000"/>
                  </a:schemeClr>
                </a:solidFill>
              </a:rPr>
              <a:t>What part of the IT application to migrate into a cloud?</a:t>
            </a:r>
          </a:p>
          <a:p>
            <a:r>
              <a:rPr lang="en-US" sz="2400" i="1" dirty="0">
                <a:solidFill>
                  <a:schemeClr val="accent6">
                    <a:lumMod val="75000"/>
                  </a:schemeClr>
                </a:solidFill>
              </a:rPr>
              <a:t>What not to migrate into a cloud?</a:t>
            </a:r>
          </a:p>
          <a:p>
            <a:r>
              <a:rPr lang="en-US" sz="2400" i="1" dirty="0">
                <a:solidFill>
                  <a:schemeClr val="accent6">
                    <a:lumMod val="75000"/>
                  </a:schemeClr>
                </a:solidFill>
              </a:rPr>
              <a:t>What kind of customers really benefit from migrating their IT into the cloud?</a:t>
            </a:r>
          </a:p>
          <a:p>
            <a:pPr marL="355600" indent="-342900" algn="just">
              <a:lnSpc>
                <a:spcPct val="100000"/>
              </a:lnSpc>
              <a:spcBef>
                <a:spcPts val="105"/>
              </a:spcBef>
              <a:buFont typeface="Arial MT"/>
              <a:buChar char="•"/>
              <a:tabLst>
                <a:tab pos="354965" algn="l"/>
                <a:tab pos="355600" algn="l"/>
              </a:tabLst>
            </a:pPr>
            <a:endParaRPr sz="20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242196"/>
            <a:ext cx="5485511" cy="504625"/>
          </a:xfrm>
          <a:prstGeom prst="rect">
            <a:avLst/>
          </a:prstGeom>
        </p:spPr>
        <p:txBody>
          <a:bodyPr vert="horz" wrap="square" lIns="0" tIns="12065" rIns="0" bIns="0" rtlCol="0">
            <a:spAutoFit/>
          </a:bodyPr>
          <a:lstStyle/>
          <a:p>
            <a:pPr marL="12700" algn="ctr">
              <a:lnSpc>
                <a:spcPct val="100000"/>
              </a:lnSpc>
              <a:spcBef>
                <a:spcPts val="95"/>
              </a:spcBef>
            </a:pPr>
            <a:r>
              <a:rPr lang="en-US" sz="3200" b="1" dirty="0">
                <a:solidFill>
                  <a:schemeClr val="tx1"/>
                </a:solidFill>
              </a:rPr>
              <a:t>Cloud Migration</a:t>
            </a:r>
            <a:endParaRPr dirty="0">
              <a:solidFill>
                <a:schemeClr val="tx1"/>
              </a:solidFill>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
        <p:nvSpPr>
          <p:cNvPr id="8" name="TextBox 7">
            <a:extLst>
              <a:ext uri="{FF2B5EF4-FFF2-40B4-BE49-F238E27FC236}">
                <a16:creationId xmlns:a16="http://schemas.microsoft.com/office/drawing/2014/main" id="{4C767373-8E0A-FF5F-1708-8B5B766268E7}"/>
              </a:ext>
            </a:extLst>
          </p:cNvPr>
          <p:cNvSpPr txBox="1"/>
          <p:nvPr/>
        </p:nvSpPr>
        <p:spPr>
          <a:xfrm>
            <a:off x="685800" y="1428750"/>
            <a:ext cx="7924800" cy="332398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Definition: Transitioning workloads, applications, and data from on-premises to the cloud.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Importance: Scalability, cost-efficiency, and access to modern technology.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Key Drivers: Flexibility, performance, and competitive advantage.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590550"/>
            <a:ext cx="4724400" cy="504625"/>
          </a:xfrm>
          <a:prstGeom prst="rect">
            <a:avLst/>
          </a:prstGeom>
        </p:spPr>
        <p:txBody>
          <a:bodyPr vert="horz" wrap="square" lIns="0" tIns="12065" rIns="0" bIns="0" rtlCol="0">
            <a:spAutoFit/>
          </a:bodyPr>
          <a:lstStyle/>
          <a:p>
            <a:pPr marL="12700" algn="ctr">
              <a:lnSpc>
                <a:spcPct val="100000"/>
              </a:lnSpc>
              <a:spcBef>
                <a:spcPts val="95"/>
              </a:spcBef>
            </a:pPr>
            <a:r>
              <a:rPr lang="en-US" sz="3200" b="1" dirty="0"/>
              <a:t>Benefits of Cloud Migration</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
        <p:nvSpPr>
          <p:cNvPr id="7" name="Rectangle 2">
            <a:extLst>
              <a:ext uri="{FF2B5EF4-FFF2-40B4-BE49-F238E27FC236}">
                <a16:creationId xmlns:a16="http://schemas.microsoft.com/office/drawing/2014/main" id="{B43FB7EC-A111-B1A3-DDCD-F31EE019AA0B}"/>
              </a:ext>
            </a:extLst>
          </p:cNvPr>
          <p:cNvSpPr>
            <a:spLocks noChangeArrowheads="1"/>
          </p:cNvSpPr>
          <p:nvPr/>
        </p:nvSpPr>
        <p:spPr bwMode="auto">
          <a:xfrm>
            <a:off x="257175" y="1151568"/>
            <a:ext cx="33528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Scalability and flexibility.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Cost optimization (</a:t>
            </a:r>
            <a:r>
              <a:rPr kumimoji="0" lang="en-US" altLang="en-US" sz="2400" b="0" i="0" u="none" strike="noStrike" cap="none" normalizeH="0" baseline="0" dirty="0" err="1">
                <a:ln>
                  <a:noFill/>
                </a:ln>
                <a:solidFill>
                  <a:schemeClr val="tx1"/>
                </a:solidFill>
                <a:effectLst/>
              </a:rPr>
              <a:t>CapEx</a:t>
            </a:r>
            <a:r>
              <a:rPr kumimoji="0" lang="en-US" altLang="en-US" sz="2400" b="0" i="0" u="none" strike="noStrike" cap="none" normalizeH="0" baseline="0" dirty="0">
                <a:ln>
                  <a:noFill/>
                </a:ln>
                <a:solidFill>
                  <a:schemeClr val="tx1"/>
                </a:solidFill>
                <a:effectLst/>
              </a:rPr>
              <a:t> to </a:t>
            </a:r>
            <a:r>
              <a:rPr kumimoji="0" lang="en-US" altLang="en-US" sz="2400" b="0" i="0" u="none" strike="noStrike" cap="none" normalizeH="0" baseline="0" dirty="0" err="1">
                <a:ln>
                  <a:noFill/>
                </a:ln>
                <a:solidFill>
                  <a:schemeClr val="tx1"/>
                </a:solidFill>
                <a:effectLst/>
              </a:rPr>
              <a:t>OpEx</a:t>
            </a:r>
            <a:r>
              <a:rPr kumimoji="0" lang="en-US" altLang="en-US"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Global reach, disaster recovery, and innovation opportunities. </a:t>
            </a:r>
          </a:p>
        </p:txBody>
      </p:sp>
      <p:pic>
        <p:nvPicPr>
          <p:cNvPr id="8" name="Content Placeholder 3">
            <a:extLst>
              <a:ext uri="{FF2B5EF4-FFF2-40B4-BE49-F238E27FC236}">
                <a16:creationId xmlns:a16="http://schemas.microsoft.com/office/drawing/2014/main" id="{4F46523D-5887-3634-D7DB-E02ABF637577}"/>
              </a:ext>
            </a:extLst>
          </p:cNvPr>
          <p:cNvPicPr>
            <a:picLocks noGrp="1" noChangeAspect="1"/>
          </p:cNvPicPr>
          <p:nvPr>
            <p:ph idx="1"/>
          </p:nvPr>
        </p:nvPicPr>
        <p:blipFill>
          <a:blip r:embed="rId2"/>
          <a:stretch>
            <a:fillRect/>
          </a:stretch>
        </p:blipFill>
        <p:spPr>
          <a:xfrm>
            <a:off x="3505200" y="1151568"/>
            <a:ext cx="5579017" cy="36156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8399" y="-120"/>
            <a:ext cx="5029201" cy="998350"/>
          </a:xfrm>
          <a:prstGeom prst="rect">
            <a:avLst/>
          </a:prstGeom>
        </p:spPr>
        <p:txBody>
          <a:bodyPr vert="horz" wrap="square" lIns="0" tIns="13335" rIns="0" bIns="0" rtlCol="0">
            <a:spAutoFit/>
          </a:bodyPr>
          <a:lstStyle/>
          <a:p>
            <a:pPr marL="12700" algn="ctr">
              <a:lnSpc>
                <a:spcPct val="100000"/>
              </a:lnSpc>
              <a:spcBef>
                <a:spcPts val="105"/>
              </a:spcBef>
            </a:pPr>
            <a:r>
              <a:rPr lang="en-US" sz="3200" b="1" dirty="0"/>
              <a:t>Broad Approaches to Cloud Migration</a:t>
            </a:r>
            <a:r>
              <a:rPr sz="3200" b="1" dirty="0">
                <a:solidFill>
                  <a:srgbClr val="000000"/>
                </a:solidFill>
                <a:latin typeface="Calibri"/>
                <a:cs typeface="Calibri"/>
              </a:rPr>
              <a:t>?</a:t>
            </a:r>
            <a:endParaRPr sz="32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7AA37BE4-D359-F7F7-EA1C-FE3FDDA07188}"/>
              </a:ext>
            </a:extLst>
          </p:cNvPr>
          <p:cNvSpPr>
            <a:spLocks noChangeArrowheads="1"/>
          </p:cNvSpPr>
          <p:nvPr/>
        </p:nvSpPr>
        <p:spPr bwMode="auto">
          <a:xfrm>
            <a:off x="381000" y="1228125"/>
            <a:ext cx="8534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Rehosting</a:t>
            </a:r>
            <a:r>
              <a:rPr kumimoji="0" lang="en-US" altLang="en-US" sz="2400" b="0" i="0" u="none" strike="noStrike" cap="none" normalizeH="0" baseline="0" dirty="0">
                <a:ln>
                  <a:noFill/>
                </a:ln>
                <a:solidFill>
                  <a:schemeClr val="tx1"/>
                </a:solidFill>
                <a:effectLst/>
              </a:rPr>
              <a:t> ("Lift and Shift"): Migrating applications as-is with minimal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rPr>
              <a:t>Replatforming</a:t>
            </a:r>
            <a:r>
              <a:rPr kumimoji="0" lang="en-US" altLang="en-US" sz="2400" b="0" i="0" u="none" strike="noStrike" cap="none" normalizeH="0" baseline="0" dirty="0">
                <a:ln>
                  <a:noFill/>
                </a:ln>
                <a:solidFill>
                  <a:schemeClr val="tx1"/>
                </a:solidFill>
                <a:effectLst/>
              </a:rPr>
              <a:t>: Optimizing applications for the cloud without major changes.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Rearchitecting</a:t>
            </a:r>
            <a:r>
              <a:rPr kumimoji="0" lang="en-US" altLang="en-US" sz="2400" b="0" i="0" u="none" strike="noStrike" cap="none" normalizeH="0" baseline="0" dirty="0">
                <a:ln>
                  <a:noFill/>
                </a:ln>
                <a:solidFill>
                  <a:schemeClr val="tx1"/>
                </a:solidFill>
                <a:effectLst/>
              </a:rPr>
              <a:t>: Redesigning applications to leverage cloud-native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Repurchasing</a:t>
            </a:r>
            <a:r>
              <a:rPr kumimoji="0" lang="en-US" altLang="en-US" sz="2400" b="0" i="0" u="none" strike="noStrike" cap="none" normalizeH="0" baseline="0" dirty="0">
                <a:ln>
                  <a:noFill/>
                </a:ln>
                <a:solidFill>
                  <a:schemeClr val="tx1"/>
                </a:solidFill>
                <a:effectLst/>
              </a:rPr>
              <a:t>: Moving to a new cloud-based solution (e.g., SaaS).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Retiring/Retaining</a:t>
            </a:r>
            <a:r>
              <a:rPr kumimoji="0" lang="en-US" altLang="en-US" sz="2400" b="0" i="0" u="none" strike="noStrike" cap="none" normalizeH="0" baseline="0" dirty="0">
                <a:ln>
                  <a:noFill/>
                </a:ln>
                <a:solidFill>
                  <a:schemeClr val="tx1"/>
                </a:solidFill>
                <a:effectLst/>
              </a:rPr>
              <a:t>: Decommissioning outdated apps or keeping them on-premises.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14350"/>
            <a:ext cx="5318251" cy="505908"/>
          </a:xfrm>
          <a:prstGeom prst="rect">
            <a:avLst/>
          </a:prstGeom>
        </p:spPr>
        <p:txBody>
          <a:bodyPr vert="horz" wrap="square" lIns="0" tIns="13335" rIns="0" bIns="0" rtlCol="0">
            <a:spAutoFit/>
          </a:bodyPr>
          <a:lstStyle/>
          <a:p>
            <a:pPr marL="12700" algn="ctr">
              <a:lnSpc>
                <a:spcPct val="100000"/>
              </a:lnSpc>
              <a:spcBef>
                <a:spcPts val="105"/>
              </a:spcBef>
            </a:pPr>
            <a:r>
              <a:rPr lang="en-US" b="1" dirty="0">
                <a:latin typeface="+mn-lt"/>
              </a:rPr>
              <a:t>Seven-Step Migration Model</a:t>
            </a:r>
            <a:endParaRPr b="1" dirty="0">
              <a:latin typeface="+mn-lt"/>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11</a:t>
            </a:r>
          </a:p>
        </p:txBody>
      </p:sp>
      <p:sp>
        <p:nvSpPr>
          <p:cNvPr id="5" name="Footer Placeholder 4">
            <a:extLst>
              <a:ext uri="{FF2B5EF4-FFF2-40B4-BE49-F238E27FC236}">
                <a16:creationId xmlns:a16="http://schemas.microsoft.com/office/drawing/2014/main" id="{047BC097-630E-D63D-0D95-BC83782D070B}"/>
              </a:ext>
            </a:extLst>
          </p:cNvPr>
          <p:cNvSpPr>
            <a:spLocks noGrp="1"/>
          </p:cNvSpPr>
          <p:nvPr>
            <p:ph type="ftr" sz="quarter" idx="11"/>
          </p:nvPr>
        </p:nvSpPr>
        <p:spPr/>
        <p:txBody>
          <a:bodyPr/>
          <a:lstStyle/>
          <a:p>
            <a:r>
              <a:rPr lang="en-US"/>
              <a:t>Department of Computer Application</a:t>
            </a:r>
          </a:p>
          <a:p>
            <a:endParaRPr lang="en-US" dirty="0"/>
          </a:p>
        </p:txBody>
      </p:sp>
      <p:pic>
        <p:nvPicPr>
          <p:cNvPr id="6146" name="Picture 2">
            <a:extLst>
              <a:ext uri="{FF2B5EF4-FFF2-40B4-BE49-F238E27FC236}">
                <a16:creationId xmlns:a16="http://schemas.microsoft.com/office/drawing/2014/main" id="{113E0B0A-29CA-ED14-C328-8454AC58AA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715" y="1041808"/>
            <a:ext cx="5092935" cy="39992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299686"/>
            <a:ext cx="3009900"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spc="-50" dirty="0">
                <a:solidFill>
                  <a:srgbClr val="000000"/>
                </a:solidFill>
                <a:latin typeface="Calibri"/>
                <a:cs typeface="Calibri"/>
              </a:rPr>
              <a:t>Continue</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12</a:t>
            </a:r>
          </a:p>
        </p:txBody>
      </p:sp>
      <p:sp>
        <p:nvSpPr>
          <p:cNvPr id="3" name="object 3"/>
          <p:cNvSpPr txBox="1"/>
          <p:nvPr/>
        </p:nvSpPr>
        <p:spPr>
          <a:xfrm>
            <a:off x="459740" y="1107183"/>
            <a:ext cx="8070215" cy="4067139"/>
          </a:xfrm>
          <a:prstGeom prst="rect">
            <a:avLst/>
          </a:prstGeom>
        </p:spPr>
        <p:txBody>
          <a:bodyPr vert="horz" wrap="square" lIns="0" tIns="12065" rIns="0" bIns="0" rtlCol="0">
            <a:spAutoFit/>
          </a:bodyPr>
          <a:lstStyle/>
          <a:p>
            <a:pPr algn="just" rtl="0" fontAlgn="base">
              <a:spcAft>
                <a:spcPts val="750"/>
              </a:spcAft>
            </a:pPr>
            <a:r>
              <a:rPr lang="en-US" sz="2400" b="1" i="0" dirty="0">
                <a:solidFill>
                  <a:srgbClr val="273239"/>
                </a:solidFill>
                <a:effectLst/>
              </a:rPr>
              <a:t>Step 1: Choose the right cloud provider ( Assessment step)</a:t>
            </a:r>
            <a:endParaRPr lang="en-US" sz="2400" b="0" i="0" dirty="0">
              <a:solidFill>
                <a:srgbClr val="273239"/>
              </a:solidFill>
              <a:effectLst/>
            </a:endParaRPr>
          </a:p>
          <a:p>
            <a:pPr algn="just" rtl="0" fontAlgn="base">
              <a:spcAft>
                <a:spcPts val="750"/>
              </a:spcAft>
            </a:pPr>
            <a:r>
              <a:rPr lang="en-US" sz="2400" b="0" i="0" dirty="0">
                <a:solidFill>
                  <a:srgbClr val="273239"/>
                </a:solidFill>
                <a:effectLst/>
              </a:rPr>
              <a:t>The first step in migrating your model to the cloud is to choose a cloud provider that aligns with your needs, budget, and model requirement. consider the factors such as compliance, privacy, and security.</a:t>
            </a:r>
          </a:p>
          <a:p>
            <a:pPr algn="just" rtl="0" fontAlgn="base">
              <a:spcAft>
                <a:spcPts val="750"/>
              </a:spcAft>
            </a:pPr>
            <a:r>
              <a:rPr lang="en-US" sz="2400" b="1" i="0" dirty="0">
                <a:solidFill>
                  <a:srgbClr val="273239"/>
                </a:solidFill>
                <a:effectLst/>
              </a:rPr>
              <a:t>Step 2: Prepare your data ( Isolation step)</a:t>
            </a:r>
            <a:endParaRPr lang="en-US" sz="2400" b="0" i="0" dirty="0">
              <a:solidFill>
                <a:srgbClr val="273239"/>
              </a:solidFill>
              <a:effectLst/>
            </a:endParaRPr>
          </a:p>
          <a:p>
            <a:pPr algn="just" rtl="0" fontAlgn="base">
              <a:spcAft>
                <a:spcPts val="750"/>
              </a:spcAft>
            </a:pPr>
            <a:r>
              <a:rPr lang="en-US" sz="2400" b="0" i="0" dirty="0">
                <a:solidFill>
                  <a:srgbClr val="273239"/>
                </a:solidFill>
                <a:effectLst/>
              </a:rPr>
              <a:t>Before migrating to your cloud, you need to prepare your data. for that ensure your data is clean and well organized, and in a format that is compatible with your chosen cloud provider.</a:t>
            </a:r>
          </a:p>
          <a:p>
            <a:pPr marL="355600" marR="344170" indent="-342900" algn="just">
              <a:lnSpc>
                <a:spcPct val="100000"/>
              </a:lnSpc>
              <a:spcBef>
                <a:spcPts val="95"/>
              </a:spcBef>
              <a:buFont typeface="Arial MT"/>
              <a:buChar char="•"/>
              <a:tabLst>
                <a:tab pos="354965" algn="l"/>
                <a:tab pos="355600" algn="l"/>
              </a:tabLst>
            </a:pPr>
            <a:endParaRPr sz="2000" dirty="0">
              <a:latin typeface="Calibri"/>
              <a:cs typeface="Calibri"/>
            </a:endParaRPr>
          </a:p>
        </p:txBody>
      </p:sp>
      <p:sp>
        <p:nvSpPr>
          <p:cNvPr id="5" name="Footer Placeholder 4">
            <a:extLst>
              <a:ext uri="{FF2B5EF4-FFF2-40B4-BE49-F238E27FC236}">
                <a16:creationId xmlns:a16="http://schemas.microsoft.com/office/drawing/2014/main" id="{942E2581-DD1F-3E3B-B692-F34C7976927D}"/>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373" y="345673"/>
            <a:ext cx="3009900"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spc="-50" dirty="0">
                <a:solidFill>
                  <a:srgbClr val="000000"/>
                </a:solidFill>
                <a:latin typeface="Calibri"/>
                <a:cs typeface="Calibri"/>
              </a:rPr>
              <a:t>Continue</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13</a:t>
            </a:r>
          </a:p>
        </p:txBody>
      </p:sp>
      <p:sp>
        <p:nvSpPr>
          <p:cNvPr id="3" name="object 3"/>
          <p:cNvSpPr txBox="1"/>
          <p:nvPr/>
        </p:nvSpPr>
        <p:spPr>
          <a:xfrm>
            <a:off x="566420" y="971550"/>
            <a:ext cx="8011159" cy="4600618"/>
          </a:xfrm>
          <a:prstGeom prst="rect">
            <a:avLst/>
          </a:prstGeom>
        </p:spPr>
        <p:txBody>
          <a:bodyPr vert="horz" wrap="square" lIns="0" tIns="12065" rIns="0" bIns="0" rtlCol="0">
            <a:spAutoFit/>
          </a:bodyPr>
          <a:lstStyle/>
          <a:p>
            <a:pPr algn="just" rtl="0" fontAlgn="base">
              <a:spcAft>
                <a:spcPts val="750"/>
              </a:spcAft>
            </a:pPr>
            <a:r>
              <a:rPr lang="en-US" sz="2400" b="1" i="0" dirty="0">
                <a:effectLst/>
              </a:rPr>
              <a:t>Step 3: Choose your cloud storage ( Mapping step)</a:t>
            </a:r>
            <a:br>
              <a:rPr lang="en-US" sz="2400" b="0" i="0" dirty="0">
                <a:effectLst/>
              </a:rPr>
            </a:br>
            <a:r>
              <a:rPr lang="en-US" sz="2400" b="0" i="0" dirty="0">
                <a:effectLst/>
              </a:rPr>
              <a:t>Once your data is prepared, you need to choose your cloud storage. This is where your data is stored in the cloud. there are many cloud storage services such as GCP Cloud Storage, AWS S3, or Azure Blob Storage.</a:t>
            </a:r>
          </a:p>
          <a:p>
            <a:pPr algn="just" rtl="0" fontAlgn="base">
              <a:spcAft>
                <a:spcPts val="750"/>
              </a:spcAft>
            </a:pPr>
            <a:r>
              <a:rPr lang="en-US" sz="2400" b="1" i="0" dirty="0">
                <a:effectLst/>
              </a:rPr>
              <a:t>Step 4: Set up your cloud computing resources and deploy your model(Re-architect) </a:t>
            </a:r>
            <a:br>
              <a:rPr lang="en-US" sz="2400" b="0" i="0" dirty="0">
                <a:effectLst/>
              </a:rPr>
            </a:br>
            <a:r>
              <a:rPr lang="en-US" sz="2400" b="0" i="0" dirty="0">
                <a:effectLst/>
              </a:rPr>
              <a:t>If you want to run a  model in the cloud, you will need to set up your cloud computing resources. This includes selecting the appropriate instance type and setting up a virtual machine(VM) or container for your model. </a:t>
            </a:r>
          </a:p>
          <a:p>
            <a:pPr marL="12065" marR="16510" algn="just">
              <a:lnSpc>
                <a:spcPct val="100000"/>
              </a:lnSpc>
              <a:spcBef>
                <a:spcPts val="95"/>
              </a:spcBef>
              <a:tabLst>
                <a:tab pos="355600" algn="l"/>
                <a:tab pos="356235" algn="l"/>
              </a:tabLst>
            </a:pPr>
            <a:endParaRPr sz="2000" dirty="0">
              <a:latin typeface="Calibri"/>
              <a:cs typeface="Calibri"/>
            </a:endParaRPr>
          </a:p>
        </p:txBody>
      </p:sp>
      <p:sp>
        <p:nvSpPr>
          <p:cNvPr id="5" name="Footer Placeholder 4">
            <a:extLst>
              <a:ext uri="{FF2B5EF4-FFF2-40B4-BE49-F238E27FC236}">
                <a16:creationId xmlns:a16="http://schemas.microsoft.com/office/drawing/2014/main" id="{DA1765B4-9A94-8E52-1BA3-E1A1B93B7A70}"/>
              </a:ext>
            </a:extLst>
          </p:cNvPr>
          <p:cNvSpPr>
            <a:spLocks noGrp="1"/>
          </p:cNvSpPr>
          <p:nvPr>
            <p:ph type="ftr" sz="quarter" idx="11"/>
          </p:nvPr>
        </p:nvSpPr>
        <p:spPr/>
        <p:txBody>
          <a:bodyPr/>
          <a:lstStyle/>
          <a:p>
            <a:r>
              <a:rPr lang="en-US" dirty="0"/>
              <a:t>Department of Computer Application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80714" y="237840"/>
            <a:ext cx="3677286" cy="505908"/>
          </a:xfrm>
          <a:prstGeom prst="rect">
            <a:avLst/>
          </a:prstGeom>
        </p:spPr>
        <p:txBody>
          <a:bodyPr vert="horz" wrap="square" lIns="0" tIns="13335" rIns="0" bIns="0" rtlCol="0">
            <a:spAutoFit/>
          </a:bodyPr>
          <a:lstStyle/>
          <a:p>
            <a:pPr marL="12700">
              <a:lnSpc>
                <a:spcPct val="100000"/>
              </a:lnSpc>
              <a:spcBef>
                <a:spcPts val="105"/>
              </a:spcBef>
            </a:pPr>
            <a:r>
              <a:rPr lang="en-US" b="1" spc="-5" dirty="0">
                <a:solidFill>
                  <a:srgbClr val="000000"/>
                </a:solidFill>
                <a:latin typeface="Calibri"/>
                <a:cs typeface="Calibri"/>
              </a:rPr>
              <a:t>Continue</a:t>
            </a:r>
            <a:endParaRPr b="1" spc="-5" dirty="0">
              <a:solidFill>
                <a:srgbClr val="000000"/>
              </a:solidFill>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14</a:t>
            </a:r>
          </a:p>
        </p:txBody>
      </p:sp>
      <p:sp>
        <p:nvSpPr>
          <p:cNvPr id="6" name="Footer Placeholder 5">
            <a:extLst>
              <a:ext uri="{FF2B5EF4-FFF2-40B4-BE49-F238E27FC236}">
                <a16:creationId xmlns:a16="http://schemas.microsoft.com/office/drawing/2014/main" id="{ED42D926-1AF4-957D-50E7-C9DFBCEC464F}"/>
              </a:ext>
            </a:extLst>
          </p:cNvPr>
          <p:cNvSpPr>
            <a:spLocks noGrp="1"/>
          </p:cNvSpPr>
          <p:nvPr>
            <p:ph type="ftr" sz="quarter" idx="11"/>
          </p:nvPr>
        </p:nvSpPr>
        <p:spPr/>
        <p:txBody>
          <a:bodyPr/>
          <a:lstStyle/>
          <a:p>
            <a:r>
              <a:rPr lang="en-US"/>
              <a:t>Department of Computer Application</a:t>
            </a:r>
          </a:p>
          <a:p>
            <a:endParaRPr lang="en-US" dirty="0"/>
          </a:p>
        </p:txBody>
      </p:sp>
      <p:sp>
        <p:nvSpPr>
          <p:cNvPr id="7" name="TextBox 6">
            <a:extLst>
              <a:ext uri="{FF2B5EF4-FFF2-40B4-BE49-F238E27FC236}">
                <a16:creationId xmlns:a16="http://schemas.microsoft.com/office/drawing/2014/main" id="{310722DA-8220-9A78-1AF9-5A5FB8D1101C}"/>
              </a:ext>
            </a:extLst>
          </p:cNvPr>
          <p:cNvSpPr txBox="1"/>
          <p:nvPr/>
        </p:nvSpPr>
        <p:spPr>
          <a:xfrm>
            <a:off x="457200" y="1200150"/>
            <a:ext cx="8305800" cy="3734356"/>
          </a:xfrm>
          <a:prstGeom prst="rect">
            <a:avLst/>
          </a:prstGeom>
          <a:noFill/>
        </p:spPr>
        <p:txBody>
          <a:bodyPr wrap="square" rtlCol="0">
            <a:spAutoFit/>
          </a:bodyPr>
          <a:lstStyle/>
          <a:p>
            <a:pPr algn="just" rtl="0" fontAlgn="base">
              <a:spcAft>
                <a:spcPts val="750"/>
              </a:spcAft>
            </a:pPr>
            <a:r>
              <a:rPr lang="en-US" sz="2400" b="1" i="0" dirty="0">
                <a:effectLst/>
              </a:rPr>
              <a:t>Step-5: Augmentation step</a:t>
            </a:r>
            <a:endParaRPr lang="en-US" sz="2400" b="0" i="0" dirty="0">
              <a:effectLst/>
            </a:endParaRPr>
          </a:p>
          <a:p>
            <a:pPr algn="just" rtl="0" fontAlgn="base">
              <a:spcAft>
                <a:spcPts val="750"/>
              </a:spcAft>
            </a:pPr>
            <a:r>
              <a:rPr lang="en-US" sz="2400" b="0" i="0" dirty="0">
                <a:effectLst/>
              </a:rPr>
              <a:t>It is the most important step for our business for which we migrate to the cloud in this step by taking leverage of the internal features of cloud computing service we augment our enterprise.</a:t>
            </a:r>
          </a:p>
          <a:p>
            <a:pPr algn="just" rtl="0" fontAlgn="base">
              <a:spcAft>
                <a:spcPts val="750"/>
              </a:spcAft>
            </a:pPr>
            <a:r>
              <a:rPr lang="en-US" sz="2400" b="1" i="0" dirty="0">
                <a:effectLst/>
              </a:rPr>
              <a:t>Step 6: Test your Model</a:t>
            </a:r>
            <a:endParaRPr lang="en-US" sz="2400" b="0" i="0" dirty="0">
              <a:effectLst/>
            </a:endParaRPr>
          </a:p>
          <a:p>
            <a:pPr algn="just" rtl="0" fontAlgn="base">
              <a:spcAft>
                <a:spcPts val="750"/>
              </a:spcAft>
            </a:pPr>
            <a:r>
              <a:rPr lang="en-US" sz="2400" b="0" i="0" dirty="0">
                <a:effectLst/>
              </a:rPr>
              <a:t>Once your model is deployed, we need to test it to ensure that it is working or not. That involves running test data through your model and comparing the results with your expected output.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7C05-BB9F-38E3-DEBA-9DC072AF22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433EE24-6749-D443-C625-6F8CAABC8BB0}"/>
              </a:ext>
            </a:extLst>
          </p:cNvPr>
          <p:cNvSpPr txBox="1">
            <a:spLocks noGrp="1"/>
          </p:cNvSpPr>
          <p:nvPr>
            <p:ph type="title"/>
          </p:nvPr>
        </p:nvSpPr>
        <p:spPr>
          <a:xfrm>
            <a:off x="3180714" y="237840"/>
            <a:ext cx="3677286" cy="505908"/>
          </a:xfrm>
          <a:prstGeom prst="rect">
            <a:avLst/>
          </a:prstGeom>
        </p:spPr>
        <p:txBody>
          <a:bodyPr vert="horz" wrap="square" lIns="0" tIns="13335" rIns="0" bIns="0" rtlCol="0">
            <a:spAutoFit/>
          </a:bodyPr>
          <a:lstStyle/>
          <a:p>
            <a:pPr marL="12700">
              <a:lnSpc>
                <a:spcPct val="100000"/>
              </a:lnSpc>
              <a:spcBef>
                <a:spcPts val="105"/>
              </a:spcBef>
            </a:pPr>
            <a:r>
              <a:rPr lang="en-US" b="1" spc="-5" dirty="0">
                <a:solidFill>
                  <a:srgbClr val="000000"/>
                </a:solidFill>
                <a:latin typeface="Calibri"/>
                <a:cs typeface="Calibri"/>
              </a:rPr>
              <a:t>Continue</a:t>
            </a:r>
            <a:endParaRPr b="1" spc="-5" dirty="0">
              <a:solidFill>
                <a:srgbClr val="000000"/>
              </a:solidFill>
              <a:latin typeface="Calibri"/>
              <a:cs typeface="Calibri"/>
            </a:endParaRPr>
          </a:p>
        </p:txBody>
      </p:sp>
      <p:sp>
        <p:nvSpPr>
          <p:cNvPr id="4" name="object 4">
            <a:extLst>
              <a:ext uri="{FF2B5EF4-FFF2-40B4-BE49-F238E27FC236}">
                <a16:creationId xmlns:a16="http://schemas.microsoft.com/office/drawing/2014/main" id="{90D3246F-499B-CD0E-B038-A0064DCDF589}"/>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14</a:t>
            </a:r>
          </a:p>
        </p:txBody>
      </p:sp>
      <p:sp>
        <p:nvSpPr>
          <p:cNvPr id="6" name="Footer Placeholder 5">
            <a:extLst>
              <a:ext uri="{FF2B5EF4-FFF2-40B4-BE49-F238E27FC236}">
                <a16:creationId xmlns:a16="http://schemas.microsoft.com/office/drawing/2014/main" id="{18C5EA0D-016B-62FE-0F93-F381C4E88B2F}"/>
              </a:ext>
            </a:extLst>
          </p:cNvPr>
          <p:cNvSpPr>
            <a:spLocks noGrp="1"/>
          </p:cNvSpPr>
          <p:nvPr>
            <p:ph type="ftr" sz="quarter" idx="11"/>
          </p:nvPr>
        </p:nvSpPr>
        <p:spPr/>
        <p:txBody>
          <a:bodyPr/>
          <a:lstStyle/>
          <a:p>
            <a:r>
              <a:rPr lang="en-US"/>
              <a:t>Department of Computer Application</a:t>
            </a:r>
          </a:p>
          <a:p>
            <a:endParaRPr lang="en-US" dirty="0"/>
          </a:p>
        </p:txBody>
      </p:sp>
      <p:sp>
        <p:nvSpPr>
          <p:cNvPr id="7" name="TextBox 6">
            <a:extLst>
              <a:ext uri="{FF2B5EF4-FFF2-40B4-BE49-F238E27FC236}">
                <a16:creationId xmlns:a16="http://schemas.microsoft.com/office/drawing/2014/main" id="{B6AFF88D-0DD7-EDEF-B237-84D4CF980B6D}"/>
              </a:ext>
            </a:extLst>
          </p:cNvPr>
          <p:cNvSpPr txBox="1"/>
          <p:nvPr/>
        </p:nvSpPr>
        <p:spPr>
          <a:xfrm>
            <a:off x="457200" y="1200150"/>
            <a:ext cx="8305800" cy="4001095"/>
          </a:xfrm>
          <a:prstGeom prst="rect">
            <a:avLst/>
          </a:prstGeom>
          <a:noFill/>
        </p:spPr>
        <p:txBody>
          <a:bodyPr wrap="square" rtlCol="0">
            <a:spAutoFit/>
          </a:bodyPr>
          <a:lstStyle/>
          <a:p>
            <a:pPr algn="just" rtl="0" fontAlgn="base">
              <a:spcAft>
                <a:spcPts val="750"/>
              </a:spcAft>
            </a:pPr>
            <a:r>
              <a:rPr lang="en-US" sz="2400" b="1" i="0" dirty="0">
                <a:effectLst/>
              </a:rPr>
              <a:t>Step 7: Monitor and maintain your Model</a:t>
            </a:r>
            <a:endParaRPr lang="en-US" sz="2400" b="0" i="0" dirty="0">
              <a:effectLst/>
            </a:endParaRPr>
          </a:p>
          <a:p>
            <a:pPr algn="just" rtl="0" fontAlgn="base">
              <a:spcAft>
                <a:spcPts val="750"/>
              </a:spcAft>
            </a:pPr>
            <a:r>
              <a:rPr lang="en-US" sz="2400" b="0" i="0" dirty="0">
                <a:effectLst/>
              </a:rPr>
              <a:t>After the model is deployed and tested, it is important to monitor and maintain it. That includes monitoring the performance, updating the model as needed, and need to ensure your data stays up-to-date. </a:t>
            </a:r>
          </a:p>
          <a:p>
            <a:pPr algn="just" rtl="0" fontAlgn="base">
              <a:spcAft>
                <a:spcPts val="750"/>
              </a:spcAft>
            </a:pPr>
            <a:r>
              <a:rPr lang="en-US" sz="2400" b="0" i="0" dirty="0">
                <a:effectLst/>
              </a:rPr>
              <a:t>Migrating your machine learning model to the cloud can be a complex process, but above 7 steps, you can help ensure a smooth and successful migration, ensuring that your model is scalable and accessible.</a:t>
            </a:r>
          </a:p>
          <a:p>
            <a:endParaRPr lang="en-US" dirty="0"/>
          </a:p>
        </p:txBody>
      </p:sp>
    </p:spTree>
    <p:extLst>
      <p:ext uri="{BB962C8B-B14F-4D97-AF65-F5344CB8AC3E}">
        <p14:creationId xmlns:p14="http://schemas.microsoft.com/office/powerpoint/2010/main" val="2322361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19</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3"/>
          <a:stretch>
            <a:fillRect/>
          </a:stretch>
        </p:blipFill>
        <p:spPr>
          <a:xfrm>
            <a:off x="7290715" y="72947"/>
            <a:ext cx="1782539" cy="530631"/>
          </a:xfrm>
          <a:prstGeom prst="rect">
            <a:avLst/>
          </a:prstGeom>
        </p:spPr>
      </p:pic>
      <p:sp>
        <p:nvSpPr>
          <p:cNvPr id="8" name="Rectangle 1">
            <a:extLst>
              <a:ext uri="{FF2B5EF4-FFF2-40B4-BE49-F238E27FC236}">
                <a16:creationId xmlns:a16="http://schemas.microsoft.com/office/drawing/2014/main" id="{C399FFA3-638D-4B41-C972-8864377E6A38}"/>
              </a:ext>
            </a:extLst>
          </p:cNvPr>
          <p:cNvSpPr>
            <a:spLocks noGrp="1" noChangeArrowheads="1"/>
          </p:cNvSpPr>
          <p:nvPr>
            <p:ph idx="1"/>
          </p:nvPr>
        </p:nvSpPr>
        <p:spPr bwMode="auto">
          <a:xfrm>
            <a:off x="466725" y="753721"/>
            <a:ext cx="8220075" cy="3636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Summary of cloud migration's importance, approaches, and seven-step model.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Emphasize strategic planning and continuous optimization for success.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Call to action: Explore cloud solutions to unlock business potential. </a:t>
            </a:r>
          </a:p>
        </p:txBody>
      </p:sp>
    </p:spTree>
    <p:extLst>
      <p:ext uri="{BB962C8B-B14F-4D97-AF65-F5344CB8AC3E}">
        <p14:creationId xmlns:p14="http://schemas.microsoft.com/office/powerpoint/2010/main" val="955887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55000" lnSpcReduction="20000"/>
          </a:bodyPr>
          <a:lstStyle/>
          <a:p>
            <a:r>
              <a:rPr lang="en-US" sz="2200" dirty="0"/>
              <a:t>Books References</a:t>
            </a:r>
          </a:p>
          <a:p>
            <a:r>
              <a:rPr lang="en-US" sz="2200" dirty="0">
                <a:solidFill>
                  <a:srgbClr val="000000"/>
                </a:solidFill>
                <a:ea typeface="Calibri" panose="020F0502020204030204" pitchFamily="34" charset="0"/>
                <a:cs typeface="Calibri" panose="020F0502020204030204" pitchFamily="34" charset="0"/>
              </a:rPr>
              <a:t>Mastering Cloud Computing, Rajkumar </a:t>
            </a:r>
            <a:r>
              <a:rPr lang="en-US" sz="2200" dirty="0" err="1">
                <a:solidFill>
                  <a:srgbClr val="000000"/>
                </a:solidFill>
                <a:ea typeface="Calibri" panose="020F0502020204030204" pitchFamily="34" charset="0"/>
                <a:cs typeface="Calibri" panose="020F0502020204030204" pitchFamily="34" charset="0"/>
              </a:rPr>
              <a:t>Buyya</a:t>
            </a:r>
            <a:r>
              <a:rPr lang="en-US" sz="2200" dirty="0">
                <a:solidFill>
                  <a:srgbClr val="000000"/>
                </a:solidFill>
                <a:ea typeface="Calibri" panose="020F0502020204030204" pitchFamily="34" charset="0"/>
                <a:cs typeface="Calibri" panose="020F0502020204030204" pitchFamily="34" charset="0"/>
              </a:rPr>
              <a:t>, Christian </a:t>
            </a:r>
            <a:r>
              <a:rPr lang="en-US" sz="2200" dirty="0" err="1">
                <a:solidFill>
                  <a:srgbClr val="000000"/>
                </a:solidFill>
                <a:ea typeface="Calibri" panose="020F0502020204030204" pitchFamily="34" charset="0"/>
                <a:cs typeface="Calibri" panose="020F0502020204030204" pitchFamily="34" charset="0"/>
              </a:rPr>
              <a:t>Vecchiola</a:t>
            </a:r>
            <a:r>
              <a:rPr lang="en-US" sz="2200" dirty="0">
                <a:solidFill>
                  <a:srgbClr val="000000"/>
                </a:solidFill>
                <a:ea typeface="Calibri" panose="020F0502020204030204" pitchFamily="34" charset="0"/>
                <a:cs typeface="Calibri" panose="020F0502020204030204" pitchFamily="34" charset="0"/>
              </a:rPr>
              <a:t>, and </a:t>
            </a:r>
            <a:r>
              <a:rPr lang="en-US" sz="2200" dirty="0" err="1">
                <a:solidFill>
                  <a:srgbClr val="000000"/>
                </a:solidFill>
                <a:ea typeface="Calibri" panose="020F0502020204030204" pitchFamily="34" charset="0"/>
                <a:cs typeface="Calibri" panose="020F0502020204030204" pitchFamily="34" charset="0"/>
              </a:rPr>
              <a:t>ThamaraiSelvi</a:t>
            </a:r>
            <a:r>
              <a:rPr lang="en-US" sz="2200" dirty="0">
                <a:solidFill>
                  <a:srgbClr val="000000"/>
                </a:solidFill>
                <a:ea typeface="Calibri" panose="020F0502020204030204" pitchFamily="34" charset="0"/>
                <a:cs typeface="Calibri" panose="020F0502020204030204" pitchFamily="34" charset="0"/>
              </a:rPr>
              <a:t>, Tata McGraw Hill, ISBN-13: 978-1-25-902995-0, New Delhi, </a:t>
            </a:r>
            <a:r>
              <a:rPr lang="en-US" sz="2200" dirty="0" err="1">
                <a:solidFill>
                  <a:srgbClr val="000000"/>
                </a:solidFill>
                <a:ea typeface="Calibri" panose="020F0502020204030204" pitchFamily="34" charset="0"/>
                <a:cs typeface="Calibri" panose="020F0502020204030204" pitchFamily="34" charset="0"/>
              </a:rPr>
              <a:t>India,Feb</a:t>
            </a:r>
            <a:r>
              <a:rPr lang="en-US" sz="2200" dirty="0">
                <a:solidFill>
                  <a:srgbClr val="000000"/>
                </a:solidFill>
                <a:ea typeface="Calibri" panose="020F0502020204030204" pitchFamily="34" charset="0"/>
                <a:cs typeface="Calibri" panose="020F0502020204030204" pitchFamily="34" charset="0"/>
              </a:rPr>
              <a:t> 2013. </a:t>
            </a:r>
            <a:endParaRPr lang="en-US" sz="2200" dirty="0"/>
          </a:p>
          <a:p>
            <a:pPr marL="0" indent="0">
              <a:buNone/>
            </a:pPr>
            <a:endParaRPr lang="en-US" sz="2200" dirty="0"/>
          </a:p>
          <a:p>
            <a:r>
              <a:rPr lang="en-US" sz="2200" dirty="0"/>
              <a:t>E-book link</a:t>
            </a:r>
          </a:p>
          <a:p>
            <a:r>
              <a:rPr lang="en-US" sz="2200" dirty="0">
                <a:hlinkClick r:id="rId2"/>
              </a:rPr>
              <a:t>https://archive.org/details/cloudcomputingbi0000sosi</a:t>
            </a:r>
            <a:endParaRPr lang="en-US" sz="2200" dirty="0"/>
          </a:p>
          <a:p>
            <a:pPr marL="0" indent="0">
              <a:buNone/>
            </a:pPr>
            <a:endParaRPr lang="en-US" sz="2200" dirty="0"/>
          </a:p>
          <a:p>
            <a:r>
              <a:rPr lang="en-US" sz="2200" dirty="0"/>
              <a:t>YouTube link</a:t>
            </a:r>
          </a:p>
          <a:p>
            <a:r>
              <a:rPr lang="en-US" sz="2200" dirty="0">
                <a:hlinkClick r:id="rId3"/>
              </a:rPr>
              <a:t>https://www.youtube.com/@cloudcomputing351/videos</a:t>
            </a:r>
            <a:endParaRPr lang="en-US" sz="2200" dirty="0"/>
          </a:p>
          <a:p>
            <a:pPr marL="0" indent="0">
              <a:buNone/>
            </a:pPr>
            <a:endParaRPr lang="en-US" sz="2200" dirty="0"/>
          </a:p>
          <a:p>
            <a:pPr>
              <a:buFont typeface="Wingdings" pitchFamily="2" charset="2"/>
              <a:buChar char="Ø"/>
            </a:pPr>
            <a:r>
              <a:rPr lang="en-US" sz="2200" dirty="0">
                <a:hlinkClick r:id="rId4"/>
              </a:rPr>
              <a:t>https://www.slideshare.net/slideshow/cloud-migration-presentation-246744264/246744264?from_action=download&amp;slideshow_id=246744264&amp;original_file=true</a:t>
            </a:r>
            <a:endParaRPr lang="en-US" sz="2200" dirty="0"/>
          </a:p>
          <a:p>
            <a:pPr>
              <a:buFont typeface="Wingdings" pitchFamily="2" charset="2"/>
              <a:buChar char="Ø"/>
            </a:pPr>
            <a:r>
              <a:rPr lang="en-IN" sz="2200" dirty="0">
                <a:hlinkClick r:id="rId5"/>
              </a:rPr>
              <a:t>https://www.geeksforgeeks.org/7-steps-of-migrating-model-in-cloud/</a:t>
            </a:r>
            <a:endParaRPr lang="en-IN" sz="2200" dirty="0"/>
          </a:p>
          <a:p>
            <a:pPr>
              <a:buFont typeface="Wingdings" pitchFamily="2" charset="2"/>
              <a:buChar char="Ø"/>
            </a:pPr>
            <a:r>
              <a:rPr lang="en-IN" sz="2200" dirty="0">
                <a:hlinkClick r:id="rId6"/>
              </a:rPr>
              <a:t>https://nptel.ac.in/courses/106105167</a:t>
            </a:r>
            <a:endParaRPr lang="en-US" sz="2200" dirty="0"/>
          </a:p>
          <a:p>
            <a:pPr>
              <a:buFont typeface="Wingdings" pitchFamily="2" charset="2"/>
              <a:buChar char="Ø"/>
            </a:pPr>
            <a:r>
              <a:rPr lang="en-IN" sz="2200" dirty="0">
                <a:hlinkClick r:id="rId7"/>
              </a:rPr>
              <a:t>https://www.edx.org/learn/cloud-computing</a:t>
            </a:r>
            <a:endParaRPr lang="en-US" sz="22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20</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21</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208</TotalTime>
  <Words>1566</Words>
  <Application>Microsoft Office PowerPoint</Application>
  <PresentationFormat>On-screen Show (16:9)</PresentationFormat>
  <Paragraphs>173</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 MT</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Cloud Migration?</vt:lpstr>
      <vt:lpstr>Cloud Migration</vt:lpstr>
      <vt:lpstr>Benefits of Cloud Migration</vt:lpstr>
      <vt:lpstr>Broad Approaches to Cloud Migration?</vt:lpstr>
      <vt:lpstr>Seven-Step Migration Model</vt:lpstr>
      <vt:lpstr>Continue</vt:lpstr>
      <vt:lpstr>Continue</vt:lpstr>
      <vt:lpstr>Continue</vt:lpstr>
      <vt:lpstr>Continue</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14</cp:revision>
  <dcterms:created xsi:type="dcterms:W3CDTF">2024-12-06T17:10:37Z</dcterms:created>
  <dcterms:modified xsi:type="dcterms:W3CDTF">2024-12-19T15:53:57Z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