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3.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424" r:id="rId15"/>
    <p:sldId id="421" r:id="rId16"/>
    <p:sldId id="422" r:id="rId17"/>
    <p:sldId id="352" r:id="rId1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12/19/2024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12/19/2024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12/19/2024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12/19/2024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12/19/2024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12/19/2024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12/19/2024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12/19/2024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12/19/2024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12/19/2024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12/19/2024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geeksforgeeks.org/7-steps-of-migrating-model-in-cloud/" TargetMode="External"/><Relationship Id="rId4" Type="http://schemas.openxmlformats.org/officeDocument/2006/relationships/hyperlink" Target="https://www.slideshare.net/slideshow/cloud-migration-presentation-246744264/246744264?from_action=download&amp;slideshow_id=246744264&amp;original_file=true"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3200" b="1" dirty="0"/>
              <a:t>Chandigarh School of Business, Jhanjeri</a:t>
            </a:r>
          </a:p>
          <a:p>
            <a:pPr marL="0" indent="0" algn="ctr">
              <a:buNone/>
            </a:pPr>
            <a:r>
              <a:rPr lang="en-US" sz="2800" b="1" dirty="0"/>
              <a:t>Department of Computer Application </a:t>
            </a:r>
          </a:p>
          <a:p>
            <a:pPr marL="0" indent="0" algn="ctr">
              <a:buNone/>
            </a:pPr>
            <a:r>
              <a:rPr lang="en-US" sz="2000" b="1" dirty="0"/>
              <a:t>Program Code: NA</a:t>
            </a:r>
          </a:p>
          <a:p>
            <a:pPr marL="0" indent="0" algn="ctr">
              <a:buNone/>
            </a:pPr>
            <a:r>
              <a:rPr lang="en-US" sz="2000" b="1" dirty="0"/>
              <a:t>Program Name: MCA</a:t>
            </a:r>
          </a:p>
          <a:p>
            <a:pPr marL="0" indent="0" algn="ctr">
              <a:buNone/>
            </a:pPr>
            <a:r>
              <a:rPr lang="en-US" sz="2000" b="1" dirty="0"/>
              <a:t>Course Code: </a:t>
            </a:r>
            <a:r>
              <a:rPr lang="en-US" sz="2000" b="1" i="0" u="none" strike="noStrike" baseline="0" dirty="0">
                <a:solidFill>
                  <a:srgbClr val="000000"/>
                </a:solidFill>
              </a:rPr>
              <a:t>PGCA1937 </a:t>
            </a:r>
            <a:r>
              <a:rPr lang="en-US" sz="2000" b="1" dirty="0">
                <a:solidFill>
                  <a:srgbClr val="000000"/>
                </a:solidFill>
              </a:rPr>
              <a:t> </a:t>
            </a:r>
            <a:endParaRPr lang="en-US" sz="2000" b="1" dirty="0"/>
          </a:p>
          <a:p>
            <a:pPr marL="0" indent="0" algn="ctr">
              <a:buNone/>
            </a:pPr>
            <a:r>
              <a:rPr lang="en-US" sz="2000" b="1" dirty="0"/>
              <a:t>Course Name: </a:t>
            </a:r>
            <a:r>
              <a:rPr lang="en-US" sz="2000" b="1" i="0" u="none" strike="noStrike" baseline="0" dirty="0">
                <a:solidFill>
                  <a:srgbClr val="000000"/>
                </a:solidFill>
              </a:rPr>
              <a:t>Cloud Computing</a:t>
            </a:r>
            <a:r>
              <a:rPr lang="en-US" sz="1800" b="1" i="0" u="none" strike="noStrike" baseline="0" dirty="0">
                <a:solidFill>
                  <a:srgbClr val="000000"/>
                </a:solidFill>
              </a:rPr>
              <a:t>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a:xfrm>
            <a:off x="628650" y="1200150"/>
            <a:ext cx="7886700" cy="3432573"/>
          </a:xfrm>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228600" y="788825"/>
            <a:ext cx="8610600" cy="4068925"/>
          </a:xfrm>
        </p:spPr>
        <p:txBody>
          <a:bodyPr>
            <a:normAutofit fontScale="25000" lnSpcReduction="20000"/>
          </a:bodyPr>
          <a:lstStyle/>
          <a:p>
            <a:pPr marL="0" indent="0" algn="ctr">
              <a:buNone/>
            </a:pPr>
            <a:r>
              <a:rPr lang="en-US" sz="6800" b="1" dirty="0">
                <a:solidFill>
                  <a:srgbClr val="000000"/>
                </a:solidFill>
              </a:rPr>
              <a:t>Part-A</a:t>
            </a:r>
            <a:endParaRPr lang="en-US" sz="6800" dirty="0">
              <a:solidFill>
                <a:srgbClr val="000000"/>
              </a:solidFill>
            </a:endParaRPr>
          </a:p>
          <a:p>
            <a:pPr algn="just">
              <a:lnSpc>
                <a:spcPct val="120000"/>
              </a:lnSpc>
            </a:pPr>
            <a:r>
              <a:rPr lang="en-US" sz="6800" b="1" i="0" u="none" strike="noStrike" baseline="0" dirty="0">
                <a:solidFill>
                  <a:srgbClr val="000000"/>
                </a:solidFill>
              </a:rPr>
              <a:t>Overview of Computing Paradigm: </a:t>
            </a:r>
            <a:r>
              <a:rPr lang="en-US" sz="6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6800" b="1" i="0" u="none" strike="noStrike" baseline="0" dirty="0">
                <a:solidFill>
                  <a:srgbClr val="000000"/>
                </a:solidFill>
              </a:rPr>
              <a:t>Introduction to Cloud Computing: </a:t>
            </a:r>
            <a:r>
              <a:rPr lang="en-US" sz="6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6800" b="1" i="0" u="none" strike="noStrike" baseline="0" dirty="0">
                <a:solidFill>
                  <a:srgbClr val="000000"/>
                </a:solidFill>
              </a:rPr>
              <a:t>Migrating into a Cloud: </a:t>
            </a:r>
            <a:r>
              <a:rPr lang="en-US" sz="6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6800" b="1" i="0" u="none" strike="noStrike" baseline="0" dirty="0">
                <a:solidFill>
                  <a:srgbClr val="000000"/>
                </a:solidFill>
              </a:rPr>
              <a:t>Virtualization: </a:t>
            </a:r>
            <a:r>
              <a:rPr lang="en-US" sz="6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6800" b="1" i="0" u="none" strike="noStrike" baseline="0" dirty="0">
                <a:solidFill>
                  <a:srgbClr val="000000"/>
                </a:solidFill>
              </a:rPr>
              <a:t>Capacity Planning: </a:t>
            </a:r>
            <a:r>
              <a:rPr lang="en-US" sz="6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3200" b="1" kern="0" dirty="0">
                <a:latin typeface="+mn-lt"/>
              </a:rPr>
              <a:t>Key objectives or learning outcomes</a:t>
            </a:r>
            <a:endParaRPr lang="en-IN" sz="32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latin typeface="+mn-lt"/>
              </a:rPr>
              <a:t>CO Introduction</a:t>
            </a:r>
            <a:endParaRPr lang="en-IN" sz="3200" dirty="0">
              <a:latin typeface="+mn-lt"/>
            </a:endParaRPr>
          </a:p>
        </p:txBody>
      </p:sp>
      <p:graphicFrame>
        <p:nvGraphicFramePr>
          <p:cNvPr id="10" name="Content Placeholder 9"/>
          <p:cNvGraphicFramePr>
            <a:graphicFrameLocks noGrp="1"/>
          </p:cNvGraphicFramePr>
          <p:nvPr>
            <p:ph idx="1"/>
          </p:nvPr>
        </p:nvGraphicFramePr>
        <p:xfrm>
          <a:off x="635741" y="1056233"/>
          <a:ext cx="7764059" cy="391951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CO2</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Migrating into a Cloud:</a:t>
                      </a:r>
                      <a:r>
                        <a:rPr lang="en-US" sz="1800" b="0" i="0" u="none" strike="noStrike" kern="1200" baseline="0" dirty="0">
                          <a:solidFill>
                            <a:schemeClr val="tx1"/>
                          </a:solidFill>
                          <a:latin typeface="+mn-lt"/>
                          <a:ea typeface="+mn-ea"/>
                          <a:cs typeface="+mn-cs"/>
                        </a:rPr>
                        <a:t> Introduction, Broad approaches to Migrating into the Cloud, The Seven-Step Model of Migration Into a Cloud.</a:t>
                      </a:r>
                    </a:p>
                    <a:p>
                      <a:pPr algn="just"/>
                      <a:r>
                        <a:rPr lang="en-US" sz="1800" b="1" i="0" u="none" strike="noStrike" kern="1200" baseline="0" dirty="0">
                          <a:solidFill>
                            <a:schemeClr val="tx1"/>
                          </a:solidFill>
                          <a:latin typeface="+mn-lt"/>
                          <a:ea typeface="+mn-ea"/>
                          <a:cs typeface="+mn-cs"/>
                        </a:rPr>
                        <a:t>Virtualization: </a:t>
                      </a:r>
                      <a:r>
                        <a:rPr lang="en-US" sz="1800" b="0" i="0" u="none" strike="noStrike" kern="1200" baseline="0" dirty="0">
                          <a:solidFill>
                            <a:schemeClr val="tx1"/>
                          </a:solidFill>
                          <a:latin typeface="+mn-lt"/>
                          <a:ea typeface="+mn-ea"/>
                          <a:cs typeface="+mn-cs"/>
                        </a:rPr>
                        <a:t>Introduction, Characteristics of Virtualized environment, Taxonomy of Virtualization techniques, Virtualization and Cloud Computing, Pros and Cons of Virtualization, Technology Examples- Xen, VMware, Microsoft Hyper-V.</a:t>
                      </a:r>
                    </a:p>
                    <a:p>
                      <a:pPr algn="just"/>
                      <a:r>
                        <a:rPr lang="en-US" sz="1800" b="1" i="0" u="none" strike="noStrike" kern="1200" baseline="0" dirty="0">
                          <a:solidFill>
                            <a:schemeClr val="tx1"/>
                          </a:solidFill>
                          <a:latin typeface="+mn-lt"/>
                          <a:ea typeface="+mn-ea"/>
                          <a:cs typeface="+mn-cs"/>
                        </a:rPr>
                        <a:t>Capacity Planning: </a:t>
                      </a:r>
                      <a:r>
                        <a:rPr lang="en-US" sz="1800" b="0" i="0" u="none" strike="noStrike" kern="1200" baseline="0" dirty="0">
                          <a:solidFill>
                            <a:schemeClr val="tx1"/>
                          </a:solidFill>
                          <a:latin typeface="+mn-lt"/>
                          <a:ea typeface="+mn-ea"/>
                          <a:cs typeface="+mn-cs"/>
                        </a:rPr>
                        <a:t>Introduction, Defining Baseline and Metrics-Baseline Measurements, System Metrics, Load Testing, Resource Ceilings, Server and Instance types; Network Capacity, Scaling.</a:t>
                      </a:r>
                      <a:endParaRPr lang="en-US" sz="1350" b="0" i="0" u="none" strike="noStrike" kern="1200" baseline="0" dirty="0">
                        <a:solidFill>
                          <a:schemeClr val="tx1"/>
                        </a:solidFill>
                        <a:latin typeface="+mn-lt"/>
                        <a:ea typeface="+mn-ea"/>
                        <a:cs typeface="+mn-cs"/>
                      </a:endParaRP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3231009"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927190"/>
            <a:ext cx="8229600" cy="4023805"/>
          </a:xfrm>
        </p:spPr>
        <p:txBody>
          <a:bodyPr>
            <a:noAutofit/>
          </a:bodyPr>
          <a:lstStyle/>
          <a:p>
            <a:pPr algn="just">
              <a:lnSpc>
                <a:spcPct val="150000"/>
              </a:lnSpc>
            </a:pPr>
            <a:r>
              <a:rPr lang="en-US" sz="1800" dirty="0"/>
              <a:t>Virtualization is the process of creating virtual versions of physical hardware, enabling multiple operating systems or applications to run on a single machine. </a:t>
            </a:r>
          </a:p>
          <a:p>
            <a:pPr algn="just">
              <a:lnSpc>
                <a:spcPct val="150000"/>
              </a:lnSpc>
            </a:pPr>
            <a:r>
              <a:rPr lang="en-US" sz="1800" dirty="0"/>
              <a:t>It is characterized by scalability, resource optimization, isolation, and abstraction. </a:t>
            </a:r>
          </a:p>
          <a:p>
            <a:pPr algn="just">
              <a:lnSpc>
                <a:spcPct val="150000"/>
              </a:lnSpc>
            </a:pPr>
            <a:r>
              <a:rPr lang="en-US" sz="1800" dirty="0"/>
              <a:t>Virtualization techniques include hardware, software, and network virtualization, forming the foundation for cloud computing by enhancing efficiency and flexibility. </a:t>
            </a:r>
          </a:p>
          <a:p>
            <a:pPr algn="just">
              <a:lnSpc>
                <a:spcPct val="150000"/>
              </a:lnSpc>
            </a:pPr>
            <a:r>
              <a:rPr lang="en-US" sz="1800" dirty="0"/>
              <a:t>Examples include technologies like Xen, VMware, and Microsoft Hyper-V, each offering unique features and use cases while presenting pros such as cost savings and cons like potential performance overhead.</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487107" y="70037"/>
            <a:ext cx="5000616" cy="857250"/>
          </a:xfrm>
        </p:spPr>
        <p:txBody>
          <a:bodyPr>
            <a:noAutofit/>
          </a:bodyPr>
          <a:lstStyle/>
          <a:p>
            <a:pPr algn="ctr"/>
            <a:r>
              <a:rPr lang="en-US" altLang="en-US" sz="2800" b="1" kern="0" dirty="0"/>
              <a:t>Brief of what the presentation will</a:t>
            </a:r>
            <a:endParaRPr lang="en-IN" sz="28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a:xfrm>
            <a:off x="628650" y="1240618"/>
            <a:ext cx="7886700" cy="3263504"/>
          </a:xfrm>
        </p:spPr>
        <p:txBody>
          <a:bodyPr>
            <a:normAutofit/>
          </a:bodyPr>
          <a:lstStyle/>
          <a:p>
            <a:pPr marL="0" indent="0">
              <a:buNone/>
            </a:pPr>
            <a:r>
              <a:rPr lang="en-US" sz="2400" dirty="0"/>
              <a:t>The presentation will cover the following points:</a:t>
            </a:r>
          </a:p>
          <a:p>
            <a:pPr>
              <a:buFont typeface="+mj-lt"/>
              <a:buAutoNum type="arabicPeriod"/>
            </a:pPr>
            <a:r>
              <a:rPr lang="en-US" sz="2400" b="1" i="0" u="none" strike="noStrike" baseline="0" dirty="0">
                <a:solidFill>
                  <a:srgbClr val="000000"/>
                </a:solidFill>
              </a:rPr>
              <a:t>Virtualization: </a:t>
            </a:r>
          </a:p>
          <a:p>
            <a:pPr>
              <a:buFont typeface="+mj-lt"/>
              <a:buAutoNum type="arabicPeriod"/>
            </a:pPr>
            <a:r>
              <a:rPr lang="en-US" sz="2400" b="1" i="0" u="none" strike="noStrike" baseline="0" dirty="0">
                <a:solidFill>
                  <a:srgbClr val="000000"/>
                </a:solidFill>
              </a:rPr>
              <a:t>Introduction</a:t>
            </a:r>
          </a:p>
          <a:p>
            <a:pPr>
              <a:buFont typeface="+mj-lt"/>
              <a:buAutoNum type="arabicPeriod"/>
            </a:pPr>
            <a:r>
              <a:rPr lang="en-US" sz="2400" b="1" dirty="0">
                <a:solidFill>
                  <a:srgbClr val="000000"/>
                </a:solidFill>
              </a:rPr>
              <a:t>History</a:t>
            </a:r>
          </a:p>
          <a:p>
            <a:pPr>
              <a:buFont typeface="+mj-lt"/>
              <a:buAutoNum type="arabicPeriod"/>
            </a:pPr>
            <a:r>
              <a:rPr lang="en-US" sz="2400" b="1" i="0" u="none" strike="noStrike" baseline="0" dirty="0">
                <a:solidFill>
                  <a:srgbClr val="000000"/>
                </a:solidFill>
              </a:rPr>
              <a:t>Characteristics of Virtualized environment</a:t>
            </a:r>
            <a:r>
              <a:rPr lang="en-US" sz="1800" b="0" i="0" u="none" strike="noStrike" baseline="0" dirty="0">
                <a:solidFill>
                  <a:srgbClr val="000000"/>
                </a:solidFill>
                <a:latin typeface="Times New Roman" panose="02020603050405020304" pitchFamily="18" charset="0"/>
              </a:rPr>
              <a:t>	</a:t>
            </a:r>
          </a:p>
          <a:p>
            <a:pPr marL="0" indent="0">
              <a:buNone/>
            </a:pPr>
            <a:r>
              <a:rPr lang="en-US" sz="2400" b="0" i="0" u="none" strike="noStrike" baseline="0" dirty="0">
                <a:solidFill>
                  <a:srgbClr val="000000"/>
                </a:solidFill>
              </a:rPr>
              <a:t>	</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
        <p:nvSpPr>
          <p:cNvPr id="8" name="Rectangle 1">
            <a:extLst>
              <a:ext uri="{FF2B5EF4-FFF2-40B4-BE49-F238E27FC236}">
                <a16:creationId xmlns:a16="http://schemas.microsoft.com/office/drawing/2014/main" id="{150DDFC4-917A-A478-130D-D5467A903408}"/>
              </a:ext>
            </a:extLst>
          </p:cNvPr>
          <p:cNvSpPr>
            <a:spLocks noGrp="1" noChangeArrowheads="1"/>
          </p:cNvSpPr>
          <p:nvPr>
            <p:ph idx="1"/>
          </p:nvPr>
        </p:nvSpPr>
        <p:spPr bwMode="auto">
          <a:xfrm>
            <a:off x="457200" y="707701"/>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Optimized Resource Utilization</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Virtualization maximizes hardware efficiency by running multiple virtual environments on a single physical system, reducing costs and improving scalability.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Foundation for Cloud Computing</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It enables dynamic provisioning, resource pooling, and flexibility, making it a key enabler for cloud computing infrastructure and services.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Technological Advancements and Versatility</a:t>
            </a:r>
            <a:r>
              <a:rPr kumimoji="0" lang="en-US" altLang="en-US" sz="2000"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With tools like Xen, VMware, and Microsoft Hyper-V, virtualization supports diverse use cases, including testing, development, disaster recovery, and workload isolation.</a:t>
            </a:r>
          </a:p>
        </p:txBody>
      </p:sp>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09600" y="895350"/>
            <a:ext cx="8001000" cy="3737373"/>
          </a:xfrm>
        </p:spPr>
        <p:txBody>
          <a:bodyPr>
            <a:normAutofit fontScale="92500" lnSpcReduction="20000"/>
          </a:bodyPr>
          <a:lstStyle/>
          <a:p>
            <a:pPr marL="0" indent="0" algn="just">
              <a:buNone/>
            </a:pPr>
            <a:r>
              <a:rPr lang="en-US" sz="2400" dirty="0"/>
              <a:t>Virtualization is the process of creating virtual versions of physical resources, such as servers, storage devices, or networks. It allows multiple operating systems or applications to run independently on the same hardware.</a:t>
            </a:r>
          </a:p>
          <a:p>
            <a:pPr algn="just"/>
            <a:endParaRPr lang="en-US" sz="2400" dirty="0"/>
          </a:p>
          <a:p>
            <a:pPr marL="0" indent="0" algn="just">
              <a:buNone/>
            </a:pPr>
            <a:r>
              <a:rPr lang="en-US" sz="2400" dirty="0"/>
              <a:t>The primary goal is to optimize resource utilization, reduce hardware dependency, and enable flexibility by abstracting the physical layer and presenting it as virtual instances.</a:t>
            </a:r>
          </a:p>
          <a:p>
            <a:pPr algn="just"/>
            <a:endParaRPr lang="en-US" sz="2400" dirty="0"/>
          </a:p>
          <a:p>
            <a:pPr algn="just"/>
            <a:r>
              <a:rPr lang="en-US" sz="2400" dirty="0"/>
              <a:t>Virtualization plays a critical role in modern IT infrastructure by enhancing scalability, cost-efficiency, and performance, while serving as the foundation for cloud computing and software-defined data centers.</a:t>
            </a:r>
            <a:endParaRPr lang="en-IN" sz="24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4048506" cy="504625"/>
          </a:xfrm>
          <a:prstGeom prst="rect">
            <a:avLst/>
          </a:prstGeom>
        </p:spPr>
        <p:txBody>
          <a:bodyPr vert="horz" wrap="square" lIns="0" tIns="12065" rIns="0" bIns="0" rtlCol="0">
            <a:spAutoFit/>
          </a:bodyPr>
          <a:lstStyle/>
          <a:p>
            <a:pPr marL="12700" algn="ctr">
              <a:lnSpc>
                <a:spcPct val="100000"/>
              </a:lnSpc>
              <a:spcBef>
                <a:spcPts val="95"/>
              </a:spcBef>
            </a:pPr>
            <a:r>
              <a:rPr lang="en-US" sz="3200" b="1" spc="-10" dirty="0"/>
              <a:t>Virtualization</a:t>
            </a:r>
            <a:endParaRPr lang="en-US"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76200" y="943813"/>
            <a:ext cx="8915400" cy="4099135"/>
          </a:xfrm>
          <a:prstGeom prst="rect">
            <a:avLst/>
          </a:prstGeom>
        </p:spPr>
        <p:txBody>
          <a:bodyPr vert="horz" wrap="square" lIns="0" tIns="13335" rIns="0" bIns="0" rtlCol="0">
            <a:spAutoFit/>
          </a:bodyPr>
          <a:lstStyle/>
          <a:p>
            <a:pPr marL="354330" marR="5080" indent="-341630" algn="just">
              <a:lnSpc>
                <a:spcPts val="3020"/>
              </a:lnSpc>
              <a:spcBef>
                <a:spcPts val="475"/>
              </a:spcBef>
              <a:buChar char="•"/>
              <a:tabLst>
                <a:tab pos="355600" algn="l"/>
              </a:tabLst>
            </a:pPr>
            <a:r>
              <a:rPr lang="en-US" sz="1600" spc="120" dirty="0">
                <a:latin typeface="Arial MT"/>
                <a:cs typeface="Arial MT"/>
              </a:rPr>
              <a:t>Virtualization</a:t>
            </a:r>
            <a:r>
              <a:rPr lang="en-US" sz="1600" spc="315" dirty="0">
                <a:latin typeface="Arial MT"/>
                <a:cs typeface="Arial MT"/>
              </a:rPr>
              <a:t> </a:t>
            </a:r>
            <a:r>
              <a:rPr lang="en-US" sz="1600" spc="60" dirty="0">
                <a:latin typeface="Arial MT"/>
                <a:cs typeface="Arial MT"/>
              </a:rPr>
              <a:t>is</a:t>
            </a:r>
            <a:r>
              <a:rPr lang="en-US" sz="1600" spc="315" dirty="0">
                <a:latin typeface="Arial MT"/>
                <a:cs typeface="Arial MT"/>
              </a:rPr>
              <a:t> </a:t>
            </a:r>
            <a:r>
              <a:rPr lang="en-US" sz="1600" dirty="0">
                <a:latin typeface="Arial MT"/>
                <a:cs typeface="Arial MT"/>
              </a:rPr>
              <a:t>a</a:t>
            </a:r>
            <a:r>
              <a:rPr lang="en-US" sz="1600" spc="315" dirty="0">
                <a:latin typeface="Arial MT"/>
                <a:cs typeface="Arial MT"/>
              </a:rPr>
              <a:t> </a:t>
            </a:r>
            <a:r>
              <a:rPr lang="en-US" sz="1600" spc="120" dirty="0">
                <a:latin typeface="Arial MT"/>
                <a:cs typeface="Arial MT"/>
              </a:rPr>
              <a:t>technology</a:t>
            </a:r>
            <a:r>
              <a:rPr lang="en-US" sz="1600" spc="315" dirty="0">
                <a:latin typeface="Arial MT"/>
                <a:cs typeface="Arial MT"/>
              </a:rPr>
              <a:t> </a:t>
            </a:r>
            <a:r>
              <a:rPr lang="en-US" sz="1600" spc="105" dirty="0">
                <a:latin typeface="Arial MT"/>
                <a:cs typeface="Arial MT"/>
              </a:rPr>
              <a:t>that</a:t>
            </a:r>
            <a:r>
              <a:rPr lang="en-US" sz="1600" spc="330" dirty="0">
                <a:latin typeface="Arial MT"/>
                <a:cs typeface="Arial MT"/>
              </a:rPr>
              <a:t> </a:t>
            </a:r>
            <a:r>
              <a:rPr lang="en-US" sz="1600" spc="105" dirty="0">
                <a:latin typeface="Arial MT"/>
                <a:cs typeface="Arial MT"/>
              </a:rPr>
              <a:t>helps</a:t>
            </a:r>
            <a:r>
              <a:rPr lang="en-US" sz="1600" spc="325" dirty="0">
                <a:latin typeface="Arial MT"/>
                <a:cs typeface="Arial MT"/>
              </a:rPr>
              <a:t> </a:t>
            </a:r>
            <a:r>
              <a:rPr lang="en-US" sz="1600" spc="60" dirty="0">
                <a:latin typeface="Arial MT"/>
                <a:cs typeface="Arial MT"/>
              </a:rPr>
              <a:t>us</a:t>
            </a:r>
            <a:r>
              <a:rPr lang="en-US" sz="1600" spc="330" dirty="0">
                <a:latin typeface="Arial MT"/>
                <a:cs typeface="Arial MT"/>
              </a:rPr>
              <a:t> </a:t>
            </a:r>
            <a:r>
              <a:rPr lang="en-US" sz="1600" spc="65" dirty="0">
                <a:latin typeface="Arial MT"/>
                <a:cs typeface="Arial MT"/>
              </a:rPr>
              <a:t>to</a:t>
            </a:r>
            <a:r>
              <a:rPr lang="en-US" sz="1600" spc="325" dirty="0">
                <a:latin typeface="Arial MT"/>
                <a:cs typeface="Arial MT"/>
              </a:rPr>
              <a:t> </a:t>
            </a:r>
            <a:r>
              <a:rPr lang="en-US" sz="1600" spc="120" dirty="0">
                <a:latin typeface="Arial MT"/>
                <a:cs typeface="Arial MT"/>
              </a:rPr>
              <a:t>install</a:t>
            </a:r>
            <a:r>
              <a:rPr lang="en-US" sz="1600" spc="325" dirty="0">
                <a:latin typeface="Arial MT"/>
                <a:cs typeface="Arial MT"/>
              </a:rPr>
              <a:t> </a:t>
            </a:r>
            <a:r>
              <a:rPr lang="en-US" sz="1600" spc="110" dirty="0">
                <a:latin typeface="Arial MT"/>
                <a:cs typeface="Arial MT"/>
              </a:rPr>
              <a:t>different 	</a:t>
            </a:r>
            <a:r>
              <a:rPr lang="en-US" sz="1600" dirty="0">
                <a:latin typeface="Arial MT"/>
                <a:cs typeface="Arial MT"/>
              </a:rPr>
              <a:t>Operating</a:t>
            </a:r>
            <a:r>
              <a:rPr lang="en-US" sz="1600" spc="60" dirty="0">
                <a:latin typeface="Arial MT"/>
                <a:cs typeface="Arial MT"/>
              </a:rPr>
              <a:t> </a:t>
            </a:r>
            <a:r>
              <a:rPr lang="en-US" sz="1600" dirty="0">
                <a:latin typeface="Arial MT"/>
                <a:cs typeface="Arial MT"/>
              </a:rPr>
              <a:t>Systems</a:t>
            </a:r>
            <a:r>
              <a:rPr lang="en-US" sz="1600" spc="60" dirty="0">
                <a:latin typeface="Arial MT"/>
                <a:cs typeface="Arial MT"/>
              </a:rPr>
              <a:t> </a:t>
            </a:r>
            <a:r>
              <a:rPr lang="en-US" sz="1600" dirty="0">
                <a:latin typeface="Arial MT"/>
                <a:cs typeface="Arial MT"/>
              </a:rPr>
              <a:t>on</a:t>
            </a:r>
            <a:r>
              <a:rPr lang="en-US" sz="1600" spc="60" dirty="0">
                <a:latin typeface="Arial MT"/>
                <a:cs typeface="Arial MT"/>
              </a:rPr>
              <a:t> </a:t>
            </a:r>
            <a:r>
              <a:rPr lang="en-US" sz="1600" dirty="0">
                <a:latin typeface="Arial MT"/>
                <a:cs typeface="Arial MT"/>
              </a:rPr>
              <a:t>a</a:t>
            </a:r>
            <a:r>
              <a:rPr lang="en-US" sz="1600" spc="65" dirty="0">
                <a:latin typeface="Arial MT"/>
                <a:cs typeface="Arial MT"/>
              </a:rPr>
              <a:t> </a:t>
            </a:r>
            <a:r>
              <a:rPr lang="en-US" sz="1600" dirty="0">
                <a:latin typeface="Arial MT"/>
                <a:cs typeface="Arial MT"/>
              </a:rPr>
              <a:t>hardware.</a:t>
            </a:r>
            <a:r>
              <a:rPr lang="en-US" sz="1600" spc="10" dirty="0">
                <a:latin typeface="Arial MT"/>
                <a:cs typeface="Arial MT"/>
              </a:rPr>
              <a:t> </a:t>
            </a:r>
            <a:r>
              <a:rPr lang="en-US" sz="1600" dirty="0">
                <a:latin typeface="Arial MT"/>
                <a:cs typeface="Arial MT"/>
              </a:rPr>
              <a:t>They</a:t>
            </a:r>
            <a:r>
              <a:rPr lang="en-US" sz="1600" spc="60" dirty="0">
                <a:latin typeface="Arial MT"/>
                <a:cs typeface="Arial MT"/>
              </a:rPr>
              <a:t> </a:t>
            </a:r>
            <a:r>
              <a:rPr lang="en-US" sz="1600" dirty="0">
                <a:latin typeface="Arial MT"/>
                <a:cs typeface="Arial MT"/>
              </a:rPr>
              <a:t>are</a:t>
            </a:r>
            <a:r>
              <a:rPr lang="en-US" sz="1600" spc="70" dirty="0">
                <a:latin typeface="Arial MT"/>
                <a:cs typeface="Arial MT"/>
              </a:rPr>
              <a:t> </a:t>
            </a:r>
            <a:r>
              <a:rPr lang="en-US" sz="1600" dirty="0">
                <a:latin typeface="Arial MT"/>
                <a:cs typeface="Arial MT"/>
              </a:rPr>
              <a:t>completely</a:t>
            </a:r>
            <a:r>
              <a:rPr lang="en-US" sz="1600" spc="75" dirty="0">
                <a:latin typeface="Arial MT"/>
                <a:cs typeface="Arial MT"/>
              </a:rPr>
              <a:t> </a:t>
            </a:r>
            <a:r>
              <a:rPr lang="en-US" sz="1600" spc="-10" dirty="0">
                <a:latin typeface="Arial MT"/>
                <a:cs typeface="Arial MT"/>
              </a:rPr>
              <a:t>separated 	</a:t>
            </a:r>
            <a:r>
              <a:rPr lang="en-US" sz="1600" dirty="0">
                <a:latin typeface="Arial MT"/>
                <a:cs typeface="Arial MT"/>
              </a:rPr>
              <a:t>and</a:t>
            </a:r>
            <a:r>
              <a:rPr lang="en-US" sz="1600" spc="-80" dirty="0">
                <a:latin typeface="Arial MT"/>
                <a:cs typeface="Arial MT"/>
              </a:rPr>
              <a:t> </a:t>
            </a:r>
            <a:r>
              <a:rPr lang="en-US" sz="1600" dirty="0">
                <a:latin typeface="Arial MT"/>
                <a:cs typeface="Arial MT"/>
              </a:rPr>
              <a:t>independent</a:t>
            </a:r>
            <a:r>
              <a:rPr lang="en-US" sz="1600" spc="-75" dirty="0">
                <a:latin typeface="Arial MT"/>
                <a:cs typeface="Arial MT"/>
              </a:rPr>
              <a:t> </a:t>
            </a:r>
            <a:r>
              <a:rPr lang="en-US" sz="1600" dirty="0">
                <a:latin typeface="Arial MT"/>
                <a:cs typeface="Arial MT"/>
              </a:rPr>
              <a:t>from</a:t>
            </a:r>
            <a:r>
              <a:rPr lang="en-US" sz="1600" spc="-75" dirty="0">
                <a:latin typeface="Arial MT"/>
                <a:cs typeface="Arial MT"/>
              </a:rPr>
              <a:t> </a:t>
            </a:r>
            <a:r>
              <a:rPr lang="en-US" sz="1600" dirty="0">
                <a:latin typeface="Arial MT"/>
                <a:cs typeface="Arial MT"/>
              </a:rPr>
              <a:t>each</a:t>
            </a:r>
            <a:r>
              <a:rPr lang="en-US" sz="1600" spc="-80" dirty="0">
                <a:latin typeface="Arial MT"/>
                <a:cs typeface="Arial MT"/>
              </a:rPr>
              <a:t> </a:t>
            </a:r>
            <a:r>
              <a:rPr lang="en-US" sz="1600" spc="-10" dirty="0">
                <a:latin typeface="Arial MT"/>
                <a:cs typeface="Arial MT"/>
              </a:rPr>
              <a:t>other.</a:t>
            </a:r>
          </a:p>
          <a:p>
            <a:pPr marL="354330" marR="5080" indent="-341630" algn="just">
              <a:lnSpc>
                <a:spcPts val="3020"/>
              </a:lnSpc>
              <a:spcBef>
                <a:spcPts val="475"/>
              </a:spcBef>
              <a:buChar char="•"/>
              <a:tabLst>
                <a:tab pos="355600" algn="l"/>
              </a:tabLst>
            </a:pPr>
            <a:r>
              <a:rPr lang="en-US" sz="1600" dirty="0">
                <a:latin typeface="Arial MT"/>
                <a:cs typeface="Arial MT"/>
              </a:rPr>
              <a:t>This</a:t>
            </a:r>
            <a:r>
              <a:rPr lang="en-US" sz="1600" spc="-85" dirty="0">
                <a:latin typeface="Arial MT"/>
                <a:cs typeface="Arial MT"/>
              </a:rPr>
              <a:t> </a:t>
            </a:r>
            <a:r>
              <a:rPr lang="en-US" sz="1600" dirty="0">
                <a:latin typeface="Arial MT"/>
                <a:cs typeface="Arial MT"/>
              </a:rPr>
              <a:t>blend</a:t>
            </a:r>
            <a:r>
              <a:rPr lang="en-US" sz="1600" spc="-80" dirty="0">
                <a:latin typeface="Arial MT"/>
                <a:cs typeface="Arial MT"/>
              </a:rPr>
              <a:t> </a:t>
            </a:r>
            <a:r>
              <a:rPr lang="en-US" sz="1600" dirty="0">
                <a:latin typeface="Arial MT"/>
                <a:cs typeface="Arial MT"/>
              </a:rPr>
              <a:t>of</a:t>
            </a:r>
            <a:r>
              <a:rPr lang="en-US" sz="1600" spc="-75" dirty="0">
                <a:latin typeface="Arial MT"/>
                <a:cs typeface="Arial MT"/>
              </a:rPr>
              <a:t> </a:t>
            </a:r>
            <a:r>
              <a:rPr lang="en-US" sz="1600" dirty="0">
                <a:latin typeface="Arial MT"/>
                <a:cs typeface="Arial MT"/>
              </a:rPr>
              <a:t>virtualization</a:t>
            </a:r>
            <a:r>
              <a:rPr lang="en-US" sz="1600" spc="-80" dirty="0">
                <a:latin typeface="Arial MT"/>
                <a:cs typeface="Arial MT"/>
              </a:rPr>
              <a:t> </a:t>
            </a:r>
            <a:r>
              <a:rPr lang="en-US" sz="1600" dirty="0">
                <a:latin typeface="Arial MT"/>
                <a:cs typeface="Arial MT"/>
              </a:rPr>
              <a:t>technologies</a:t>
            </a:r>
            <a:r>
              <a:rPr lang="en-US" sz="1600" spc="-80" dirty="0">
                <a:latin typeface="Arial MT"/>
                <a:cs typeface="Arial MT"/>
              </a:rPr>
              <a:t> </a:t>
            </a:r>
            <a:r>
              <a:rPr lang="en-US" sz="1600" dirty="0">
                <a:latin typeface="Arial MT"/>
                <a:cs typeface="Arial MT"/>
              </a:rPr>
              <a:t>-</a:t>
            </a:r>
            <a:r>
              <a:rPr lang="en-US" sz="1600" spc="-80" dirty="0">
                <a:latin typeface="Arial MT"/>
                <a:cs typeface="Arial MT"/>
              </a:rPr>
              <a:t> </a:t>
            </a:r>
            <a:r>
              <a:rPr lang="en-US" sz="1600" dirty="0">
                <a:latin typeface="Arial MT"/>
                <a:cs typeface="Arial MT"/>
              </a:rPr>
              <a:t>or</a:t>
            </a:r>
            <a:r>
              <a:rPr lang="en-US" sz="1600" spc="-85" dirty="0">
                <a:latin typeface="Arial MT"/>
                <a:cs typeface="Arial MT"/>
              </a:rPr>
              <a:t> </a:t>
            </a:r>
            <a:r>
              <a:rPr lang="en-US" sz="1600" b="1" i="1" dirty="0">
                <a:latin typeface="Arial"/>
                <a:cs typeface="Arial"/>
              </a:rPr>
              <a:t>virtual</a:t>
            </a:r>
            <a:r>
              <a:rPr lang="en-US" sz="1600" b="1" i="1" spc="-75" dirty="0">
                <a:latin typeface="Arial"/>
                <a:cs typeface="Arial"/>
              </a:rPr>
              <a:t> </a:t>
            </a:r>
            <a:r>
              <a:rPr lang="en-US" sz="1600" b="1" i="1" dirty="0">
                <a:latin typeface="Arial"/>
                <a:cs typeface="Arial"/>
              </a:rPr>
              <a:t>infrastructure</a:t>
            </a:r>
            <a:r>
              <a:rPr lang="en-US" sz="1600" b="1" i="1" spc="-80" dirty="0">
                <a:latin typeface="Arial"/>
                <a:cs typeface="Arial"/>
              </a:rPr>
              <a:t> </a:t>
            </a:r>
            <a:r>
              <a:rPr lang="en-US" sz="1600" spc="-50" dirty="0">
                <a:latin typeface="Arial MT"/>
                <a:cs typeface="Arial MT"/>
              </a:rPr>
              <a:t>- 	</a:t>
            </a:r>
            <a:r>
              <a:rPr lang="en-US" sz="1600" spc="55" dirty="0">
                <a:latin typeface="Arial MT"/>
                <a:cs typeface="Arial MT"/>
              </a:rPr>
              <a:t>provides</a:t>
            </a:r>
            <a:r>
              <a:rPr lang="en-US" sz="1600" spc="175" dirty="0">
                <a:latin typeface="Arial MT"/>
                <a:cs typeface="Arial MT"/>
              </a:rPr>
              <a:t> </a:t>
            </a:r>
            <a:r>
              <a:rPr lang="en-US" sz="1600" dirty="0">
                <a:latin typeface="Arial MT"/>
                <a:cs typeface="Arial MT"/>
              </a:rPr>
              <a:t>a</a:t>
            </a:r>
            <a:r>
              <a:rPr lang="en-US" sz="1600" spc="175" dirty="0">
                <a:latin typeface="Arial MT"/>
                <a:cs typeface="Arial MT"/>
              </a:rPr>
              <a:t> </a:t>
            </a:r>
            <a:r>
              <a:rPr lang="en-US" sz="1600" spc="50" dirty="0">
                <a:latin typeface="Arial MT"/>
                <a:cs typeface="Arial MT"/>
              </a:rPr>
              <a:t>layer</a:t>
            </a:r>
            <a:r>
              <a:rPr lang="en-US" sz="1600" spc="180" dirty="0">
                <a:latin typeface="Arial MT"/>
                <a:cs typeface="Arial MT"/>
              </a:rPr>
              <a:t> </a:t>
            </a:r>
            <a:r>
              <a:rPr lang="en-US" sz="1600" dirty="0">
                <a:latin typeface="Arial MT"/>
                <a:cs typeface="Arial MT"/>
              </a:rPr>
              <a:t>of</a:t>
            </a:r>
            <a:r>
              <a:rPr lang="en-US" sz="1600" spc="180" dirty="0">
                <a:latin typeface="Arial MT"/>
                <a:cs typeface="Arial MT"/>
              </a:rPr>
              <a:t> </a:t>
            </a:r>
            <a:r>
              <a:rPr lang="en-US" sz="1600" spc="60" dirty="0">
                <a:latin typeface="Arial MT"/>
                <a:cs typeface="Arial MT"/>
              </a:rPr>
              <a:t>abstraction</a:t>
            </a:r>
            <a:r>
              <a:rPr lang="en-US" sz="1600" spc="180" dirty="0">
                <a:latin typeface="Arial MT"/>
                <a:cs typeface="Arial MT"/>
              </a:rPr>
              <a:t> </a:t>
            </a:r>
            <a:r>
              <a:rPr lang="en-US" sz="1600" spc="55" dirty="0">
                <a:latin typeface="Arial MT"/>
                <a:cs typeface="Arial MT"/>
              </a:rPr>
              <a:t>between</a:t>
            </a:r>
            <a:r>
              <a:rPr lang="en-US" sz="1600" spc="185" dirty="0">
                <a:latin typeface="Arial MT"/>
                <a:cs typeface="Arial MT"/>
              </a:rPr>
              <a:t> </a:t>
            </a:r>
            <a:r>
              <a:rPr lang="en-US" sz="1600" spc="60" dirty="0">
                <a:latin typeface="Arial MT"/>
                <a:cs typeface="Arial MT"/>
              </a:rPr>
              <a:t>computing,</a:t>
            </a:r>
            <a:r>
              <a:rPr lang="en-US" sz="1600" spc="195" dirty="0">
                <a:latin typeface="Arial MT"/>
                <a:cs typeface="Arial MT"/>
              </a:rPr>
              <a:t> </a:t>
            </a:r>
            <a:r>
              <a:rPr lang="en-US" sz="1600" spc="55" dirty="0">
                <a:latin typeface="Arial MT"/>
                <a:cs typeface="Arial MT"/>
              </a:rPr>
              <a:t>storage</a:t>
            </a:r>
            <a:r>
              <a:rPr lang="en-US" sz="1600" spc="185" dirty="0">
                <a:latin typeface="Arial MT"/>
                <a:cs typeface="Arial MT"/>
              </a:rPr>
              <a:t> </a:t>
            </a:r>
            <a:r>
              <a:rPr lang="en-US" sz="1600" spc="-25" dirty="0">
                <a:latin typeface="Arial MT"/>
                <a:cs typeface="Arial MT"/>
              </a:rPr>
              <a:t>and 	</a:t>
            </a:r>
            <a:r>
              <a:rPr lang="en-US" sz="1600" dirty="0">
                <a:latin typeface="Arial MT"/>
                <a:cs typeface="Arial MT"/>
              </a:rPr>
              <a:t>networking</a:t>
            </a:r>
            <a:r>
              <a:rPr lang="en-US" sz="1600" spc="-95" dirty="0">
                <a:latin typeface="Arial MT"/>
                <a:cs typeface="Arial MT"/>
              </a:rPr>
              <a:t> </a:t>
            </a:r>
            <a:r>
              <a:rPr lang="en-US" sz="1600" dirty="0">
                <a:latin typeface="Arial MT"/>
                <a:cs typeface="Arial MT"/>
              </a:rPr>
              <a:t>hardware,</a:t>
            </a:r>
            <a:r>
              <a:rPr lang="en-US" sz="1600" spc="-85" dirty="0">
                <a:latin typeface="Arial MT"/>
                <a:cs typeface="Arial MT"/>
              </a:rPr>
              <a:t> </a:t>
            </a:r>
            <a:r>
              <a:rPr lang="en-US" sz="1600" dirty="0">
                <a:latin typeface="Arial MT"/>
                <a:cs typeface="Arial MT"/>
              </a:rPr>
              <a:t>and</a:t>
            </a:r>
            <a:r>
              <a:rPr lang="en-US" sz="1600" spc="-90" dirty="0">
                <a:latin typeface="Arial MT"/>
                <a:cs typeface="Arial MT"/>
              </a:rPr>
              <a:t> </a:t>
            </a:r>
            <a:r>
              <a:rPr lang="en-US" sz="1600" dirty="0">
                <a:latin typeface="Arial MT"/>
                <a:cs typeface="Arial MT"/>
              </a:rPr>
              <a:t>the</a:t>
            </a:r>
            <a:r>
              <a:rPr lang="en-US" sz="1600" spc="-90" dirty="0">
                <a:latin typeface="Arial MT"/>
                <a:cs typeface="Arial MT"/>
              </a:rPr>
              <a:t> </a:t>
            </a:r>
            <a:r>
              <a:rPr lang="en-US" sz="1600" dirty="0">
                <a:latin typeface="Arial MT"/>
                <a:cs typeface="Arial MT"/>
              </a:rPr>
              <a:t>applications</a:t>
            </a:r>
            <a:r>
              <a:rPr lang="en-US" sz="1600" spc="-90" dirty="0">
                <a:latin typeface="Arial MT"/>
                <a:cs typeface="Arial MT"/>
              </a:rPr>
              <a:t> </a:t>
            </a:r>
            <a:r>
              <a:rPr lang="en-US" sz="1600" dirty="0">
                <a:latin typeface="Arial MT"/>
                <a:cs typeface="Arial MT"/>
              </a:rPr>
              <a:t>running</a:t>
            </a:r>
            <a:r>
              <a:rPr lang="en-US" sz="1600" spc="-90" dirty="0">
                <a:latin typeface="Arial MT"/>
                <a:cs typeface="Arial MT"/>
              </a:rPr>
              <a:t> </a:t>
            </a:r>
            <a:r>
              <a:rPr lang="en-US" sz="1600" dirty="0">
                <a:latin typeface="Arial MT"/>
                <a:cs typeface="Arial MT"/>
              </a:rPr>
              <a:t>on</a:t>
            </a:r>
            <a:r>
              <a:rPr lang="en-US" sz="1600" spc="-90" dirty="0">
                <a:latin typeface="Arial MT"/>
                <a:cs typeface="Arial MT"/>
              </a:rPr>
              <a:t> </a:t>
            </a:r>
            <a:r>
              <a:rPr lang="en-US" sz="1600" spc="-25" dirty="0">
                <a:latin typeface="Arial MT"/>
                <a:cs typeface="Arial MT"/>
              </a:rPr>
              <a:t>it</a:t>
            </a:r>
            <a:endParaRPr lang="en-US" sz="1600" dirty="0">
              <a:latin typeface="Arial MT"/>
              <a:cs typeface="Arial MT"/>
            </a:endParaRPr>
          </a:p>
          <a:p>
            <a:pPr marL="354330" marR="5080" indent="-341630" algn="just">
              <a:lnSpc>
                <a:spcPts val="3020"/>
              </a:lnSpc>
              <a:spcBef>
                <a:spcPts val="475"/>
              </a:spcBef>
              <a:buChar char="•"/>
              <a:tabLst>
                <a:tab pos="355600" algn="l"/>
              </a:tabLst>
            </a:pPr>
            <a:r>
              <a:rPr lang="en-US" sz="1600" b="1" spc="90" dirty="0">
                <a:latin typeface="Arial"/>
                <a:cs typeface="Arial"/>
              </a:rPr>
              <a:t>Virtualization</a:t>
            </a:r>
            <a:r>
              <a:rPr lang="en-US" sz="1600" b="1" spc="254" dirty="0">
                <a:latin typeface="Arial"/>
                <a:cs typeface="Arial"/>
              </a:rPr>
              <a:t> </a:t>
            </a:r>
            <a:r>
              <a:rPr lang="en-US" sz="1600" dirty="0">
                <a:latin typeface="Arial MT"/>
                <a:cs typeface="Arial MT"/>
              </a:rPr>
              <a:t>-</a:t>
            </a:r>
            <a:r>
              <a:rPr lang="en-US" sz="1600" spc="260" dirty="0">
                <a:latin typeface="Arial MT"/>
                <a:cs typeface="Arial MT"/>
              </a:rPr>
              <a:t> </a:t>
            </a:r>
            <a:r>
              <a:rPr lang="en-US" sz="1600" spc="55" dirty="0">
                <a:latin typeface="Arial MT"/>
                <a:cs typeface="Arial MT"/>
              </a:rPr>
              <a:t>Various</a:t>
            </a:r>
            <a:r>
              <a:rPr lang="en-US" sz="1600" spc="254" dirty="0">
                <a:latin typeface="Arial MT"/>
                <a:cs typeface="Arial MT"/>
              </a:rPr>
              <a:t> </a:t>
            </a:r>
            <a:r>
              <a:rPr lang="en-US" sz="1600" spc="90" dirty="0">
                <a:latin typeface="Arial MT"/>
                <a:cs typeface="Arial MT"/>
              </a:rPr>
              <a:t>techniques</a:t>
            </a:r>
            <a:r>
              <a:rPr lang="en-US" sz="1600" spc="260" dirty="0">
                <a:latin typeface="Arial MT"/>
                <a:cs typeface="Arial MT"/>
              </a:rPr>
              <a:t> </a:t>
            </a:r>
            <a:r>
              <a:rPr lang="en-US" sz="1600" spc="60" dirty="0">
                <a:latin typeface="Arial MT"/>
                <a:cs typeface="Arial MT"/>
              </a:rPr>
              <a:t>and</a:t>
            </a:r>
            <a:r>
              <a:rPr lang="en-US" sz="1600" spc="260" dirty="0">
                <a:latin typeface="Arial MT"/>
                <a:cs typeface="Arial MT"/>
              </a:rPr>
              <a:t> </a:t>
            </a:r>
            <a:r>
              <a:rPr lang="en-US" sz="1600" spc="80" dirty="0">
                <a:latin typeface="Arial MT"/>
                <a:cs typeface="Arial MT"/>
              </a:rPr>
              <a:t>methods</a:t>
            </a:r>
            <a:r>
              <a:rPr lang="en-US" sz="1600" spc="254" dirty="0">
                <a:latin typeface="Arial MT"/>
                <a:cs typeface="Arial MT"/>
              </a:rPr>
              <a:t> </a:t>
            </a:r>
            <a:r>
              <a:rPr lang="en-US" sz="1600" dirty="0">
                <a:latin typeface="Arial MT"/>
                <a:cs typeface="Arial MT"/>
              </a:rPr>
              <a:t>of</a:t>
            </a:r>
            <a:r>
              <a:rPr lang="en-US" sz="1600" spc="265" dirty="0">
                <a:latin typeface="Arial MT"/>
                <a:cs typeface="Arial MT"/>
              </a:rPr>
              <a:t> </a:t>
            </a:r>
            <a:r>
              <a:rPr lang="en-US" sz="1600" spc="85" dirty="0">
                <a:latin typeface="Arial MT"/>
                <a:cs typeface="Arial MT"/>
              </a:rPr>
              <a:t>creating</a:t>
            </a:r>
            <a:r>
              <a:rPr lang="en-US" sz="1600" spc="270" dirty="0">
                <a:latin typeface="Arial MT"/>
                <a:cs typeface="Arial MT"/>
              </a:rPr>
              <a:t> </a:t>
            </a:r>
            <a:r>
              <a:rPr lang="en-US" sz="1600" spc="-50" dirty="0">
                <a:latin typeface="Arial MT"/>
                <a:cs typeface="Arial MT"/>
              </a:rPr>
              <a:t>a </a:t>
            </a:r>
            <a:r>
              <a:rPr lang="en-US" sz="1600" dirty="0">
                <a:latin typeface="Arial MT"/>
                <a:cs typeface="Arial MT"/>
              </a:rPr>
              <a:t>virtual</a:t>
            </a:r>
            <a:r>
              <a:rPr lang="en-US" sz="1600" spc="-75" dirty="0">
                <a:latin typeface="Arial MT"/>
                <a:cs typeface="Arial MT"/>
              </a:rPr>
              <a:t> </a:t>
            </a:r>
            <a:r>
              <a:rPr lang="en-US" sz="1600" dirty="0">
                <a:latin typeface="Arial MT"/>
                <a:cs typeface="Arial MT"/>
              </a:rPr>
              <a:t>(rather</a:t>
            </a:r>
            <a:r>
              <a:rPr lang="en-US" sz="1600" spc="-75" dirty="0">
                <a:latin typeface="Arial MT"/>
                <a:cs typeface="Arial MT"/>
              </a:rPr>
              <a:t> </a:t>
            </a:r>
            <a:r>
              <a:rPr lang="en-US" sz="1600" dirty="0">
                <a:latin typeface="Arial MT"/>
                <a:cs typeface="Arial MT"/>
              </a:rPr>
              <a:t>than</a:t>
            </a:r>
            <a:r>
              <a:rPr lang="en-US" sz="1600" spc="-75" dirty="0">
                <a:latin typeface="Arial MT"/>
                <a:cs typeface="Arial MT"/>
              </a:rPr>
              <a:t> </a:t>
            </a:r>
            <a:r>
              <a:rPr lang="en-US" sz="1600" dirty="0">
                <a:latin typeface="Arial MT"/>
                <a:cs typeface="Arial MT"/>
              </a:rPr>
              <a:t>actual)</a:t>
            </a:r>
            <a:r>
              <a:rPr lang="en-US" sz="1600" spc="-75" dirty="0">
                <a:latin typeface="Arial MT"/>
                <a:cs typeface="Arial MT"/>
              </a:rPr>
              <a:t> </a:t>
            </a:r>
            <a:r>
              <a:rPr lang="en-US" sz="1600" dirty="0">
                <a:latin typeface="Arial MT"/>
                <a:cs typeface="Arial MT"/>
              </a:rPr>
              <a:t>version</a:t>
            </a:r>
            <a:r>
              <a:rPr lang="en-US" sz="1600" spc="-70" dirty="0">
                <a:latin typeface="Arial MT"/>
                <a:cs typeface="Arial MT"/>
              </a:rPr>
              <a:t> </a:t>
            </a:r>
            <a:r>
              <a:rPr lang="en-US" sz="1600" dirty="0">
                <a:latin typeface="Arial MT"/>
                <a:cs typeface="Arial MT"/>
              </a:rPr>
              <a:t>of</a:t>
            </a:r>
            <a:r>
              <a:rPr lang="en-US" sz="1600" spc="-70" dirty="0">
                <a:latin typeface="Arial MT"/>
                <a:cs typeface="Arial MT"/>
              </a:rPr>
              <a:t> </a:t>
            </a:r>
            <a:r>
              <a:rPr lang="en-US" sz="1600" dirty="0">
                <a:latin typeface="Arial MT"/>
                <a:cs typeface="Arial MT"/>
              </a:rPr>
              <a:t>something,</a:t>
            </a:r>
            <a:r>
              <a:rPr lang="en-US" sz="1600" spc="-70" dirty="0">
                <a:latin typeface="Arial MT"/>
                <a:cs typeface="Arial MT"/>
              </a:rPr>
              <a:t> </a:t>
            </a:r>
            <a:r>
              <a:rPr lang="en-US" sz="1600" dirty="0">
                <a:latin typeface="Arial MT"/>
                <a:cs typeface="Arial MT"/>
              </a:rPr>
              <a:t>such</a:t>
            </a:r>
            <a:r>
              <a:rPr lang="en-US" sz="1600" spc="-75" dirty="0">
                <a:latin typeface="Arial MT"/>
                <a:cs typeface="Arial MT"/>
              </a:rPr>
              <a:t> </a:t>
            </a:r>
            <a:r>
              <a:rPr lang="en-US" sz="1600" spc="-25" dirty="0">
                <a:latin typeface="Arial MT"/>
                <a:cs typeface="Arial MT"/>
              </a:rPr>
              <a:t>as:</a:t>
            </a:r>
            <a:endParaRPr lang="en-US" sz="1600" dirty="0">
              <a:latin typeface="Arial MT"/>
              <a:cs typeface="Arial MT"/>
            </a:endParaRPr>
          </a:p>
          <a:p>
            <a:pPr marL="760730" lvl="1" indent="-284480">
              <a:lnSpc>
                <a:spcPts val="3354"/>
              </a:lnSpc>
              <a:spcBef>
                <a:spcPts val="115"/>
              </a:spcBef>
              <a:buChar char="–"/>
              <a:tabLst>
                <a:tab pos="760730" algn="l"/>
              </a:tabLst>
            </a:pPr>
            <a:r>
              <a:rPr lang="en-US" sz="1600" dirty="0">
                <a:latin typeface="Arial MT"/>
                <a:cs typeface="Arial MT"/>
              </a:rPr>
              <a:t>Computer</a:t>
            </a:r>
            <a:r>
              <a:rPr lang="en-US" sz="1600" spc="-125" dirty="0">
                <a:latin typeface="Arial MT"/>
                <a:cs typeface="Arial MT"/>
              </a:rPr>
              <a:t> </a:t>
            </a:r>
            <a:r>
              <a:rPr lang="en-US" sz="1600" u="heavy" dirty="0">
                <a:uFill>
                  <a:solidFill>
                    <a:srgbClr val="000000"/>
                  </a:solidFill>
                </a:uFill>
                <a:latin typeface="Arial MT"/>
                <a:cs typeface="Arial MT"/>
              </a:rPr>
              <a:t>hardware</a:t>
            </a:r>
            <a:r>
              <a:rPr lang="en-US" sz="1600" spc="-120" dirty="0">
                <a:latin typeface="Arial MT"/>
                <a:cs typeface="Arial MT"/>
              </a:rPr>
              <a:t> </a:t>
            </a:r>
            <a:r>
              <a:rPr lang="en-US" sz="1600" spc="-10" dirty="0">
                <a:latin typeface="Arial MT"/>
                <a:cs typeface="Arial MT"/>
              </a:rPr>
              <a:t>platform</a:t>
            </a:r>
            <a:endParaRPr lang="en-US" sz="1600" dirty="0">
              <a:latin typeface="Arial MT"/>
              <a:cs typeface="Arial MT"/>
            </a:endParaRPr>
          </a:p>
          <a:p>
            <a:pPr marL="760730" lvl="1" indent="-284480">
              <a:lnSpc>
                <a:spcPts val="3354"/>
              </a:lnSpc>
              <a:buChar char="–"/>
              <a:tabLst>
                <a:tab pos="760730" algn="l"/>
              </a:tabLst>
            </a:pPr>
            <a:r>
              <a:rPr lang="en-US" sz="1600" dirty="0">
                <a:latin typeface="Arial MT"/>
                <a:cs typeface="Arial MT"/>
              </a:rPr>
              <a:t>Operating</a:t>
            </a:r>
            <a:r>
              <a:rPr lang="en-US" sz="1600" spc="-70" dirty="0">
                <a:latin typeface="Arial MT"/>
                <a:cs typeface="Arial MT"/>
              </a:rPr>
              <a:t> </a:t>
            </a:r>
            <a:r>
              <a:rPr lang="en-US" sz="1600" dirty="0">
                <a:latin typeface="Arial MT"/>
                <a:cs typeface="Arial MT"/>
              </a:rPr>
              <a:t>System</a:t>
            </a:r>
            <a:r>
              <a:rPr lang="en-US" sz="1600" spc="-70" dirty="0">
                <a:latin typeface="Arial MT"/>
                <a:cs typeface="Arial MT"/>
              </a:rPr>
              <a:t> </a:t>
            </a:r>
            <a:r>
              <a:rPr lang="en-US" sz="1600" dirty="0">
                <a:latin typeface="Arial MT"/>
                <a:cs typeface="Arial MT"/>
              </a:rPr>
              <a:t>(OS)</a:t>
            </a:r>
            <a:r>
              <a:rPr lang="en-US" sz="1600" spc="-70" dirty="0">
                <a:latin typeface="Arial MT"/>
                <a:cs typeface="Arial MT"/>
              </a:rPr>
              <a:t> </a:t>
            </a:r>
            <a:r>
              <a:rPr lang="en-US" sz="1600" dirty="0">
                <a:latin typeface="Arial MT"/>
                <a:cs typeface="Arial MT"/>
              </a:rPr>
              <a:t>–</a:t>
            </a:r>
            <a:r>
              <a:rPr lang="en-US" sz="1600" spc="-70" dirty="0">
                <a:latin typeface="Arial MT"/>
                <a:cs typeface="Arial MT"/>
              </a:rPr>
              <a:t> </a:t>
            </a:r>
            <a:r>
              <a:rPr lang="en-US" sz="1600" u="heavy" dirty="0">
                <a:uFill>
                  <a:solidFill>
                    <a:srgbClr val="000000"/>
                  </a:solidFill>
                </a:uFill>
                <a:latin typeface="Arial MT"/>
                <a:cs typeface="Arial MT"/>
              </a:rPr>
              <a:t>Virtual</a:t>
            </a:r>
            <a:r>
              <a:rPr lang="en-US" sz="1600" u="heavy" spc="-65" dirty="0">
                <a:uFill>
                  <a:solidFill>
                    <a:srgbClr val="000000"/>
                  </a:solidFill>
                </a:uFill>
                <a:latin typeface="Arial MT"/>
                <a:cs typeface="Arial MT"/>
              </a:rPr>
              <a:t> </a:t>
            </a:r>
            <a:r>
              <a:rPr lang="en-US" sz="1600" u="heavy" dirty="0">
                <a:uFill>
                  <a:solidFill>
                    <a:srgbClr val="000000"/>
                  </a:solidFill>
                </a:uFill>
                <a:latin typeface="Arial MT"/>
                <a:cs typeface="Arial MT"/>
              </a:rPr>
              <a:t>Machine</a:t>
            </a:r>
            <a:r>
              <a:rPr lang="en-US" sz="1600" u="heavy" spc="-70" dirty="0">
                <a:uFill>
                  <a:solidFill>
                    <a:srgbClr val="000000"/>
                  </a:solidFill>
                </a:uFill>
                <a:latin typeface="Arial MT"/>
                <a:cs typeface="Arial MT"/>
              </a:rPr>
              <a:t> </a:t>
            </a:r>
            <a:r>
              <a:rPr lang="en-US" sz="1600" u="heavy" dirty="0">
                <a:uFill>
                  <a:solidFill>
                    <a:srgbClr val="000000"/>
                  </a:solidFill>
                </a:uFill>
                <a:latin typeface="Arial MT"/>
                <a:cs typeface="Arial MT"/>
              </a:rPr>
              <a:t>or</a:t>
            </a:r>
            <a:r>
              <a:rPr lang="en-US" sz="1600" u="heavy" spc="-70" dirty="0">
                <a:uFill>
                  <a:solidFill>
                    <a:srgbClr val="000000"/>
                  </a:solidFill>
                </a:uFill>
                <a:latin typeface="Arial MT"/>
                <a:cs typeface="Arial MT"/>
              </a:rPr>
              <a:t> </a:t>
            </a:r>
            <a:r>
              <a:rPr lang="en-US" sz="1600" u="heavy" spc="-25" dirty="0">
                <a:uFill>
                  <a:solidFill>
                    <a:srgbClr val="000000"/>
                  </a:solidFill>
                </a:uFill>
                <a:latin typeface="Arial MT"/>
                <a:cs typeface="Arial MT"/>
              </a:rPr>
              <a:t>VM</a:t>
            </a:r>
            <a:endParaRPr lang="en-US" sz="1600" dirty="0">
              <a:latin typeface="Arial MT"/>
              <a:cs typeface="Arial MT"/>
            </a:endParaRPr>
          </a:p>
          <a:p>
            <a:pPr marL="760730" lvl="1" indent="-284480">
              <a:lnSpc>
                <a:spcPts val="3354"/>
              </a:lnSpc>
              <a:buChar char="–"/>
              <a:tabLst>
                <a:tab pos="760730" algn="l"/>
              </a:tabLst>
            </a:pPr>
            <a:r>
              <a:rPr lang="en-US" sz="1600" dirty="0">
                <a:latin typeface="Arial MT"/>
                <a:cs typeface="Arial MT"/>
              </a:rPr>
              <a:t>Storage</a:t>
            </a:r>
            <a:r>
              <a:rPr lang="en-US" sz="1600" spc="-75" dirty="0">
                <a:latin typeface="Arial MT"/>
                <a:cs typeface="Arial MT"/>
              </a:rPr>
              <a:t> </a:t>
            </a:r>
            <a:r>
              <a:rPr lang="en-US" sz="1600" spc="-10" dirty="0">
                <a:latin typeface="Arial MT"/>
                <a:cs typeface="Arial MT"/>
              </a:rPr>
              <a:t>device and </a:t>
            </a:r>
            <a:r>
              <a:rPr lang="en-US" sz="1600" dirty="0">
                <a:latin typeface="Arial MT"/>
                <a:cs typeface="Arial MT"/>
              </a:rPr>
              <a:t>Network</a:t>
            </a:r>
            <a:r>
              <a:rPr lang="en-US" sz="1600" spc="-105" dirty="0">
                <a:latin typeface="Arial MT"/>
                <a:cs typeface="Arial MT"/>
              </a:rPr>
              <a:t> </a:t>
            </a:r>
            <a:r>
              <a:rPr lang="en-US" sz="1600" spc="-10" dirty="0">
                <a:latin typeface="Arial MT"/>
                <a:cs typeface="Arial MT"/>
              </a:rPr>
              <a:t>resources</a:t>
            </a:r>
            <a:endParaRPr sz="16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242196"/>
            <a:ext cx="5485511" cy="504625"/>
          </a:xfrm>
          <a:prstGeom prst="rect">
            <a:avLst/>
          </a:prstGeom>
        </p:spPr>
        <p:txBody>
          <a:bodyPr vert="horz" wrap="square" lIns="0" tIns="12065" rIns="0" bIns="0" rtlCol="0">
            <a:spAutoFit/>
          </a:bodyPr>
          <a:lstStyle/>
          <a:p>
            <a:pPr marL="12700" algn="ctr">
              <a:lnSpc>
                <a:spcPct val="100000"/>
              </a:lnSpc>
              <a:spcBef>
                <a:spcPts val="95"/>
              </a:spcBef>
            </a:pPr>
            <a:r>
              <a:rPr lang="en-US" sz="3200" dirty="0">
                <a:solidFill>
                  <a:schemeClr val="tx1"/>
                </a:solidFill>
              </a:rPr>
              <a:t>History</a:t>
            </a:r>
            <a:r>
              <a:rPr lang="en-US" sz="3200" spc="-75" dirty="0">
                <a:solidFill>
                  <a:schemeClr val="tx1"/>
                </a:solidFill>
              </a:rPr>
              <a:t> </a:t>
            </a:r>
            <a:r>
              <a:rPr lang="en-US" sz="3200" dirty="0">
                <a:solidFill>
                  <a:schemeClr val="tx1"/>
                </a:solidFill>
              </a:rPr>
              <a:t>of</a:t>
            </a:r>
            <a:r>
              <a:rPr lang="en-US" sz="3200" spc="-50" dirty="0">
                <a:solidFill>
                  <a:schemeClr val="tx1"/>
                </a:solidFill>
              </a:rPr>
              <a:t> </a:t>
            </a:r>
            <a:r>
              <a:rPr lang="en-US" sz="3200" spc="-10" dirty="0">
                <a:solidFill>
                  <a:schemeClr val="tx1"/>
                </a:solidFill>
              </a:rPr>
              <a:t>Virtualization</a:t>
            </a:r>
            <a:endParaRPr dirty="0">
              <a:solidFill>
                <a:schemeClr val="tx1"/>
              </a:solidFill>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
        <p:nvSpPr>
          <p:cNvPr id="8" name="TextBox 7">
            <a:extLst>
              <a:ext uri="{FF2B5EF4-FFF2-40B4-BE49-F238E27FC236}">
                <a16:creationId xmlns:a16="http://schemas.microsoft.com/office/drawing/2014/main" id="{4C767373-8E0A-FF5F-1708-8B5B766268E7}"/>
              </a:ext>
            </a:extLst>
          </p:cNvPr>
          <p:cNvSpPr txBox="1"/>
          <p:nvPr/>
        </p:nvSpPr>
        <p:spPr>
          <a:xfrm>
            <a:off x="609600" y="959114"/>
            <a:ext cx="7924800" cy="3934410"/>
          </a:xfrm>
          <a:prstGeom prst="rect">
            <a:avLst/>
          </a:prstGeom>
          <a:noFill/>
        </p:spPr>
        <p:txBody>
          <a:bodyPr wrap="square" rtlCol="0">
            <a:spAutoFit/>
          </a:bodyPr>
          <a:lstStyle/>
          <a:p>
            <a:pPr marL="354330" marR="5080" indent="-341630" algn="just">
              <a:lnSpc>
                <a:spcPct val="110000"/>
              </a:lnSpc>
              <a:spcBef>
                <a:spcPts val="100"/>
              </a:spcBef>
              <a:buChar char="•"/>
              <a:tabLst>
                <a:tab pos="355600" algn="l"/>
              </a:tabLst>
            </a:pPr>
            <a:r>
              <a:rPr lang="en-US" sz="2000" dirty="0">
                <a:cs typeface="Arial MT"/>
              </a:rPr>
              <a:t>Virtualization is</a:t>
            </a:r>
            <a:r>
              <a:rPr lang="en-US" sz="2000" spc="5" dirty="0">
                <a:cs typeface="Arial MT"/>
              </a:rPr>
              <a:t> </a:t>
            </a:r>
            <a:r>
              <a:rPr lang="en-US" sz="2000" dirty="0">
                <a:cs typeface="Arial MT"/>
              </a:rPr>
              <a:t>an</a:t>
            </a:r>
            <a:r>
              <a:rPr lang="en-US" sz="2000" spc="10" dirty="0">
                <a:cs typeface="Arial MT"/>
              </a:rPr>
              <a:t> </a:t>
            </a:r>
            <a:r>
              <a:rPr lang="en-US" sz="2000" dirty="0">
                <a:cs typeface="Arial MT"/>
              </a:rPr>
              <a:t>approach</a:t>
            </a:r>
            <a:r>
              <a:rPr lang="en-US" sz="2000" spc="15" dirty="0">
                <a:cs typeface="Arial MT"/>
              </a:rPr>
              <a:t> </a:t>
            </a:r>
            <a:r>
              <a:rPr lang="en-US" sz="2000" dirty="0">
                <a:cs typeface="Arial MT"/>
              </a:rPr>
              <a:t>that</a:t>
            </a:r>
            <a:r>
              <a:rPr lang="en-US" sz="2000" spc="15" dirty="0">
                <a:cs typeface="Arial MT"/>
              </a:rPr>
              <a:t> </a:t>
            </a:r>
            <a:r>
              <a:rPr lang="en-US" sz="2000" dirty="0">
                <a:cs typeface="Arial MT"/>
              </a:rPr>
              <a:t>was</a:t>
            </a:r>
            <a:r>
              <a:rPr lang="en-US" sz="2000" spc="15" dirty="0">
                <a:cs typeface="Arial MT"/>
              </a:rPr>
              <a:t> </a:t>
            </a:r>
            <a:r>
              <a:rPr lang="en-US" sz="2000" dirty="0">
                <a:cs typeface="Arial MT"/>
              </a:rPr>
              <a:t>developed</a:t>
            </a:r>
            <a:r>
              <a:rPr lang="en-US" sz="2000" spc="10" dirty="0">
                <a:cs typeface="Arial MT"/>
              </a:rPr>
              <a:t> </a:t>
            </a:r>
            <a:r>
              <a:rPr lang="en-US" sz="2000" dirty="0">
                <a:cs typeface="Arial MT"/>
              </a:rPr>
              <a:t>by</a:t>
            </a:r>
            <a:r>
              <a:rPr lang="en-US" sz="2000" spc="15" dirty="0">
                <a:cs typeface="Arial MT"/>
              </a:rPr>
              <a:t> </a:t>
            </a:r>
            <a:r>
              <a:rPr lang="en-US" sz="2000" dirty="0">
                <a:cs typeface="Arial MT"/>
              </a:rPr>
              <a:t>the</a:t>
            </a:r>
            <a:r>
              <a:rPr lang="en-US" sz="2000" spc="10" dirty="0">
                <a:cs typeface="Arial MT"/>
              </a:rPr>
              <a:t> </a:t>
            </a:r>
            <a:r>
              <a:rPr lang="en-US" sz="2000" spc="-10" dirty="0">
                <a:cs typeface="Arial MT"/>
              </a:rPr>
              <a:t>pioneers 	</a:t>
            </a:r>
            <a:r>
              <a:rPr lang="en-US" sz="2000" dirty="0">
                <a:cs typeface="Arial MT"/>
              </a:rPr>
              <a:t>of</a:t>
            </a:r>
            <a:r>
              <a:rPr lang="en-US" sz="2000" spc="190" dirty="0">
                <a:cs typeface="Arial MT"/>
              </a:rPr>
              <a:t> </a:t>
            </a:r>
            <a:r>
              <a:rPr lang="en-US" sz="2000" dirty="0">
                <a:cs typeface="Arial MT"/>
              </a:rPr>
              <a:t>computing</a:t>
            </a:r>
            <a:r>
              <a:rPr lang="en-US" sz="2000" spc="185" dirty="0">
                <a:cs typeface="Arial MT"/>
              </a:rPr>
              <a:t> </a:t>
            </a:r>
            <a:r>
              <a:rPr lang="en-US" sz="2000" dirty="0">
                <a:cs typeface="Arial MT"/>
              </a:rPr>
              <a:t>systems,</a:t>
            </a:r>
            <a:r>
              <a:rPr lang="en-US" sz="2000" spc="190" dirty="0">
                <a:cs typeface="Arial MT"/>
              </a:rPr>
              <a:t> </a:t>
            </a:r>
            <a:r>
              <a:rPr lang="en-US" sz="2000" dirty="0">
                <a:cs typeface="Arial MT"/>
              </a:rPr>
              <a:t>IBM</a:t>
            </a:r>
            <a:r>
              <a:rPr lang="en-US" sz="2000" spc="185" dirty="0">
                <a:cs typeface="Arial MT"/>
              </a:rPr>
              <a:t> </a:t>
            </a:r>
            <a:r>
              <a:rPr lang="en-US" sz="2000" dirty="0">
                <a:cs typeface="Arial MT"/>
              </a:rPr>
              <a:t>and</a:t>
            </a:r>
            <a:r>
              <a:rPr lang="en-US" sz="2000" spc="185" dirty="0">
                <a:cs typeface="Arial MT"/>
              </a:rPr>
              <a:t> </a:t>
            </a:r>
            <a:r>
              <a:rPr lang="en-US" sz="2000" dirty="0">
                <a:cs typeface="Arial MT"/>
              </a:rPr>
              <a:t>Boroughs</a:t>
            </a:r>
            <a:r>
              <a:rPr lang="en-US" sz="2000" spc="185" dirty="0">
                <a:cs typeface="Arial MT"/>
              </a:rPr>
              <a:t> </a:t>
            </a:r>
            <a:r>
              <a:rPr lang="en-US" sz="2000" dirty="0">
                <a:cs typeface="Arial MT"/>
              </a:rPr>
              <a:t>(now</a:t>
            </a:r>
            <a:r>
              <a:rPr lang="en-US" sz="2000" spc="185" dirty="0">
                <a:cs typeface="Arial MT"/>
              </a:rPr>
              <a:t> </a:t>
            </a:r>
            <a:r>
              <a:rPr lang="en-US" sz="2000" dirty="0">
                <a:cs typeface="Arial MT"/>
              </a:rPr>
              <a:t>Unisys)</a:t>
            </a:r>
            <a:r>
              <a:rPr lang="en-US" sz="2000" spc="185" dirty="0">
                <a:cs typeface="Arial MT"/>
              </a:rPr>
              <a:t> </a:t>
            </a:r>
            <a:r>
              <a:rPr lang="en-US" sz="2000" dirty="0">
                <a:cs typeface="Arial MT"/>
              </a:rPr>
              <a:t>back</a:t>
            </a:r>
            <a:r>
              <a:rPr lang="en-US" sz="2000" spc="195" dirty="0">
                <a:cs typeface="Arial MT"/>
              </a:rPr>
              <a:t> </a:t>
            </a:r>
            <a:r>
              <a:rPr lang="en-US" sz="2000" spc="-25" dirty="0">
                <a:cs typeface="Arial MT"/>
              </a:rPr>
              <a:t>in 	</a:t>
            </a:r>
            <a:r>
              <a:rPr lang="en-US" sz="2000" dirty="0">
                <a:cs typeface="Arial MT"/>
              </a:rPr>
              <a:t>the</a:t>
            </a:r>
            <a:r>
              <a:rPr lang="en-US" sz="2000" spc="-60" dirty="0">
                <a:cs typeface="Arial MT"/>
              </a:rPr>
              <a:t> </a:t>
            </a:r>
            <a:r>
              <a:rPr lang="en-US" sz="2000" dirty="0">
                <a:cs typeface="Arial MT"/>
              </a:rPr>
              <a:t>ancient</a:t>
            </a:r>
            <a:r>
              <a:rPr lang="en-US" sz="2000" spc="-55" dirty="0">
                <a:cs typeface="Arial MT"/>
              </a:rPr>
              <a:t> </a:t>
            </a:r>
            <a:r>
              <a:rPr lang="en-US" sz="2000" dirty="0">
                <a:cs typeface="Arial MT"/>
              </a:rPr>
              <a:t>days</a:t>
            </a:r>
            <a:r>
              <a:rPr lang="en-US" sz="2000" spc="-60" dirty="0">
                <a:cs typeface="Arial MT"/>
              </a:rPr>
              <a:t> </a:t>
            </a:r>
            <a:r>
              <a:rPr lang="en-US" sz="2000" dirty="0">
                <a:cs typeface="Arial MT"/>
              </a:rPr>
              <a:t>of</a:t>
            </a:r>
            <a:r>
              <a:rPr lang="en-US" sz="2000" spc="-50" dirty="0">
                <a:cs typeface="Arial MT"/>
              </a:rPr>
              <a:t> </a:t>
            </a:r>
            <a:r>
              <a:rPr lang="en-US" sz="2000" dirty="0">
                <a:cs typeface="Arial MT"/>
              </a:rPr>
              <a:t>computing,</a:t>
            </a:r>
            <a:r>
              <a:rPr lang="en-US" sz="2000" spc="-55" dirty="0">
                <a:cs typeface="Arial MT"/>
              </a:rPr>
              <a:t> </a:t>
            </a:r>
            <a:r>
              <a:rPr lang="en-US" sz="2000" dirty="0">
                <a:cs typeface="Arial MT"/>
              </a:rPr>
              <a:t>the</a:t>
            </a:r>
            <a:r>
              <a:rPr lang="en-US" sz="2000" spc="-60" dirty="0">
                <a:cs typeface="Arial MT"/>
              </a:rPr>
              <a:t> </a:t>
            </a:r>
            <a:r>
              <a:rPr lang="en-US" sz="2000" spc="-10" dirty="0">
                <a:cs typeface="Arial MT"/>
              </a:rPr>
              <a:t>1960s.</a:t>
            </a:r>
            <a:endParaRPr lang="en-US" sz="2000" dirty="0">
              <a:cs typeface="Arial MT"/>
            </a:endParaRPr>
          </a:p>
          <a:p>
            <a:pPr marL="354330" marR="5080" indent="-341630" algn="just">
              <a:lnSpc>
                <a:spcPct val="110000"/>
              </a:lnSpc>
              <a:spcBef>
                <a:spcPts val="665"/>
              </a:spcBef>
              <a:buChar char="•"/>
              <a:tabLst>
                <a:tab pos="355600" algn="l"/>
              </a:tabLst>
            </a:pPr>
            <a:r>
              <a:rPr lang="en-US" sz="2000" spc="75" dirty="0">
                <a:cs typeface="Arial MT"/>
              </a:rPr>
              <a:t>It</a:t>
            </a:r>
            <a:r>
              <a:rPr lang="en-US" sz="2000" spc="320" dirty="0">
                <a:cs typeface="Arial MT"/>
              </a:rPr>
              <a:t> </a:t>
            </a:r>
            <a:r>
              <a:rPr lang="en-US" sz="2000" spc="114" dirty="0">
                <a:cs typeface="Arial MT"/>
              </a:rPr>
              <a:t>involved</a:t>
            </a:r>
            <a:r>
              <a:rPr lang="en-US" sz="2000" spc="320" dirty="0">
                <a:cs typeface="Arial MT"/>
              </a:rPr>
              <a:t> </a:t>
            </a:r>
            <a:r>
              <a:rPr lang="en-US" sz="2000" spc="105" dirty="0">
                <a:cs typeface="Arial MT"/>
              </a:rPr>
              <a:t>using</a:t>
            </a:r>
            <a:r>
              <a:rPr lang="en-US" sz="2000" spc="315" dirty="0">
                <a:cs typeface="Arial MT"/>
              </a:rPr>
              <a:t> </a:t>
            </a:r>
            <a:r>
              <a:rPr lang="en-US" sz="2000" spc="105" dirty="0">
                <a:cs typeface="Arial MT"/>
              </a:rPr>
              <a:t>unused</a:t>
            </a:r>
            <a:r>
              <a:rPr lang="en-US" sz="2000" spc="320" dirty="0">
                <a:cs typeface="Arial MT"/>
              </a:rPr>
              <a:t> </a:t>
            </a:r>
            <a:r>
              <a:rPr lang="en-US" sz="2000" spc="114" dirty="0">
                <a:cs typeface="Arial MT"/>
              </a:rPr>
              <a:t>computing</a:t>
            </a:r>
            <a:r>
              <a:rPr lang="en-US" sz="2000" spc="315" dirty="0">
                <a:cs typeface="Arial MT"/>
              </a:rPr>
              <a:t> </a:t>
            </a:r>
            <a:r>
              <a:rPr lang="en-US" sz="2000" spc="114" dirty="0">
                <a:cs typeface="Arial MT"/>
              </a:rPr>
              <a:t>resources</a:t>
            </a:r>
            <a:r>
              <a:rPr lang="en-US" sz="2000" spc="320" dirty="0">
                <a:cs typeface="Arial MT"/>
              </a:rPr>
              <a:t> </a:t>
            </a:r>
            <a:r>
              <a:rPr lang="en-US" sz="2000" spc="65" dirty="0">
                <a:cs typeface="Arial MT"/>
              </a:rPr>
              <a:t>to</a:t>
            </a:r>
            <a:r>
              <a:rPr lang="en-US" sz="2000" spc="315" dirty="0">
                <a:cs typeface="Arial MT"/>
              </a:rPr>
              <a:t> </a:t>
            </a:r>
            <a:r>
              <a:rPr lang="en-US" sz="2000" spc="110" dirty="0">
                <a:cs typeface="Arial MT"/>
              </a:rPr>
              <a:t>create</a:t>
            </a:r>
            <a:r>
              <a:rPr lang="en-US" sz="2000" spc="330" dirty="0">
                <a:cs typeface="Arial MT"/>
              </a:rPr>
              <a:t> </a:t>
            </a:r>
            <a:r>
              <a:rPr lang="en-US" sz="2000" spc="35" dirty="0">
                <a:cs typeface="Arial MT"/>
              </a:rPr>
              <a:t>an 	</a:t>
            </a:r>
            <a:r>
              <a:rPr lang="en-US" sz="2000" dirty="0">
                <a:cs typeface="Arial MT"/>
              </a:rPr>
              <a:t>artificial,</a:t>
            </a:r>
            <a:r>
              <a:rPr lang="en-US" sz="2000" spc="-60" dirty="0">
                <a:cs typeface="Arial MT"/>
              </a:rPr>
              <a:t> </a:t>
            </a:r>
            <a:r>
              <a:rPr lang="en-US" sz="2000" dirty="0">
                <a:cs typeface="Arial MT"/>
              </a:rPr>
              <a:t>but</a:t>
            </a:r>
            <a:r>
              <a:rPr lang="en-US" sz="2000" spc="-55" dirty="0">
                <a:cs typeface="Arial MT"/>
              </a:rPr>
              <a:t> </a:t>
            </a:r>
            <a:r>
              <a:rPr lang="en-US" sz="2000" dirty="0">
                <a:cs typeface="Arial MT"/>
              </a:rPr>
              <a:t>useful,</a:t>
            </a:r>
            <a:r>
              <a:rPr lang="en-US" sz="2000" spc="-55" dirty="0">
                <a:cs typeface="Arial MT"/>
              </a:rPr>
              <a:t> </a:t>
            </a:r>
            <a:r>
              <a:rPr lang="en-US" sz="2000" dirty="0">
                <a:cs typeface="Arial MT"/>
              </a:rPr>
              <a:t>view</a:t>
            </a:r>
            <a:r>
              <a:rPr lang="en-US" sz="2000" spc="-60" dirty="0">
                <a:cs typeface="Arial MT"/>
              </a:rPr>
              <a:t> </a:t>
            </a:r>
            <a:r>
              <a:rPr lang="en-US" sz="2000" dirty="0">
                <a:cs typeface="Arial MT"/>
              </a:rPr>
              <a:t>of</a:t>
            </a:r>
            <a:r>
              <a:rPr lang="en-US" sz="2000" spc="-60" dirty="0">
                <a:cs typeface="Arial MT"/>
              </a:rPr>
              <a:t> </a:t>
            </a:r>
            <a:r>
              <a:rPr lang="en-US" sz="2000" dirty="0">
                <a:cs typeface="Arial MT"/>
              </a:rPr>
              <a:t>system</a:t>
            </a:r>
            <a:r>
              <a:rPr lang="en-US" sz="2000" spc="-60" dirty="0">
                <a:cs typeface="Arial MT"/>
              </a:rPr>
              <a:t> </a:t>
            </a:r>
            <a:r>
              <a:rPr lang="en-US" sz="2000" spc="-10" dirty="0">
                <a:cs typeface="Arial MT"/>
              </a:rPr>
              <a:t>capabilities.</a:t>
            </a:r>
            <a:endParaRPr lang="en-US" sz="2000" dirty="0">
              <a:cs typeface="Arial MT"/>
            </a:endParaRPr>
          </a:p>
          <a:p>
            <a:pPr marL="354330" marR="5080" indent="-341630" algn="just">
              <a:lnSpc>
                <a:spcPct val="110000"/>
              </a:lnSpc>
              <a:spcBef>
                <a:spcPts val="670"/>
              </a:spcBef>
              <a:buChar char="•"/>
              <a:tabLst>
                <a:tab pos="355600" algn="l"/>
              </a:tabLst>
            </a:pPr>
            <a:r>
              <a:rPr lang="en-US" sz="2000" dirty="0">
                <a:cs typeface="Arial MT"/>
              </a:rPr>
              <a:t>In</a:t>
            </a:r>
            <a:r>
              <a:rPr lang="en-US" sz="2000" spc="250" dirty="0">
                <a:cs typeface="Arial MT"/>
              </a:rPr>
              <a:t> </a:t>
            </a:r>
            <a:r>
              <a:rPr lang="en-US" sz="2000" dirty="0">
                <a:cs typeface="Arial MT"/>
              </a:rPr>
              <a:t>the</a:t>
            </a:r>
            <a:r>
              <a:rPr lang="en-US" sz="2000" spc="250" dirty="0">
                <a:cs typeface="Arial MT"/>
              </a:rPr>
              <a:t> </a:t>
            </a:r>
            <a:r>
              <a:rPr lang="en-US" sz="2000" dirty="0">
                <a:cs typeface="Arial MT"/>
              </a:rPr>
              <a:t>80’s</a:t>
            </a:r>
            <a:r>
              <a:rPr lang="en-US" sz="2000" spc="250" dirty="0">
                <a:cs typeface="Arial MT"/>
              </a:rPr>
              <a:t> </a:t>
            </a:r>
            <a:r>
              <a:rPr lang="en-US" sz="2000" dirty="0">
                <a:cs typeface="Arial MT"/>
              </a:rPr>
              <a:t>and</a:t>
            </a:r>
            <a:r>
              <a:rPr lang="en-US" sz="2000" spc="250" dirty="0">
                <a:cs typeface="Arial MT"/>
              </a:rPr>
              <a:t> </a:t>
            </a:r>
            <a:r>
              <a:rPr lang="en-US" sz="2000" spc="50" dirty="0">
                <a:cs typeface="Arial MT"/>
              </a:rPr>
              <a:t>early</a:t>
            </a:r>
            <a:r>
              <a:rPr lang="en-US" sz="2000" spc="250" dirty="0">
                <a:cs typeface="Arial MT"/>
              </a:rPr>
              <a:t> </a:t>
            </a:r>
            <a:r>
              <a:rPr lang="en-US" sz="2000" dirty="0">
                <a:cs typeface="Arial MT"/>
              </a:rPr>
              <a:t>90’s</a:t>
            </a:r>
            <a:r>
              <a:rPr lang="en-US" sz="2000" spc="260" dirty="0">
                <a:cs typeface="Arial MT"/>
              </a:rPr>
              <a:t> </a:t>
            </a:r>
            <a:r>
              <a:rPr lang="en-US" sz="2000" dirty="0">
                <a:cs typeface="Arial MT"/>
              </a:rPr>
              <a:t>the</a:t>
            </a:r>
            <a:r>
              <a:rPr lang="en-US" sz="2000" spc="260" dirty="0">
                <a:cs typeface="Arial MT"/>
              </a:rPr>
              <a:t> </a:t>
            </a:r>
            <a:r>
              <a:rPr lang="en-US" sz="2000" spc="65" dirty="0">
                <a:cs typeface="Arial MT"/>
              </a:rPr>
              <a:t>industry</a:t>
            </a:r>
            <a:r>
              <a:rPr lang="en-US" sz="2000" spc="260" dirty="0">
                <a:cs typeface="Arial MT"/>
              </a:rPr>
              <a:t> </a:t>
            </a:r>
            <a:r>
              <a:rPr lang="en-US" sz="2000" spc="55" dirty="0">
                <a:cs typeface="Arial MT"/>
              </a:rPr>
              <a:t>moved</a:t>
            </a:r>
            <a:r>
              <a:rPr lang="en-US" sz="2000" spc="265" dirty="0">
                <a:cs typeface="Arial MT"/>
              </a:rPr>
              <a:t> </a:t>
            </a:r>
            <a:r>
              <a:rPr lang="en-US" sz="2000" spc="50" dirty="0">
                <a:cs typeface="Arial MT"/>
              </a:rPr>
              <a:t>from</a:t>
            </a:r>
            <a:r>
              <a:rPr lang="en-US" sz="2000" spc="260" dirty="0">
                <a:cs typeface="Arial MT"/>
              </a:rPr>
              <a:t> </a:t>
            </a:r>
            <a:r>
              <a:rPr lang="en-US" sz="2000" spc="55" dirty="0">
                <a:cs typeface="Arial MT"/>
              </a:rPr>
              <a:t>leveraging 	</a:t>
            </a:r>
            <a:r>
              <a:rPr lang="en-US" sz="2000" spc="140" dirty="0">
                <a:cs typeface="Arial MT"/>
              </a:rPr>
              <a:t>singular</a:t>
            </a:r>
            <a:r>
              <a:rPr lang="en-US" sz="2000" spc="375" dirty="0">
                <a:cs typeface="Arial MT"/>
              </a:rPr>
              <a:t> </a:t>
            </a:r>
            <a:r>
              <a:rPr lang="en-US" sz="2000" spc="145" dirty="0">
                <a:cs typeface="Arial MT"/>
              </a:rPr>
              <a:t>mainframes</a:t>
            </a:r>
            <a:r>
              <a:rPr lang="en-US" sz="2000" spc="380" dirty="0">
                <a:cs typeface="Arial MT"/>
              </a:rPr>
              <a:t> </a:t>
            </a:r>
            <a:r>
              <a:rPr lang="en-US" sz="2000" spc="80" dirty="0">
                <a:cs typeface="Arial MT"/>
              </a:rPr>
              <a:t>to</a:t>
            </a:r>
            <a:r>
              <a:rPr lang="en-US" sz="2000" spc="380" dirty="0">
                <a:cs typeface="Arial MT"/>
              </a:rPr>
              <a:t> </a:t>
            </a:r>
            <a:r>
              <a:rPr lang="en-US" sz="2000" spc="135" dirty="0">
                <a:cs typeface="Arial MT"/>
              </a:rPr>
              <a:t>running</a:t>
            </a:r>
            <a:r>
              <a:rPr lang="en-US" sz="2000" spc="380" dirty="0">
                <a:cs typeface="Arial MT"/>
              </a:rPr>
              <a:t> </a:t>
            </a:r>
            <a:r>
              <a:rPr lang="en-US" sz="2000" spc="150" dirty="0">
                <a:cs typeface="Arial MT"/>
              </a:rPr>
              <a:t>collections</a:t>
            </a:r>
            <a:r>
              <a:rPr lang="en-US" sz="2000" spc="390" dirty="0">
                <a:cs typeface="Arial MT"/>
              </a:rPr>
              <a:t> </a:t>
            </a:r>
            <a:r>
              <a:rPr lang="en-US" sz="2000" spc="80" dirty="0">
                <a:cs typeface="Arial MT"/>
              </a:rPr>
              <a:t>of</a:t>
            </a:r>
            <a:r>
              <a:rPr lang="en-US" sz="2000" spc="395" dirty="0">
                <a:cs typeface="Arial MT"/>
              </a:rPr>
              <a:t> </a:t>
            </a:r>
            <a:r>
              <a:rPr lang="en-US" sz="2000" spc="140" dirty="0">
                <a:cs typeface="Arial MT"/>
              </a:rPr>
              <a:t>smaller</a:t>
            </a:r>
            <a:r>
              <a:rPr lang="en-US" sz="2000" spc="390" dirty="0">
                <a:cs typeface="Arial MT"/>
              </a:rPr>
              <a:t> </a:t>
            </a:r>
            <a:r>
              <a:rPr lang="en-US" sz="2000" spc="80" dirty="0">
                <a:cs typeface="Arial MT"/>
              </a:rPr>
              <a:t>and 	</a:t>
            </a:r>
            <a:r>
              <a:rPr lang="en-US" sz="2000" spc="65" dirty="0">
                <a:cs typeface="Arial MT"/>
              </a:rPr>
              <a:t>cheaper</a:t>
            </a:r>
            <a:r>
              <a:rPr lang="en-US" sz="2000" spc="225" dirty="0">
                <a:cs typeface="Arial MT"/>
              </a:rPr>
              <a:t> </a:t>
            </a:r>
            <a:r>
              <a:rPr lang="en-US" sz="2000" spc="50" dirty="0">
                <a:cs typeface="Arial MT"/>
              </a:rPr>
              <a:t>x86</a:t>
            </a:r>
            <a:r>
              <a:rPr lang="en-US" sz="2000" spc="229" dirty="0">
                <a:cs typeface="Arial MT"/>
              </a:rPr>
              <a:t> </a:t>
            </a:r>
            <a:r>
              <a:rPr lang="en-US" sz="2000" spc="70" dirty="0">
                <a:cs typeface="Arial MT"/>
              </a:rPr>
              <a:t>servers.</a:t>
            </a:r>
            <a:r>
              <a:rPr lang="en-US" sz="2000" spc="75" dirty="0">
                <a:cs typeface="Arial MT"/>
              </a:rPr>
              <a:t> </a:t>
            </a:r>
            <a:r>
              <a:rPr lang="en-US" sz="2000" dirty="0">
                <a:cs typeface="Arial MT"/>
              </a:rPr>
              <a:t>As</a:t>
            </a:r>
            <a:r>
              <a:rPr lang="en-US" sz="2000" spc="229" dirty="0">
                <a:cs typeface="Arial MT"/>
              </a:rPr>
              <a:t> </a:t>
            </a:r>
            <a:r>
              <a:rPr lang="en-US" sz="2000" dirty="0">
                <a:cs typeface="Arial MT"/>
              </a:rPr>
              <a:t>a</a:t>
            </a:r>
            <a:r>
              <a:rPr lang="en-US" sz="2000" spc="229" dirty="0">
                <a:cs typeface="Arial MT"/>
              </a:rPr>
              <a:t> </a:t>
            </a:r>
            <a:r>
              <a:rPr lang="en-US" sz="2000" spc="70" dirty="0">
                <a:cs typeface="Arial MT"/>
              </a:rPr>
              <a:t>result</a:t>
            </a:r>
            <a:r>
              <a:rPr lang="en-US" sz="2000" spc="235" dirty="0">
                <a:cs typeface="Arial MT"/>
              </a:rPr>
              <a:t> </a:t>
            </a:r>
            <a:r>
              <a:rPr lang="en-US" sz="2000" spc="55" dirty="0">
                <a:cs typeface="Arial MT"/>
              </a:rPr>
              <a:t>the</a:t>
            </a:r>
            <a:r>
              <a:rPr lang="en-US" sz="2000" spc="225" dirty="0">
                <a:cs typeface="Arial MT"/>
              </a:rPr>
              <a:t> </a:t>
            </a:r>
            <a:r>
              <a:rPr lang="en-US" sz="2000" spc="70" dirty="0">
                <a:cs typeface="Arial MT"/>
              </a:rPr>
              <a:t>concept</a:t>
            </a:r>
            <a:r>
              <a:rPr lang="en-US" sz="2000" spc="235" dirty="0">
                <a:cs typeface="Arial MT"/>
              </a:rPr>
              <a:t> </a:t>
            </a:r>
            <a:r>
              <a:rPr lang="en-US" sz="2000" dirty="0">
                <a:cs typeface="Arial MT"/>
              </a:rPr>
              <a:t>of</a:t>
            </a:r>
            <a:r>
              <a:rPr lang="en-US" sz="2000" spc="235" dirty="0">
                <a:cs typeface="Arial MT"/>
              </a:rPr>
              <a:t> </a:t>
            </a:r>
            <a:r>
              <a:rPr lang="en-US" sz="2000" spc="70" dirty="0">
                <a:cs typeface="Arial MT"/>
              </a:rPr>
              <a:t>virtualization 	</a:t>
            </a:r>
            <a:r>
              <a:rPr lang="en-US" sz="2000" spc="50" dirty="0">
                <a:cs typeface="Arial MT"/>
              </a:rPr>
              <a:t>become</a:t>
            </a:r>
            <a:r>
              <a:rPr lang="en-US" sz="2000" spc="265" dirty="0">
                <a:cs typeface="Arial MT"/>
              </a:rPr>
              <a:t> </a:t>
            </a:r>
            <a:r>
              <a:rPr lang="en-US" sz="2000" dirty="0">
                <a:cs typeface="Arial MT"/>
              </a:rPr>
              <a:t>less</a:t>
            </a:r>
            <a:r>
              <a:rPr lang="en-US" sz="2000" spc="270" dirty="0">
                <a:cs typeface="Arial MT"/>
              </a:rPr>
              <a:t> </a:t>
            </a:r>
            <a:r>
              <a:rPr lang="en-US" sz="2000" spc="55" dirty="0">
                <a:cs typeface="Arial MT"/>
              </a:rPr>
              <a:t>prominent.</a:t>
            </a:r>
            <a:r>
              <a:rPr lang="en-US" sz="2000" spc="215" dirty="0">
                <a:cs typeface="Arial MT"/>
              </a:rPr>
              <a:t> </a:t>
            </a:r>
            <a:r>
              <a:rPr lang="en-US" sz="2000" dirty="0">
                <a:cs typeface="Arial MT"/>
              </a:rPr>
              <a:t>That</a:t>
            </a:r>
            <a:r>
              <a:rPr lang="en-US" sz="2000" spc="275" dirty="0">
                <a:cs typeface="Arial MT"/>
              </a:rPr>
              <a:t> </a:t>
            </a:r>
            <a:r>
              <a:rPr lang="en-US" sz="2000" spc="50" dirty="0">
                <a:cs typeface="Arial MT"/>
              </a:rPr>
              <a:t>changed</a:t>
            </a:r>
            <a:r>
              <a:rPr lang="en-US" sz="2000" spc="265" dirty="0">
                <a:cs typeface="Arial MT"/>
              </a:rPr>
              <a:t> </a:t>
            </a:r>
            <a:r>
              <a:rPr lang="en-US" sz="2000" dirty="0">
                <a:cs typeface="Arial MT"/>
              </a:rPr>
              <a:t>in</a:t>
            </a:r>
            <a:r>
              <a:rPr lang="en-US" sz="2000" spc="270" dirty="0">
                <a:cs typeface="Arial MT"/>
              </a:rPr>
              <a:t> </a:t>
            </a:r>
            <a:r>
              <a:rPr lang="en-US" sz="2000" dirty="0">
                <a:cs typeface="Arial MT"/>
              </a:rPr>
              <a:t>1999</a:t>
            </a:r>
            <a:r>
              <a:rPr lang="en-US" sz="2000" spc="270" dirty="0">
                <a:cs typeface="Arial MT"/>
              </a:rPr>
              <a:t> </a:t>
            </a:r>
            <a:r>
              <a:rPr lang="en-US" sz="2000" dirty="0">
                <a:cs typeface="Arial MT"/>
              </a:rPr>
              <a:t>with</a:t>
            </a:r>
            <a:r>
              <a:rPr lang="en-US" sz="2000" spc="270" dirty="0">
                <a:cs typeface="Arial MT"/>
              </a:rPr>
              <a:t> </a:t>
            </a:r>
            <a:r>
              <a:rPr lang="en-US" sz="2000" spc="40" dirty="0">
                <a:cs typeface="Arial MT"/>
              </a:rPr>
              <a:t>VMware’s 	</a:t>
            </a:r>
            <a:r>
              <a:rPr lang="en-US" sz="2000" dirty="0">
                <a:cs typeface="Arial MT"/>
              </a:rPr>
              <a:t>introduction</a:t>
            </a:r>
            <a:r>
              <a:rPr lang="en-US" sz="2000" spc="-85" dirty="0">
                <a:cs typeface="Arial MT"/>
              </a:rPr>
              <a:t> </a:t>
            </a:r>
            <a:r>
              <a:rPr lang="en-US" sz="2000" dirty="0">
                <a:cs typeface="Arial MT"/>
              </a:rPr>
              <a:t>of</a:t>
            </a:r>
            <a:r>
              <a:rPr lang="en-US" sz="2000" spc="-75" dirty="0">
                <a:cs typeface="Arial MT"/>
              </a:rPr>
              <a:t> </a:t>
            </a:r>
            <a:r>
              <a:rPr lang="en-US" sz="2000" dirty="0">
                <a:cs typeface="Arial MT"/>
              </a:rPr>
              <a:t>VMware</a:t>
            </a:r>
            <a:r>
              <a:rPr lang="en-US" sz="2000" spc="-80" dirty="0">
                <a:cs typeface="Arial MT"/>
              </a:rPr>
              <a:t> </a:t>
            </a:r>
            <a:r>
              <a:rPr lang="en-US" sz="2000" spc="-10" dirty="0">
                <a:cs typeface="Arial MT"/>
              </a:rPr>
              <a:t>workstation.</a:t>
            </a:r>
            <a:endParaRPr lang="en-US" sz="2000" dirty="0">
              <a:cs typeface="Arial MT"/>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47731"/>
            <a:ext cx="4724400" cy="504625"/>
          </a:xfrm>
          <a:prstGeom prst="rect">
            <a:avLst/>
          </a:prstGeom>
        </p:spPr>
        <p:txBody>
          <a:bodyPr vert="horz" wrap="square" lIns="0" tIns="12065" rIns="0" bIns="0" rtlCol="0">
            <a:spAutoFit/>
          </a:bodyPr>
          <a:lstStyle/>
          <a:p>
            <a:pPr marL="12700" algn="ctr">
              <a:lnSpc>
                <a:spcPct val="100000"/>
              </a:lnSpc>
              <a:spcBef>
                <a:spcPts val="95"/>
              </a:spcBef>
            </a:pPr>
            <a:r>
              <a:rPr lang="en-US" sz="3200" b="1" dirty="0"/>
              <a:t>Virtual</a:t>
            </a:r>
            <a:r>
              <a:rPr lang="en-US" sz="3200" b="1" spc="-165" dirty="0"/>
              <a:t> </a:t>
            </a:r>
            <a:r>
              <a:rPr lang="en-US" sz="3200" b="1" dirty="0"/>
              <a:t>Machines</a:t>
            </a:r>
            <a:r>
              <a:rPr lang="en-US" sz="3200" b="1" spc="-175" dirty="0"/>
              <a:t> </a:t>
            </a:r>
            <a:r>
              <a:rPr lang="en-US" sz="3200" b="1" spc="-20" dirty="0"/>
              <a:t>(VM)</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
        <p:nvSpPr>
          <p:cNvPr id="6" name="Content Placeholder 5">
            <a:extLst>
              <a:ext uri="{FF2B5EF4-FFF2-40B4-BE49-F238E27FC236}">
                <a16:creationId xmlns:a16="http://schemas.microsoft.com/office/drawing/2014/main" id="{AA0BA7E9-34BB-8555-8712-617BA5CECB0D}"/>
              </a:ext>
            </a:extLst>
          </p:cNvPr>
          <p:cNvSpPr>
            <a:spLocks noGrp="1"/>
          </p:cNvSpPr>
          <p:nvPr>
            <p:ph idx="1"/>
          </p:nvPr>
        </p:nvSpPr>
        <p:spPr>
          <a:xfrm>
            <a:off x="628650" y="971550"/>
            <a:ext cx="7886700" cy="3661173"/>
          </a:xfrm>
        </p:spPr>
        <p:txBody>
          <a:bodyPr>
            <a:normAutofit fontScale="70000" lnSpcReduction="20000"/>
          </a:bodyPr>
          <a:lstStyle/>
          <a:p>
            <a:pPr marL="4507865" marR="155575" indent="-342900" algn="just">
              <a:lnSpc>
                <a:spcPct val="100000"/>
              </a:lnSpc>
              <a:spcBef>
                <a:spcPts val="100"/>
              </a:spcBef>
              <a:buClr>
                <a:srgbClr val="009999"/>
              </a:buClr>
              <a:buSzPct val="125000"/>
              <a:buChar char="•"/>
              <a:tabLst>
                <a:tab pos="4507865" algn="l"/>
              </a:tabLst>
            </a:pPr>
            <a:r>
              <a:rPr lang="en-US" sz="2300" dirty="0">
                <a:cs typeface="Arial MT"/>
              </a:rPr>
              <a:t>A</a:t>
            </a:r>
            <a:r>
              <a:rPr lang="en-US" sz="2300" spc="65" dirty="0">
                <a:cs typeface="Arial MT"/>
              </a:rPr>
              <a:t> </a:t>
            </a:r>
            <a:r>
              <a:rPr lang="en-US" sz="2300" spc="50" dirty="0">
                <a:cs typeface="Arial MT"/>
              </a:rPr>
              <a:t>machine</a:t>
            </a:r>
            <a:r>
              <a:rPr lang="en-US" sz="2300" spc="220" dirty="0">
                <a:cs typeface="Arial MT"/>
              </a:rPr>
              <a:t> </a:t>
            </a:r>
            <a:r>
              <a:rPr lang="en-US" sz="2300" dirty="0">
                <a:cs typeface="Arial MT"/>
              </a:rPr>
              <a:t>with</a:t>
            </a:r>
            <a:r>
              <a:rPr lang="en-US" sz="2300" spc="220" dirty="0">
                <a:cs typeface="Arial MT"/>
              </a:rPr>
              <a:t> </a:t>
            </a:r>
            <a:r>
              <a:rPr lang="en-US" sz="2300" spc="65" dirty="0">
                <a:cs typeface="Arial MT"/>
              </a:rPr>
              <a:t>virtualization</a:t>
            </a:r>
            <a:r>
              <a:rPr lang="en-US" sz="2300" spc="225" dirty="0">
                <a:cs typeface="Arial MT"/>
              </a:rPr>
              <a:t> </a:t>
            </a:r>
            <a:r>
              <a:rPr lang="en-US" sz="2300" spc="60" dirty="0">
                <a:cs typeface="Arial MT"/>
              </a:rPr>
              <a:t>software</a:t>
            </a:r>
            <a:r>
              <a:rPr lang="en-US" sz="2300" spc="220" dirty="0">
                <a:cs typeface="Arial MT"/>
              </a:rPr>
              <a:t> </a:t>
            </a:r>
            <a:r>
              <a:rPr lang="en-US" sz="2300" dirty="0">
                <a:cs typeface="Arial MT"/>
              </a:rPr>
              <a:t>can</a:t>
            </a:r>
            <a:r>
              <a:rPr lang="en-US" sz="2300" spc="225" dirty="0">
                <a:cs typeface="Arial MT"/>
              </a:rPr>
              <a:t> </a:t>
            </a:r>
            <a:r>
              <a:rPr lang="en-US" sz="2300" spc="30" dirty="0">
                <a:cs typeface="Arial MT"/>
              </a:rPr>
              <a:t>host </a:t>
            </a:r>
            <a:r>
              <a:rPr lang="en-US" sz="2300" dirty="0">
                <a:cs typeface="Arial MT"/>
              </a:rPr>
              <a:t>numerous</a:t>
            </a:r>
            <a:r>
              <a:rPr lang="en-US" sz="2300" spc="285" dirty="0">
                <a:cs typeface="Arial MT"/>
              </a:rPr>
              <a:t> </a:t>
            </a:r>
            <a:r>
              <a:rPr lang="en-US" sz="2300" spc="50" dirty="0">
                <a:cs typeface="Arial MT"/>
              </a:rPr>
              <a:t>applications,</a:t>
            </a:r>
            <a:r>
              <a:rPr lang="en-US" sz="2300" spc="290" dirty="0">
                <a:cs typeface="Arial MT"/>
              </a:rPr>
              <a:t> </a:t>
            </a:r>
            <a:r>
              <a:rPr lang="en-US" sz="2300" spc="50" dirty="0">
                <a:cs typeface="Arial MT"/>
              </a:rPr>
              <a:t>including</a:t>
            </a:r>
            <a:r>
              <a:rPr lang="en-US" sz="2300" spc="305" dirty="0">
                <a:cs typeface="Arial MT"/>
              </a:rPr>
              <a:t> </a:t>
            </a:r>
            <a:r>
              <a:rPr lang="en-US" sz="2300" dirty="0">
                <a:cs typeface="Arial MT"/>
              </a:rPr>
              <a:t>those</a:t>
            </a:r>
            <a:r>
              <a:rPr lang="en-US" sz="2300" spc="300" dirty="0">
                <a:cs typeface="Arial MT"/>
              </a:rPr>
              <a:t> </a:t>
            </a:r>
            <a:r>
              <a:rPr lang="en-US" sz="2300" dirty="0">
                <a:cs typeface="Arial MT"/>
              </a:rPr>
              <a:t>that</a:t>
            </a:r>
            <a:r>
              <a:rPr lang="en-US" sz="2300" spc="300" dirty="0">
                <a:cs typeface="Arial MT"/>
              </a:rPr>
              <a:t> </a:t>
            </a:r>
            <a:r>
              <a:rPr lang="en-US" sz="2300" spc="-25" dirty="0">
                <a:cs typeface="Arial MT"/>
              </a:rPr>
              <a:t>run </a:t>
            </a:r>
            <a:r>
              <a:rPr lang="en-US" sz="2300" spc="80" dirty="0">
                <a:cs typeface="Arial MT"/>
              </a:rPr>
              <a:t>on</a:t>
            </a:r>
            <a:r>
              <a:rPr lang="en-US" sz="2300" spc="390" dirty="0">
                <a:cs typeface="Arial MT"/>
              </a:rPr>
              <a:t> </a:t>
            </a:r>
            <a:r>
              <a:rPr lang="en-US" sz="2300" spc="155" dirty="0">
                <a:cs typeface="Arial MT"/>
              </a:rPr>
              <a:t>different</a:t>
            </a:r>
            <a:r>
              <a:rPr lang="en-US" sz="2300" spc="385" dirty="0">
                <a:cs typeface="Arial MT"/>
              </a:rPr>
              <a:t> </a:t>
            </a:r>
            <a:r>
              <a:rPr lang="en-US" sz="2300" spc="160" dirty="0">
                <a:cs typeface="Arial MT"/>
              </a:rPr>
              <a:t>operating</a:t>
            </a:r>
            <a:r>
              <a:rPr lang="en-US" sz="2300" spc="395" dirty="0">
                <a:cs typeface="Arial MT"/>
              </a:rPr>
              <a:t> </a:t>
            </a:r>
            <a:r>
              <a:rPr lang="en-US" sz="2300" spc="165" dirty="0">
                <a:cs typeface="Arial MT"/>
              </a:rPr>
              <a:t>systems,</a:t>
            </a:r>
            <a:r>
              <a:rPr lang="en-US" sz="2300" spc="385" dirty="0">
                <a:cs typeface="Arial MT"/>
              </a:rPr>
              <a:t> </a:t>
            </a:r>
            <a:r>
              <a:rPr lang="en-US" sz="2300" spc="80" dirty="0">
                <a:cs typeface="Arial MT"/>
              </a:rPr>
              <a:t>on</a:t>
            </a:r>
            <a:r>
              <a:rPr lang="en-US" sz="2300" spc="400" dirty="0">
                <a:cs typeface="Arial MT"/>
              </a:rPr>
              <a:t> </a:t>
            </a:r>
            <a:r>
              <a:rPr lang="en-US" sz="2300" dirty="0">
                <a:cs typeface="Arial MT"/>
              </a:rPr>
              <a:t>a</a:t>
            </a:r>
            <a:r>
              <a:rPr lang="en-US" sz="2300" spc="400" dirty="0">
                <a:cs typeface="Arial MT"/>
              </a:rPr>
              <a:t> </a:t>
            </a:r>
            <a:r>
              <a:rPr lang="en-US" sz="2300" spc="145" dirty="0">
                <a:cs typeface="Arial MT"/>
              </a:rPr>
              <a:t>single </a:t>
            </a:r>
            <a:r>
              <a:rPr lang="en-US" sz="2300" spc="-10" dirty="0">
                <a:cs typeface="Arial MT"/>
              </a:rPr>
              <a:t>platform.</a:t>
            </a:r>
            <a:endParaRPr lang="en-US" sz="2300" dirty="0">
              <a:cs typeface="Arial MT"/>
            </a:endParaRPr>
          </a:p>
          <a:p>
            <a:pPr marL="4507865" marR="179070" indent="-342900" algn="just">
              <a:lnSpc>
                <a:spcPct val="100000"/>
              </a:lnSpc>
              <a:spcBef>
                <a:spcPts val="575"/>
              </a:spcBef>
              <a:buClr>
                <a:srgbClr val="009999"/>
              </a:buClr>
              <a:buSzPct val="125000"/>
              <a:buChar char="•"/>
              <a:tabLst>
                <a:tab pos="4507865" algn="l"/>
              </a:tabLst>
            </a:pPr>
            <a:r>
              <a:rPr lang="en-US" sz="2300" dirty="0">
                <a:cs typeface="Arial MT"/>
              </a:rPr>
              <a:t>Software</a:t>
            </a:r>
            <a:r>
              <a:rPr lang="en-US" sz="2300" spc="-80" dirty="0">
                <a:cs typeface="Arial MT"/>
              </a:rPr>
              <a:t> </a:t>
            </a:r>
            <a:r>
              <a:rPr lang="en-US" sz="2300" dirty="0">
                <a:cs typeface="Arial MT"/>
              </a:rPr>
              <a:t>that</a:t>
            </a:r>
            <a:r>
              <a:rPr lang="en-US" sz="2300" spc="-75" dirty="0">
                <a:cs typeface="Arial MT"/>
              </a:rPr>
              <a:t> </a:t>
            </a:r>
            <a:r>
              <a:rPr lang="en-US" sz="2300" dirty="0">
                <a:cs typeface="Arial MT"/>
              </a:rPr>
              <a:t>supports</a:t>
            </a:r>
            <a:r>
              <a:rPr lang="en-US" sz="2300" spc="-80" dirty="0">
                <a:cs typeface="Arial MT"/>
              </a:rPr>
              <a:t> </a:t>
            </a:r>
            <a:r>
              <a:rPr lang="en-US" sz="2300" dirty="0">
                <a:cs typeface="Arial MT"/>
              </a:rPr>
              <a:t>multiple</a:t>
            </a:r>
            <a:r>
              <a:rPr lang="en-US" sz="2300" spc="-75" dirty="0">
                <a:cs typeface="Arial MT"/>
              </a:rPr>
              <a:t> </a:t>
            </a:r>
            <a:r>
              <a:rPr lang="en-US" sz="2300" dirty="0">
                <a:cs typeface="Arial MT"/>
              </a:rPr>
              <a:t>operating</a:t>
            </a:r>
            <a:r>
              <a:rPr lang="en-US" sz="2300" spc="-75" dirty="0">
                <a:cs typeface="Arial MT"/>
              </a:rPr>
              <a:t> </a:t>
            </a:r>
            <a:r>
              <a:rPr lang="en-US" sz="2300" spc="-10" dirty="0">
                <a:cs typeface="Arial MT"/>
              </a:rPr>
              <a:t>systems </a:t>
            </a:r>
            <a:r>
              <a:rPr lang="en-US" sz="2300" dirty="0">
                <a:cs typeface="Arial MT"/>
              </a:rPr>
              <a:t>on</a:t>
            </a:r>
            <a:r>
              <a:rPr lang="en-US" sz="2300" spc="-40" dirty="0">
                <a:cs typeface="Arial MT"/>
              </a:rPr>
              <a:t> </a:t>
            </a:r>
            <a:r>
              <a:rPr lang="en-US" sz="2300" dirty="0">
                <a:cs typeface="Arial MT"/>
              </a:rPr>
              <a:t>a</a:t>
            </a:r>
            <a:r>
              <a:rPr lang="en-US" sz="2300" spc="-35" dirty="0">
                <a:cs typeface="Arial MT"/>
              </a:rPr>
              <a:t> </a:t>
            </a:r>
            <a:r>
              <a:rPr lang="en-US" sz="2300" dirty="0">
                <a:cs typeface="Arial MT"/>
              </a:rPr>
              <a:t>single</a:t>
            </a:r>
            <a:r>
              <a:rPr lang="en-US" sz="2300" spc="-35" dirty="0">
                <a:cs typeface="Arial MT"/>
              </a:rPr>
              <a:t> </a:t>
            </a:r>
            <a:r>
              <a:rPr lang="en-US" sz="2300" spc="-10" dirty="0">
                <a:cs typeface="Arial MT"/>
              </a:rPr>
              <a:t>computer.</a:t>
            </a:r>
            <a:endParaRPr lang="en-US" sz="2300" dirty="0">
              <a:cs typeface="Arial MT"/>
            </a:endParaRPr>
          </a:p>
          <a:p>
            <a:pPr marL="4507865" marR="76835" indent="-342900" algn="just">
              <a:lnSpc>
                <a:spcPct val="100000"/>
              </a:lnSpc>
              <a:spcBef>
                <a:spcPts val="575"/>
              </a:spcBef>
              <a:buClr>
                <a:srgbClr val="009999"/>
              </a:buClr>
              <a:buSzPct val="125000"/>
              <a:buChar char="•"/>
              <a:tabLst>
                <a:tab pos="4507865" algn="l"/>
              </a:tabLst>
            </a:pPr>
            <a:r>
              <a:rPr lang="en-US" sz="2300" dirty="0">
                <a:cs typeface="Arial MT"/>
              </a:rPr>
              <a:t>Each</a:t>
            </a:r>
            <a:r>
              <a:rPr lang="en-US" sz="2300" spc="-50" dirty="0">
                <a:cs typeface="Arial MT"/>
              </a:rPr>
              <a:t> </a:t>
            </a:r>
            <a:r>
              <a:rPr lang="en-US" sz="2300" dirty="0">
                <a:cs typeface="Arial MT"/>
              </a:rPr>
              <a:t>operating</a:t>
            </a:r>
            <a:r>
              <a:rPr lang="en-US" sz="2300" spc="-45" dirty="0">
                <a:cs typeface="Arial MT"/>
              </a:rPr>
              <a:t> </a:t>
            </a:r>
            <a:r>
              <a:rPr lang="en-US" sz="2300" dirty="0">
                <a:cs typeface="Arial MT"/>
              </a:rPr>
              <a:t>system</a:t>
            </a:r>
            <a:r>
              <a:rPr lang="en-US" sz="2300" spc="-50" dirty="0">
                <a:cs typeface="Arial MT"/>
              </a:rPr>
              <a:t> </a:t>
            </a:r>
            <a:r>
              <a:rPr lang="en-US" sz="2300" dirty="0">
                <a:cs typeface="Arial MT"/>
              </a:rPr>
              <a:t>is</a:t>
            </a:r>
            <a:r>
              <a:rPr lang="en-US" sz="2300" spc="-45" dirty="0">
                <a:cs typeface="Arial MT"/>
              </a:rPr>
              <a:t> </a:t>
            </a:r>
            <a:r>
              <a:rPr lang="en-US" sz="2300" dirty="0">
                <a:cs typeface="Arial MT"/>
              </a:rPr>
              <a:t>it’s</a:t>
            </a:r>
            <a:r>
              <a:rPr lang="en-US" sz="2300" spc="-45" dirty="0">
                <a:cs typeface="Arial MT"/>
              </a:rPr>
              <a:t> </a:t>
            </a:r>
            <a:r>
              <a:rPr lang="en-US" sz="2300" dirty="0">
                <a:cs typeface="Arial MT"/>
              </a:rPr>
              <a:t>own</a:t>
            </a:r>
            <a:r>
              <a:rPr lang="en-US" sz="2300" spc="-50" dirty="0">
                <a:cs typeface="Arial MT"/>
              </a:rPr>
              <a:t> </a:t>
            </a:r>
            <a:r>
              <a:rPr lang="en-US" sz="2300" dirty="0">
                <a:cs typeface="Arial MT"/>
              </a:rPr>
              <a:t>“virtual</a:t>
            </a:r>
            <a:r>
              <a:rPr lang="en-US" sz="2300" spc="-40" dirty="0">
                <a:cs typeface="Arial MT"/>
              </a:rPr>
              <a:t> </a:t>
            </a:r>
            <a:r>
              <a:rPr lang="en-US" sz="2300" spc="-10" dirty="0">
                <a:cs typeface="Arial MT"/>
              </a:rPr>
              <a:t>machine” </a:t>
            </a:r>
            <a:r>
              <a:rPr lang="en-US" sz="2300" dirty="0">
                <a:cs typeface="Arial MT"/>
              </a:rPr>
              <a:t>with</a:t>
            </a:r>
            <a:r>
              <a:rPr lang="en-US" sz="2300" spc="-35" dirty="0">
                <a:cs typeface="Arial MT"/>
              </a:rPr>
              <a:t> </a:t>
            </a:r>
            <a:r>
              <a:rPr lang="en-US" sz="2300" dirty="0">
                <a:cs typeface="Arial MT"/>
              </a:rPr>
              <a:t>it’s</a:t>
            </a:r>
            <a:r>
              <a:rPr lang="en-US" sz="2300" spc="-35" dirty="0">
                <a:cs typeface="Arial MT"/>
              </a:rPr>
              <a:t> </a:t>
            </a:r>
            <a:r>
              <a:rPr lang="en-US" sz="2300" spc="-20" dirty="0">
                <a:cs typeface="Arial MT"/>
              </a:rPr>
              <a:t>own:</a:t>
            </a:r>
            <a:endParaRPr lang="en-US" sz="2300" dirty="0">
              <a:cs typeface="Arial MT"/>
            </a:endParaRPr>
          </a:p>
          <a:p>
            <a:pPr marL="4622165" algn="just">
              <a:lnSpc>
                <a:spcPct val="100000"/>
              </a:lnSpc>
              <a:spcBef>
                <a:spcPts val="575"/>
              </a:spcBef>
            </a:pPr>
            <a:r>
              <a:rPr lang="en-US" sz="2300" dirty="0">
                <a:solidFill>
                  <a:srgbClr val="009999"/>
                </a:solidFill>
                <a:cs typeface="Arial MT"/>
              </a:rPr>
              <a:t>–</a:t>
            </a:r>
            <a:r>
              <a:rPr lang="en-US" sz="2300" spc="185" dirty="0">
                <a:solidFill>
                  <a:srgbClr val="009999"/>
                </a:solidFill>
                <a:cs typeface="Arial MT"/>
              </a:rPr>
              <a:t> </a:t>
            </a:r>
            <a:r>
              <a:rPr lang="en-US" sz="2300" u="heavy" dirty="0">
                <a:uFill>
                  <a:solidFill>
                    <a:srgbClr val="000000"/>
                  </a:solidFill>
                </a:uFill>
                <a:cs typeface="Arial MT"/>
              </a:rPr>
              <a:t>Operating</a:t>
            </a:r>
            <a:r>
              <a:rPr lang="en-US" sz="2300" u="heavy" spc="-50" dirty="0">
                <a:uFill>
                  <a:solidFill>
                    <a:srgbClr val="000000"/>
                  </a:solidFill>
                </a:uFill>
                <a:cs typeface="Arial MT"/>
              </a:rPr>
              <a:t> </a:t>
            </a:r>
            <a:r>
              <a:rPr lang="en-US" sz="2300" u="heavy" dirty="0">
                <a:uFill>
                  <a:solidFill>
                    <a:srgbClr val="000000"/>
                  </a:solidFill>
                </a:uFill>
                <a:cs typeface="Arial MT"/>
              </a:rPr>
              <a:t>system,</a:t>
            </a:r>
            <a:r>
              <a:rPr lang="en-US" sz="2300" u="heavy" spc="-45" dirty="0">
                <a:uFill>
                  <a:solidFill>
                    <a:srgbClr val="000000"/>
                  </a:solidFill>
                </a:uFill>
                <a:cs typeface="Arial MT"/>
              </a:rPr>
              <a:t> </a:t>
            </a:r>
            <a:r>
              <a:rPr lang="en-US" sz="2300" u="heavy" dirty="0">
                <a:uFill>
                  <a:solidFill>
                    <a:srgbClr val="000000"/>
                  </a:solidFill>
                </a:uFill>
                <a:cs typeface="Arial MT"/>
              </a:rPr>
              <a:t>RAM,</a:t>
            </a:r>
            <a:r>
              <a:rPr lang="en-US" sz="2300" u="heavy" spc="-45" dirty="0">
                <a:uFill>
                  <a:solidFill>
                    <a:srgbClr val="000000"/>
                  </a:solidFill>
                </a:uFill>
                <a:cs typeface="Arial MT"/>
              </a:rPr>
              <a:t> </a:t>
            </a:r>
            <a:r>
              <a:rPr lang="en-US" sz="2300" u="heavy" spc="-10" dirty="0">
                <a:uFill>
                  <a:solidFill>
                    <a:srgbClr val="000000"/>
                  </a:solidFill>
                </a:uFill>
                <a:cs typeface="Arial MT"/>
              </a:rPr>
              <a:t>Storage</a:t>
            </a:r>
            <a:endParaRPr lang="en-US" sz="2300" dirty="0">
              <a:cs typeface="Arial MT"/>
            </a:endParaRPr>
          </a:p>
          <a:p>
            <a:pPr marL="4507230" indent="-342265">
              <a:lnSpc>
                <a:spcPct val="100000"/>
              </a:lnSpc>
              <a:spcBef>
                <a:spcPts val="575"/>
              </a:spcBef>
              <a:buClr>
                <a:srgbClr val="009999"/>
              </a:buClr>
              <a:buSzPct val="125000"/>
              <a:buChar char="•"/>
              <a:tabLst>
                <a:tab pos="4507230" algn="l"/>
              </a:tabLst>
            </a:pPr>
            <a:r>
              <a:rPr lang="en-US" sz="2300" u="heavy" dirty="0">
                <a:uFill>
                  <a:solidFill>
                    <a:srgbClr val="000000"/>
                  </a:solidFill>
                </a:uFill>
                <a:cs typeface="Arial MT"/>
              </a:rPr>
              <a:t>Shared</a:t>
            </a:r>
            <a:r>
              <a:rPr lang="en-US" sz="2300" u="heavy" spc="-75" dirty="0">
                <a:uFill>
                  <a:solidFill>
                    <a:srgbClr val="000000"/>
                  </a:solidFill>
                </a:uFill>
                <a:cs typeface="Arial MT"/>
              </a:rPr>
              <a:t> </a:t>
            </a:r>
            <a:r>
              <a:rPr lang="en-US" sz="2300" u="heavy" spc="-25" dirty="0">
                <a:uFill>
                  <a:solidFill>
                    <a:srgbClr val="000000"/>
                  </a:solidFill>
                </a:uFill>
                <a:cs typeface="Arial MT"/>
              </a:rPr>
              <a:t>CPU</a:t>
            </a:r>
            <a:endParaRPr lang="en-US" sz="2300" dirty="0">
              <a:cs typeface="Arial MT"/>
            </a:endParaRPr>
          </a:p>
          <a:p>
            <a:pPr marL="354965" marR="5080" indent="-342900">
              <a:lnSpc>
                <a:spcPct val="100000"/>
              </a:lnSpc>
              <a:spcBef>
                <a:spcPts val="1100"/>
              </a:spcBef>
              <a:buChar char="•"/>
              <a:tabLst>
                <a:tab pos="354965" algn="l"/>
              </a:tabLst>
            </a:pPr>
            <a:r>
              <a:rPr lang="en-US" sz="2000" dirty="0">
                <a:latin typeface="Arial MT"/>
                <a:cs typeface="Arial MT"/>
              </a:rPr>
              <a:t>The</a:t>
            </a:r>
            <a:r>
              <a:rPr lang="en-US" sz="2000" spc="225" dirty="0">
                <a:latin typeface="Arial MT"/>
                <a:cs typeface="Arial MT"/>
              </a:rPr>
              <a:t> </a:t>
            </a:r>
            <a:r>
              <a:rPr lang="en-US" sz="2000" dirty="0">
                <a:latin typeface="Arial MT"/>
                <a:cs typeface="Arial MT"/>
              </a:rPr>
              <a:t>host</a:t>
            </a:r>
            <a:r>
              <a:rPr lang="en-US" sz="2000" spc="225" dirty="0">
                <a:latin typeface="Arial MT"/>
                <a:cs typeface="Arial MT"/>
              </a:rPr>
              <a:t> </a:t>
            </a:r>
            <a:r>
              <a:rPr lang="en-US" sz="2000" spc="45" dirty="0">
                <a:latin typeface="Arial MT"/>
                <a:cs typeface="Arial MT"/>
              </a:rPr>
              <a:t>operating</a:t>
            </a:r>
            <a:r>
              <a:rPr lang="en-US" sz="2000" spc="225" dirty="0">
                <a:latin typeface="Arial MT"/>
                <a:cs typeface="Arial MT"/>
              </a:rPr>
              <a:t> </a:t>
            </a:r>
            <a:r>
              <a:rPr lang="en-US" sz="2000" dirty="0">
                <a:latin typeface="Arial MT"/>
                <a:cs typeface="Arial MT"/>
              </a:rPr>
              <a:t>system</a:t>
            </a:r>
            <a:r>
              <a:rPr lang="en-US" sz="2000" spc="225" dirty="0">
                <a:latin typeface="Arial MT"/>
                <a:cs typeface="Arial MT"/>
              </a:rPr>
              <a:t> </a:t>
            </a:r>
            <a:r>
              <a:rPr lang="en-US" sz="2000" dirty="0">
                <a:latin typeface="Arial MT"/>
                <a:cs typeface="Arial MT"/>
              </a:rPr>
              <a:t>can</a:t>
            </a:r>
            <a:r>
              <a:rPr lang="en-US" sz="2000" spc="225" dirty="0">
                <a:latin typeface="Arial MT"/>
                <a:cs typeface="Arial MT"/>
              </a:rPr>
              <a:t> </a:t>
            </a:r>
            <a:r>
              <a:rPr lang="en-US" sz="2000" spc="45" dirty="0">
                <a:latin typeface="Arial MT"/>
                <a:cs typeface="Arial MT"/>
              </a:rPr>
              <a:t>support</a:t>
            </a:r>
            <a:r>
              <a:rPr lang="en-US" sz="2000" spc="229" dirty="0">
                <a:latin typeface="Arial MT"/>
                <a:cs typeface="Arial MT"/>
              </a:rPr>
              <a:t> </a:t>
            </a:r>
            <a:r>
              <a:rPr lang="en-US" sz="2000" dirty="0">
                <a:latin typeface="Arial MT"/>
                <a:cs typeface="Arial MT"/>
              </a:rPr>
              <a:t>a</a:t>
            </a:r>
            <a:r>
              <a:rPr lang="en-US" sz="2000" spc="235" dirty="0">
                <a:latin typeface="Arial MT"/>
                <a:cs typeface="Arial MT"/>
              </a:rPr>
              <a:t> </a:t>
            </a:r>
            <a:r>
              <a:rPr lang="en-US" sz="2000" dirty="0">
                <a:latin typeface="Arial MT"/>
                <a:cs typeface="Arial MT"/>
              </a:rPr>
              <a:t>number</a:t>
            </a:r>
            <a:r>
              <a:rPr lang="en-US" sz="2000" spc="235" dirty="0">
                <a:latin typeface="Arial MT"/>
                <a:cs typeface="Arial MT"/>
              </a:rPr>
              <a:t> </a:t>
            </a:r>
            <a:r>
              <a:rPr lang="en-US" sz="2000" dirty="0">
                <a:latin typeface="Arial MT"/>
                <a:cs typeface="Arial MT"/>
              </a:rPr>
              <a:t>of</a:t>
            </a:r>
            <a:r>
              <a:rPr lang="en-US" sz="2000" spc="240" dirty="0">
                <a:latin typeface="Arial MT"/>
                <a:cs typeface="Arial MT"/>
              </a:rPr>
              <a:t> </a:t>
            </a:r>
            <a:r>
              <a:rPr lang="en-US" sz="2000" spc="50" dirty="0">
                <a:latin typeface="Arial MT"/>
                <a:cs typeface="Arial MT"/>
              </a:rPr>
              <a:t>virtual</a:t>
            </a:r>
            <a:r>
              <a:rPr lang="en-US" sz="2000" spc="240" dirty="0">
                <a:latin typeface="Arial MT"/>
                <a:cs typeface="Arial MT"/>
              </a:rPr>
              <a:t> </a:t>
            </a:r>
            <a:r>
              <a:rPr lang="en-US" sz="2000" spc="50" dirty="0">
                <a:latin typeface="Arial MT"/>
                <a:cs typeface="Arial MT"/>
              </a:rPr>
              <a:t>machines,</a:t>
            </a:r>
            <a:r>
              <a:rPr lang="en-US" sz="2000" spc="240" dirty="0">
                <a:latin typeface="Arial MT"/>
                <a:cs typeface="Arial MT"/>
              </a:rPr>
              <a:t> </a:t>
            </a:r>
            <a:r>
              <a:rPr lang="en-US" sz="2000" dirty="0">
                <a:latin typeface="Arial MT"/>
                <a:cs typeface="Arial MT"/>
              </a:rPr>
              <a:t>each</a:t>
            </a:r>
            <a:r>
              <a:rPr lang="en-US" sz="2000" spc="235" dirty="0">
                <a:latin typeface="Arial MT"/>
                <a:cs typeface="Arial MT"/>
              </a:rPr>
              <a:t> </a:t>
            </a:r>
            <a:r>
              <a:rPr lang="en-US" sz="2000" spc="-25" dirty="0">
                <a:latin typeface="Arial MT"/>
                <a:cs typeface="Arial MT"/>
              </a:rPr>
              <a:t>of </a:t>
            </a:r>
            <a:r>
              <a:rPr lang="en-US" sz="2000" dirty="0">
                <a:latin typeface="Arial MT"/>
                <a:cs typeface="Arial MT"/>
              </a:rPr>
              <a:t>which</a:t>
            </a:r>
            <a:r>
              <a:rPr lang="en-US" sz="2000" spc="-50" dirty="0">
                <a:latin typeface="Arial MT"/>
                <a:cs typeface="Arial MT"/>
              </a:rPr>
              <a:t> </a:t>
            </a:r>
            <a:r>
              <a:rPr lang="en-US" sz="2000" dirty="0">
                <a:latin typeface="Arial MT"/>
                <a:cs typeface="Arial MT"/>
              </a:rPr>
              <a:t>has</a:t>
            </a:r>
            <a:r>
              <a:rPr lang="en-US" sz="2000" spc="-50" dirty="0">
                <a:latin typeface="Arial MT"/>
                <a:cs typeface="Arial MT"/>
              </a:rPr>
              <a:t> </a:t>
            </a:r>
            <a:r>
              <a:rPr lang="en-US" sz="2000" dirty="0">
                <a:latin typeface="Arial MT"/>
                <a:cs typeface="Arial MT"/>
              </a:rPr>
              <a:t>the</a:t>
            </a:r>
            <a:r>
              <a:rPr lang="en-US" sz="2000" spc="-50" dirty="0">
                <a:latin typeface="Arial MT"/>
                <a:cs typeface="Arial MT"/>
              </a:rPr>
              <a:t> </a:t>
            </a:r>
            <a:r>
              <a:rPr lang="en-US" sz="2000" dirty="0">
                <a:latin typeface="Arial MT"/>
                <a:cs typeface="Arial MT"/>
              </a:rPr>
              <a:t>characteristics</a:t>
            </a:r>
            <a:r>
              <a:rPr lang="en-US" sz="2000" spc="-50" dirty="0">
                <a:latin typeface="Arial MT"/>
                <a:cs typeface="Arial MT"/>
              </a:rPr>
              <a:t> </a:t>
            </a:r>
            <a:r>
              <a:rPr lang="en-US" sz="2000" dirty="0">
                <a:latin typeface="Arial MT"/>
                <a:cs typeface="Arial MT"/>
              </a:rPr>
              <a:t>of</a:t>
            </a:r>
            <a:r>
              <a:rPr lang="en-US" sz="2000" spc="-50" dirty="0">
                <a:latin typeface="Arial MT"/>
                <a:cs typeface="Arial MT"/>
              </a:rPr>
              <a:t> </a:t>
            </a:r>
            <a:r>
              <a:rPr lang="en-US" sz="2000" dirty="0">
                <a:latin typeface="Arial MT"/>
                <a:cs typeface="Arial MT"/>
              </a:rPr>
              <a:t>a</a:t>
            </a:r>
            <a:r>
              <a:rPr lang="en-US" sz="2000" spc="-50" dirty="0">
                <a:latin typeface="Arial MT"/>
                <a:cs typeface="Arial MT"/>
              </a:rPr>
              <a:t> </a:t>
            </a:r>
            <a:r>
              <a:rPr lang="en-US" sz="2000" dirty="0">
                <a:latin typeface="Arial MT"/>
                <a:cs typeface="Arial MT"/>
              </a:rPr>
              <a:t>particular</a:t>
            </a:r>
            <a:r>
              <a:rPr lang="en-US" sz="2000" spc="-50" dirty="0">
                <a:latin typeface="Arial MT"/>
                <a:cs typeface="Arial MT"/>
              </a:rPr>
              <a:t> </a:t>
            </a:r>
            <a:r>
              <a:rPr lang="en-US" sz="2000" spc="-25" dirty="0">
                <a:latin typeface="Arial MT"/>
                <a:cs typeface="Arial MT"/>
              </a:rPr>
              <a:t>OS.</a:t>
            </a:r>
            <a:endParaRPr lang="en-US" sz="2000" dirty="0">
              <a:latin typeface="Arial MT"/>
              <a:cs typeface="Arial MT"/>
            </a:endParaRPr>
          </a:p>
          <a:p>
            <a:pPr marL="354965" indent="-342265">
              <a:lnSpc>
                <a:spcPct val="100000"/>
              </a:lnSpc>
              <a:buChar char="•"/>
              <a:tabLst>
                <a:tab pos="354965" algn="l"/>
              </a:tabLst>
            </a:pPr>
            <a:r>
              <a:rPr lang="en-US" sz="2000" dirty="0">
                <a:latin typeface="Arial MT"/>
                <a:cs typeface="Arial MT"/>
              </a:rPr>
              <a:t>The</a:t>
            </a:r>
            <a:r>
              <a:rPr lang="en-US" sz="2000" spc="185" dirty="0">
                <a:latin typeface="Arial MT"/>
                <a:cs typeface="Arial MT"/>
              </a:rPr>
              <a:t> </a:t>
            </a:r>
            <a:r>
              <a:rPr lang="en-US" sz="2000" dirty="0">
                <a:latin typeface="Arial MT"/>
                <a:cs typeface="Arial MT"/>
              </a:rPr>
              <a:t>solution</a:t>
            </a:r>
            <a:r>
              <a:rPr lang="en-US" sz="2000" spc="185" dirty="0">
                <a:latin typeface="Arial MT"/>
                <a:cs typeface="Arial MT"/>
              </a:rPr>
              <a:t> </a:t>
            </a:r>
            <a:r>
              <a:rPr lang="en-US" sz="2000" dirty="0">
                <a:latin typeface="Arial MT"/>
                <a:cs typeface="Arial MT"/>
              </a:rPr>
              <a:t>that</a:t>
            </a:r>
            <a:r>
              <a:rPr lang="en-US" sz="2000" spc="190" dirty="0">
                <a:latin typeface="Arial MT"/>
                <a:cs typeface="Arial MT"/>
              </a:rPr>
              <a:t> </a:t>
            </a:r>
            <a:r>
              <a:rPr lang="en-US" sz="2000" dirty="0">
                <a:latin typeface="Arial MT"/>
                <a:cs typeface="Arial MT"/>
              </a:rPr>
              <a:t>enables</a:t>
            </a:r>
            <a:r>
              <a:rPr lang="en-US" sz="2000" spc="185" dirty="0">
                <a:latin typeface="Arial MT"/>
                <a:cs typeface="Arial MT"/>
              </a:rPr>
              <a:t> </a:t>
            </a:r>
            <a:r>
              <a:rPr lang="en-US" sz="2000" dirty="0">
                <a:latin typeface="Arial MT"/>
                <a:cs typeface="Arial MT"/>
              </a:rPr>
              <a:t>virtualization</a:t>
            </a:r>
            <a:r>
              <a:rPr lang="en-US" sz="2000" spc="190" dirty="0">
                <a:latin typeface="Arial MT"/>
                <a:cs typeface="Arial MT"/>
              </a:rPr>
              <a:t> </a:t>
            </a:r>
            <a:r>
              <a:rPr lang="en-US" sz="2000" dirty="0">
                <a:latin typeface="Arial MT"/>
                <a:cs typeface="Arial MT"/>
              </a:rPr>
              <a:t>is</a:t>
            </a:r>
            <a:r>
              <a:rPr lang="en-US" sz="2000" spc="185" dirty="0">
                <a:latin typeface="Arial MT"/>
                <a:cs typeface="Arial MT"/>
              </a:rPr>
              <a:t> </a:t>
            </a:r>
            <a:r>
              <a:rPr lang="en-US" sz="2000" dirty="0">
                <a:latin typeface="Arial MT"/>
                <a:cs typeface="Arial MT"/>
              </a:rPr>
              <a:t>a</a:t>
            </a:r>
            <a:r>
              <a:rPr lang="en-US" sz="2000" spc="190" dirty="0">
                <a:latin typeface="Arial MT"/>
                <a:cs typeface="Arial MT"/>
              </a:rPr>
              <a:t> </a:t>
            </a:r>
            <a:r>
              <a:rPr lang="en-US" sz="2000" b="1" dirty="0">
                <a:latin typeface="Arial"/>
                <a:cs typeface="Arial"/>
              </a:rPr>
              <a:t>virtual</a:t>
            </a:r>
            <a:r>
              <a:rPr lang="en-US" sz="2000" b="1" spc="185" dirty="0">
                <a:latin typeface="Arial"/>
                <a:cs typeface="Arial"/>
              </a:rPr>
              <a:t> </a:t>
            </a:r>
            <a:r>
              <a:rPr lang="en-US" sz="2000" b="1" dirty="0">
                <a:latin typeface="Arial"/>
                <a:cs typeface="Arial"/>
              </a:rPr>
              <a:t>machine</a:t>
            </a:r>
            <a:r>
              <a:rPr lang="en-US" sz="2000" b="1" spc="190" dirty="0">
                <a:latin typeface="Arial"/>
                <a:cs typeface="Arial"/>
              </a:rPr>
              <a:t> </a:t>
            </a:r>
            <a:r>
              <a:rPr lang="en-US" sz="2000" b="1" dirty="0">
                <a:latin typeface="Arial"/>
                <a:cs typeface="Arial"/>
              </a:rPr>
              <a:t>monitor</a:t>
            </a:r>
            <a:r>
              <a:rPr lang="en-US" sz="2000" b="1" spc="185" dirty="0">
                <a:latin typeface="Arial"/>
                <a:cs typeface="Arial"/>
              </a:rPr>
              <a:t> </a:t>
            </a:r>
            <a:r>
              <a:rPr lang="en-US" sz="2000" b="1" dirty="0">
                <a:latin typeface="Arial"/>
                <a:cs typeface="Arial"/>
              </a:rPr>
              <a:t>(VMM)</a:t>
            </a:r>
            <a:r>
              <a:rPr lang="en-US" sz="2000" dirty="0">
                <a:latin typeface="Arial MT"/>
                <a:cs typeface="Arial MT"/>
              </a:rPr>
              <a:t>,</a:t>
            </a:r>
            <a:r>
              <a:rPr lang="en-US" sz="2000" spc="185" dirty="0">
                <a:latin typeface="Arial MT"/>
                <a:cs typeface="Arial MT"/>
              </a:rPr>
              <a:t> </a:t>
            </a:r>
            <a:r>
              <a:rPr lang="en-US" sz="2000" spc="-25" dirty="0">
                <a:latin typeface="Arial MT"/>
                <a:cs typeface="Arial MT"/>
              </a:rPr>
              <a:t>or</a:t>
            </a:r>
            <a:r>
              <a:rPr lang="en-US" sz="2000" dirty="0">
                <a:latin typeface="Arial MT"/>
                <a:cs typeface="Arial MT"/>
              </a:rPr>
              <a:t> </a:t>
            </a:r>
            <a:r>
              <a:rPr lang="en-US" sz="2000" b="1" spc="-10" dirty="0">
                <a:latin typeface="Arial"/>
                <a:cs typeface="Arial"/>
              </a:rPr>
              <a:t>hypervisor</a:t>
            </a:r>
            <a:endParaRPr lang="en-US" sz="2000" dirty="0">
              <a:latin typeface="Arial"/>
              <a:cs typeface="Arial"/>
            </a:endParaRPr>
          </a:p>
          <a:p>
            <a:endParaRPr lang="en-US" dirty="0"/>
          </a:p>
        </p:txBody>
      </p:sp>
      <p:pic>
        <p:nvPicPr>
          <p:cNvPr id="9" name="object 5">
            <a:extLst>
              <a:ext uri="{FF2B5EF4-FFF2-40B4-BE49-F238E27FC236}">
                <a16:creationId xmlns:a16="http://schemas.microsoft.com/office/drawing/2014/main" id="{79EA1863-618B-DCE0-928D-6D273D0ABFA0}"/>
              </a:ext>
            </a:extLst>
          </p:cNvPr>
          <p:cNvPicPr/>
          <p:nvPr/>
        </p:nvPicPr>
        <p:blipFill>
          <a:blip r:embed="rId2" cstate="print"/>
          <a:stretch>
            <a:fillRect/>
          </a:stretch>
        </p:blipFill>
        <p:spPr>
          <a:xfrm>
            <a:off x="1143001" y="895351"/>
            <a:ext cx="3392422" cy="266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120"/>
            <a:ext cx="4648200" cy="998350"/>
          </a:xfrm>
          <a:prstGeom prst="rect">
            <a:avLst/>
          </a:prstGeom>
        </p:spPr>
        <p:txBody>
          <a:bodyPr vert="horz" wrap="square" lIns="0" tIns="13335" rIns="0" bIns="0" rtlCol="0">
            <a:spAutoFit/>
          </a:bodyPr>
          <a:lstStyle/>
          <a:p>
            <a:pPr marL="12700" algn="ctr">
              <a:lnSpc>
                <a:spcPct val="100000"/>
              </a:lnSpc>
              <a:spcBef>
                <a:spcPts val="105"/>
              </a:spcBef>
            </a:pPr>
            <a:r>
              <a:rPr lang="en-US" sz="3200" b="1" i="0" u="none" strike="noStrike" baseline="0" dirty="0">
                <a:solidFill>
                  <a:srgbClr val="000000"/>
                </a:solidFill>
              </a:rPr>
              <a:t>Characteristics of Virtualized environment</a:t>
            </a:r>
            <a:endParaRPr sz="32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7AA37BE4-D359-F7F7-EA1C-FE3FDDA07188}"/>
              </a:ext>
            </a:extLst>
          </p:cNvPr>
          <p:cNvSpPr>
            <a:spLocks noChangeArrowheads="1"/>
          </p:cNvSpPr>
          <p:nvPr/>
        </p:nvSpPr>
        <p:spPr bwMode="auto">
          <a:xfrm>
            <a:off x="381000" y="1228124"/>
            <a:ext cx="8534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Scalability: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Virtualized environments can scale resources up or down based on workload demands, ensuring optimal performance and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Resource Optimization: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Physical hardware resources are efficiently utilized by sharing them among multiple virtual machines (VMs) or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Isolation: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Each virtual machine operates independently, ensuring that failures or security breaches in one VM do not affect others.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16C0-7464-1D14-EC76-C740230A9E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62472B-6997-E884-F320-79BF199FE43B}"/>
              </a:ext>
            </a:extLst>
          </p:cNvPr>
          <p:cNvSpPr txBox="1">
            <a:spLocks noGrp="1"/>
          </p:cNvSpPr>
          <p:nvPr>
            <p:ph type="title"/>
          </p:nvPr>
        </p:nvSpPr>
        <p:spPr>
          <a:xfrm>
            <a:off x="2590800" y="-120"/>
            <a:ext cx="4648200" cy="998350"/>
          </a:xfrm>
          <a:prstGeom prst="rect">
            <a:avLst/>
          </a:prstGeom>
        </p:spPr>
        <p:txBody>
          <a:bodyPr vert="horz" wrap="square" lIns="0" tIns="13335" rIns="0" bIns="0" rtlCol="0">
            <a:spAutoFit/>
          </a:bodyPr>
          <a:lstStyle/>
          <a:p>
            <a:pPr marL="12700" algn="ctr">
              <a:lnSpc>
                <a:spcPct val="100000"/>
              </a:lnSpc>
              <a:spcBef>
                <a:spcPts val="105"/>
              </a:spcBef>
            </a:pPr>
            <a:r>
              <a:rPr lang="en-US" sz="3200" b="1" i="0" u="none" strike="noStrike" baseline="0" dirty="0">
                <a:solidFill>
                  <a:srgbClr val="000000"/>
                </a:solidFill>
              </a:rPr>
              <a:t>Characteristics of Virtualized environment</a:t>
            </a:r>
            <a:endParaRPr sz="3200" b="1" dirty="0">
              <a:latin typeface="Calibri"/>
              <a:cs typeface="Calibri"/>
            </a:endParaRPr>
          </a:p>
        </p:txBody>
      </p:sp>
      <p:sp>
        <p:nvSpPr>
          <p:cNvPr id="7" name="object 7">
            <a:extLst>
              <a:ext uri="{FF2B5EF4-FFF2-40B4-BE49-F238E27FC236}">
                <a16:creationId xmlns:a16="http://schemas.microsoft.com/office/drawing/2014/main" id="{007BD15E-73F9-B501-7C15-99669C81B247}"/>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1443CA0A-603A-9143-B0D8-3DC39D935841}"/>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DB4DE699-73F7-7DC0-F593-C9A62B187A52}"/>
              </a:ext>
            </a:extLst>
          </p:cNvPr>
          <p:cNvSpPr>
            <a:spLocks noChangeArrowheads="1"/>
          </p:cNvSpPr>
          <p:nvPr/>
        </p:nvSpPr>
        <p:spPr bwMode="auto">
          <a:xfrm>
            <a:off x="381000" y="858791"/>
            <a:ext cx="85344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Abstraction:</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rPr>
              <a:t>The virtual layer abstracts hardware complexities, providing a consistent and flexible interface to the user or applications.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Portability:</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rPr>
              <a:t>Virtualized environments allow virtual machines or workloads to be easily migrated across physical systems without downtime.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Elasticity:</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rPr>
              <a:t>Resources are dynamically allocated and deallocated, enabling adaptability to changing workloads in real-time.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Manageability:</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rPr>
              <a:t>Centralized management tools simplify monitoring, provisioning, and maintaining virtual machines, improving IT operations.</a:t>
            </a:r>
          </a:p>
        </p:txBody>
      </p:sp>
    </p:spTree>
    <p:extLst>
      <p:ext uri="{BB962C8B-B14F-4D97-AF65-F5344CB8AC3E}">
        <p14:creationId xmlns:p14="http://schemas.microsoft.com/office/powerpoint/2010/main" val="289294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15</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3"/>
          <a:stretch>
            <a:fillRect/>
          </a:stretch>
        </p:blipFill>
        <p:spPr>
          <a:xfrm>
            <a:off x="7290715" y="72947"/>
            <a:ext cx="1782539" cy="530631"/>
          </a:xfrm>
          <a:prstGeom prst="rect">
            <a:avLst/>
          </a:prstGeom>
        </p:spPr>
      </p:pic>
      <p:sp>
        <p:nvSpPr>
          <p:cNvPr id="7" name="Rectangle 1">
            <a:extLst>
              <a:ext uri="{FF2B5EF4-FFF2-40B4-BE49-F238E27FC236}">
                <a16:creationId xmlns:a16="http://schemas.microsoft.com/office/drawing/2014/main" id="{6D591638-8E11-7A58-CE82-2595A977E6C7}"/>
              </a:ext>
            </a:extLst>
          </p:cNvPr>
          <p:cNvSpPr>
            <a:spLocks noGrp="1" noChangeArrowheads="1"/>
          </p:cNvSpPr>
          <p:nvPr>
            <p:ph idx="1"/>
          </p:nvPr>
        </p:nvSpPr>
        <p:spPr bwMode="auto">
          <a:xfrm>
            <a:off x="533400" y="1169220"/>
            <a:ext cx="8434627"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Virtualization creates virtual versions of physical resources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(servers, storage, networks) to optimize resource use and improve flexibility.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Enhances scalability, reduces hardware dependency,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and supports cloud environments. </a:t>
            </a:r>
          </a:p>
        </p:txBody>
      </p:sp>
    </p:spTree>
    <p:extLst>
      <p:ext uri="{BB962C8B-B14F-4D97-AF65-F5344CB8AC3E}">
        <p14:creationId xmlns:p14="http://schemas.microsoft.com/office/powerpoint/2010/main" val="95588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55000" lnSpcReduction="20000"/>
          </a:bodyPr>
          <a:lstStyle/>
          <a:p>
            <a:r>
              <a:rPr lang="en-US" sz="2200" dirty="0"/>
              <a:t>Books References</a:t>
            </a:r>
          </a:p>
          <a:p>
            <a:r>
              <a:rPr lang="en-US" sz="2200" dirty="0">
                <a:solidFill>
                  <a:srgbClr val="000000"/>
                </a:solidFill>
                <a:ea typeface="Calibri" panose="020F0502020204030204" pitchFamily="34" charset="0"/>
                <a:cs typeface="Calibri" panose="020F0502020204030204" pitchFamily="34" charset="0"/>
              </a:rPr>
              <a:t>Mastering Cloud Computing, Rajkumar </a:t>
            </a:r>
            <a:r>
              <a:rPr lang="en-US" sz="2200" dirty="0" err="1">
                <a:solidFill>
                  <a:srgbClr val="000000"/>
                </a:solidFill>
                <a:ea typeface="Calibri" panose="020F0502020204030204" pitchFamily="34" charset="0"/>
                <a:cs typeface="Calibri" panose="020F0502020204030204" pitchFamily="34" charset="0"/>
              </a:rPr>
              <a:t>Buyya</a:t>
            </a:r>
            <a:r>
              <a:rPr lang="en-US" sz="2200" dirty="0">
                <a:solidFill>
                  <a:srgbClr val="000000"/>
                </a:solidFill>
                <a:ea typeface="Calibri" panose="020F0502020204030204" pitchFamily="34" charset="0"/>
                <a:cs typeface="Calibri" panose="020F0502020204030204" pitchFamily="34" charset="0"/>
              </a:rPr>
              <a:t>, Christian </a:t>
            </a:r>
            <a:r>
              <a:rPr lang="en-US" sz="2200" dirty="0" err="1">
                <a:solidFill>
                  <a:srgbClr val="000000"/>
                </a:solidFill>
                <a:ea typeface="Calibri" panose="020F0502020204030204" pitchFamily="34" charset="0"/>
                <a:cs typeface="Calibri" panose="020F0502020204030204" pitchFamily="34" charset="0"/>
              </a:rPr>
              <a:t>Vecchiola</a:t>
            </a:r>
            <a:r>
              <a:rPr lang="en-US" sz="2200" dirty="0">
                <a:solidFill>
                  <a:srgbClr val="000000"/>
                </a:solidFill>
                <a:ea typeface="Calibri" panose="020F0502020204030204" pitchFamily="34" charset="0"/>
                <a:cs typeface="Calibri" panose="020F0502020204030204" pitchFamily="34" charset="0"/>
              </a:rPr>
              <a:t>, and </a:t>
            </a:r>
            <a:r>
              <a:rPr lang="en-US" sz="2200" dirty="0" err="1">
                <a:solidFill>
                  <a:srgbClr val="000000"/>
                </a:solidFill>
                <a:ea typeface="Calibri" panose="020F0502020204030204" pitchFamily="34" charset="0"/>
                <a:cs typeface="Calibri" panose="020F0502020204030204" pitchFamily="34" charset="0"/>
              </a:rPr>
              <a:t>ThamaraiSelvi</a:t>
            </a:r>
            <a:r>
              <a:rPr lang="en-US" sz="2200" dirty="0">
                <a:solidFill>
                  <a:srgbClr val="000000"/>
                </a:solidFill>
                <a:ea typeface="Calibri" panose="020F0502020204030204" pitchFamily="34" charset="0"/>
                <a:cs typeface="Calibri" panose="020F0502020204030204" pitchFamily="34" charset="0"/>
              </a:rPr>
              <a:t>, Tata McGraw Hill, ISBN-13: 978-1-25-902995-0, New Delhi, </a:t>
            </a:r>
            <a:r>
              <a:rPr lang="en-US" sz="2200" dirty="0" err="1">
                <a:solidFill>
                  <a:srgbClr val="000000"/>
                </a:solidFill>
                <a:ea typeface="Calibri" panose="020F0502020204030204" pitchFamily="34" charset="0"/>
                <a:cs typeface="Calibri" panose="020F0502020204030204" pitchFamily="34" charset="0"/>
              </a:rPr>
              <a:t>India,Feb</a:t>
            </a:r>
            <a:r>
              <a:rPr lang="en-US" sz="2200" dirty="0">
                <a:solidFill>
                  <a:srgbClr val="000000"/>
                </a:solidFill>
                <a:ea typeface="Calibri" panose="020F0502020204030204" pitchFamily="34" charset="0"/>
                <a:cs typeface="Calibri" panose="020F0502020204030204" pitchFamily="34" charset="0"/>
              </a:rPr>
              <a:t> 2013. </a:t>
            </a:r>
            <a:endParaRPr lang="en-US" sz="2200" dirty="0"/>
          </a:p>
          <a:p>
            <a:pPr marL="0" indent="0">
              <a:buNone/>
            </a:pPr>
            <a:endParaRPr lang="en-US" sz="2200" dirty="0"/>
          </a:p>
          <a:p>
            <a:r>
              <a:rPr lang="en-US" sz="2200" dirty="0"/>
              <a:t>E-book link</a:t>
            </a:r>
          </a:p>
          <a:p>
            <a:r>
              <a:rPr lang="en-US" sz="2200" dirty="0">
                <a:hlinkClick r:id="rId2"/>
              </a:rPr>
              <a:t>https://archive.org/details/cloudcomputingbi0000sosi</a:t>
            </a:r>
            <a:endParaRPr lang="en-US" sz="2200" dirty="0"/>
          </a:p>
          <a:p>
            <a:pPr marL="0" indent="0">
              <a:buNone/>
            </a:pPr>
            <a:endParaRPr lang="en-US" sz="2200" dirty="0"/>
          </a:p>
          <a:p>
            <a:r>
              <a:rPr lang="en-US" sz="2200" dirty="0"/>
              <a:t>YouTube link</a:t>
            </a:r>
          </a:p>
          <a:p>
            <a:r>
              <a:rPr lang="en-US" sz="2200" dirty="0">
                <a:hlinkClick r:id="rId3"/>
              </a:rPr>
              <a:t>https://www.youtube.com/@cloudcomputing351/videos</a:t>
            </a:r>
            <a:endParaRPr lang="en-US" sz="2200" dirty="0"/>
          </a:p>
          <a:p>
            <a:pPr marL="0" indent="0">
              <a:buNone/>
            </a:pPr>
            <a:endParaRPr lang="en-US" sz="2200" dirty="0"/>
          </a:p>
          <a:p>
            <a:pPr>
              <a:buFont typeface="Wingdings" pitchFamily="2" charset="2"/>
              <a:buChar char="Ø"/>
            </a:pPr>
            <a:r>
              <a:rPr lang="en-US" sz="2200" dirty="0">
                <a:hlinkClick r:id="rId4"/>
              </a:rPr>
              <a:t>https://www.slideshare.net/slideshow/cloud-migration-presentation-246744264/246744264?from_action=download&amp;slideshow_id=246744264&amp;original_file=true</a:t>
            </a:r>
            <a:endParaRPr lang="en-US" sz="2200" dirty="0"/>
          </a:p>
          <a:p>
            <a:pPr>
              <a:buFont typeface="Wingdings" pitchFamily="2" charset="2"/>
              <a:buChar char="Ø"/>
            </a:pPr>
            <a:r>
              <a:rPr lang="en-IN" sz="2200" dirty="0">
                <a:hlinkClick r:id="rId5"/>
              </a:rPr>
              <a:t>https://www.geeksforgeeks.org/7-steps-of-migrating-model-in-cloud/</a:t>
            </a:r>
            <a:endParaRPr lang="en-IN" sz="2200" dirty="0"/>
          </a:p>
          <a:p>
            <a:pPr>
              <a:buFont typeface="Wingdings" pitchFamily="2" charset="2"/>
              <a:buChar char="Ø"/>
            </a:pPr>
            <a:r>
              <a:rPr lang="en-IN" sz="2200" dirty="0">
                <a:hlinkClick r:id="rId6"/>
              </a:rPr>
              <a:t>https://nptel.ac.in/courses/106105167</a:t>
            </a:r>
            <a:endParaRPr lang="en-US" sz="2200" dirty="0"/>
          </a:p>
          <a:p>
            <a:pPr>
              <a:buFont typeface="Wingdings" pitchFamily="2" charset="2"/>
              <a:buChar char="Ø"/>
            </a:pPr>
            <a:r>
              <a:rPr lang="en-IN" sz="2200" dirty="0">
                <a:hlinkClick r:id="rId7"/>
              </a:rPr>
              <a:t>https://www.edx.org/learn/cloud-computing</a:t>
            </a:r>
            <a:endParaRPr lang="en-US" sz="22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17</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TotalTime>
  <Words>1411</Words>
  <Application>Microsoft Office PowerPoint</Application>
  <PresentationFormat>On-screen Show (16:9)</PresentationFormat>
  <Paragraphs>161</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Virtualization</vt:lpstr>
      <vt:lpstr>History of Virtualization</vt:lpstr>
      <vt:lpstr>Virtual Machines (VM)</vt:lpstr>
      <vt:lpstr>Characteristics of Virtualized environment</vt:lpstr>
      <vt:lpstr>Characteristics of Virtualized environment</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16</cp:revision>
  <dcterms:created xsi:type="dcterms:W3CDTF">2024-12-06T17:10:37Z</dcterms:created>
  <dcterms:modified xsi:type="dcterms:W3CDTF">2024-12-19T16:26:26Z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