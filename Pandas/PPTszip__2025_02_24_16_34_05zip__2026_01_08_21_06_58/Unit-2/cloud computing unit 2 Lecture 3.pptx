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6" r:id="rId1"/>
  </p:sldMasterIdLst>
  <p:notesMasterIdLst>
    <p:notesMasterId r:id="rId20"/>
  </p:notesMasterIdLst>
  <p:sldIdLst>
    <p:sldId id="390" r:id="rId2"/>
    <p:sldId id="413" r:id="rId3"/>
    <p:sldId id="414" r:id="rId4"/>
    <p:sldId id="420" r:id="rId5"/>
    <p:sldId id="415" r:id="rId6"/>
    <p:sldId id="416" r:id="rId7"/>
    <p:sldId id="417" r:id="rId8"/>
    <p:sldId id="418" r:id="rId9"/>
    <p:sldId id="419" r:id="rId10"/>
    <p:sldId id="275" r:id="rId11"/>
    <p:sldId id="276" r:id="rId12"/>
    <p:sldId id="277" r:id="rId13"/>
    <p:sldId id="278" r:id="rId14"/>
    <p:sldId id="425" r:id="rId15"/>
    <p:sldId id="424" r:id="rId16"/>
    <p:sldId id="421" r:id="rId17"/>
    <p:sldId id="422" r:id="rId18"/>
    <p:sldId id="352" r:id="rId19"/>
  </p:sldIdLst>
  <p:sldSz cx="9144000" cy="5143500" type="screen16x9"/>
  <p:notesSz cx="9144000" cy="51435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9" d="100"/>
          <a:sy n="119" d="100"/>
        </p:scale>
        <p:origin x="418" y="96"/>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2571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257175"/>
          </a:xfrm>
          <a:prstGeom prst="rect">
            <a:avLst/>
          </a:prstGeom>
        </p:spPr>
        <p:txBody>
          <a:bodyPr vert="horz" lIns="91440" tIns="45720" rIns="91440" bIns="45720" rtlCol="0"/>
          <a:lstStyle>
            <a:lvl1pPr algn="r">
              <a:defRPr sz="1200"/>
            </a:lvl1pPr>
          </a:lstStyle>
          <a:p>
            <a:fld id="{F0DC4A99-9312-4F8C-A4D7-0726CEA43945}" type="datetimeFigureOut">
              <a:rPr lang="en-US" smtClean="0"/>
              <a:t>12/19/2024</a:t>
            </a:fld>
            <a:endParaRPr lang="en-US"/>
          </a:p>
        </p:txBody>
      </p:sp>
      <p:sp>
        <p:nvSpPr>
          <p:cNvPr id="4" name="Slide Image Placeholder 3"/>
          <p:cNvSpPr>
            <a:spLocks noGrp="1" noRot="1" noChangeAspect="1"/>
          </p:cNvSpPr>
          <p:nvPr>
            <p:ph type="sldImg" idx="2"/>
          </p:nvPr>
        </p:nvSpPr>
        <p:spPr>
          <a:xfrm>
            <a:off x="3028950" y="642938"/>
            <a:ext cx="3086100" cy="17367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2474913"/>
            <a:ext cx="7315200" cy="20256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4886325"/>
            <a:ext cx="3962400" cy="2571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4886325"/>
            <a:ext cx="3962400" cy="257175"/>
          </a:xfrm>
          <a:prstGeom prst="rect">
            <a:avLst/>
          </a:prstGeom>
        </p:spPr>
        <p:txBody>
          <a:bodyPr vert="horz" lIns="91440" tIns="45720" rIns="91440" bIns="45720" rtlCol="0" anchor="b"/>
          <a:lstStyle>
            <a:lvl1pPr algn="r">
              <a:defRPr sz="1200"/>
            </a:lvl1pPr>
          </a:lstStyle>
          <a:p>
            <a:fld id="{42C608E4-73BD-4B32-A8E7-2CAA3D3FC81C}" type="slidenum">
              <a:rPr lang="en-US" smtClean="0"/>
              <a:t>‹#›</a:t>
            </a:fld>
            <a:endParaRPr lang="en-US"/>
          </a:p>
        </p:txBody>
      </p:sp>
    </p:spTree>
    <p:extLst>
      <p:ext uri="{BB962C8B-B14F-4D97-AF65-F5344CB8AC3E}">
        <p14:creationId xmlns:p14="http://schemas.microsoft.com/office/powerpoint/2010/main" val="1001225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30C3FA-956A-C0F7-4365-C5AE4B781728}"/>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7F4A5A88-40B4-D19A-7453-A65FAB84F3C8}"/>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ED019B4F-0FEB-66D2-5447-15B060E46E99}"/>
              </a:ext>
            </a:extLst>
          </p:cNvPr>
          <p:cNvSpPr>
            <a:spLocks noGrp="1"/>
          </p:cNvSpPr>
          <p:nvPr>
            <p:ph type="dt" sz="half" idx="10"/>
          </p:nvPr>
        </p:nvSpPr>
        <p:spPr>
          <a:xfrm>
            <a:off x="628650" y="4767263"/>
            <a:ext cx="2057400" cy="273844"/>
          </a:xfrm>
          <a:prstGeom prst="rect">
            <a:avLst/>
          </a:prstGeom>
        </p:spPr>
        <p:txBody>
          <a:bodyPr/>
          <a:lstStyle/>
          <a:p>
            <a:fld id="{B3E38762-2AFD-486A-9C39-8C32F04FF70B}" type="datetime1">
              <a:rPr lang="en-US" smtClean="0"/>
              <a:t>12/19/2024</a:t>
            </a:fld>
            <a:endParaRPr lang="en-US"/>
          </a:p>
        </p:txBody>
      </p:sp>
      <p:sp>
        <p:nvSpPr>
          <p:cNvPr id="5" name="Footer Placeholder 4">
            <a:extLst>
              <a:ext uri="{FF2B5EF4-FFF2-40B4-BE49-F238E27FC236}">
                <a16:creationId xmlns:a16="http://schemas.microsoft.com/office/drawing/2014/main" id="{F30B03CC-E8DD-7A7F-331E-89B2E349E487}"/>
              </a:ext>
            </a:extLst>
          </p:cNvPr>
          <p:cNvSpPr>
            <a:spLocks noGrp="1"/>
          </p:cNvSpPr>
          <p:nvPr>
            <p:ph type="ftr" sz="quarter" idx="11"/>
          </p:nvPr>
        </p:nvSpPr>
        <p:spPr/>
        <p:txBody>
          <a:bodyPr/>
          <a:lstStyle/>
          <a:p>
            <a:r>
              <a:rPr lang="en-US"/>
              <a:t>Department of Computer Application </a:t>
            </a:r>
          </a:p>
        </p:txBody>
      </p:sp>
      <p:sp>
        <p:nvSpPr>
          <p:cNvPr id="6" name="Slide Number Placeholder 5">
            <a:extLst>
              <a:ext uri="{FF2B5EF4-FFF2-40B4-BE49-F238E27FC236}">
                <a16:creationId xmlns:a16="http://schemas.microsoft.com/office/drawing/2014/main" id="{C796FB3A-BE5C-CDF4-E6C4-2ABB2FA13B5C}"/>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7512465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D2B6-9442-1ACF-C0C7-A89F625A4BF6}"/>
              </a:ext>
            </a:extLst>
          </p:cNvPr>
          <p:cNvSpPr>
            <a:spLocks noGrp="1"/>
          </p:cNvSpPr>
          <p:nvPr>
            <p:ph type="title"/>
          </p:nvPr>
        </p:nvSpPr>
        <p:spPr/>
        <p:txBody>
          <a:bodyPr/>
          <a:lstStyle>
            <a:lvl1pPr>
              <a:defRPr>
                <a:latin typeface="+mn-lt"/>
              </a:defRPr>
            </a:lvl1pPr>
          </a:lstStyle>
          <a:p>
            <a:r>
              <a:rPr lang="en-US" dirty="0"/>
              <a:t>Click to edit Master title style</a:t>
            </a:r>
          </a:p>
        </p:txBody>
      </p:sp>
      <p:sp>
        <p:nvSpPr>
          <p:cNvPr id="3" name="Content Placeholder 2">
            <a:extLst>
              <a:ext uri="{FF2B5EF4-FFF2-40B4-BE49-F238E27FC236}">
                <a16:creationId xmlns:a16="http://schemas.microsoft.com/office/drawing/2014/main" id="{23301085-2CB1-03EE-C7D1-6765656FE1FE}"/>
              </a:ext>
            </a:extLst>
          </p:cNvPr>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7DDD8435-3FC5-EAE9-ECFD-6BEF85FC76E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AA28CC44-2682-D9FE-9F81-3A6CC9A4DF6C}"/>
              </a:ext>
            </a:extLst>
          </p:cNvPr>
          <p:cNvSpPr>
            <a:spLocks noGrp="1"/>
          </p:cNvSpPr>
          <p:nvPr>
            <p:ph type="sldNum" sz="quarter" idx="12"/>
          </p:nvPr>
        </p:nvSpPr>
        <p:spPr/>
        <p:txBody>
          <a:bodyPr/>
          <a:lstStyle>
            <a:lvl1pPr>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3EB6E5F4-6304-6256-5695-7BD78A8ACCD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90F09C4B-555B-8B2F-278E-9263CE166574}"/>
              </a:ext>
            </a:extLst>
          </p:cNvPr>
          <p:cNvPicPr>
            <a:picLocks noChangeAspect="1"/>
          </p:cNvPicPr>
          <p:nvPr userDrawn="1"/>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4259739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7E59CC-689E-115B-0A40-4F2898674184}"/>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6695A29A-76C8-75E3-C412-D07CA2250509}"/>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E73DAFB2-01F6-148D-1378-AB6F4EEE07FD}"/>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BA41863-4AEF-128C-9139-DFFC94B26D2A}"/>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332074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946480-4968-BC40-0399-5FC6F5D25C5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BD37503-6739-3552-AEBE-0C9014E535C2}"/>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1C04DD6-AF84-C7DC-B0B2-E3D8E2BE9298}"/>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370C0D7-3E84-8214-1C76-BE27471A6964}"/>
              </a:ext>
            </a:extLst>
          </p:cNvPr>
          <p:cNvSpPr>
            <a:spLocks noGrp="1"/>
          </p:cNvSpPr>
          <p:nvPr>
            <p:ph type="dt" sz="half" idx="10"/>
          </p:nvPr>
        </p:nvSpPr>
        <p:spPr>
          <a:xfrm>
            <a:off x="628650" y="4767263"/>
            <a:ext cx="2057400" cy="273844"/>
          </a:xfrm>
          <a:prstGeom prst="rect">
            <a:avLst/>
          </a:prstGeom>
        </p:spPr>
        <p:txBody>
          <a:bodyPr/>
          <a:lstStyle/>
          <a:p>
            <a:fld id="{F5F93631-43AB-4E7B-972D-0F6F0C521BFB}" type="datetime1">
              <a:rPr lang="en-US" smtClean="0"/>
              <a:t>12/19/2024</a:t>
            </a:fld>
            <a:endParaRPr lang="en-US"/>
          </a:p>
        </p:txBody>
      </p:sp>
      <p:sp>
        <p:nvSpPr>
          <p:cNvPr id="6" name="Footer Placeholder 5">
            <a:extLst>
              <a:ext uri="{FF2B5EF4-FFF2-40B4-BE49-F238E27FC236}">
                <a16:creationId xmlns:a16="http://schemas.microsoft.com/office/drawing/2014/main" id="{D3DEF193-9681-F300-592A-FAB09BD9D4C6}"/>
              </a:ext>
            </a:extLst>
          </p:cNvPr>
          <p:cNvSpPr>
            <a:spLocks noGrp="1"/>
          </p:cNvSpPr>
          <p:nvPr>
            <p:ph type="ftr" sz="quarter" idx="11"/>
          </p:nvPr>
        </p:nvSpPr>
        <p:spPr/>
        <p:txBody>
          <a:bodyPr/>
          <a:lstStyle/>
          <a:p>
            <a:r>
              <a:rPr lang="en-US" dirty="0"/>
              <a:t>Department of Computer Application</a:t>
            </a:r>
          </a:p>
          <a:p>
            <a:endParaRPr lang="en-US" dirty="0"/>
          </a:p>
        </p:txBody>
      </p:sp>
      <p:sp>
        <p:nvSpPr>
          <p:cNvPr id="7" name="Slide Number Placeholder 6">
            <a:extLst>
              <a:ext uri="{FF2B5EF4-FFF2-40B4-BE49-F238E27FC236}">
                <a16:creationId xmlns:a16="http://schemas.microsoft.com/office/drawing/2014/main" id="{50021CFC-03DE-1DAC-D88C-71A4FE09439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4398374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9CE26-82D2-D25A-D9A3-E2F1C6830BD0}"/>
              </a:ext>
            </a:extLst>
          </p:cNvPr>
          <p:cNvSpPr>
            <a:spLocks noGrp="1"/>
          </p:cNvSpPr>
          <p:nvPr>
            <p:ph type="title"/>
          </p:nvPr>
        </p:nvSpPr>
        <p:spPr>
          <a:xfrm>
            <a:off x="629841" y="273844"/>
            <a:ext cx="7886700" cy="99417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8AAFC2C3-1300-E112-5576-1F02EED34A6A}"/>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7FB73102-13BF-362E-49F8-641DDD80D4C5}"/>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E06E4CD-19F5-A034-E5CB-7B86DC91D5E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CC9063A4-24CB-4E44-13A1-D065F2B82E57}"/>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09BCD1-9F6F-26DD-A2FA-3F0605B69FE3}"/>
              </a:ext>
            </a:extLst>
          </p:cNvPr>
          <p:cNvSpPr>
            <a:spLocks noGrp="1"/>
          </p:cNvSpPr>
          <p:nvPr>
            <p:ph type="dt" sz="half" idx="10"/>
          </p:nvPr>
        </p:nvSpPr>
        <p:spPr>
          <a:xfrm>
            <a:off x="628650" y="4767263"/>
            <a:ext cx="2057400" cy="273844"/>
          </a:xfrm>
          <a:prstGeom prst="rect">
            <a:avLst/>
          </a:prstGeom>
        </p:spPr>
        <p:txBody>
          <a:bodyPr/>
          <a:lstStyle/>
          <a:p>
            <a:fld id="{9D85461E-7623-4714-934A-DE2E9089A6F7}" type="datetime1">
              <a:rPr lang="en-US" smtClean="0"/>
              <a:t>12/19/2024</a:t>
            </a:fld>
            <a:endParaRPr lang="en-US"/>
          </a:p>
        </p:txBody>
      </p:sp>
      <p:sp>
        <p:nvSpPr>
          <p:cNvPr id="8" name="Footer Placeholder 7">
            <a:extLst>
              <a:ext uri="{FF2B5EF4-FFF2-40B4-BE49-F238E27FC236}">
                <a16:creationId xmlns:a16="http://schemas.microsoft.com/office/drawing/2014/main" id="{85B59446-DDFD-0C27-404A-6F34E6217A84}"/>
              </a:ext>
            </a:extLst>
          </p:cNvPr>
          <p:cNvSpPr>
            <a:spLocks noGrp="1"/>
          </p:cNvSpPr>
          <p:nvPr>
            <p:ph type="ftr" sz="quarter" idx="11"/>
          </p:nvPr>
        </p:nvSpPr>
        <p:spPr/>
        <p:txBody>
          <a:bodyPr/>
          <a:lstStyle/>
          <a:p>
            <a:r>
              <a:rPr lang="en-US"/>
              <a:t>Department of Computer Application </a:t>
            </a:r>
          </a:p>
        </p:txBody>
      </p:sp>
      <p:sp>
        <p:nvSpPr>
          <p:cNvPr id="9" name="Slide Number Placeholder 8">
            <a:extLst>
              <a:ext uri="{FF2B5EF4-FFF2-40B4-BE49-F238E27FC236}">
                <a16:creationId xmlns:a16="http://schemas.microsoft.com/office/drawing/2014/main" id="{988869AB-F99A-F176-BF8F-BABB297E5714}"/>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000149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BCE0B-4E31-0BCA-7E2D-A88C763655C3}"/>
              </a:ext>
            </a:extLst>
          </p:cNvPr>
          <p:cNvSpPr>
            <a:spLocks noGrp="1"/>
          </p:cNvSpPr>
          <p:nvPr>
            <p:ph type="title"/>
          </p:nvPr>
        </p:nvSpPr>
        <p:spPr/>
        <p:txBody>
          <a:bodyPr>
            <a:normAutofit/>
          </a:bodyPr>
          <a:lstStyle>
            <a:lvl1pPr>
              <a:defRPr sz="3200"/>
            </a:lvl1pPr>
          </a:lstStyle>
          <a:p>
            <a:r>
              <a:rPr lang="en-US"/>
              <a:t>Click to edit Master title style</a:t>
            </a:r>
          </a:p>
        </p:txBody>
      </p:sp>
      <p:sp>
        <p:nvSpPr>
          <p:cNvPr id="3" name="Date Placeholder 2">
            <a:extLst>
              <a:ext uri="{FF2B5EF4-FFF2-40B4-BE49-F238E27FC236}">
                <a16:creationId xmlns:a16="http://schemas.microsoft.com/office/drawing/2014/main" id="{782DC94B-B89C-F4AD-9437-34AA86F6FC87}"/>
              </a:ext>
            </a:extLst>
          </p:cNvPr>
          <p:cNvSpPr>
            <a:spLocks noGrp="1"/>
          </p:cNvSpPr>
          <p:nvPr>
            <p:ph type="dt" sz="half" idx="10"/>
          </p:nvPr>
        </p:nvSpPr>
        <p:spPr>
          <a:xfrm>
            <a:off x="628650" y="4767263"/>
            <a:ext cx="2057400" cy="273844"/>
          </a:xfrm>
          <a:prstGeom prst="rect">
            <a:avLst/>
          </a:prstGeom>
        </p:spPr>
        <p:txBody>
          <a:bodyPr/>
          <a:lstStyle/>
          <a:p>
            <a:fld id="{C7F24AFF-8169-4C36-A194-98CC1E442CC2}" type="datetime1">
              <a:rPr lang="en-US" smtClean="0"/>
              <a:t>12/19/2024</a:t>
            </a:fld>
            <a:endParaRPr lang="en-US"/>
          </a:p>
        </p:txBody>
      </p:sp>
      <p:sp>
        <p:nvSpPr>
          <p:cNvPr id="4" name="Footer Placeholder 3">
            <a:extLst>
              <a:ext uri="{FF2B5EF4-FFF2-40B4-BE49-F238E27FC236}">
                <a16:creationId xmlns:a16="http://schemas.microsoft.com/office/drawing/2014/main" id="{08FB183C-E4FD-1C77-2F22-779CF59685E6}"/>
              </a:ext>
            </a:extLst>
          </p:cNvPr>
          <p:cNvSpPr>
            <a:spLocks noGrp="1"/>
          </p:cNvSpPr>
          <p:nvPr>
            <p:ph type="ftr" sz="quarter" idx="11"/>
          </p:nvPr>
        </p:nvSpPr>
        <p:spPr/>
        <p:txBody>
          <a:bodyPr/>
          <a:lstStyle/>
          <a:p>
            <a:r>
              <a:rPr lang="en-US" dirty="0"/>
              <a:t>Department of Computer Application</a:t>
            </a:r>
          </a:p>
          <a:p>
            <a:endParaRPr lang="en-US" dirty="0"/>
          </a:p>
        </p:txBody>
      </p:sp>
      <p:sp>
        <p:nvSpPr>
          <p:cNvPr id="5" name="Slide Number Placeholder 4">
            <a:extLst>
              <a:ext uri="{FF2B5EF4-FFF2-40B4-BE49-F238E27FC236}">
                <a16:creationId xmlns:a16="http://schemas.microsoft.com/office/drawing/2014/main" id="{8E74B489-3934-3E8D-ED4E-51109D373ED1}"/>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2846913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9B2487-A1DE-765F-1108-4A102F465B33}"/>
              </a:ext>
            </a:extLst>
          </p:cNvPr>
          <p:cNvSpPr>
            <a:spLocks noGrp="1"/>
          </p:cNvSpPr>
          <p:nvPr>
            <p:ph type="dt" sz="half" idx="10"/>
          </p:nvPr>
        </p:nvSpPr>
        <p:spPr>
          <a:xfrm>
            <a:off x="628650" y="4767263"/>
            <a:ext cx="2057400" cy="273844"/>
          </a:xfrm>
          <a:prstGeom prst="rect">
            <a:avLst/>
          </a:prstGeom>
        </p:spPr>
        <p:txBody>
          <a:bodyPr/>
          <a:lstStyle/>
          <a:p>
            <a:fld id="{C4C4D386-518F-47DC-9491-94E830BC1CB3}" type="datetime1">
              <a:rPr lang="en-US" smtClean="0"/>
              <a:t>12/19/2024</a:t>
            </a:fld>
            <a:endParaRPr lang="en-US"/>
          </a:p>
        </p:txBody>
      </p:sp>
      <p:sp>
        <p:nvSpPr>
          <p:cNvPr id="3" name="Footer Placeholder 2">
            <a:extLst>
              <a:ext uri="{FF2B5EF4-FFF2-40B4-BE49-F238E27FC236}">
                <a16:creationId xmlns:a16="http://schemas.microsoft.com/office/drawing/2014/main" id="{E69A5B8F-A44B-75BB-32A6-422B07820607}"/>
              </a:ext>
            </a:extLst>
          </p:cNvPr>
          <p:cNvSpPr>
            <a:spLocks noGrp="1"/>
          </p:cNvSpPr>
          <p:nvPr>
            <p:ph type="ftr" sz="quarter" idx="11"/>
          </p:nvPr>
        </p:nvSpPr>
        <p:spPr/>
        <p:txBody>
          <a:bodyPr/>
          <a:lstStyle/>
          <a:p>
            <a:r>
              <a:rPr lang="en-US" dirty="0"/>
              <a:t>Department of Computer Application</a:t>
            </a:r>
          </a:p>
          <a:p>
            <a:endParaRPr lang="en-US" dirty="0"/>
          </a:p>
        </p:txBody>
      </p:sp>
      <p:sp>
        <p:nvSpPr>
          <p:cNvPr id="4" name="Slide Number Placeholder 3">
            <a:extLst>
              <a:ext uri="{FF2B5EF4-FFF2-40B4-BE49-F238E27FC236}">
                <a16:creationId xmlns:a16="http://schemas.microsoft.com/office/drawing/2014/main" id="{0727C921-34CD-31F3-20AD-0FDDCA7BE45B}"/>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29098104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1DC25-48A6-087B-75D0-795092B0ADED}"/>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8BF29551-E546-6186-0EC5-D3FB705E393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FAC003-1A92-A1C4-E849-984DDC4F6DC0}"/>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8C9A1740-C096-A33D-E438-3F9AD6E86B6A}"/>
              </a:ext>
            </a:extLst>
          </p:cNvPr>
          <p:cNvSpPr>
            <a:spLocks noGrp="1"/>
          </p:cNvSpPr>
          <p:nvPr>
            <p:ph type="dt" sz="half" idx="10"/>
          </p:nvPr>
        </p:nvSpPr>
        <p:spPr>
          <a:xfrm>
            <a:off x="628650" y="4767263"/>
            <a:ext cx="2057400" cy="273844"/>
          </a:xfrm>
          <a:prstGeom prst="rect">
            <a:avLst/>
          </a:prstGeom>
        </p:spPr>
        <p:txBody>
          <a:bodyPr/>
          <a:lstStyle/>
          <a:p>
            <a:fld id="{ABC2824D-218C-424B-A77B-CC590C0C592E}" type="datetime1">
              <a:rPr lang="en-US" smtClean="0"/>
              <a:t>12/19/2024</a:t>
            </a:fld>
            <a:endParaRPr lang="en-US"/>
          </a:p>
        </p:txBody>
      </p:sp>
      <p:sp>
        <p:nvSpPr>
          <p:cNvPr id="6" name="Footer Placeholder 5">
            <a:extLst>
              <a:ext uri="{FF2B5EF4-FFF2-40B4-BE49-F238E27FC236}">
                <a16:creationId xmlns:a16="http://schemas.microsoft.com/office/drawing/2014/main" id="{46C1BB76-FD9E-3CCB-056C-2BF2335D1487}"/>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BBE95265-E66D-09B4-F7BE-8475BA602C9E}"/>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4191986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B818C6-7E01-7E3E-67C3-08E483C28B54}"/>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C9653A57-F481-9BBE-FCC3-EA3472686508}"/>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F115DF1C-6898-CB53-CE53-69CE4A10DF66}"/>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CABF6D0-9446-AAA4-75DB-24E8BE080189}"/>
              </a:ext>
            </a:extLst>
          </p:cNvPr>
          <p:cNvSpPr>
            <a:spLocks noGrp="1"/>
          </p:cNvSpPr>
          <p:nvPr>
            <p:ph type="dt" sz="half" idx="10"/>
          </p:nvPr>
        </p:nvSpPr>
        <p:spPr>
          <a:xfrm>
            <a:off x="628650" y="4767263"/>
            <a:ext cx="2057400" cy="273844"/>
          </a:xfrm>
          <a:prstGeom prst="rect">
            <a:avLst/>
          </a:prstGeom>
        </p:spPr>
        <p:txBody>
          <a:bodyPr/>
          <a:lstStyle/>
          <a:p>
            <a:fld id="{54DBEF21-4283-4C52-B383-45AAC0991FFA}" type="datetime1">
              <a:rPr lang="en-US" smtClean="0"/>
              <a:t>12/19/2024</a:t>
            </a:fld>
            <a:endParaRPr lang="en-US"/>
          </a:p>
        </p:txBody>
      </p:sp>
      <p:sp>
        <p:nvSpPr>
          <p:cNvPr id="6" name="Footer Placeholder 5">
            <a:extLst>
              <a:ext uri="{FF2B5EF4-FFF2-40B4-BE49-F238E27FC236}">
                <a16:creationId xmlns:a16="http://schemas.microsoft.com/office/drawing/2014/main" id="{16C622BE-5569-E1D1-FF35-0627E7C43D95}"/>
              </a:ext>
            </a:extLst>
          </p:cNvPr>
          <p:cNvSpPr>
            <a:spLocks noGrp="1"/>
          </p:cNvSpPr>
          <p:nvPr>
            <p:ph type="ftr" sz="quarter" idx="11"/>
          </p:nvPr>
        </p:nvSpPr>
        <p:spPr/>
        <p:txBody>
          <a:bodyPr/>
          <a:lstStyle/>
          <a:p>
            <a:r>
              <a:rPr lang="en-US"/>
              <a:t>Department of Computer Application </a:t>
            </a:r>
          </a:p>
        </p:txBody>
      </p:sp>
      <p:sp>
        <p:nvSpPr>
          <p:cNvPr id="7" name="Slide Number Placeholder 6">
            <a:extLst>
              <a:ext uri="{FF2B5EF4-FFF2-40B4-BE49-F238E27FC236}">
                <a16:creationId xmlns:a16="http://schemas.microsoft.com/office/drawing/2014/main" id="{A3DDB5F8-2338-5B87-A144-AC3A64B5190D}"/>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1227042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2E178D-6E73-89E5-A563-A6E977FBD5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6598AA7-CCD0-4558-FB61-D81FEE437D2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609914-B1C2-8F4C-1CA2-E44E3E92A910}"/>
              </a:ext>
            </a:extLst>
          </p:cNvPr>
          <p:cNvSpPr>
            <a:spLocks noGrp="1"/>
          </p:cNvSpPr>
          <p:nvPr>
            <p:ph type="dt" sz="half" idx="10"/>
          </p:nvPr>
        </p:nvSpPr>
        <p:spPr>
          <a:xfrm>
            <a:off x="628650" y="4767263"/>
            <a:ext cx="2057400" cy="273844"/>
          </a:xfrm>
          <a:prstGeom prst="rect">
            <a:avLst/>
          </a:prstGeom>
        </p:spPr>
        <p:txBody>
          <a:bodyPr/>
          <a:lstStyle/>
          <a:p>
            <a:fld id="{9069F578-6E95-4320-8BD4-332ABE4C5A02}" type="datetime1">
              <a:rPr lang="en-US" smtClean="0"/>
              <a:t>12/19/2024</a:t>
            </a:fld>
            <a:endParaRPr lang="en-US"/>
          </a:p>
        </p:txBody>
      </p:sp>
      <p:sp>
        <p:nvSpPr>
          <p:cNvPr id="5" name="Footer Placeholder 4">
            <a:extLst>
              <a:ext uri="{FF2B5EF4-FFF2-40B4-BE49-F238E27FC236}">
                <a16:creationId xmlns:a16="http://schemas.microsoft.com/office/drawing/2014/main" id="{525CA74A-C55F-3AC6-217B-5AC433C99DF5}"/>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DD347393-0B41-117F-D7CE-B11E68BA097F}"/>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9081668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4E15F-8303-3B0B-85A4-6FEE95BA5067}"/>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C7936F1-44E8-B374-9A45-BBFB8C0E5F88}"/>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08CCF6-B925-CD5F-823A-5CDF8CC9853F}"/>
              </a:ext>
            </a:extLst>
          </p:cNvPr>
          <p:cNvSpPr>
            <a:spLocks noGrp="1"/>
          </p:cNvSpPr>
          <p:nvPr>
            <p:ph type="dt" sz="half" idx="10"/>
          </p:nvPr>
        </p:nvSpPr>
        <p:spPr>
          <a:xfrm>
            <a:off x="628650" y="4767263"/>
            <a:ext cx="2057400" cy="273844"/>
          </a:xfrm>
          <a:prstGeom prst="rect">
            <a:avLst/>
          </a:prstGeom>
        </p:spPr>
        <p:txBody>
          <a:bodyPr/>
          <a:lstStyle/>
          <a:p>
            <a:fld id="{6189F22B-29B3-4F91-8819-63933F2F32E2}" type="datetime1">
              <a:rPr lang="en-US" smtClean="0"/>
              <a:t>12/19/2024</a:t>
            </a:fld>
            <a:endParaRPr lang="en-US"/>
          </a:p>
        </p:txBody>
      </p:sp>
      <p:sp>
        <p:nvSpPr>
          <p:cNvPr id="5" name="Footer Placeholder 4">
            <a:extLst>
              <a:ext uri="{FF2B5EF4-FFF2-40B4-BE49-F238E27FC236}">
                <a16:creationId xmlns:a16="http://schemas.microsoft.com/office/drawing/2014/main" id="{370C9C9B-986B-B081-60E4-12B7B252C911}"/>
              </a:ext>
            </a:extLst>
          </p:cNvPr>
          <p:cNvSpPr>
            <a:spLocks noGrp="1"/>
          </p:cNvSpPr>
          <p:nvPr>
            <p:ph type="ftr" sz="quarter" idx="11"/>
          </p:nvPr>
        </p:nvSpPr>
        <p:spPr/>
        <p:txBody>
          <a:bodyPr/>
          <a:lstStyle/>
          <a:p>
            <a:r>
              <a:rPr lang="en-US" dirty="0"/>
              <a:t>Department of Computer Application</a:t>
            </a:r>
          </a:p>
          <a:p>
            <a:endParaRPr lang="en-US" dirty="0"/>
          </a:p>
        </p:txBody>
      </p:sp>
      <p:sp>
        <p:nvSpPr>
          <p:cNvPr id="6" name="Slide Number Placeholder 5">
            <a:extLst>
              <a:ext uri="{FF2B5EF4-FFF2-40B4-BE49-F238E27FC236}">
                <a16:creationId xmlns:a16="http://schemas.microsoft.com/office/drawing/2014/main" id="{6306B517-18CB-1490-3466-0F808913A5B0}"/>
              </a:ext>
            </a:extLst>
          </p:cNvPr>
          <p:cNvSpPr>
            <a:spLocks noGrp="1"/>
          </p:cNvSpPr>
          <p:nvPr>
            <p:ph type="sldNum" sz="quarter" idx="12"/>
          </p:nvPr>
        </p:nvSpPr>
        <p:spPr/>
        <p:txBody>
          <a:bodyPr/>
          <a:lstStyle/>
          <a:p>
            <a:pPr marL="38100">
              <a:lnSpc>
                <a:spcPts val="1240"/>
              </a:lnSpc>
            </a:pPr>
            <a:fld id="{81D60167-4931-47E6-BA6A-407CBD079E47}" type="slidenum">
              <a:rPr lang="en-US" smtClean="0"/>
              <a:t>‹#›</a:t>
            </a:fld>
            <a:endParaRPr lang="en-US" dirty="0"/>
          </a:p>
        </p:txBody>
      </p:sp>
    </p:spTree>
    <p:extLst>
      <p:ext uri="{BB962C8B-B14F-4D97-AF65-F5344CB8AC3E}">
        <p14:creationId xmlns:p14="http://schemas.microsoft.com/office/powerpoint/2010/main" val="36813703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rgbClr val="C00000"/>
                </a:solidFill>
                <a:latin typeface="Calibri"/>
                <a:cs typeface="Calibri"/>
              </a:defRPr>
            </a:lvl1pPr>
          </a:lstStyle>
          <a:p>
            <a:endParaRPr/>
          </a:p>
        </p:txBody>
      </p:sp>
      <p:sp>
        <p:nvSpPr>
          <p:cNvPr id="3" name="Holder 3"/>
          <p:cNvSpPr>
            <a:spLocks noGrp="1"/>
          </p:cNvSpPr>
          <p:nvPr>
            <p:ph sz="half" idx="2"/>
          </p:nvPr>
        </p:nvSpPr>
        <p:spPr>
          <a:xfrm>
            <a:off x="457200" y="1183005"/>
            <a:ext cx="3977640" cy="339471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183005"/>
            <a:ext cx="3977640" cy="339471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r>
              <a:rPr lang="en-US" dirty="0"/>
              <a:t>Department of Computer Application</a:t>
            </a:r>
          </a:p>
          <a:p>
            <a:endParaRPr lang="en-US" dirty="0"/>
          </a:p>
        </p:txBody>
      </p:sp>
      <p:sp>
        <p:nvSpPr>
          <p:cNvPr id="6" name="Holder 6"/>
          <p:cNvSpPr>
            <a:spLocks noGrp="1"/>
          </p:cNvSpPr>
          <p:nvPr>
            <p:ph type="dt" sz="half" idx="6"/>
          </p:nvPr>
        </p:nvSpPr>
        <p:spPr>
          <a:xfrm>
            <a:off x="628650" y="4767263"/>
            <a:ext cx="2057400" cy="273844"/>
          </a:xfrm>
          <a:prstGeom prst="rect">
            <a:avLst/>
          </a:prstGeom>
        </p:spPr>
        <p:txBody>
          <a:bodyPr lIns="0" tIns="0" rIns="0" bIns="0"/>
          <a:lstStyle>
            <a:lvl1pPr algn="l">
              <a:defRPr>
                <a:solidFill>
                  <a:schemeClr val="tx1">
                    <a:tint val="75000"/>
                  </a:schemeClr>
                </a:solidFill>
              </a:defRPr>
            </a:lvl1pPr>
          </a:lstStyle>
          <a:p>
            <a:fld id="{788592C8-5D7C-4B56-AA77-C624EA73FAD7}" type="datetime1">
              <a:rPr lang="en-US" smtClean="0"/>
              <a:t>12/19/2024</a:t>
            </a:fld>
            <a:endParaRPr lang="en-US"/>
          </a:p>
        </p:txBody>
      </p:sp>
      <p:sp>
        <p:nvSpPr>
          <p:cNvPr id="7" name="Holder 7"/>
          <p:cNvSpPr>
            <a:spLocks noGrp="1"/>
          </p:cNvSpPr>
          <p:nvPr>
            <p:ph type="sldNum" sz="quarter" idx="7"/>
          </p:nvPr>
        </p:nvSpPr>
        <p:spPr/>
        <p:txBody>
          <a:bodyPr lIns="0" tIns="0" rIns="0" bIns="0"/>
          <a:lstStyle>
            <a:lvl1pPr>
              <a:defRPr sz="1200" b="0" i="0">
                <a:solidFill>
                  <a:srgbClr val="888888"/>
                </a:solidFill>
                <a:latin typeface="Calibri"/>
                <a:cs typeface="Calibri"/>
              </a:defRPr>
            </a:lvl1pPr>
          </a:lstStyle>
          <a:p>
            <a:pPr marL="38100">
              <a:lnSpc>
                <a:spcPts val="1240"/>
              </a:lnSpc>
            </a:pPr>
            <a:fld id="{81D60167-4931-47E6-BA6A-407CBD079E47}" type="slidenum">
              <a:rPr dirty="0"/>
              <a:t>‹#›</a:t>
            </a:fld>
            <a:endParaRPr dirty="0"/>
          </a:p>
        </p:txBody>
      </p:sp>
    </p:spTree>
    <p:extLst>
      <p:ext uri="{BB962C8B-B14F-4D97-AF65-F5344CB8AC3E}">
        <p14:creationId xmlns:p14="http://schemas.microsoft.com/office/powerpoint/2010/main" val="3051341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B9B1E53-DD21-3667-D6AA-503B34CA867E}"/>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141172-3E17-CE01-056A-EDC62007D9B8}"/>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1CB6549-DB78-C49A-D71D-305BF7E17A28}"/>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7248596B-5C5D-1E04-F02C-3B590B606A7F}"/>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38100">
              <a:lnSpc>
                <a:spcPts val="1240"/>
              </a:lnSpc>
            </a:pPr>
            <a:r>
              <a:rPr lang="en-US" dirty="0"/>
              <a:t>12</a:t>
            </a:r>
          </a:p>
        </p:txBody>
      </p:sp>
      <p:pic>
        <p:nvPicPr>
          <p:cNvPr id="7" name="Picture 6">
            <a:extLst>
              <a:ext uri="{FF2B5EF4-FFF2-40B4-BE49-F238E27FC236}">
                <a16:creationId xmlns:a16="http://schemas.microsoft.com/office/drawing/2014/main" id="{A5FD36E8-325B-C8CF-D8A4-AB15159C5946}"/>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8" name="Picture 7">
            <a:extLst>
              <a:ext uri="{FF2B5EF4-FFF2-40B4-BE49-F238E27FC236}">
                <a16:creationId xmlns:a16="http://schemas.microsoft.com/office/drawing/2014/main" id="{3FB506CE-F944-DABC-86CA-066C5644E25F}"/>
              </a:ext>
            </a:extLst>
          </p:cNvPr>
          <p:cNvPicPr>
            <a:picLocks noChangeAspect="1"/>
          </p:cNvPicPr>
          <p:nvPr userDrawn="1"/>
        </p:nvPicPr>
        <p:blipFill>
          <a:blip r:embed="rId15"/>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26384339"/>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 id="2147483672" r:id="rId6"/>
    <p:sldLayoutId id="2147483673" r:id="rId7"/>
    <p:sldLayoutId id="2147483674" r:id="rId8"/>
    <p:sldLayoutId id="2147483675" r:id="rId9"/>
    <p:sldLayoutId id="2147483676" r:id="rId10"/>
    <p:sldLayoutId id="2147483677" r:id="rId11"/>
    <p:sldLayoutId id="2147483679" r:id="rId12"/>
  </p:sldLayoutIdLst>
  <p:hf hd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1.jpg"/><Relationship Id="rId3" Type="http://schemas.openxmlformats.org/officeDocument/2006/relationships/hyperlink" Target="https://www.youtube.com/@cloudcomputing351/videos" TargetMode="External"/><Relationship Id="rId7" Type="http://schemas.openxmlformats.org/officeDocument/2006/relationships/hyperlink" Target="https://www.edx.org/learn/cloud-computing" TargetMode="External"/><Relationship Id="rId2" Type="http://schemas.openxmlformats.org/officeDocument/2006/relationships/hyperlink" Target="https://archive.org/details/cloudcomputingbi0000sosi" TargetMode="External"/><Relationship Id="rId1" Type="http://schemas.openxmlformats.org/officeDocument/2006/relationships/slideLayout" Target="../slideLayouts/slideLayout2.xml"/><Relationship Id="rId6" Type="http://schemas.openxmlformats.org/officeDocument/2006/relationships/hyperlink" Target="https://nptel.ac.in/courses/106105167" TargetMode="External"/><Relationship Id="rId5" Type="http://schemas.openxmlformats.org/officeDocument/2006/relationships/hyperlink" Target="https://www.geeksforgeeks.org/7-steps-of-migrating-model-in-cloud/" TargetMode="External"/><Relationship Id="rId4" Type="http://schemas.openxmlformats.org/officeDocument/2006/relationships/hyperlink" Target="https://www.slideshare.net/slideshow/cloud-migration-presentation-246744264/246744264?from_action=download&amp;slideshow_id=246744264&amp;original_file=true" TargetMode="External"/><Relationship Id="rId9"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Slide Number Placeholder 2"/>
          <p:cNvSpPr txBox="1">
            <a:spLocks/>
          </p:cNvSpPr>
          <p:nvPr/>
        </p:nvSpPr>
        <p:spPr>
          <a:xfrm>
            <a:off x="6572250" y="4881563"/>
            <a:ext cx="2057400" cy="273844"/>
          </a:xfrm>
          <a:prstGeom prst="rect">
            <a:avLst/>
          </a:prstGeom>
        </p:spPr>
        <p:txBody>
          <a:bodyPr vert="horz" lIns="68580" tIns="34290" rIns="68580" bIns="3429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sz="900" dirty="0"/>
          </a:p>
        </p:txBody>
      </p:sp>
      <p:sp>
        <p:nvSpPr>
          <p:cNvPr id="46" name="Right Triangle 45">
            <a:extLst>
              <a:ext uri="{FF2B5EF4-FFF2-40B4-BE49-F238E27FC236}">
                <a16:creationId xmlns:a16="http://schemas.microsoft.com/office/drawing/2014/main" id="{0983CA01-DED8-4A8A-82CA-5B1BE1DADB0C}"/>
              </a:ext>
            </a:extLst>
          </p:cNvPr>
          <p:cNvSpPr/>
          <p:nvPr/>
        </p:nvSpPr>
        <p:spPr>
          <a:xfrm flipV="1">
            <a:off x="7130143" y="4454910"/>
            <a:ext cx="968829" cy="868205"/>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algn="ctr" defTabSz="685800">
              <a:defRPr/>
            </a:pPr>
            <a:endParaRPr lang="en-ID" sz="1350" kern="0">
              <a:solidFill>
                <a:srgbClr val="FFFFFF"/>
              </a:solidFill>
              <a:latin typeface="Calibri" panose="020F0502020204030204"/>
            </a:endParaRPr>
          </a:p>
        </p:txBody>
      </p:sp>
      <p:sp>
        <p:nvSpPr>
          <p:cNvPr id="45" name="Rectangle 44"/>
          <p:cNvSpPr/>
          <p:nvPr/>
        </p:nvSpPr>
        <p:spPr>
          <a:xfrm>
            <a:off x="1593056" y="1519144"/>
            <a:ext cx="5122069" cy="118550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6" name="TextBox 25"/>
          <p:cNvSpPr txBox="1">
            <a:spLocks noChangeArrowheads="1"/>
          </p:cNvSpPr>
          <p:nvPr/>
        </p:nvSpPr>
        <p:spPr bwMode="auto">
          <a:xfrm>
            <a:off x="891849" y="1238027"/>
            <a:ext cx="7286624"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algn="ctr" defTabSz="466725">
              <a:lnSpc>
                <a:spcPct val="90000"/>
              </a:lnSpc>
              <a:spcBef>
                <a:spcPct val="0"/>
              </a:spcBef>
              <a:spcAft>
                <a:spcPct val="35000"/>
              </a:spcAft>
            </a:pPr>
            <a:endParaRPr lang="en-US" sz="2400" b="1" dirty="0">
              <a:solidFill>
                <a:prstClr val="black">
                  <a:lumMod val="85000"/>
                  <a:lumOff val="15000"/>
                </a:prstClr>
              </a:solidFill>
              <a:latin typeface="+mn-lt"/>
              <a:cs typeface="Times New Roman" pitchFamily="18" charset="0"/>
            </a:endParaRPr>
          </a:p>
          <a:p>
            <a:pPr algn="ctr" defTabSz="466725">
              <a:lnSpc>
                <a:spcPct val="90000"/>
              </a:lnSpc>
              <a:spcBef>
                <a:spcPct val="0"/>
              </a:spcBef>
              <a:spcAft>
                <a:spcPct val="35000"/>
              </a:spcAft>
            </a:pPr>
            <a:r>
              <a:rPr lang="en-US" sz="2400" b="1" dirty="0">
                <a:solidFill>
                  <a:prstClr val="black">
                    <a:lumMod val="85000"/>
                    <a:lumOff val="15000"/>
                  </a:prstClr>
                </a:solidFill>
                <a:latin typeface="+mn-lt"/>
                <a:cs typeface="Times New Roman" pitchFamily="18" charset="0"/>
              </a:rPr>
              <a:t> </a:t>
            </a:r>
          </a:p>
          <a:p>
            <a:pPr eaLnBrk="1" hangingPunct="1"/>
            <a:endParaRPr lang="en-US" sz="1200" dirty="0">
              <a:latin typeface="+mn-lt"/>
              <a:cs typeface="Times New Roman" pitchFamily="18" charset="0"/>
            </a:endParaRPr>
          </a:p>
        </p:txBody>
      </p:sp>
      <p:sp>
        <p:nvSpPr>
          <p:cNvPr id="14" name="Subtitle 2"/>
          <p:cNvSpPr txBox="1">
            <a:spLocks/>
          </p:cNvSpPr>
          <p:nvPr/>
        </p:nvSpPr>
        <p:spPr>
          <a:xfrm>
            <a:off x="6749124" y="3774566"/>
            <a:ext cx="2191305" cy="948645"/>
          </a:xfrm>
          <a:prstGeom prst="rect">
            <a:avLst/>
          </a:prstGeom>
        </p:spPr>
        <p:txBody>
          <a:bodyPr vert="horz" lIns="68580" tIns="34290" rIns="68580" bIns="34290" rtlCol="0">
            <a:normAutofit/>
          </a:bodyPr>
          <a:lstStyle/>
          <a:p>
            <a:r>
              <a:rPr lang="en-IN" sz="1050" b="1" dirty="0"/>
              <a:t> </a:t>
            </a:r>
            <a:endParaRPr lang="en-IN" sz="1050" dirty="0"/>
          </a:p>
          <a:p>
            <a:pPr algn="ctr" defTabSz="685800">
              <a:spcBef>
                <a:spcPct val="20000"/>
              </a:spcBef>
              <a:defRPr/>
            </a:pPr>
            <a:endParaRPr lang="en-US" sz="1050" b="1" dirty="0"/>
          </a:p>
        </p:txBody>
      </p:sp>
      <p:sp>
        <p:nvSpPr>
          <p:cNvPr id="5" name="Content Placeholder 4">
            <a:extLst>
              <a:ext uri="{FF2B5EF4-FFF2-40B4-BE49-F238E27FC236}">
                <a16:creationId xmlns:a16="http://schemas.microsoft.com/office/drawing/2014/main" id="{4FEB26A1-8062-1228-071E-62007D3ACD45}"/>
              </a:ext>
            </a:extLst>
          </p:cNvPr>
          <p:cNvSpPr>
            <a:spLocks noGrp="1"/>
          </p:cNvSpPr>
          <p:nvPr>
            <p:ph idx="1"/>
          </p:nvPr>
        </p:nvSpPr>
        <p:spPr>
          <a:xfrm>
            <a:off x="320374" y="1136326"/>
            <a:ext cx="8504921" cy="3516637"/>
          </a:xfrm>
        </p:spPr>
        <p:txBody>
          <a:bodyPr>
            <a:normAutofit/>
          </a:bodyPr>
          <a:lstStyle/>
          <a:p>
            <a:pPr marL="0" indent="0" algn="ctr">
              <a:buNone/>
            </a:pPr>
            <a:r>
              <a:rPr lang="en-US" sz="3200" b="1" dirty="0"/>
              <a:t>Chandigarh School of Business, Jhanjeri</a:t>
            </a:r>
          </a:p>
          <a:p>
            <a:pPr marL="0" indent="0" algn="ctr">
              <a:buNone/>
            </a:pPr>
            <a:r>
              <a:rPr lang="en-US" sz="2800" b="1" dirty="0"/>
              <a:t>Department of Computer Application </a:t>
            </a:r>
          </a:p>
          <a:p>
            <a:pPr marL="0" indent="0" algn="ctr">
              <a:buNone/>
            </a:pPr>
            <a:r>
              <a:rPr lang="en-US" sz="2000" b="1" dirty="0"/>
              <a:t>Program Code: NA</a:t>
            </a:r>
          </a:p>
          <a:p>
            <a:pPr marL="0" indent="0" algn="ctr">
              <a:buNone/>
            </a:pPr>
            <a:r>
              <a:rPr lang="en-US" sz="2000" b="1" dirty="0"/>
              <a:t>Program Name: MCA</a:t>
            </a:r>
          </a:p>
          <a:p>
            <a:pPr marL="0" indent="0" algn="ctr">
              <a:buNone/>
            </a:pPr>
            <a:r>
              <a:rPr lang="en-US" sz="2000" b="1" dirty="0"/>
              <a:t>Course Code: </a:t>
            </a:r>
            <a:r>
              <a:rPr lang="en-US" sz="2000" b="1" i="0" u="none" strike="noStrike" baseline="0" dirty="0">
                <a:solidFill>
                  <a:srgbClr val="000000"/>
                </a:solidFill>
              </a:rPr>
              <a:t>PGCA1937 </a:t>
            </a:r>
            <a:r>
              <a:rPr lang="en-US" sz="2000" b="1" dirty="0">
                <a:solidFill>
                  <a:srgbClr val="000000"/>
                </a:solidFill>
              </a:rPr>
              <a:t> </a:t>
            </a:r>
            <a:endParaRPr lang="en-US" sz="2000" b="1" dirty="0"/>
          </a:p>
          <a:p>
            <a:pPr marL="0" indent="0" algn="ctr">
              <a:buNone/>
            </a:pPr>
            <a:r>
              <a:rPr lang="en-US" sz="2000" b="1" dirty="0"/>
              <a:t>Course Name: </a:t>
            </a:r>
            <a:r>
              <a:rPr lang="en-US" sz="2000" b="1" i="0" u="none" strike="noStrike" baseline="0" dirty="0">
                <a:solidFill>
                  <a:srgbClr val="000000"/>
                </a:solidFill>
              </a:rPr>
              <a:t>Cloud Computing</a:t>
            </a:r>
            <a:r>
              <a:rPr lang="en-US" sz="1800" b="1" i="0" u="none" strike="noStrike" baseline="0" dirty="0">
                <a:solidFill>
                  <a:srgbClr val="000000"/>
                </a:solidFill>
              </a:rPr>
              <a:t> </a:t>
            </a:r>
            <a:endParaRPr lang="en-US" sz="1800" b="1" dirty="0"/>
          </a:p>
          <a:p>
            <a:pPr marL="0" indent="0" algn="ctr">
              <a:buNone/>
            </a:pPr>
            <a:endParaRPr lang="en-US" sz="1500" b="1" dirty="0">
              <a:cs typeface="Times New Roman" pitchFamily="18" charset="0"/>
            </a:endParaRPr>
          </a:p>
          <a:p>
            <a:pPr marL="0" indent="0" algn="ctr">
              <a:buNone/>
            </a:pPr>
            <a:endParaRPr lang="en-US" sz="1500" b="1" dirty="0">
              <a:cs typeface="Times New Roman" pitchFamily="18" charset="0"/>
            </a:endParaRPr>
          </a:p>
          <a:p>
            <a:pPr marL="0" indent="0" algn="ctr">
              <a:buNone/>
            </a:pPr>
            <a:r>
              <a:rPr lang="en-US" sz="1500" b="1" dirty="0">
                <a:cs typeface="Times New Roman" pitchFamily="18" charset="0"/>
              </a:rPr>
              <a:t>Prepared by: Dr. Gurvir Kaur</a:t>
            </a:r>
            <a:endParaRPr lang="en-US" sz="1500" b="1" dirty="0"/>
          </a:p>
          <a:p>
            <a:pPr marL="0" indent="0" algn="r">
              <a:buNone/>
            </a:pPr>
            <a:endParaRPr lang="en-IN" sz="1500" b="1" dirty="0"/>
          </a:p>
        </p:txBody>
      </p:sp>
      <p:sp>
        <p:nvSpPr>
          <p:cNvPr id="11" name="Footer Placeholder 10">
            <a:extLst>
              <a:ext uri="{FF2B5EF4-FFF2-40B4-BE49-F238E27FC236}">
                <a16:creationId xmlns:a16="http://schemas.microsoft.com/office/drawing/2014/main" id="{568278E7-5BB2-37C5-B8F9-D97E539F4AB5}"/>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p:cNvSpPr>
            <a:spLocks noGrp="1"/>
          </p:cNvSpPr>
          <p:nvPr>
            <p:ph type="sldNum" sz="quarter" idx="12"/>
          </p:nvPr>
        </p:nvSpPr>
        <p:spPr/>
        <p:txBody>
          <a:bodyPr/>
          <a:lstStyle/>
          <a:p>
            <a:fld id="{BDCDBBEF-AA6C-4BA6-85B2-A17D7F280E38}" type="slidenum">
              <a:rPr lang="en-US" smtClean="0"/>
              <a:pPr/>
              <a:t>1</a:t>
            </a:fld>
            <a:endParaRPr lang="en-US" dirty="0"/>
          </a:p>
        </p:txBody>
      </p:sp>
      <p:pic>
        <p:nvPicPr>
          <p:cNvPr id="3" name="Picture 2">
            <a:extLst>
              <a:ext uri="{FF2B5EF4-FFF2-40B4-BE49-F238E27FC236}">
                <a16:creationId xmlns:a16="http://schemas.microsoft.com/office/drawing/2014/main" id="{CD3EB1A6-EDF0-5BBF-94AD-51552627D43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spTree>
    <p:extLst>
      <p:ext uri="{BB962C8B-B14F-4D97-AF65-F5344CB8AC3E}">
        <p14:creationId xmlns:p14="http://schemas.microsoft.com/office/powerpoint/2010/main" val="4565021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027762C-969A-0E13-AB80-F2139439FB53}"/>
              </a:ext>
            </a:extLst>
          </p:cNvPr>
          <p:cNvSpPr>
            <a:spLocks noGrp="1"/>
          </p:cNvSpPr>
          <p:nvPr>
            <p:ph type="title"/>
          </p:nvPr>
        </p:nvSpPr>
        <p:spPr>
          <a:xfrm>
            <a:off x="2757197" y="102395"/>
            <a:ext cx="3491204" cy="530631"/>
          </a:xfrm>
        </p:spPr>
        <p:txBody>
          <a:bodyPr>
            <a:normAutofit/>
          </a:bodyPr>
          <a:lstStyle/>
          <a:p>
            <a:pPr algn="ctr"/>
            <a:r>
              <a:rPr lang="en-IN" sz="3200" b="1" dirty="0">
                <a:latin typeface="+mn-lt"/>
              </a:rPr>
              <a:t>Outlines</a:t>
            </a:r>
            <a:endParaRPr lang="en-IN" sz="3200" dirty="0"/>
          </a:p>
        </p:txBody>
      </p:sp>
      <p:sp>
        <p:nvSpPr>
          <p:cNvPr id="8" name="Content Placeholder 7">
            <a:extLst>
              <a:ext uri="{FF2B5EF4-FFF2-40B4-BE49-F238E27FC236}">
                <a16:creationId xmlns:a16="http://schemas.microsoft.com/office/drawing/2014/main" id="{726BFAF0-D90E-2EEA-38D0-4ECEDF637887}"/>
              </a:ext>
            </a:extLst>
          </p:cNvPr>
          <p:cNvSpPr>
            <a:spLocks noGrp="1"/>
          </p:cNvSpPr>
          <p:nvPr>
            <p:ph idx="1"/>
          </p:nvPr>
        </p:nvSpPr>
        <p:spPr>
          <a:xfrm>
            <a:off x="628650" y="1200150"/>
            <a:ext cx="7886700" cy="3432573"/>
          </a:xfrm>
        </p:spPr>
        <p:txBody>
          <a:bodyPr>
            <a:normAutofit lnSpcReduction="10000"/>
          </a:bodyPr>
          <a:lstStyle/>
          <a:p>
            <a:r>
              <a:rPr lang="en-US" sz="2400" b="1" dirty="0"/>
              <a:t>PTU Syllabus of Unit-I</a:t>
            </a:r>
          </a:p>
          <a:p>
            <a:r>
              <a:rPr lang="en-US" sz="2400" b="1" dirty="0"/>
              <a:t>CO’s Introduction</a:t>
            </a:r>
          </a:p>
          <a:p>
            <a:r>
              <a:rPr lang="en-US" sz="2400" b="1" dirty="0"/>
              <a:t>Topic Overview</a:t>
            </a:r>
          </a:p>
          <a:p>
            <a:r>
              <a:rPr lang="en-US" sz="2400" b="1" dirty="0"/>
              <a:t>Brief description of what the presentation will cover</a:t>
            </a:r>
          </a:p>
          <a:p>
            <a:r>
              <a:rPr lang="en-US" sz="2400" b="1" dirty="0"/>
              <a:t>Importance or relevance of the topic</a:t>
            </a:r>
          </a:p>
          <a:p>
            <a:r>
              <a:rPr lang="en-US" sz="2400" b="1" dirty="0"/>
              <a:t>Key objectives or learning outcomes</a:t>
            </a:r>
          </a:p>
          <a:p>
            <a:r>
              <a:rPr lang="en-US" sz="2400" b="1" dirty="0"/>
              <a:t>Summary</a:t>
            </a:r>
          </a:p>
          <a:p>
            <a:r>
              <a:rPr lang="en-US" sz="2400" b="1" dirty="0"/>
              <a:t>References </a:t>
            </a:r>
          </a:p>
          <a:p>
            <a:endParaRPr lang="en-IN" sz="1800" dirty="0"/>
          </a:p>
        </p:txBody>
      </p:sp>
      <p:sp>
        <p:nvSpPr>
          <p:cNvPr id="5" name="Footer Placeholder 4">
            <a:extLst>
              <a:ext uri="{FF2B5EF4-FFF2-40B4-BE49-F238E27FC236}">
                <a16:creationId xmlns:a16="http://schemas.microsoft.com/office/drawing/2014/main" id="{5E679B33-ABD1-461E-797D-C46F7E70F94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4EE8908C-58B2-4982-0A1F-466E6873A277}"/>
              </a:ext>
            </a:extLst>
          </p:cNvPr>
          <p:cNvSpPr>
            <a:spLocks noGrp="1"/>
          </p:cNvSpPr>
          <p:nvPr>
            <p:ph type="sldNum" sz="quarter" idx="12"/>
          </p:nvPr>
        </p:nvSpPr>
        <p:spPr/>
        <p:txBody>
          <a:bodyPr/>
          <a:lstStyle/>
          <a:p>
            <a:fld id="{7B69A187-1465-481C-91D5-B2B7D79C567F}" type="slidenum">
              <a:rPr lang="en-US" smtClean="0"/>
              <a:pPr/>
              <a:t>2</a:t>
            </a:fld>
            <a:endParaRPr lang="en-US"/>
          </a:p>
        </p:txBody>
      </p:sp>
      <p:pic>
        <p:nvPicPr>
          <p:cNvPr id="2" name="Picture 1">
            <a:extLst>
              <a:ext uri="{FF2B5EF4-FFF2-40B4-BE49-F238E27FC236}">
                <a16:creationId xmlns:a16="http://schemas.microsoft.com/office/drawing/2014/main" id="{197C24A2-13CD-BC24-0213-7A3B72F4A1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3" name="Picture 2">
            <a:extLst>
              <a:ext uri="{FF2B5EF4-FFF2-40B4-BE49-F238E27FC236}">
                <a16:creationId xmlns:a16="http://schemas.microsoft.com/office/drawing/2014/main" id="{C7F959F7-EE60-1EE2-78FB-32CACB202B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462889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D39D3-F070-9902-1E0F-F7E4C6E76ACD}"/>
              </a:ext>
            </a:extLst>
          </p:cNvPr>
          <p:cNvSpPr>
            <a:spLocks noGrp="1"/>
          </p:cNvSpPr>
          <p:nvPr>
            <p:ph type="title"/>
          </p:nvPr>
        </p:nvSpPr>
        <p:spPr>
          <a:xfrm>
            <a:off x="2676832" y="69056"/>
            <a:ext cx="4613882" cy="479822"/>
          </a:xfrm>
        </p:spPr>
        <p:txBody>
          <a:bodyPr>
            <a:noAutofit/>
          </a:bodyPr>
          <a:lstStyle/>
          <a:p>
            <a:r>
              <a:rPr lang="en-US" sz="3200" b="1" dirty="0">
                <a:latin typeface="+mn-lt"/>
              </a:rPr>
              <a:t>PTU Syllabus of Unit-I</a:t>
            </a:r>
            <a:endParaRPr lang="en-IN" sz="3200" b="1" dirty="0">
              <a:latin typeface="+mn-lt"/>
            </a:endParaRPr>
          </a:p>
        </p:txBody>
      </p:sp>
      <p:sp>
        <p:nvSpPr>
          <p:cNvPr id="7" name="Content Placeholder 6">
            <a:extLst>
              <a:ext uri="{FF2B5EF4-FFF2-40B4-BE49-F238E27FC236}">
                <a16:creationId xmlns:a16="http://schemas.microsoft.com/office/drawing/2014/main" id="{C7F45338-18AF-3BEB-42E0-7EFF6F98942E}"/>
              </a:ext>
            </a:extLst>
          </p:cNvPr>
          <p:cNvSpPr>
            <a:spLocks noGrp="1"/>
          </p:cNvSpPr>
          <p:nvPr>
            <p:ph idx="1"/>
          </p:nvPr>
        </p:nvSpPr>
        <p:spPr>
          <a:xfrm>
            <a:off x="228600" y="788825"/>
            <a:ext cx="8610600" cy="4068925"/>
          </a:xfrm>
        </p:spPr>
        <p:txBody>
          <a:bodyPr>
            <a:normAutofit fontScale="25000" lnSpcReduction="20000"/>
          </a:bodyPr>
          <a:lstStyle/>
          <a:p>
            <a:pPr marL="0" indent="0" algn="ctr">
              <a:buNone/>
            </a:pPr>
            <a:r>
              <a:rPr lang="en-US" sz="6800" b="1" dirty="0">
                <a:solidFill>
                  <a:srgbClr val="000000"/>
                </a:solidFill>
              </a:rPr>
              <a:t>Part-A</a:t>
            </a:r>
            <a:endParaRPr lang="en-US" sz="6800" dirty="0">
              <a:solidFill>
                <a:srgbClr val="000000"/>
              </a:solidFill>
            </a:endParaRPr>
          </a:p>
          <a:p>
            <a:pPr algn="just">
              <a:lnSpc>
                <a:spcPct val="120000"/>
              </a:lnSpc>
            </a:pPr>
            <a:r>
              <a:rPr lang="en-US" sz="6800" b="1" i="0" u="none" strike="noStrike" baseline="0" dirty="0">
                <a:solidFill>
                  <a:srgbClr val="000000"/>
                </a:solidFill>
              </a:rPr>
              <a:t>Overview of Computing Paradigm: </a:t>
            </a:r>
            <a:r>
              <a:rPr lang="en-US" sz="6800" b="0" i="0" u="none" strike="noStrike" baseline="0" dirty="0">
                <a:solidFill>
                  <a:srgbClr val="000000"/>
                </a:solidFill>
              </a:rPr>
              <a:t>Recent trends in Computing -Grid Computing, Cluster Computing, Distributed Computing, Utility Computing, Cloud Computing. </a:t>
            </a:r>
          </a:p>
          <a:p>
            <a:pPr algn="just">
              <a:lnSpc>
                <a:spcPct val="120000"/>
              </a:lnSpc>
            </a:pPr>
            <a:r>
              <a:rPr lang="en-US" sz="6800" b="1" i="0" u="none" strike="noStrike" baseline="0" dirty="0">
                <a:solidFill>
                  <a:srgbClr val="000000"/>
                </a:solidFill>
              </a:rPr>
              <a:t>Introduction to Cloud Computing: </a:t>
            </a:r>
            <a:r>
              <a:rPr lang="en-US" sz="6800" b="0" i="0" u="none" strike="noStrike" baseline="0" dirty="0">
                <a:solidFill>
                  <a:srgbClr val="000000"/>
                </a:solidFill>
              </a:rPr>
              <a:t>Vision of Cloud Computing, Defining a Cloud, Cloud Reference Model, Deployment Model, Characteristics, Benefits of Cloud Computing, Challenges ahead. Cloud computing vs. Cluster computing vs. Grid computing. </a:t>
            </a:r>
          </a:p>
          <a:p>
            <a:pPr algn="just">
              <a:lnSpc>
                <a:spcPct val="120000"/>
              </a:lnSpc>
            </a:pPr>
            <a:r>
              <a:rPr lang="en-US" sz="6800" b="1" i="0" u="none" strike="noStrike" baseline="0" dirty="0">
                <a:solidFill>
                  <a:srgbClr val="000000"/>
                </a:solidFill>
              </a:rPr>
              <a:t>Migrating into a Cloud: </a:t>
            </a:r>
            <a:r>
              <a:rPr lang="en-US" sz="6800" b="0" i="0" u="none" strike="noStrike" baseline="0" dirty="0">
                <a:solidFill>
                  <a:srgbClr val="000000"/>
                </a:solidFill>
              </a:rPr>
              <a:t>Introduction, Broad approaches to Migrating into the Cloud, The Seven-Step Model of Migration Into a Cloud. </a:t>
            </a:r>
          </a:p>
          <a:p>
            <a:pPr algn="just">
              <a:lnSpc>
                <a:spcPct val="120000"/>
              </a:lnSpc>
            </a:pPr>
            <a:r>
              <a:rPr lang="en-US" sz="6800" b="1" i="0" u="none" strike="noStrike" baseline="0" dirty="0">
                <a:solidFill>
                  <a:srgbClr val="000000"/>
                </a:solidFill>
              </a:rPr>
              <a:t>Virtualization: </a:t>
            </a:r>
            <a:r>
              <a:rPr lang="en-US" sz="6800" b="0" i="0" u="none" strike="noStrike" baseline="0" dirty="0">
                <a:solidFill>
                  <a:srgbClr val="000000"/>
                </a:solidFill>
              </a:rPr>
              <a:t>Introduction, Characteristics of Virtualized environment, Taxonomy of Virtualization techniques, Virtualization and Cloud Computing, Pros and Cons of Virtualization, Technology Examples- Xen, VMware, Microsoft Hyper-V. </a:t>
            </a:r>
          </a:p>
          <a:p>
            <a:pPr algn="just">
              <a:lnSpc>
                <a:spcPct val="120000"/>
              </a:lnSpc>
            </a:pPr>
            <a:r>
              <a:rPr lang="en-US" sz="6800" b="1" i="0" u="none" strike="noStrike" baseline="0" dirty="0">
                <a:solidFill>
                  <a:srgbClr val="000000"/>
                </a:solidFill>
              </a:rPr>
              <a:t>Capacity Planning: </a:t>
            </a:r>
            <a:r>
              <a:rPr lang="en-US" sz="6800" b="0" i="0" u="none" strike="noStrike" baseline="0" dirty="0">
                <a:solidFill>
                  <a:srgbClr val="000000"/>
                </a:solidFill>
              </a:rPr>
              <a:t>Introduction, Defining Baseline and Metrics-Baseline Measurements, System Metrics, Load Testing, Resource Ceilings, Server and Instance types; Network Capacity, Scaling. 	</a:t>
            </a:r>
          </a:p>
          <a:p>
            <a:pPr marL="0" indent="0">
              <a:buNone/>
            </a:pPr>
            <a:endParaRPr lang="en-IN" sz="1800" dirty="0"/>
          </a:p>
        </p:txBody>
      </p:sp>
      <p:sp>
        <p:nvSpPr>
          <p:cNvPr id="5" name="Footer Placeholder 4">
            <a:extLst>
              <a:ext uri="{FF2B5EF4-FFF2-40B4-BE49-F238E27FC236}">
                <a16:creationId xmlns:a16="http://schemas.microsoft.com/office/drawing/2014/main" id="{F079BEF9-C94B-8C47-8076-55546DF3311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CB8F9CB9-9068-828A-ECDA-FAAF3FDC09A8}"/>
              </a:ext>
            </a:extLst>
          </p:cNvPr>
          <p:cNvSpPr>
            <a:spLocks noGrp="1"/>
          </p:cNvSpPr>
          <p:nvPr>
            <p:ph type="sldNum" sz="quarter" idx="12"/>
          </p:nvPr>
        </p:nvSpPr>
        <p:spPr/>
        <p:txBody>
          <a:bodyPr/>
          <a:lstStyle/>
          <a:p>
            <a:fld id="{7B69A187-1465-481C-91D5-B2B7D79C567F}" type="slidenum">
              <a:rPr lang="en-US" smtClean="0"/>
              <a:pPr/>
              <a:t>3</a:t>
            </a:fld>
            <a:endParaRPr lang="en-US"/>
          </a:p>
        </p:txBody>
      </p:sp>
      <p:pic>
        <p:nvPicPr>
          <p:cNvPr id="3" name="Picture 2">
            <a:extLst>
              <a:ext uri="{FF2B5EF4-FFF2-40B4-BE49-F238E27FC236}">
                <a16:creationId xmlns:a16="http://schemas.microsoft.com/office/drawing/2014/main" id="{FDC12338-17A6-A70B-A692-8054037957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CC574DE1-D8F5-0929-5361-0C9697D015BA}"/>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5747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7BCE61-23CC-B4A6-7670-DE842F173E6D}"/>
              </a:ext>
            </a:extLst>
          </p:cNvPr>
          <p:cNvSpPr>
            <a:spLocks noGrp="1"/>
          </p:cNvSpPr>
          <p:nvPr>
            <p:ph type="title"/>
          </p:nvPr>
        </p:nvSpPr>
        <p:spPr>
          <a:xfrm>
            <a:off x="2771192" y="205979"/>
            <a:ext cx="4436707" cy="451830"/>
          </a:xfrm>
        </p:spPr>
        <p:txBody>
          <a:bodyPr>
            <a:noAutofit/>
          </a:bodyPr>
          <a:lstStyle/>
          <a:p>
            <a:r>
              <a:rPr lang="en-US" altLang="en-US" sz="3200" b="1" kern="0" dirty="0">
                <a:latin typeface="+mn-lt"/>
              </a:rPr>
              <a:t>Key objectives or learning outcomes</a:t>
            </a:r>
            <a:endParaRPr lang="en-IN" sz="3200" dirty="0">
              <a:latin typeface="+mn-lt"/>
            </a:endParaRPr>
          </a:p>
        </p:txBody>
      </p:sp>
      <p:sp>
        <p:nvSpPr>
          <p:cNvPr id="7" name="Content Placeholder 6">
            <a:extLst>
              <a:ext uri="{FF2B5EF4-FFF2-40B4-BE49-F238E27FC236}">
                <a16:creationId xmlns:a16="http://schemas.microsoft.com/office/drawing/2014/main" id="{979FA4CE-34FC-460D-480A-F5084E266F33}"/>
              </a:ext>
            </a:extLst>
          </p:cNvPr>
          <p:cNvSpPr>
            <a:spLocks noGrp="1"/>
          </p:cNvSpPr>
          <p:nvPr>
            <p:ph idx="1"/>
          </p:nvPr>
        </p:nvSpPr>
        <p:spPr>
          <a:xfrm>
            <a:off x="457200" y="1200150"/>
            <a:ext cx="8534400" cy="2590800"/>
          </a:xfrm>
        </p:spPr>
        <p:txBody>
          <a:bodyPr>
            <a:noAutofit/>
          </a:bodyPr>
          <a:lstStyle/>
          <a:p>
            <a:pPr algn="just"/>
            <a:r>
              <a:rPr lang="en-US" sz="1800" b="0" i="0" u="none" strike="noStrike" baseline="0" dirty="0">
                <a:solidFill>
                  <a:srgbClr val="000000"/>
                </a:solidFill>
              </a:rPr>
              <a:t>CO1 	Understand the basic concept and importance of cloud computing. 	</a:t>
            </a:r>
          </a:p>
          <a:p>
            <a:pPr algn="just"/>
            <a:r>
              <a:rPr lang="en-US" sz="1800" b="0" i="0" u="none" strike="noStrike" baseline="0" dirty="0">
                <a:solidFill>
                  <a:srgbClr val="000000"/>
                </a:solidFill>
              </a:rPr>
              <a:t>CO2 	Access the suitability of migrating to a cloud solution for different applications.</a:t>
            </a:r>
          </a:p>
          <a:p>
            <a:pPr algn="just"/>
            <a:r>
              <a:rPr lang="en-US" sz="1800" b="0" i="0" u="none" strike="noStrike" baseline="0" dirty="0">
                <a:solidFill>
                  <a:srgbClr val="000000"/>
                </a:solidFill>
              </a:rPr>
              <a:t>CO3 	Compare and evaluate the virtualization technologies. 	</a:t>
            </a:r>
          </a:p>
          <a:p>
            <a:pPr algn="just"/>
            <a:r>
              <a:rPr lang="en-US" sz="1800" b="0" i="0" u="none" strike="noStrike" baseline="0" dirty="0">
                <a:solidFill>
                  <a:srgbClr val="000000"/>
                </a:solidFill>
              </a:rPr>
              <a:t>CO4 	Monitor and manage the cloud resources, applications and data while addressing </a:t>
            </a:r>
            <a:r>
              <a:rPr lang="en-US" sz="1800" b="0" i="0" u="none" strike="noStrike" baseline="0" dirty="0">
                <a:solidFill>
                  <a:srgbClr val="000000"/>
                </a:solidFill>
                <a:latin typeface="Times New Roman" panose="02020603050405020304" pitchFamily="18" charset="0"/>
              </a:rPr>
              <a:t>	the </a:t>
            </a:r>
            <a:r>
              <a:rPr lang="en-US" sz="1800" b="0" i="0" u="none" strike="noStrike" baseline="0" dirty="0">
                <a:solidFill>
                  <a:srgbClr val="000000"/>
                </a:solidFill>
              </a:rPr>
              <a:t>security concerns. 	</a:t>
            </a:r>
            <a:endParaRPr lang="en-US" sz="1800" dirty="0">
              <a:solidFill>
                <a:srgbClr val="000000"/>
              </a:solidFill>
            </a:endParaRPr>
          </a:p>
          <a:p>
            <a:pPr algn="just"/>
            <a:r>
              <a:rPr lang="en-US" sz="1800" b="0" i="0" u="none" strike="noStrike" baseline="0" dirty="0">
                <a:solidFill>
                  <a:srgbClr val="000000"/>
                </a:solidFill>
              </a:rPr>
              <a:t>CO5 	Use cloud solutions offered by industry leaders for various applications. 	</a:t>
            </a:r>
          </a:p>
          <a:p>
            <a:pPr algn="just"/>
            <a:endParaRPr lang="en-US" sz="1600" b="0" i="0" u="none" strike="noStrike" baseline="0" dirty="0">
              <a:solidFill>
                <a:srgbClr val="000000"/>
              </a:solidFill>
            </a:endParaRPr>
          </a:p>
        </p:txBody>
      </p:sp>
      <p:sp>
        <p:nvSpPr>
          <p:cNvPr id="5" name="Footer Placeholder 4">
            <a:extLst>
              <a:ext uri="{FF2B5EF4-FFF2-40B4-BE49-F238E27FC236}">
                <a16:creationId xmlns:a16="http://schemas.microsoft.com/office/drawing/2014/main" id="{C3788263-C36D-6C08-9C90-8B3A8CD30DD1}"/>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4B6A8A6-4F74-624C-8484-B814A5B255E9}"/>
              </a:ext>
            </a:extLst>
          </p:cNvPr>
          <p:cNvSpPr>
            <a:spLocks noGrp="1"/>
          </p:cNvSpPr>
          <p:nvPr>
            <p:ph type="sldNum" sz="quarter" idx="12"/>
          </p:nvPr>
        </p:nvSpPr>
        <p:spPr/>
        <p:txBody>
          <a:bodyPr/>
          <a:lstStyle/>
          <a:p>
            <a:fld id="{7B69A187-1465-481C-91D5-B2B7D79C567F}" type="slidenum">
              <a:rPr lang="en-US" smtClean="0"/>
              <a:pPr/>
              <a:t>4</a:t>
            </a:fld>
            <a:endParaRPr lang="en-US"/>
          </a:p>
        </p:txBody>
      </p:sp>
      <p:pic>
        <p:nvPicPr>
          <p:cNvPr id="3" name="Picture 2">
            <a:extLst>
              <a:ext uri="{FF2B5EF4-FFF2-40B4-BE49-F238E27FC236}">
                <a16:creationId xmlns:a16="http://schemas.microsoft.com/office/drawing/2014/main" id="{93E7ADFB-5888-F92B-00A1-5C8F64D34F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A708A957-11AB-AF28-3AF4-480F30BDD48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7348786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E119FC-4CED-7469-8759-EAC459915462}"/>
              </a:ext>
            </a:extLst>
          </p:cNvPr>
          <p:cNvSpPr>
            <a:spLocks noGrp="1"/>
          </p:cNvSpPr>
          <p:nvPr>
            <p:ph type="title"/>
          </p:nvPr>
        </p:nvSpPr>
        <p:spPr>
          <a:xfrm>
            <a:off x="2750198" y="102394"/>
            <a:ext cx="4457701" cy="743593"/>
          </a:xfrm>
        </p:spPr>
        <p:txBody>
          <a:bodyPr>
            <a:normAutofit/>
          </a:bodyPr>
          <a:lstStyle/>
          <a:p>
            <a:pPr algn="ctr"/>
            <a:r>
              <a:rPr lang="en-US" sz="3200" b="1" kern="0" dirty="0">
                <a:latin typeface="+mn-lt"/>
              </a:rPr>
              <a:t>CO Introduction</a:t>
            </a:r>
            <a:endParaRPr lang="en-IN" sz="3200" dirty="0">
              <a:latin typeface="+mn-lt"/>
            </a:endParaRPr>
          </a:p>
        </p:txBody>
      </p:sp>
      <p:graphicFrame>
        <p:nvGraphicFramePr>
          <p:cNvPr id="10" name="Content Placeholder 9"/>
          <p:cNvGraphicFramePr>
            <a:graphicFrameLocks noGrp="1"/>
          </p:cNvGraphicFramePr>
          <p:nvPr>
            <p:ph idx="1"/>
          </p:nvPr>
        </p:nvGraphicFramePr>
        <p:xfrm>
          <a:off x="635741" y="1056233"/>
          <a:ext cx="7764059" cy="3919518"/>
        </p:xfrm>
        <a:graphic>
          <a:graphicData uri="http://schemas.openxmlformats.org/drawingml/2006/table">
            <a:tbl>
              <a:tblPr firstRow="1" bandRow="1">
                <a:tableStyleId>{5940675A-B579-460E-94D1-54222C63F5DA}</a:tableStyleId>
              </a:tblPr>
              <a:tblGrid>
                <a:gridCol w="1360799">
                  <a:extLst>
                    <a:ext uri="{9D8B030D-6E8A-4147-A177-3AD203B41FA5}">
                      <a16:colId xmlns:a16="http://schemas.microsoft.com/office/drawing/2014/main" val="353814041"/>
                    </a:ext>
                  </a:extLst>
                </a:gridCol>
                <a:gridCol w="5021698">
                  <a:extLst>
                    <a:ext uri="{9D8B030D-6E8A-4147-A177-3AD203B41FA5}">
                      <a16:colId xmlns:a16="http://schemas.microsoft.com/office/drawing/2014/main" val="3522618998"/>
                    </a:ext>
                  </a:extLst>
                </a:gridCol>
                <a:gridCol w="1381562">
                  <a:extLst>
                    <a:ext uri="{9D8B030D-6E8A-4147-A177-3AD203B41FA5}">
                      <a16:colId xmlns:a16="http://schemas.microsoft.com/office/drawing/2014/main" val="2807256984"/>
                    </a:ext>
                  </a:extLst>
                </a:gridCol>
              </a:tblGrid>
              <a:tr h="559098">
                <a:tc>
                  <a:txBody>
                    <a:bodyPr/>
                    <a:lstStyle/>
                    <a:p>
                      <a:pPr algn="ctr"/>
                      <a:r>
                        <a:rPr lang="en-IN" sz="1800" b="1" dirty="0"/>
                        <a:t>CO</a:t>
                      </a:r>
                      <a:r>
                        <a:rPr lang="en-IN" sz="1800" b="1" baseline="0" dirty="0"/>
                        <a:t> NUMBER </a:t>
                      </a:r>
                      <a:endParaRPr lang="en-IN" sz="1800" b="1" dirty="0">
                        <a:latin typeface="+mn-lt"/>
                      </a:endParaRPr>
                    </a:p>
                  </a:txBody>
                  <a:tcPr marL="68580" marR="68580" marT="34290" marB="34290"/>
                </a:tc>
                <a:tc>
                  <a:txBody>
                    <a:bodyPr/>
                    <a:lstStyle/>
                    <a:p>
                      <a:pPr algn="ctr"/>
                      <a:r>
                        <a:rPr lang="en-IN" sz="1800" b="1" dirty="0"/>
                        <a:t>TOPICS</a:t>
                      </a:r>
                    </a:p>
                  </a:txBody>
                  <a:tcPr marL="68580" marR="68580" marT="34290" marB="34290"/>
                </a:tc>
                <a:tc>
                  <a:txBody>
                    <a:bodyPr/>
                    <a:lstStyle/>
                    <a:p>
                      <a:pPr algn="ctr"/>
                      <a:r>
                        <a:rPr lang="en-IN" sz="1800" b="1" dirty="0"/>
                        <a:t>LEVEL</a:t>
                      </a:r>
                    </a:p>
                  </a:txBody>
                  <a:tcPr marL="68580" marR="68580" marT="34290" marB="34290"/>
                </a:tc>
                <a:extLst>
                  <a:ext uri="{0D108BD9-81ED-4DB2-BD59-A6C34878D82A}">
                    <a16:rowId xmlns:a16="http://schemas.microsoft.com/office/drawing/2014/main" val="1716712591"/>
                  </a:ext>
                </a:extLst>
              </a:tr>
              <a:tr h="590692">
                <a:tc>
                  <a:txBody>
                    <a:bodyPr/>
                    <a:lstStyle/>
                    <a:p>
                      <a:pPr algn="ctr"/>
                      <a:r>
                        <a:rPr lang="en-IN" sz="1800" b="1" dirty="0"/>
                        <a:t>CO2</a:t>
                      </a:r>
                      <a:endParaRPr lang="en-IN" sz="1800" b="1" dirty="0">
                        <a:latin typeface="+mn-lt"/>
                      </a:endParaRPr>
                    </a:p>
                  </a:txBody>
                  <a:tcPr marL="68580" marR="68580" marT="34290" marB="34290"/>
                </a:tc>
                <a:tc>
                  <a:txBody>
                    <a:bodyPr/>
                    <a:lstStyle/>
                    <a:p>
                      <a:pPr algn="just"/>
                      <a:r>
                        <a:rPr lang="en-US" sz="1800" b="1" i="0" u="none" strike="noStrike" kern="1200" baseline="0" dirty="0">
                          <a:solidFill>
                            <a:schemeClr val="tx1"/>
                          </a:solidFill>
                          <a:latin typeface="+mn-lt"/>
                          <a:ea typeface="+mn-ea"/>
                          <a:cs typeface="+mn-cs"/>
                        </a:rPr>
                        <a:t>Migrating into a Cloud:</a:t>
                      </a:r>
                      <a:r>
                        <a:rPr lang="en-US" sz="1800" b="0" i="0" u="none" strike="noStrike" kern="1200" baseline="0" dirty="0">
                          <a:solidFill>
                            <a:schemeClr val="tx1"/>
                          </a:solidFill>
                          <a:latin typeface="+mn-lt"/>
                          <a:ea typeface="+mn-ea"/>
                          <a:cs typeface="+mn-cs"/>
                        </a:rPr>
                        <a:t> Introduction, Broad approaches to Migrating into the Cloud, The Seven-Step Model of Migration Into a Cloud.</a:t>
                      </a:r>
                    </a:p>
                    <a:p>
                      <a:pPr algn="just"/>
                      <a:r>
                        <a:rPr lang="en-US" sz="1800" b="1" i="0" u="none" strike="noStrike" kern="1200" baseline="0" dirty="0">
                          <a:solidFill>
                            <a:schemeClr val="tx1"/>
                          </a:solidFill>
                          <a:latin typeface="+mn-lt"/>
                          <a:ea typeface="+mn-ea"/>
                          <a:cs typeface="+mn-cs"/>
                        </a:rPr>
                        <a:t>Virtualization: </a:t>
                      </a:r>
                      <a:r>
                        <a:rPr lang="en-US" sz="1800" b="0" i="0" u="none" strike="noStrike" kern="1200" baseline="0" dirty="0">
                          <a:solidFill>
                            <a:schemeClr val="tx1"/>
                          </a:solidFill>
                          <a:latin typeface="+mn-lt"/>
                          <a:ea typeface="+mn-ea"/>
                          <a:cs typeface="+mn-cs"/>
                        </a:rPr>
                        <a:t>Introduction, Characteristics of Virtualized environment, Taxonomy of Virtualization techniques, Virtualization and Cloud Computing, Pros and Cons of Virtualization, Technology Examples- Xen, VMware, Microsoft Hyper-V.</a:t>
                      </a:r>
                    </a:p>
                    <a:p>
                      <a:pPr algn="just"/>
                      <a:r>
                        <a:rPr lang="en-US" sz="1800" b="1" i="0" u="none" strike="noStrike" kern="1200" baseline="0" dirty="0">
                          <a:solidFill>
                            <a:schemeClr val="tx1"/>
                          </a:solidFill>
                          <a:latin typeface="+mn-lt"/>
                          <a:ea typeface="+mn-ea"/>
                          <a:cs typeface="+mn-cs"/>
                        </a:rPr>
                        <a:t>Capacity Planning: </a:t>
                      </a:r>
                      <a:r>
                        <a:rPr lang="en-US" sz="1800" b="0" i="0" u="none" strike="noStrike" kern="1200" baseline="0" dirty="0">
                          <a:solidFill>
                            <a:schemeClr val="tx1"/>
                          </a:solidFill>
                          <a:latin typeface="+mn-lt"/>
                          <a:ea typeface="+mn-ea"/>
                          <a:cs typeface="+mn-cs"/>
                        </a:rPr>
                        <a:t>Introduction, Defining Baseline and Metrics-Baseline Measurements, System Metrics, Load Testing, Resource Ceilings, Server and Instance types; Network Capacity, Scaling.</a:t>
                      </a:r>
                      <a:endParaRPr lang="en-US" sz="1350" b="0" i="0" u="none" strike="noStrike" kern="1200" baseline="0" dirty="0">
                        <a:solidFill>
                          <a:schemeClr val="tx1"/>
                        </a:solidFill>
                        <a:latin typeface="+mn-lt"/>
                        <a:ea typeface="+mn-ea"/>
                        <a:cs typeface="+mn-cs"/>
                      </a:endParaRPr>
                    </a:p>
                  </a:txBody>
                  <a:tcPr marL="68580" marR="68580" marT="34290" marB="34290"/>
                </a:tc>
                <a:tc>
                  <a:txBody>
                    <a:bodyPr/>
                    <a:lstStyle/>
                    <a:p>
                      <a:r>
                        <a:rPr lang="en-IN" sz="1800" b="1" dirty="0"/>
                        <a:t>2</a:t>
                      </a:r>
                    </a:p>
                  </a:txBody>
                  <a:tcPr marL="68580" marR="68580" marT="34290" marB="34290"/>
                </a:tc>
                <a:extLst>
                  <a:ext uri="{0D108BD9-81ED-4DB2-BD59-A6C34878D82A}">
                    <a16:rowId xmlns:a16="http://schemas.microsoft.com/office/drawing/2014/main" val="4021715395"/>
                  </a:ext>
                </a:extLst>
              </a:tr>
            </a:tbl>
          </a:graphicData>
        </a:graphic>
      </p:graphicFrame>
      <p:sp>
        <p:nvSpPr>
          <p:cNvPr id="5" name="Footer Placeholder 4">
            <a:extLst>
              <a:ext uri="{FF2B5EF4-FFF2-40B4-BE49-F238E27FC236}">
                <a16:creationId xmlns:a16="http://schemas.microsoft.com/office/drawing/2014/main" id="{3D2196E9-BAFA-D5BC-9517-3A1055A38754}"/>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52005296-6F48-66B9-DA0C-69C879BC0DF7}"/>
              </a:ext>
            </a:extLst>
          </p:cNvPr>
          <p:cNvSpPr>
            <a:spLocks noGrp="1"/>
          </p:cNvSpPr>
          <p:nvPr>
            <p:ph type="sldNum" sz="quarter" idx="12"/>
          </p:nvPr>
        </p:nvSpPr>
        <p:spPr/>
        <p:txBody>
          <a:bodyPr/>
          <a:lstStyle/>
          <a:p>
            <a:fld id="{7B69A187-1465-481C-91D5-B2B7D79C567F}" type="slidenum">
              <a:rPr lang="en-US" smtClean="0"/>
              <a:pPr/>
              <a:t>5</a:t>
            </a:fld>
            <a:endParaRPr lang="en-US"/>
          </a:p>
        </p:txBody>
      </p:sp>
      <p:pic>
        <p:nvPicPr>
          <p:cNvPr id="3" name="Picture 2">
            <a:extLst>
              <a:ext uri="{FF2B5EF4-FFF2-40B4-BE49-F238E27FC236}">
                <a16:creationId xmlns:a16="http://schemas.microsoft.com/office/drawing/2014/main" id="{1F0D813D-BF95-D3C8-8DD2-A48259B2AD7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8666B9C3-9EA4-DAB9-68E1-E8F4E8C813B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8427435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6E06-F0DB-E329-38B3-A0C6469B322C}"/>
              </a:ext>
            </a:extLst>
          </p:cNvPr>
          <p:cNvSpPr>
            <a:spLocks noGrp="1"/>
          </p:cNvSpPr>
          <p:nvPr>
            <p:ph type="title"/>
          </p:nvPr>
        </p:nvSpPr>
        <p:spPr>
          <a:xfrm>
            <a:off x="3550791" y="0"/>
            <a:ext cx="3231009" cy="857250"/>
          </a:xfrm>
        </p:spPr>
        <p:txBody>
          <a:bodyPr>
            <a:noAutofit/>
          </a:bodyPr>
          <a:lstStyle/>
          <a:p>
            <a:r>
              <a:rPr lang="en-IN" sz="3200" b="1" kern="0" dirty="0">
                <a:latin typeface="+mn-lt"/>
              </a:rPr>
              <a:t>Topic Overview</a:t>
            </a:r>
            <a:endParaRPr lang="en-IN" sz="3200" dirty="0">
              <a:latin typeface="+mn-lt"/>
            </a:endParaRPr>
          </a:p>
        </p:txBody>
      </p:sp>
      <p:sp>
        <p:nvSpPr>
          <p:cNvPr id="8" name="Content Placeholder 7">
            <a:extLst>
              <a:ext uri="{FF2B5EF4-FFF2-40B4-BE49-F238E27FC236}">
                <a16:creationId xmlns:a16="http://schemas.microsoft.com/office/drawing/2014/main" id="{6ECD11FB-92DA-BAB7-B630-7C53F9B803A1}"/>
              </a:ext>
            </a:extLst>
          </p:cNvPr>
          <p:cNvSpPr>
            <a:spLocks noGrp="1"/>
          </p:cNvSpPr>
          <p:nvPr>
            <p:ph idx="1"/>
          </p:nvPr>
        </p:nvSpPr>
        <p:spPr>
          <a:xfrm>
            <a:off x="457200" y="927190"/>
            <a:ext cx="8229600" cy="4023805"/>
          </a:xfrm>
        </p:spPr>
        <p:txBody>
          <a:bodyPr>
            <a:noAutofit/>
          </a:bodyPr>
          <a:lstStyle/>
          <a:p>
            <a:pPr algn="just">
              <a:lnSpc>
                <a:spcPct val="150000"/>
              </a:lnSpc>
            </a:pPr>
            <a:r>
              <a:rPr lang="en-US" sz="1800" dirty="0"/>
              <a:t>Virtualization is the process of creating virtual versions of physical hardware, enabling multiple operating systems or applications to run on a single machine. </a:t>
            </a:r>
          </a:p>
          <a:p>
            <a:pPr algn="just">
              <a:lnSpc>
                <a:spcPct val="150000"/>
              </a:lnSpc>
            </a:pPr>
            <a:r>
              <a:rPr lang="en-US" sz="1800" dirty="0"/>
              <a:t>It is characterized by scalability, resource optimization, isolation, and abstraction. </a:t>
            </a:r>
          </a:p>
          <a:p>
            <a:pPr algn="just">
              <a:lnSpc>
                <a:spcPct val="150000"/>
              </a:lnSpc>
            </a:pPr>
            <a:r>
              <a:rPr lang="en-US" sz="1800" dirty="0"/>
              <a:t>Virtualization techniques include hardware, software, and network virtualization, forming the foundation for cloud computing by enhancing efficiency and flexibility. </a:t>
            </a:r>
          </a:p>
          <a:p>
            <a:pPr algn="just">
              <a:lnSpc>
                <a:spcPct val="150000"/>
              </a:lnSpc>
            </a:pPr>
            <a:r>
              <a:rPr lang="en-US" sz="1800" dirty="0"/>
              <a:t>Examples include technologies like Xen, VMware, and Microsoft Hyper-V, each offering unique features and use cases while presenting pros such as cost savings and cons like potential performance overhead.</a:t>
            </a:r>
          </a:p>
        </p:txBody>
      </p:sp>
      <p:sp>
        <p:nvSpPr>
          <p:cNvPr id="5" name="Footer Placeholder 4">
            <a:extLst>
              <a:ext uri="{FF2B5EF4-FFF2-40B4-BE49-F238E27FC236}">
                <a16:creationId xmlns:a16="http://schemas.microsoft.com/office/drawing/2014/main" id="{F6EC1B49-59F2-DE81-19E5-79EEC973966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B7661E5A-2CC5-9A09-3921-68618B7D2D8C}"/>
              </a:ext>
            </a:extLst>
          </p:cNvPr>
          <p:cNvSpPr>
            <a:spLocks noGrp="1"/>
          </p:cNvSpPr>
          <p:nvPr>
            <p:ph type="sldNum" sz="quarter" idx="12"/>
          </p:nvPr>
        </p:nvSpPr>
        <p:spPr/>
        <p:txBody>
          <a:bodyPr/>
          <a:lstStyle/>
          <a:p>
            <a:fld id="{7B69A187-1465-481C-91D5-B2B7D79C567F}" type="slidenum">
              <a:rPr lang="en-US" smtClean="0"/>
              <a:pPr/>
              <a:t>6</a:t>
            </a:fld>
            <a:endParaRPr lang="en-US"/>
          </a:p>
        </p:txBody>
      </p:sp>
      <p:pic>
        <p:nvPicPr>
          <p:cNvPr id="3" name="Picture 2">
            <a:extLst>
              <a:ext uri="{FF2B5EF4-FFF2-40B4-BE49-F238E27FC236}">
                <a16:creationId xmlns:a16="http://schemas.microsoft.com/office/drawing/2014/main" id="{26956DD8-189F-6B97-CD94-A835937D38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B1C9A958-9808-A784-10D7-CC7C67775944}"/>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8460622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60FBBE-7C83-1FEE-F301-70AE420E8AB5}"/>
              </a:ext>
            </a:extLst>
          </p:cNvPr>
          <p:cNvSpPr>
            <a:spLocks noGrp="1"/>
          </p:cNvSpPr>
          <p:nvPr>
            <p:ph type="title"/>
          </p:nvPr>
        </p:nvSpPr>
        <p:spPr>
          <a:xfrm>
            <a:off x="2487107" y="70037"/>
            <a:ext cx="5000616" cy="857250"/>
          </a:xfrm>
        </p:spPr>
        <p:txBody>
          <a:bodyPr>
            <a:noAutofit/>
          </a:bodyPr>
          <a:lstStyle/>
          <a:p>
            <a:pPr algn="ctr"/>
            <a:r>
              <a:rPr lang="en-US" altLang="en-US" sz="2800" b="1" kern="0" dirty="0"/>
              <a:t>Brief of what the presentation will</a:t>
            </a:r>
            <a:endParaRPr lang="en-IN" sz="2800" dirty="0"/>
          </a:p>
        </p:txBody>
      </p:sp>
      <p:sp>
        <p:nvSpPr>
          <p:cNvPr id="8" name="Content Placeholder 7">
            <a:extLst>
              <a:ext uri="{FF2B5EF4-FFF2-40B4-BE49-F238E27FC236}">
                <a16:creationId xmlns:a16="http://schemas.microsoft.com/office/drawing/2014/main" id="{8B900F9C-52E2-DC4F-B92B-FECF167EF289}"/>
              </a:ext>
            </a:extLst>
          </p:cNvPr>
          <p:cNvSpPr>
            <a:spLocks noGrp="1"/>
          </p:cNvSpPr>
          <p:nvPr>
            <p:ph idx="1"/>
          </p:nvPr>
        </p:nvSpPr>
        <p:spPr>
          <a:xfrm>
            <a:off x="628650" y="1240618"/>
            <a:ext cx="7886700" cy="3263504"/>
          </a:xfrm>
        </p:spPr>
        <p:txBody>
          <a:bodyPr>
            <a:normAutofit/>
          </a:bodyPr>
          <a:lstStyle/>
          <a:p>
            <a:pPr marL="0" indent="0">
              <a:buNone/>
            </a:pPr>
            <a:r>
              <a:rPr lang="en-US" sz="2400" dirty="0"/>
              <a:t>The presentation will cover the following points:</a:t>
            </a:r>
          </a:p>
          <a:p>
            <a:pPr>
              <a:buFont typeface="+mj-lt"/>
              <a:buAutoNum type="arabicPeriod"/>
            </a:pPr>
            <a:r>
              <a:rPr lang="en-US" sz="2400" b="1" i="0" u="none" strike="noStrike" baseline="0" dirty="0">
                <a:solidFill>
                  <a:srgbClr val="000000"/>
                </a:solidFill>
              </a:rPr>
              <a:t>Virtualization: </a:t>
            </a:r>
          </a:p>
          <a:p>
            <a:pPr>
              <a:buFont typeface="+mj-lt"/>
              <a:buAutoNum type="arabicPeriod"/>
            </a:pPr>
            <a:r>
              <a:rPr lang="en-US" sz="2400" b="1" i="0" u="none" strike="noStrike" baseline="0" dirty="0">
                <a:solidFill>
                  <a:srgbClr val="000000"/>
                </a:solidFill>
              </a:rPr>
              <a:t>Introduction</a:t>
            </a:r>
          </a:p>
          <a:p>
            <a:pPr>
              <a:buFont typeface="+mj-lt"/>
              <a:buAutoNum type="arabicPeriod"/>
            </a:pPr>
            <a:r>
              <a:rPr lang="en-US" sz="2400" b="1" i="0" u="none" strike="noStrike" baseline="0" dirty="0">
                <a:solidFill>
                  <a:srgbClr val="000000"/>
                </a:solidFill>
              </a:rPr>
              <a:t>Taxonomy of Virtualization techniques </a:t>
            </a:r>
          </a:p>
          <a:p>
            <a:pPr>
              <a:buFont typeface="+mj-lt"/>
              <a:buAutoNum type="arabicPeriod"/>
            </a:pPr>
            <a:r>
              <a:rPr lang="en-US" sz="2400" b="1" i="0" u="none" strike="noStrike" baseline="0" dirty="0">
                <a:solidFill>
                  <a:srgbClr val="000000"/>
                </a:solidFill>
              </a:rPr>
              <a:t>Virtualization and Cloud Computing </a:t>
            </a:r>
            <a:r>
              <a:rPr lang="en-US" sz="1800" b="0" i="0" u="none" strike="noStrike" baseline="0" dirty="0">
                <a:solidFill>
                  <a:srgbClr val="000000"/>
                </a:solidFill>
                <a:latin typeface="Times New Roman" panose="02020603050405020304" pitchFamily="18" charset="0"/>
              </a:rPr>
              <a:t>	</a:t>
            </a:r>
          </a:p>
          <a:p>
            <a:pPr>
              <a:buFont typeface="+mj-lt"/>
              <a:buAutoNum type="arabicPeriod"/>
            </a:pPr>
            <a:endParaRPr lang="en-US" sz="1800" b="0" i="0" u="none" strike="noStrike" baseline="0" dirty="0">
              <a:solidFill>
                <a:srgbClr val="000000"/>
              </a:solidFill>
              <a:latin typeface="Times New Roman" panose="02020603050405020304" pitchFamily="18" charset="0"/>
            </a:endParaRPr>
          </a:p>
          <a:p>
            <a:pPr marL="0" indent="0">
              <a:buNone/>
            </a:pPr>
            <a:r>
              <a:rPr lang="en-US" sz="2400" b="0" i="0" u="none" strike="noStrike" baseline="0" dirty="0">
                <a:solidFill>
                  <a:srgbClr val="000000"/>
                </a:solidFill>
              </a:rPr>
              <a:t>	</a:t>
            </a:r>
          </a:p>
          <a:p>
            <a:pPr>
              <a:buFont typeface="+mj-lt"/>
              <a:buAutoNum type="arabicPeriod"/>
            </a:pPr>
            <a:endParaRPr lang="en-US" sz="2400" b="1" dirty="0">
              <a:latin typeface="Calibri"/>
              <a:cs typeface="Calibri"/>
            </a:endParaRPr>
          </a:p>
        </p:txBody>
      </p:sp>
      <p:sp>
        <p:nvSpPr>
          <p:cNvPr id="5" name="Footer Placeholder 4">
            <a:extLst>
              <a:ext uri="{FF2B5EF4-FFF2-40B4-BE49-F238E27FC236}">
                <a16:creationId xmlns:a16="http://schemas.microsoft.com/office/drawing/2014/main" id="{42F3D1A0-34F9-4BA5-39D2-26EC7CF157AE}"/>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21C4380D-987B-E4FA-611D-35498E236EA0}"/>
              </a:ext>
            </a:extLst>
          </p:cNvPr>
          <p:cNvSpPr>
            <a:spLocks noGrp="1"/>
          </p:cNvSpPr>
          <p:nvPr>
            <p:ph type="sldNum" sz="quarter" idx="12"/>
          </p:nvPr>
        </p:nvSpPr>
        <p:spPr/>
        <p:txBody>
          <a:bodyPr/>
          <a:lstStyle/>
          <a:p>
            <a:fld id="{7B69A187-1465-481C-91D5-B2B7D79C567F}" type="slidenum">
              <a:rPr lang="en-US" smtClean="0"/>
              <a:pPr/>
              <a:t>7</a:t>
            </a:fld>
            <a:endParaRPr lang="en-US"/>
          </a:p>
        </p:txBody>
      </p:sp>
      <p:pic>
        <p:nvPicPr>
          <p:cNvPr id="3" name="Picture 2">
            <a:extLst>
              <a:ext uri="{FF2B5EF4-FFF2-40B4-BE49-F238E27FC236}">
                <a16:creationId xmlns:a16="http://schemas.microsoft.com/office/drawing/2014/main" id="{7B2E8D4E-6D07-8237-CA2C-C705278696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EE444A5A-D3AE-D5BE-39FB-ECBD811735A7}"/>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1617723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7617AB-1058-84F2-6310-369164631DC8}"/>
              </a:ext>
            </a:extLst>
          </p:cNvPr>
          <p:cNvSpPr>
            <a:spLocks noGrp="1"/>
          </p:cNvSpPr>
          <p:nvPr>
            <p:ph type="title"/>
          </p:nvPr>
        </p:nvSpPr>
        <p:spPr>
          <a:xfrm>
            <a:off x="2744426" y="70037"/>
            <a:ext cx="4478695" cy="530631"/>
          </a:xfrm>
        </p:spPr>
        <p:txBody>
          <a:bodyPr>
            <a:normAutofit/>
          </a:bodyPr>
          <a:lstStyle/>
          <a:p>
            <a:pPr algn="ctr"/>
            <a:r>
              <a:rPr lang="en-US" altLang="en-US" sz="3200" b="1" kern="0" dirty="0">
                <a:latin typeface="+mn-lt"/>
              </a:rPr>
              <a:t>Importance of the topic</a:t>
            </a:r>
            <a:endParaRPr lang="en-IN" sz="3200" dirty="0">
              <a:latin typeface="+mn-lt"/>
            </a:endParaRPr>
          </a:p>
        </p:txBody>
      </p:sp>
      <p:sp>
        <p:nvSpPr>
          <p:cNvPr id="5" name="Footer Placeholder 4">
            <a:extLst>
              <a:ext uri="{FF2B5EF4-FFF2-40B4-BE49-F238E27FC236}">
                <a16:creationId xmlns:a16="http://schemas.microsoft.com/office/drawing/2014/main" id="{F944A2B2-5C07-0B66-78DF-A6A289556E97}"/>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FDAD9F8-2B89-E89E-F744-9A302202339C}"/>
              </a:ext>
            </a:extLst>
          </p:cNvPr>
          <p:cNvSpPr>
            <a:spLocks noGrp="1"/>
          </p:cNvSpPr>
          <p:nvPr>
            <p:ph type="sldNum" sz="quarter" idx="12"/>
          </p:nvPr>
        </p:nvSpPr>
        <p:spPr/>
        <p:txBody>
          <a:bodyPr/>
          <a:lstStyle/>
          <a:p>
            <a:fld id="{7B69A187-1465-481C-91D5-B2B7D79C567F}" type="slidenum">
              <a:rPr lang="en-US" smtClean="0"/>
              <a:pPr/>
              <a:t>8</a:t>
            </a:fld>
            <a:endParaRPr lang="en-US"/>
          </a:p>
        </p:txBody>
      </p:sp>
      <p:pic>
        <p:nvPicPr>
          <p:cNvPr id="3" name="Picture 2">
            <a:extLst>
              <a:ext uri="{FF2B5EF4-FFF2-40B4-BE49-F238E27FC236}">
                <a16:creationId xmlns:a16="http://schemas.microsoft.com/office/drawing/2014/main" id="{FD70ED2B-727D-50EB-2310-D83584E19D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FF8AA71D-A967-DA93-697C-C57147248EB6}"/>
              </a:ext>
            </a:extLst>
          </p:cNvPr>
          <p:cNvPicPr>
            <a:picLocks noChangeAspect="1"/>
          </p:cNvPicPr>
          <p:nvPr/>
        </p:nvPicPr>
        <p:blipFill>
          <a:blip r:embed="rId3"/>
          <a:stretch>
            <a:fillRect/>
          </a:stretch>
        </p:blipFill>
        <p:spPr>
          <a:xfrm>
            <a:off x="7290715" y="72947"/>
            <a:ext cx="1782539" cy="530631"/>
          </a:xfrm>
          <a:prstGeom prst="rect">
            <a:avLst/>
          </a:prstGeom>
        </p:spPr>
      </p:pic>
      <p:sp>
        <p:nvSpPr>
          <p:cNvPr id="8" name="Rectangle 1">
            <a:extLst>
              <a:ext uri="{FF2B5EF4-FFF2-40B4-BE49-F238E27FC236}">
                <a16:creationId xmlns:a16="http://schemas.microsoft.com/office/drawing/2014/main" id="{150DDFC4-917A-A478-130D-D5467A903408}"/>
              </a:ext>
            </a:extLst>
          </p:cNvPr>
          <p:cNvSpPr>
            <a:spLocks noGrp="1" noChangeArrowheads="1"/>
          </p:cNvSpPr>
          <p:nvPr>
            <p:ph idx="1"/>
          </p:nvPr>
        </p:nvSpPr>
        <p:spPr bwMode="auto">
          <a:xfrm>
            <a:off x="457200" y="707701"/>
            <a:ext cx="8229600"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Optimized Resource Utilization</a:t>
            </a:r>
            <a:r>
              <a:rPr kumimoji="0" lang="en-US" altLang="en-US" sz="2000" b="0" i="0" u="none" strike="noStrike" cap="none" normalizeH="0" baseline="0" dirty="0">
                <a:ln>
                  <a:noFill/>
                </a:ln>
                <a:solidFill>
                  <a:schemeClr val="tx1"/>
                </a:solidFill>
                <a:effectLst/>
              </a:rPr>
              <a:t>:</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Virtualization maximizes hardware efficiency by running multiple virtual environments on a single physical system, reducing costs and improving scalability.</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Foundation for Cloud Computing</a:t>
            </a:r>
            <a:r>
              <a:rPr kumimoji="0" lang="en-US" altLang="en-US" sz="2000" b="0" i="0" u="none" strike="noStrike" cap="none" normalizeH="0" baseline="0" dirty="0">
                <a:ln>
                  <a:noFill/>
                </a:ln>
                <a:solidFill>
                  <a:schemeClr val="tx1"/>
                </a:solidFill>
                <a:effectLst/>
              </a:rPr>
              <a:t>:</a:t>
            </a:r>
            <a:br>
              <a:rPr kumimoji="0" lang="en-US" altLang="en-US" sz="2000" b="0" i="0" u="none" strike="noStrike" cap="none" normalizeH="0" baseline="0" dirty="0">
                <a:ln>
                  <a:noFill/>
                </a:ln>
                <a:solidFill>
                  <a:schemeClr val="tx1"/>
                </a:solidFill>
                <a:effectLst/>
              </a:rPr>
            </a:br>
            <a:endParaRPr kumimoji="0" lang="en-US" altLang="en-US" sz="2000" b="0" i="0" u="none" strike="noStrike" cap="none" normalizeH="0" baseline="0" dirty="0">
              <a:ln>
                <a:noFill/>
              </a:ln>
              <a:solidFill>
                <a:schemeClr val="tx1"/>
              </a:solidFill>
              <a:effectLst/>
            </a:endParaRP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It enables dynamic provisioning, resource pooling, and flexibility, making it a key enabler for cloud computing infrastructure and services.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rPr>
              <a:t>Technological Advancements and Versatility</a:t>
            </a:r>
            <a:r>
              <a:rPr kumimoji="0" lang="en-US" altLang="en-US" sz="2000" b="0" i="0" u="none" strike="noStrike" cap="none" normalizeH="0" baseline="0" dirty="0">
                <a:ln>
                  <a:noFill/>
                </a:ln>
                <a:solidFill>
                  <a:schemeClr val="tx1"/>
                </a:solidFill>
                <a:effectLst/>
              </a:rPr>
              <a:t>:</a:t>
            </a:r>
          </a:p>
          <a:p>
            <a:pPr marL="0" marR="0" lvl="0" indent="0" defTabSz="914400" rtl="0" eaLnBrk="0" fontAlgn="base" latinLnBrk="0" hangingPunct="0">
              <a:lnSpc>
                <a:spcPct val="100000"/>
              </a:lnSpc>
              <a:spcBef>
                <a:spcPct val="0"/>
              </a:spcBef>
              <a:spcAft>
                <a:spcPct val="0"/>
              </a:spcAft>
              <a:buClrTx/>
              <a:buSzTx/>
              <a:buFontTx/>
              <a:buChar char="•"/>
              <a:tabLst/>
            </a:pPr>
            <a:endParaRPr lang="en-US" altLang="en-US" sz="2000" dirty="0"/>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rPr>
              <a:t>With tools like Xen, VMware, and Microsoft Hyper-V, virtualization supports diverse use cases, including testing, development, disaster recovery, and workload isolation.</a:t>
            </a:r>
          </a:p>
        </p:txBody>
      </p:sp>
    </p:spTree>
    <p:extLst>
      <p:ext uri="{BB962C8B-B14F-4D97-AF65-F5344CB8AC3E}">
        <p14:creationId xmlns:p14="http://schemas.microsoft.com/office/powerpoint/2010/main" val="10115517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489529-E5EC-AB2F-A33A-578AB9C4F07D}"/>
              </a:ext>
            </a:extLst>
          </p:cNvPr>
          <p:cNvSpPr>
            <a:spLocks noGrp="1"/>
          </p:cNvSpPr>
          <p:nvPr>
            <p:ph type="title"/>
          </p:nvPr>
        </p:nvSpPr>
        <p:spPr>
          <a:xfrm>
            <a:off x="2744426" y="70036"/>
            <a:ext cx="4478695" cy="594770"/>
          </a:xfrm>
        </p:spPr>
        <p:txBody>
          <a:bodyPr>
            <a:normAutofit/>
          </a:bodyPr>
          <a:lstStyle/>
          <a:p>
            <a:pPr algn="ctr"/>
            <a:r>
              <a:rPr lang="en-US" altLang="en-US" sz="3200" b="1" kern="0" dirty="0">
                <a:latin typeface="+mn-lt"/>
              </a:rPr>
              <a:t>Detail Topics</a:t>
            </a:r>
            <a:endParaRPr lang="en-IN" sz="3200" dirty="0">
              <a:latin typeface="+mn-lt"/>
            </a:endParaRPr>
          </a:p>
        </p:txBody>
      </p:sp>
      <p:sp>
        <p:nvSpPr>
          <p:cNvPr id="8" name="Content Placeholder 7">
            <a:extLst>
              <a:ext uri="{FF2B5EF4-FFF2-40B4-BE49-F238E27FC236}">
                <a16:creationId xmlns:a16="http://schemas.microsoft.com/office/drawing/2014/main" id="{4D2FBB5B-A900-E331-6F3D-85F861C3ECF9}"/>
              </a:ext>
            </a:extLst>
          </p:cNvPr>
          <p:cNvSpPr>
            <a:spLocks noGrp="1"/>
          </p:cNvSpPr>
          <p:nvPr>
            <p:ph idx="1"/>
          </p:nvPr>
        </p:nvSpPr>
        <p:spPr>
          <a:xfrm>
            <a:off x="609600" y="895350"/>
            <a:ext cx="8001000" cy="3737373"/>
          </a:xfrm>
        </p:spPr>
        <p:txBody>
          <a:bodyPr>
            <a:normAutofit fontScale="92500" lnSpcReduction="20000"/>
          </a:bodyPr>
          <a:lstStyle/>
          <a:p>
            <a:pPr marL="0" indent="0" algn="just">
              <a:buNone/>
            </a:pPr>
            <a:r>
              <a:rPr lang="en-US" sz="2400" dirty="0"/>
              <a:t>Virtualization is the process of creating virtual versions of physical resources, such as servers, storage devices, or networks. It allows multiple operating systems or applications to run independently on the same hardware.</a:t>
            </a:r>
          </a:p>
          <a:p>
            <a:pPr algn="just"/>
            <a:endParaRPr lang="en-US" sz="2400" dirty="0"/>
          </a:p>
          <a:p>
            <a:pPr marL="0" indent="0" algn="just">
              <a:buNone/>
            </a:pPr>
            <a:r>
              <a:rPr lang="en-US" sz="2400" dirty="0"/>
              <a:t>The primary goal is to optimize resource utilization, reduce hardware dependency, and enable flexibility by abstracting the physical layer and presenting it as virtual instances.</a:t>
            </a:r>
          </a:p>
          <a:p>
            <a:pPr algn="just"/>
            <a:endParaRPr lang="en-US" sz="2400" dirty="0"/>
          </a:p>
          <a:p>
            <a:pPr algn="just"/>
            <a:r>
              <a:rPr lang="en-US" sz="2400" dirty="0"/>
              <a:t>Virtualization plays a critical role in modern IT infrastructure by enhancing scalability, cost-efficiency, and performance, while serving as the foundation for cloud computing and software-defined data centers.</a:t>
            </a:r>
            <a:endParaRPr lang="en-IN" sz="2400" dirty="0"/>
          </a:p>
        </p:txBody>
      </p:sp>
      <p:sp>
        <p:nvSpPr>
          <p:cNvPr id="5" name="Footer Placeholder 4">
            <a:extLst>
              <a:ext uri="{FF2B5EF4-FFF2-40B4-BE49-F238E27FC236}">
                <a16:creationId xmlns:a16="http://schemas.microsoft.com/office/drawing/2014/main" id="{D496E4C3-F586-0F54-F0EF-44F54F4866EF}"/>
              </a:ext>
            </a:extLst>
          </p:cNvPr>
          <p:cNvSpPr>
            <a:spLocks noGrp="1"/>
          </p:cNvSpPr>
          <p:nvPr>
            <p:ph type="ftr" sz="quarter" idx="11"/>
          </p:nvPr>
        </p:nvSpPr>
        <p:spPr/>
        <p:txBody>
          <a:bodyPr/>
          <a:lstStyle/>
          <a:p>
            <a:r>
              <a:rPr lang="en-US"/>
              <a:t>Department of Computer Application </a:t>
            </a:r>
            <a:endParaRPr lang="en-US" dirty="0"/>
          </a:p>
        </p:txBody>
      </p:sp>
      <p:sp>
        <p:nvSpPr>
          <p:cNvPr id="6" name="Slide Number Placeholder 5">
            <a:extLst>
              <a:ext uri="{FF2B5EF4-FFF2-40B4-BE49-F238E27FC236}">
                <a16:creationId xmlns:a16="http://schemas.microsoft.com/office/drawing/2014/main" id="{FE6E147F-08C4-C72F-F71C-93C3DC17C7E1}"/>
              </a:ext>
            </a:extLst>
          </p:cNvPr>
          <p:cNvSpPr>
            <a:spLocks noGrp="1"/>
          </p:cNvSpPr>
          <p:nvPr>
            <p:ph type="sldNum" sz="quarter" idx="12"/>
          </p:nvPr>
        </p:nvSpPr>
        <p:spPr/>
        <p:txBody>
          <a:bodyPr/>
          <a:lstStyle/>
          <a:p>
            <a:fld id="{7B69A187-1465-481C-91D5-B2B7D79C567F}" type="slidenum">
              <a:rPr lang="en-US" smtClean="0"/>
              <a:pPr/>
              <a:t>9</a:t>
            </a:fld>
            <a:endParaRPr lang="en-US" dirty="0"/>
          </a:p>
        </p:txBody>
      </p:sp>
      <p:pic>
        <p:nvPicPr>
          <p:cNvPr id="3" name="Picture 2">
            <a:extLst>
              <a:ext uri="{FF2B5EF4-FFF2-40B4-BE49-F238E27FC236}">
                <a16:creationId xmlns:a16="http://schemas.microsoft.com/office/drawing/2014/main" id="{C9DFFC85-E021-027B-3318-9CB898565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75F5F606-7026-E1F5-FFA3-FFF6E984D632}"/>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21671773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809494" y="275955"/>
            <a:ext cx="4048506" cy="504625"/>
          </a:xfrm>
          <a:prstGeom prst="rect">
            <a:avLst/>
          </a:prstGeom>
        </p:spPr>
        <p:txBody>
          <a:bodyPr vert="horz" wrap="square" lIns="0" tIns="12065" rIns="0" bIns="0" rtlCol="0">
            <a:spAutoFit/>
          </a:bodyPr>
          <a:lstStyle/>
          <a:p>
            <a:pPr marL="12700" algn="ctr">
              <a:lnSpc>
                <a:spcPct val="100000"/>
              </a:lnSpc>
              <a:spcBef>
                <a:spcPts val="95"/>
              </a:spcBef>
            </a:pPr>
            <a:r>
              <a:rPr lang="en-US" sz="3200" b="1" spc="-10" dirty="0"/>
              <a:t>Virtualization</a:t>
            </a:r>
            <a:endParaRPr lang="en-US" sz="3200" b="1" dirty="0">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7</a:t>
            </a:r>
          </a:p>
        </p:txBody>
      </p:sp>
      <p:sp>
        <p:nvSpPr>
          <p:cNvPr id="3" name="object 3"/>
          <p:cNvSpPr txBox="1"/>
          <p:nvPr/>
        </p:nvSpPr>
        <p:spPr>
          <a:xfrm>
            <a:off x="685800" y="943813"/>
            <a:ext cx="7620000" cy="2883931"/>
          </a:xfrm>
          <a:prstGeom prst="rect">
            <a:avLst/>
          </a:prstGeom>
        </p:spPr>
        <p:txBody>
          <a:bodyPr vert="horz" wrap="square" lIns="0" tIns="13335" rIns="0" bIns="0" rtlCol="0">
            <a:spAutoFit/>
          </a:bodyPr>
          <a:lstStyle/>
          <a:p>
            <a:pPr marL="12700" marR="5080" algn="just">
              <a:lnSpc>
                <a:spcPts val="3020"/>
              </a:lnSpc>
              <a:spcBef>
                <a:spcPts val="475"/>
              </a:spcBef>
              <a:tabLst>
                <a:tab pos="355600" algn="l"/>
              </a:tabLst>
            </a:pPr>
            <a:r>
              <a:rPr lang="en-US" sz="2400" dirty="0">
                <a:latin typeface="Calibri"/>
                <a:cs typeface="Calibri"/>
              </a:rPr>
              <a:t>Virtualization involves creating virtual instances of physical resources to optimize utilization.</a:t>
            </a:r>
          </a:p>
          <a:p>
            <a:pPr marL="12700" marR="5080" algn="just">
              <a:lnSpc>
                <a:spcPts val="3020"/>
              </a:lnSpc>
              <a:spcBef>
                <a:spcPts val="475"/>
              </a:spcBef>
              <a:tabLst>
                <a:tab pos="355600" algn="l"/>
              </a:tabLst>
            </a:pPr>
            <a:r>
              <a:rPr lang="en-US" sz="2400" dirty="0">
                <a:latin typeface="Calibri"/>
                <a:cs typeface="Calibri"/>
              </a:rPr>
              <a:t>Enhance resource efficiency, enable scalability, and improve flexibility.</a:t>
            </a:r>
          </a:p>
          <a:p>
            <a:pPr marL="12700" marR="5080" algn="just">
              <a:lnSpc>
                <a:spcPts val="3020"/>
              </a:lnSpc>
              <a:spcBef>
                <a:spcPts val="475"/>
              </a:spcBef>
              <a:tabLst>
                <a:tab pos="355600" algn="l"/>
              </a:tabLst>
            </a:pPr>
            <a:r>
              <a:rPr lang="en-US" sz="2400" dirty="0">
                <a:latin typeface="Calibri"/>
                <a:cs typeface="Calibri"/>
              </a:rPr>
              <a:t>Virtualization is the foundation for cloud computing.</a:t>
            </a:r>
          </a:p>
          <a:p>
            <a:pPr marL="12700" marR="5080" algn="just">
              <a:lnSpc>
                <a:spcPts val="3020"/>
              </a:lnSpc>
              <a:spcBef>
                <a:spcPts val="475"/>
              </a:spcBef>
              <a:tabLst>
                <a:tab pos="355600" algn="l"/>
              </a:tabLst>
            </a:pPr>
            <a:r>
              <a:rPr lang="en-US" sz="2400" dirty="0">
                <a:latin typeface="Calibri"/>
                <a:cs typeface="Calibri"/>
              </a:rPr>
              <a:t>The different types of virtualization techniques used in IT environments.</a:t>
            </a:r>
            <a:endParaRPr sz="2400" dirty="0">
              <a:latin typeface="Calibri"/>
              <a:cs typeface="Calibri"/>
            </a:endParaRPr>
          </a:p>
        </p:txBody>
      </p:sp>
      <p:sp>
        <p:nvSpPr>
          <p:cNvPr id="5" name="Footer Placeholder 4">
            <a:extLst>
              <a:ext uri="{FF2B5EF4-FFF2-40B4-BE49-F238E27FC236}">
                <a16:creationId xmlns:a16="http://schemas.microsoft.com/office/drawing/2014/main" id="{A74C3B1B-8066-FE32-4BDC-B2F4FD3FE627}"/>
              </a:ext>
            </a:extLst>
          </p:cNvPr>
          <p:cNvSpPr>
            <a:spLocks noGrp="1"/>
          </p:cNvSpPr>
          <p:nvPr>
            <p:ph type="ftr" sz="quarter" idx="11"/>
          </p:nvPr>
        </p:nvSpPr>
        <p:spPr/>
        <p:txBody>
          <a:bodyPr/>
          <a:lstStyle/>
          <a:p>
            <a:r>
              <a:rPr lang="en-US"/>
              <a:t>Department of Computer Application </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286000" y="-4025"/>
            <a:ext cx="5485511" cy="997068"/>
          </a:xfrm>
          <a:prstGeom prst="rect">
            <a:avLst/>
          </a:prstGeom>
        </p:spPr>
        <p:txBody>
          <a:bodyPr vert="horz" wrap="square" lIns="0" tIns="12065" rIns="0" bIns="0" rtlCol="0">
            <a:spAutoFit/>
          </a:bodyPr>
          <a:lstStyle/>
          <a:p>
            <a:pPr marL="12700" algn="ctr">
              <a:lnSpc>
                <a:spcPct val="100000"/>
              </a:lnSpc>
              <a:spcBef>
                <a:spcPts val="95"/>
              </a:spcBef>
            </a:pPr>
            <a:r>
              <a:rPr lang="en-US" dirty="0">
                <a:solidFill>
                  <a:schemeClr val="tx1"/>
                </a:solidFill>
              </a:rPr>
              <a:t>Taxonomy of Virtualization Techniques</a:t>
            </a:r>
            <a:endParaRPr dirty="0">
              <a:solidFill>
                <a:schemeClr val="tx1"/>
              </a:solidFill>
              <a:latin typeface="Calibri"/>
              <a:cs typeface="Calibri"/>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38100">
              <a:lnSpc>
                <a:spcPts val="1240"/>
              </a:lnSpc>
            </a:pPr>
            <a:r>
              <a:rPr dirty="0"/>
              <a:t>8</a:t>
            </a:r>
          </a:p>
        </p:txBody>
      </p:sp>
      <p:sp>
        <p:nvSpPr>
          <p:cNvPr id="6" name="Footer Placeholder 5">
            <a:extLst>
              <a:ext uri="{FF2B5EF4-FFF2-40B4-BE49-F238E27FC236}">
                <a16:creationId xmlns:a16="http://schemas.microsoft.com/office/drawing/2014/main" id="{9EF65567-EA59-204B-9442-759FC19EEAA1}"/>
              </a:ext>
            </a:extLst>
          </p:cNvPr>
          <p:cNvSpPr>
            <a:spLocks noGrp="1"/>
          </p:cNvSpPr>
          <p:nvPr>
            <p:ph type="ftr" sz="quarter" idx="5"/>
          </p:nvPr>
        </p:nvSpPr>
        <p:spPr/>
        <p:txBody>
          <a:bodyPr/>
          <a:lstStyle/>
          <a:p>
            <a:r>
              <a:rPr lang="en-US"/>
              <a:t>Department of Computer Application</a:t>
            </a:r>
          </a:p>
          <a:p>
            <a:endParaRPr lang="en-US" dirty="0"/>
          </a:p>
        </p:txBody>
      </p:sp>
      <p:sp>
        <p:nvSpPr>
          <p:cNvPr id="8" name="TextBox 7">
            <a:extLst>
              <a:ext uri="{FF2B5EF4-FFF2-40B4-BE49-F238E27FC236}">
                <a16:creationId xmlns:a16="http://schemas.microsoft.com/office/drawing/2014/main" id="{4C767373-8E0A-FF5F-1708-8B5B766268E7}"/>
              </a:ext>
            </a:extLst>
          </p:cNvPr>
          <p:cNvSpPr txBox="1"/>
          <p:nvPr/>
        </p:nvSpPr>
        <p:spPr>
          <a:xfrm>
            <a:off x="685800" y="1276350"/>
            <a:ext cx="7924800" cy="3046988"/>
          </a:xfrm>
          <a:prstGeom prst="rect">
            <a:avLst/>
          </a:prstGeom>
          <a:noFill/>
        </p:spPr>
        <p:txBody>
          <a:bodyPr wrap="square" rtlCol="0">
            <a:spAutoFit/>
          </a:bodyPr>
          <a:lstStyle/>
          <a:p>
            <a:pPr algn="just"/>
            <a:r>
              <a:rPr lang="en-US" sz="2400" dirty="0"/>
              <a:t>Virtualization techniques can be categorized into several layers of abstraction.</a:t>
            </a:r>
          </a:p>
          <a:p>
            <a:pPr algn="just"/>
            <a:r>
              <a:rPr lang="en-US" sz="2400" dirty="0"/>
              <a:t>Key Types: Hardware, software, storage, and network virtualization.</a:t>
            </a:r>
          </a:p>
          <a:p>
            <a:pPr algn="just"/>
            <a:r>
              <a:rPr lang="en-US" sz="2400" dirty="0"/>
              <a:t>Each technique has distinct benefits, depending on the environment and use case.</a:t>
            </a:r>
          </a:p>
          <a:p>
            <a:pPr algn="just"/>
            <a:r>
              <a:rPr lang="en-US" sz="2400" dirty="0"/>
              <a:t>Virtualization helps optimize IT resource management, increase flexibility, and reduce costs.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14600" y="47731"/>
            <a:ext cx="4724400" cy="504625"/>
          </a:xfrm>
          <a:prstGeom prst="rect">
            <a:avLst/>
          </a:prstGeom>
        </p:spPr>
        <p:txBody>
          <a:bodyPr vert="horz" wrap="square" lIns="0" tIns="12065" rIns="0" bIns="0" rtlCol="0">
            <a:spAutoFit/>
          </a:bodyPr>
          <a:lstStyle/>
          <a:p>
            <a:pPr marL="12700" algn="ctr">
              <a:lnSpc>
                <a:spcPct val="100000"/>
              </a:lnSpc>
              <a:spcBef>
                <a:spcPts val="95"/>
              </a:spcBef>
            </a:pPr>
            <a:r>
              <a:rPr lang="en-US" sz="3200" b="1" dirty="0"/>
              <a:t>Hardware Virtualization</a:t>
            </a:r>
            <a:endParaRPr sz="3200" b="1" dirty="0">
              <a:latin typeface="Calibri"/>
              <a:cs typeface="Calibri"/>
            </a:endParaRPr>
          </a:p>
        </p:txBody>
      </p:sp>
      <p:sp>
        <p:nvSpPr>
          <p:cNvPr id="4" name="object 4"/>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9</a:t>
            </a:r>
          </a:p>
        </p:txBody>
      </p:sp>
      <p:sp>
        <p:nvSpPr>
          <p:cNvPr id="5" name="Footer Placeholder 4">
            <a:extLst>
              <a:ext uri="{FF2B5EF4-FFF2-40B4-BE49-F238E27FC236}">
                <a16:creationId xmlns:a16="http://schemas.microsoft.com/office/drawing/2014/main" id="{FFE8EBD2-62C8-530E-BA79-3949CFD9F063}"/>
              </a:ext>
            </a:extLst>
          </p:cNvPr>
          <p:cNvSpPr>
            <a:spLocks noGrp="1"/>
          </p:cNvSpPr>
          <p:nvPr>
            <p:ph type="ftr" sz="quarter" idx="11"/>
          </p:nvPr>
        </p:nvSpPr>
        <p:spPr/>
        <p:txBody>
          <a:bodyPr/>
          <a:lstStyle/>
          <a:p>
            <a:r>
              <a:rPr lang="en-US"/>
              <a:t>Department of Computer Application </a:t>
            </a:r>
            <a:endParaRPr lang="en-US" dirty="0"/>
          </a:p>
        </p:txBody>
      </p:sp>
      <p:sp>
        <p:nvSpPr>
          <p:cNvPr id="3" name="Rectangle 1">
            <a:extLst>
              <a:ext uri="{FF2B5EF4-FFF2-40B4-BE49-F238E27FC236}">
                <a16:creationId xmlns:a16="http://schemas.microsoft.com/office/drawing/2014/main" id="{070A0EDD-38ED-0A47-9FFE-A5D1B272899C}"/>
              </a:ext>
            </a:extLst>
          </p:cNvPr>
          <p:cNvSpPr>
            <a:spLocks noGrp="1" noChangeArrowheads="1"/>
          </p:cNvSpPr>
          <p:nvPr>
            <p:ph idx="1"/>
          </p:nvPr>
        </p:nvSpPr>
        <p:spPr bwMode="auto">
          <a:xfrm>
            <a:off x="628650" y="1278444"/>
            <a:ext cx="782955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Virtualizing physical hardware to run multiple operating systems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rPr>
              <a:t>on one machine.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Hypervisors (Type 1 &amp; Type 2) create and manage virtual machines.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Maximize hardware utilization and support legacy applications.</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rPr>
              <a:t>Examples</a:t>
            </a:r>
            <a:r>
              <a:rPr kumimoji="0" lang="en-US" altLang="en-US" sz="2400" b="0" i="0" u="none" strike="noStrike" cap="none" normalizeH="0" baseline="0" dirty="0">
                <a:ln>
                  <a:noFill/>
                </a:ln>
                <a:solidFill>
                  <a:schemeClr val="tx1"/>
                </a:solidFill>
                <a:effectLst/>
              </a:rPr>
              <a:t>: VMware, Microsoft Hyper-V, Xen.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590800" y="246101"/>
            <a:ext cx="4648200" cy="505908"/>
          </a:xfrm>
          <a:prstGeom prst="rect">
            <a:avLst/>
          </a:prstGeom>
        </p:spPr>
        <p:txBody>
          <a:bodyPr vert="horz" wrap="square" lIns="0" tIns="13335" rIns="0" bIns="0" rtlCol="0">
            <a:spAutoFit/>
          </a:bodyPr>
          <a:lstStyle/>
          <a:p>
            <a:pPr marL="12700" algn="ctr">
              <a:lnSpc>
                <a:spcPct val="100000"/>
              </a:lnSpc>
              <a:spcBef>
                <a:spcPts val="105"/>
              </a:spcBef>
            </a:pPr>
            <a:r>
              <a:rPr lang="en-US" sz="3200" b="1" dirty="0"/>
              <a:t>Software Virtualization</a:t>
            </a:r>
            <a:endParaRPr sz="3200" b="1" dirty="0">
              <a:latin typeface="Calibri"/>
              <a:cs typeface="Calibri"/>
            </a:endParaRPr>
          </a:p>
        </p:txBody>
      </p:sp>
      <p:sp>
        <p:nvSpPr>
          <p:cNvPr id="7" name="object 7"/>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10</a:t>
            </a:r>
          </a:p>
        </p:txBody>
      </p:sp>
      <p:sp>
        <p:nvSpPr>
          <p:cNvPr id="8" name="Footer Placeholder 7">
            <a:extLst>
              <a:ext uri="{FF2B5EF4-FFF2-40B4-BE49-F238E27FC236}">
                <a16:creationId xmlns:a16="http://schemas.microsoft.com/office/drawing/2014/main" id="{B5193DD6-ADEB-282F-9949-D6463F2EC4AA}"/>
              </a:ext>
            </a:extLst>
          </p:cNvPr>
          <p:cNvSpPr>
            <a:spLocks noGrp="1"/>
          </p:cNvSpPr>
          <p:nvPr>
            <p:ph type="ftr" sz="quarter" idx="11"/>
          </p:nvPr>
        </p:nvSpPr>
        <p:spPr/>
        <p:txBody>
          <a:bodyPr/>
          <a:lstStyle/>
          <a:p>
            <a:r>
              <a:rPr lang="en-US"/>
              <a:t>Department of Computer Application </a:t>
            </a:r>
            <a:endParaRPr lang="en-US" dirty="0"/>
          </a:p>
        </p:txBody>
      </p:sp>
      <p:sp>
        <p:nvSpPr>
          <p:cNvPr id="6" name="Rectangle 1">
            <a:extLst>
              <a:ext uri="{FF2B5EF4-FFF2-40B4-BE49-F238E27FC236}">
                <a16:creationId xmlns:a16="http://schemas.microsoft.com/office/drawing/2014/main" id="{7AA37BE4-D359-F7F7-EA1C-FE3FDDA07188}"/>
              </a:ext>
            </a:extLst>
          </p:cNvPr>
          <p:cNvSpPr>
            <a:spLocks noChangeArrowheads="1"/>
          </p:cNvSpPr>
          <p:nvPr/>
        </p:nvSpPr>
        <p:spPr bwMode="auto">
          <a:xfrm>
            <a:off x="685800" y="1256754"/>
            <a:ext cx="7924800" cy="33590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Virtualization of software resources, enabling isolated environments for applications.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Running multiple software instances on a single system without affecting performance.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Simplifies testing, development, and management.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Examples: Docker, VMware Workstation.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9C2E84-15B4-4915-0158-305C679AB479}"/>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FCFD61EB-471F-12CA-84AD-0582B35F4741}"/>
              </a:ext>
            </a:extLst>
          </p:cNvPr>
          <p:cNvSpPr txBox="1">
            <a:spLocks noGrp="1"/>
          </p:cNvSpPr>
          <p:nvPr>
            <p:ph type="title"/>
          </p:nvPr>
        </p:nvSpPr>
        <p:spPr>
          <a:xfrm>
            <a:off x="2590800" y="246101"/>
            <a:ext cx="4648200" cy="505908"/>
          </a:xfrm>
          <a:prstGeom prst="rect">
            <a:avLst/>
          </a:prstGeom>
        </p:spPr>
        <p:txBody>
          <a:bodyPr vert="horz" wrap="square" lIns="0" tIns="13335" rIns="0" bIns="0" rtlCol="0">
            <a:spAutoFit/>
          </a:bodyPr>
          <a:lstStyle/>
          <a:p>
            <a:pPr marL="12700" algn="ctr">
              <a:lnSpc>
                <a:spcPct val="100000"/>
              </a:lnSpc>
              <a:spcBef>
                <a:spcPts val="105"/>
              </a:spcBef>
            </a:pPr>
            <a:r>
              <a:rPr lang="en-US" sz="3200" b="1" dirty="0"/>
              <a:t>Storage Virtualization</a:t>
            </a:r>
            <a:endParaRPr sz="3200" b="1" dirty="0">
              <a:cs typeface="Calibri"/>
            </a:endParaRPr>
          </a:p>
        </p:txBody>
      </p:sp>
      <p:sp>
        <p:nvSpPr>
          <p:cNvPr id="7" name="object 7">
            <a:extLst>
              <a:ext uri="{FF2B5EF4-FFF2-40B4-BE49-F238E27FC236}">
                <a16:creationId xmlns:a16="http://schemas.microsoft.com/office/drawing/2014/main" id="{E1D9E335-E29E-2F35-573B-4852DFA62C58}"/>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10</a:t>
            </a:r>
          </a:p>
        </p:txBody>
      </p:sp>
      <p:sp>
        <p:nvSpPr>
          <p:cNvPr id="8" name="Footer Placeholder 7">
            <a:extLst>
              <a:ext uri="{FF2B5EF4-FFF2-40B4-BE49-F238E27FC236}">
                <a16:creationId xmlns:a16="http://schemas.microsoft.com/office/drawing/2014/main" id="{9CC2B598-B548-D52F-306A-5D6EE33E4E79}"/>
              </a:ext>
            </a:extLst>
          </p:cNvPr>
          <p:cNvSpPr>
            <a:spLocks noGrp="1"/>
          </p:cNvSpPr>
          <p:nvPr>
            <p:ph type="ftr" sz="quarter" idx="11"/>
          </p:nvPr>
        </p:nvSpPr>
        <p:spPr/>
        <p:txBody>
          <a:bodyPr/>
          <a:lstStyle/>
          <a:p>
            <a:r>
              <a:rPr lang="en-US"/>
              <a:t>Department of Computer Application </a:t>
            </a:r>
            <a:endParaRPr lang="en-US" dirty="0"/>
          </a:p>
        </p:txBody>
      </p:sp>
      <p:sp>
        <p:nvSpPr>
          <p:cNvPr id="6" name="Rectangle 1">
            <a:extLst>
              <a:ext uri="{FF2B5EF4-FFF2-40B4-BE49-F238E27FC236}">
                <a16:creationId xmlns:a16="http://schemas.microsoft.com/office/drawing/2014/main" id="{919B2D62-A0D5-8D26-2A9C-026056132673}"/>
              </a:ext>
            </a:extLst>
          </p:cNvPr>
          <p:cNvSpPr>
            <a:spLocks noChangeArrowheads="1"/>
          </p:cNvSpPr>
          <p:nvPr/>
        </p:nvSpPr>
        <p:spPr bwMode="auto">
          <a:xfrm>
            <a:off x="685800" y="979755"/>
            <a:ext cx="7924800" cy="3913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Abstracting storage resources from physical hardware.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Pooling multiple storage devices into a single virtualized storage unit.</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rPr>
              <a:t>Simplifies storage management, improves utilization, and enhances data availability.</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rPr>
              <a:t>Examples: SAN (Storage Area Network), NAS (Network-Attached Storage).</a:t>
            </a:r>
            <a:endParaRPr kumimoji="0" lang="en-US" altLang="en-US" sz="24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8311259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316C0-7464-1D14-EC76-C740230A9E81}"/>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8162472B-6997-E884-F320-79BF199FE43B}"/>
              </a:ext>
            </a:extLst>
          </p:cNvPr>
          <p:cNvSpPr txBox="1">
            <a:spLocks noGrp="1"/>
          </p:cNvSpPr>
          <p:nvPr>
            <p:ph type="title"/>
          </p:nvPr>
        </p:nvSpPr>
        <p:spPr>
          <a:xfrm>
            <a:off x="2590800" y="-120"/>
            <a:ext cx="4648200" cy="998350"/>
          </a:xfrm>
          <a:prstGeom prst="rect">
            <a:avLst/>
          </a:prstGeom>
        </p:spPr>
        <p:txBody>
          <a:bodyPr vert="horz" wrap="square" lIns="0" tIns="13335" rIns="0" bIns="0" rtlCol="0">
            <a:spAutoFit/>
          </a:bodyPr>
          <a:lstStyle/>
          <a:p>
            <a:pPr marL="12700" algn="ctr">
              <a:lnSpc>
                <a:spcPct val="100000"/>
              </a:lnSpc>
              <a:spcBef>
                <a:spcPts val="105"/>
              </a:spcBef>
            </a:pPr>
            <a:r>
              <a:rPr lang="en-US" sz="3200" b="1" i="0" u="none" strike="noStrike" baseline="0" dirty="0">
                <a:solidFill>
                  <a:srgbClr val="000000"/>
                </a:solidFill>
              </a:rPr>
              <a:t>Virtualization vs. </a:t>
            </a:r>
            <a:r>
              <a:rPr lang="en-US" sz="3200" b="1" dirty="0">
                <a:solidFill>
                  <a:srgbClr val="000000"/>
                </a:solidFill>
              </a:rPr>
              <a:t>Cloud computing</a:t>
            </a:r>
            <a:endParaRPr sz="3200" b="1" dirty="0">
              <a:latin typeface="Calibri"/>
              <a:cs typeface="Calibri"/>
            </a:endParaRPr>
          </a:p>
        </p:txBody>
      </p:sp>
      <p:sp>
        <p:nvSpPr>
          <p:cNvPr id="7" name="object 7">
            <a:extLst>
              <a:ext uri="{FF2B5EF4-FFF2-40B4-BE49-F238E27FC236}">
                <a16:creationId xmlns:a16="http://schemas.microsoft.com/office/drawing/2014/main" id="{007BD15E-73F9-B501-7C15-99669C81B247}"/>
              </a:ext>
            </a:extLst>
          </p:cNvPr>
          <p:cNvSpPr txBox="1">
            <a:spLocks noGrp="1"/>
          </p:cNvSpPr>
          <p:nvPr>
            <p:ph type="sldNum" sz="quarter" idx="12"/>
          </p:nvPr>
        </p:nvSpPr>
        <p:spPr>
          <a:prstGeom prst="rect">
            <a:avLst/>
          </a:prstGeom>
        </p:spPr>
        <p:txBody>
          <a:bodyPr vert="horz" wrap="square" lIns="0" tIns="0" rIns="0" bIns="0" rtlCol="0">
            <a:spAutoFit/>
          </a:bodyPr>
          <a:lstStyle/>
          <a:p>
            <a:pPr marL="38100">
              <a:lnSpc>
                <a:spcPts val="1240"/>
              </a:lnSpc>
            </a:pPr>
            <a:r>
              <a:rPr dirty="0"/>
              <a:t>10</a:t>
            </a:r>
          </a:p>
        </p:txBody>
      </p:sp>
      <p:sp>
        <p:nvSpPr>
          <p:cNvPr id="8" name="Footer Placeholder 7">
            <a:extLst>
              <a:ext uri="{FF2B5EF4-FFF2-40B4-BE49-F238E27FC236}">
                <a16:creationId xmlns:a16="http://schemas.microsoft.com/office/drawing/2014/main" id="{1443CA0A-603A-9143-B0D8-3DC39D935841}"/>
              </a:ext>
            </a:extLst>
          </p:cNvPr>
          <p:cNvSpPr>
            <a:spLocks noGrp="1"/>
          </p:cNvSpPr>
          <p:nvPr>
            <p:ph type="ftr" sz="quarter" idx="11"/>
          </p:nvPr>
        </p:nvSpPr>
        <p:spPr/>
        <p:txBody>
          <a:bodyPr/>
          <a:lstStyle/>
          <a:p>
            <a:r>
              <a:rPr lang="en-US"/>
              <a:t>Department of Computer Application </a:t>
            </a:r>
            <a:endParaRPr lang="en-US" dirty="0"/>
          </a:p>
        </p:txBody>
      </p:sp>
      <p:pic>
        <p:nvPicPr>
          <p:cNvPr id="5" name="Picture 4">
            <a:extLst>
              <a:ext uri="{FF2B5EF4-FFF2-40B4-BE49-F238E27FC236}">
                <a16:creationId xmlns:a16="http://schemas.microsoft.com/office/drawing/2014/main" id="{F1EADBC0-B7FC-89B4-7A61-9E00C18A29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123950"/>
            <a:ext cx="8001000" cy="3707121"/>
          </a:xfrm>
          <a:prstGeom prst="rect">
            <a:avLst/>
          </a:prstGeom>
        </p:spPr>
      </p:pic>
    </p:spTree>
    <p:extLst>
      <p:ext uri="{BB962C8B-B14F-4D97-AF65-F5344CB8AC3E}">
        <p14:creationId xmlns:p14="http://schemas.microsoft.com/office/powerpoint/2010/main" val="289294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5523DD-9F30-2998-B335-D3793E3013C5}"/>
              </a:ext>
            </a:extLst>
          </p:cNvPr>
          <p:cNvSpPr>
            <a:spLocks noGrp="1"/>
          </p:cNvSpPr>
          <p:nvPr>
            <p:ph type="title"/>
          </p:nvPr>
        </p:nvSpPr>
        <p:spPr>
          <a:xfrm>
            <a:off x="2761921" y="101066"/>
            <a:ext cx="3638879" cy="530631"/>
          </a:xfrm>
        </p:spPr>
        <p:txBody>
          <a:bodyPr>
            <a:normAutofit/>
          </a:bodyPr>
          <a:lstStyle/>
          <a:p>
            <a:pPr algn="ctr"/>
            <a:r>
              <a:rPr lang="en-IN" sz="3200" b="1" kern="0" dirty="0"/>
              <a:t>Summary</a:t>
            </a:r>
            <a:endParaRPr lang="en-IN" sz="3200" dirty="0"/>
          </a:p>
        </p:txBody>
      </p:sp>
      <p:sp>
        <p:nvSpPr>
          <p:cNvPr id="5" name="Footer Placeholder 4">
            <a:extLst>
              <a:ext uri="{FF2B5EF4-FFF2-40B4-BE49-F238E27FC236}">
                <a16:creationId xmlns:a16="http://schemas.microsoft.com/office/drawing/2014/main" id="{43FB2739-9CDD-CFDC-9ACC-F769D636571C}"/>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7F8A028B-D4AB-FD38-B390-9A1500B1B208}"/>
              </a:ext>
            </a:extLst>
          </p:cNvPr>
          <p:cNvSpPr>
            <a:spLocks noGrp="1"/>
          </p:cNvSpPr>
          <p:nvPr>
            <p:ph type="sldNum" sz="quarter" idx="12"/>
          </p:nvPr>
        </p:nvSpPr>
        <p:spPr/>
        <p:txBody>
          <a:bodyPr/>
          <a:lstStyle/>
          <a:p>
            <a:fld id="{7B69A187-1465-481C-91D5-B2B7D79C567F}" type="slidenum">
              <a:rPr lang="en-US" smtClean="0"/>
              <a:pPr/>
              <a:t>16</a:t>
            </a:fld>
            <a:endParaRPr lang="en-US"/>
          </a:p>
        </p:txBody>
      </p:sp>
      <p:pic>
        <p:nvPicPr>
          <p:cNvPr id="3" name="Picture 2">
            <a:extLst>
              <a:ext uri="{FF2B5EF4-FFF2-40B4-BE49-F238E27FC236}">
                <a16:creationId xmlns:a16="http://schemas.microsoft.com/office/drawing/2014/main" id="{53A90572-0907-90A3-209E-CE36823DA5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09D9A907-954C-FDDE-0088-F27E87D8DEA9}"/>
              </a:ext>
            </a:extLst>
          </p:cNvPr>
          <p:cNvPicPr>
            <a:picLocks noChangeAspect="1"/>
          </p:cNvPicPr>
          <p:nvPr/>
        </p:nvPicPr>
        <p:blipFill>
          <a:blip r:embed="rId3"/>
          <a:stretch>
            <a:fillRect/>
          </a:stretch>
        </p:blipFill>
        <p:spPr>
          <a:xfrm>
            <a:off x="7290715" y="72947"/>
            <a:ext cx="1782539" cy="530631"/>
          </a:xfrm>
          <a:prstGeom prst="rect">
            <a:avLst/>
          </a:prstGeom>
        </p:spPr>
      </p:pic>
      <p:sp>
        <p:nvSpPr>
          <p:cNvPr id="7" name="Rectangle 1">
            <a:extLst>
              <a:ext uri="{FF2B5EF4-FFF2-40B4-BE49-F238E27FC236}">
                <a16:creationId xmlns:a16="http://schemas.microsoft.com/office/drawing/2014/main" id="{6D591638-8E11-7A58-CE82-2595A977E6C7}"/>
              </a:ext>
            </a:extLst>
          </p:cNvPr>
          <p:cNvSpPr>
            <a:spLocks noGrp="1" noChangeArrowheads="1"/>
          </p:cNvSpPr>
          <p:nvPr>
            <p:ph idx="1"/>
          </p:nvPr>
        </p:nvSpPr>
        <p:spPr bwMode="auto">
          <a:xfrm>
            <a:off x="533401" y="1032310"/>
            <a:ext cx="8229600" cy="3737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Virtualization Techniques: Hardware, software, storage, and network virtualization each offer unique advantages.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Role in Cloud Computing: Virtualization enables the cloud's on-demand, scalable, and flexible nature.</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Key Technologies: Xen, VMware, and Microsoft Hyper-V are prominent examples of virtualization platforms.</a:t>
            </a:r>
          </a:p>
          <a:p>
            <a:pPr marL="0" marR="0" lvl="0" indent="0" algn="just" defTabSz="914400" rtl="0" eaLnBrk="0" fontAlgn="base" latinLnBrk="0" hangingPunct="0">
              <a:lnSpc>
                <a:spcPct val="15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rPr>
              <a:t>Future Trends: Virtualization will continue to evolve with innovations in containerization, serverless computing, and edge computing.</a:t>
            </a:r>
          </a:p>
        </p:txBody>
      </p:sp>
    </p:spTree>
    <p:extLst>
      <p:ext uri="{BB962C8B-B14F-4D97-AF65-F5344CB8AC3E}">
        <p14:creationId xmlns:p14="http://schemas.microsoft.com/office/powerpoint/2010/main" val="955887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B7B17F-57F1-4833-2F9C-574989E3E10C}"/>
              </a:ext>
            </a:extLst>
          </p:cNvPr>
          <p:cNvSpPr>
            <a:spLocks noGrp="1"/>
          </p:cNvSpPr>
          <p:nvPr>
            <p:ph type="title"/>
          </p:nvPr>
        </p:nvSpPr>
        <p:spPr>
          <a:xfrm>
            <a:off x="2711242" y="70037"/>
            <a:ext cx="4545062" cy="397599"/>
          </a:xfrm>
        </p:spPr>
        <p:txBody>
          <a:bodyPr>
            <a:noAutofit/>
          </a:bodyPr>
          <a:lstStyle/>
          <a:p>
            <a:pPr algn="ctr"/>
            <a:r>
              <a:rPr lang="en-IN" sz="3200" b="1" kern="0" dirty="0"/>
              <a:t>References</a:t>
            </a:r>
            <a:endParaRPr lang="en-IN" sz="3200" dirty="0"/>
          </a:p>
        </p:txBody>
      </p:sp>
      <p:sp>
        <p:nvSpPr>
          <p:cNvPr id="7" name="Content Placeholder 6">
            <a:extLst>
              <a:ext uri="{FF2B5EF4-FFF2-40B4-BE49-F238E27FC236}">
                <a16:creationId xmlns:a16="http://schemas.microsoft.com/office/drawing/2014/main" id="{BB61AB46-72A9-1DD5-A1BD-51B6BBB0E2C4}"/>
              </a:ext>
            </a:extLst>
          </p:cNvPr>
          <p:cNvSpPr>
            <a:spLocks noGrp="1"/>
          </p:cNvSpPr>
          <p:nvPr>
            <p:ph idx="1"/>
          </p:nvPr>
        </p:nvSpPr>
        <p:spPr/>
        <p:txBody>
          <a:bodyPr>
            <a:normAutofit fontScale="55000" lnSpcReduction="20000"/>
          </a:bodyPr>
          <a:lstStyle/>
          <a:p>
            <a:r>
              <a:rPr lang="en-US" sz="2200" dirty="0"/>
              <a:t>Books References</a:t>
            </a:r>
          </a:p>
          <a:p>
            <a:r>
              <a:rPr lang="en-US" sz="2200" dirty="0">
                <a:solidFill>
                  <a:srgbClr val="000000"/>
                </a:solidFill>
                <a:ea typeface="Calibri" panose="020F0502020204030204" pitchFamily="34" charset="0"/>
                <a:cs typeface="Calibri" panose="020F0502020204030204" pitchFamily="34" charset="0"/>
              </a:rPr>
              <a:t>Mastering Cloud Computing, Rajkumar </a:t>
            </a:r>
            <a:r>
              <a:rPr lang="en-US" sz="2200" dirty="0" err="1">
                <a:solidFill>
                  <a:srgbClr val="000000"/>
                </a:solidFill>
                <a:ea typeface="Calibri" panose="020F0502020204030204" pitchFamily="34" charset="0"/>
                <a:cs typeface="Calibri" panose="020F0502020204030204" pitchFamily="34" charset="0"/>
              </a:rPr>
              <a:t>Buyya</a:t>
            </a:r>
            <a:r>
              <a:rPr lang="en-US" sz="2200" dirty="0">
                <a:solidFill>
                  <a:srgbClr val="000000"/>
                </a:solidFill>
                <a:ea typeface="Calibri" panose="020F0502020204030204" pitchFamily="34" charset="0"/>
                <a:cs typeface="Calibri" panose="020F0502020204030204" pitchFamily="34" charset="0"/>
              </a:rPr>
              <a:t>, Christian </a:t>
            </a:r>
            <a:r>
              <a:rPr lang="en-US" sz="2200" dirty="0" err="1">
                <a:solidFill>
                  <a:srgbClr val="000000"/>
                </a:solidFill>
                <a:ea typeface="Calibri" panose="020F0502020204030204" pitchFamily="34" charset="0"/>
                <a:cs typeface="Calibri" panose="020F0502020204030204" pitchFamily="34" charset="0"/>
              </a:rPr>
              <a:t>Vecchiola</a:t>
            </a:r>
            <a:r>
              <a:rPr lang="en-US" sz="2200" dirty="0">
                <a:solidFill>
                  <a:srgbClr val="000000"/>
                </a:solidFill>
                <a:ea typeface="Calibri" panose="020F0502020204030204" pitchFamily="34" charset="0"/>
                <a:cs typeface="Calibri" panose="020F0502020204030204" pitchFamily="34" charset="0"/>
              </a:rPr>
              <a:t>, and </a:t>
            </a:r>
            <a:r>
              <a:rPr lang="en-US" sz="2200" dirty="0" err="1">
                <a:solidFill>
                  <a:srgbClr val="000000"/>
                </a:solidFill>
                <a:ea typeface="Calibri" panose="020F0502020204030204" pitchFamily="34" charset="0"/>
                <a:cs typeface="Calibri" panose="020F0502020204030204" pitchFamily="34" charset="0"/>
              </a:rPr>
              <a:t>ThamaraiSelvi</a:t>
            </a:r>
            <a:r>
              <a:rPr lang="en-US" sz="2200" dirty="0">
                <a:solidFill>
                  <a:srgbClr val="000000"/>
                </a:solidFill>
                <a:ea typeface="Calibri" panose="020F0502020204030204" pitchFamily="34" charset="0"/>
                <a:cs typeface="Calibri" panose="020F0502020204030204" pitchFamily="34" charset="0"/>
              </a:rPr>
              <a:t>, Tata McGraw Hill, ISBN-13: 978-1-25-902995-0, New Delhi, </a:t>
            </a:r>
            <a:r>
              <a:rPr lang="en-US" sz="2200" dirty="0" err="1">
                <a:solidFill>
                  <a:srgbClr val="000000"/>
                </a:solidFill>
                <a:ea typeface="Calibri" panose="020F0502020204030204" pitchFamily="34" charset="0"/>
                <a:cs typeface="Calibri" panose="020F0502020204030204" pitchFamily="34" charset="0"/>
              </a:rPr>
              <a:t>India,Feb</a:t>
            </a:r>
            <a:r>
              <a:rPr lang="en-US" sz="2200" dirty="0">
                <a:solidFill>
                  <a:srgbClr val="000000"/>
                </a:solidFill>
                <a:ea typeface="Calibri" panose="020F0502020204030204" pitchFamily="34" charset="0"/>
                <a:cs typeface="Calibri" panose="020F0502020204030204" pitchFamily="34" charset="0"/>
              </a:rPr>
              <a:t> 2013. </a:t>
            </a:r>
            <a:endParaRPr lang="en-US" sz="2200" dirty="0"/>
          </a:p>
          <a:p>
            <a:pPr marL="0" indent="0">
              <a:buNone/>
            </a:pPr>
            <a:endParaRPr lang="en-US" sz="2200" dirty="0"/>
          </a:p>
          <a:p>
            <a:r>
              <a:rPr lang="en-US" sz="2200" dirty="0"/>
              <a:t>E-book link</a:t>
            </a:r>
          </a:p>
          <a:p>
            <a:r>
              <a:rPr lang="en-US" sz="2200" dirty="0">
                <a:hlinkClick r:id="rId2"/>
              </a:rPr>
              <a:t>https://archive.org/details/cloudcomputingbi0000sosi</a:t>
            </a:r>
            <a:endParaRPr lang="en-US" sz="2200" dirty="0"/>
          </a:p>
          <a:p>
            <a:pPr marL="0" indent="0">
              <a:buNone/>
            </a:pPr>
            <a:endParaRPr lang="en-US" sz="2200" dirty="0"/>
          </a:p>
          <a:p>
            <a:r>
              <a:rPr lang="en-US" sz="2200" dirty="0"/>
              <a:t>YouTube link</a:t>
            </a:r>
          </a:p>
          <a:p>
            <a:r>
              <a:rPr lang="en-US" sz="2200" dirty="0">
                <a:hlinkClick r:id="rId3"/>
              </a:rPr>
              <a:t>https://www.youtube.com/@cloudcomputing351/videos</a:t>
            </a:r>
            <a:endParaRPr lang="en-US" sz="2200" dirty="0"/>
          </a:p>
          <a:p>
            <a:pPr marL="0" indent="0">
              <a:buNone/>
            </a:pPr>
            <a:endParaRPr lang="en-US" sz="2200" dirty="0"/>
          </a:p>
          <a:p>
            <a:pPr>
              <a:buFont typeface="Wingdings" pitchFamily="2" charset="2"/>
              <a:buChar char="Ø"/>
            </a:pPr>
            <a:r>
              <a:rPr lang="en-US" sz="2200" dirty="0">
                <a:hlinkClick r:id="rId4"/>
              </a:rPr>
              <a:t>https://www.slideshare.net/slideshow/cloud-migration-presentation-246744264/246744264?from_action=download&amp;slideshow_id=246744264&amp;original_file=true</a:t>
            </a:r>
            <a:endParaRPr lang="en-US" sz="2200" dirty="0"/>
          </a:p>
          <a:p>
            <a:pPr>
              <a:buFont typeface="Wingdings" pitchFamily="2" charset="2"/>
              <a:buChar char="Ø"/>
            </a:pPr>
            <a:r>
              <a:rPr lang="en-IN" sz="2200" dirty="0">
                <a:hlinkClick r:id="rId5"/>
              </a:rPr>
              <a:t>https://www.geeksforgeeks.org/7-steps-of-migrating-model-in-cloud/</a:t>
            </a:r>
            <a:endParaRPr lang="en-IN" sz="2200" dirty="0"/>
          </a:p>
          <a:p>
            <a:pPr>
              <a:buFont typeface="Wingdings" pitchFamily="2" charset="2"/>
              <a:buChar char="Ø"/>
            </a:pPr>
            <a:r>
              <a:rPr lang="en-IN" sz="2200" dirty="0">
                <a:hlinkClick r:id="rId6"/>
              </a:rPr>
              <a:t>https://nptel.ac.in/courses/106105167</a:t>
            </a:r>
            <a:endParaRPr lang="en-US" sz="2200" dirty="0"/>
          </a:p>
          <a:p>
            <a:pPr>
              <a:buFont typeface="Wingdings" pitchFamily="2" charset="2"/>
              <a:buChar char="Ø"/>
            </a:pPr>
            <a:r>
              <a:rPr lang="en-IN" sz="2200" dirty="0">
                <a:hlinkClick r:id="rId7"/>
              </a:rPr>
              <a:t>https://www.edx.org/learn/cloud-computing</a:t>
            </a:r>
            <a:endParaRPr lang="en-US" sz="2200" dirty="0"/>
          </a:p>
          <a:p>
            <a:pPr>
              <a:buFont typeface="Wingdings" pitchFamily="2" charset="2"/>
              <a:buChar char="Ø"/>
            </a:pPr>
            <a:endParaRPr lang="en-IN" sz="1800" dirty="0"/>
          </a:p>
        </p:txBody>
      </p:sp>
      <p:sp>
        <p:nvSpPr>
          <p:cNvPr id="5" name="Footer Placeholder 4">
            <a:extLst>
              <a:ext uri="{FF2B5EF4-FFF2-40B4-BE49-F238E27FC236}">
                <a16:creationId xmlns:a16="http://schemas.microsoft.com/office/drawing/2014/main" id="{92F3DE2F-1A03-19B7-553F-796BD1308668}"/>
              </a:ext>
            </a:extLst>
          </p:cNvPr>
          <p:cNvSpPr>
            <a:spLocks noGrp="1"/>
          </p:cNvSpPr>
          <p:nvPr>
            <p:ph type="ftr" sz="quarter" idx="11"/>
          </p:nvPr>
        </p:nvSpPr>
        <p:spPr/>
        <p:txBody>
          <a:bodyPr/>
          <a:lstStyle/>
          <a:p>
            <a:r>
              <a:rPr lang="en-US" dirty="0"/>
              <a:t>Department of Computer Application</a:t>
            </a:r>
          </a:p>
        </p:txBody>
      </p:sp>
      <p:sp>
        <p:nvSpPr>
          <p:cNvPr id="6" name="Slide Number Placeholder 5">
            <a:extLst>
              <a:ext uri="{FF2B5EF4-FFF2-40B4-BE49-F238E27FC236}">
                <a16:creationId xmlns:a16="http://schemas.microsoft.com/office/drawing/2014/main" id="{B9B09F22-1813-5651-3629-61D46B882929}"/>
              </a:ext>
            </a:extLst>
          </p:cNvPr>
          <p:cNvSpPr>
            <a:spLocks noGrp="1"/>
          </p:cNvSpPr>
          <p:nvPr>
            <p:ph type="sldNum" sz="quarter" idx="12"/>
          </p:nvPr>
        </p:nvSpPr>
        <p:spPr/>
        <p:txBody>
          <a:bodyPr/>
          <a:lstStyle/>
          <a:p>
            <a:fld id="{7B69A187-1465-481C-91D5-B2B7D79C567F}" type="slidenum">
              <a:rPr lang="en-US" smtClean="0"/>
              <a:pPr/>
              <a:t>17</a:t>
            </a:fld>
            <a:endParaRPr lang="en-US"/>
          </a:p>
        </p:txBody>
      </p:sp>
      <p:pic>
        <p:nvPicPr>
          <p:cNvPr id="3" name="Picture 2">
            <a:extLst>
              <a:ext uri="{FF2B5EF4-FFF2-40B4-BE49-F238E27FC236}">
                <a16:creationId xmlns:a16="http://schemas.microsoft.com/office/drawing/2014/main" id="{DC499693-794D-B053-BA4D-BAB163D114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4" name="Picture 3">
            <a:extLst>
              <a:ext uri="{FF2B5EF4-FFF2-40B4-BE49-F238E27FC236}">
                <a16:creationId xmlns:a16="http://schemas.microsoft.com/office/drawing/2014/main" id="{3A709E1B-BC09-155B-1313-8050BA7DA136}"/>
              </a:ext>
            </a:extLst>
          </p:cNvPr>
          <p:cNvPicPr>
            <a:picLocks noChangeAspect="1"/>
          </p:cNvPicPr>
          <p:nvPr/>
        </p:nvPicPr>
        <p:blipFill>
          <a:blip r:embed="rId9"/>
          <a:stretch>
            <a:fillRect/>
          </a:stretch>
        </p:blipFill>
        <p:spPr>
          <a:xfrm>
            <a:off x="7290715" y="72947"/>
            <a:ext cx="1782539" cy="530631"/>
          </a:xfrm>
          <a:prstGeom prst="rect">
            <a:avLst/>
          </a:prstGeom>
        </p:spPr>
      </p:pic>
    </p:spTree>
    <p:extLst>
      <p:ext uri="{BB962C8B-B14F-4D97-AF65-F5344CB8AC3E}">
        <p14:creationId xmlns:p14="http://schemas.microsoft.com/office/powerpoint/2010/main" val="19982011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2C813A83-4CF3-4942-8C24-169E11C40466}"/>
              </a:ext>
            </a:extLst>
          </p:cNvPr>
          <p:cNvSpPr/>
          <p:nvPr/>
        </p:nvSpPr>
        <p:spPr>
          <a:xfrm>
            <a:off x="555172" y="1493556"/>
            <a:ext cx="8229600" cy="2961536"/>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algn="ctr" defTabSz="685800">
              <a:defRPr/>
            </a:pPr>
            <a:r>
              <a:rPr lang="en-US" sz="1350" dirty="0">
                <a:solidFill>
                  <a:prstClr val="white"/>
                </a:solidFill>
                <a:latin typeface="Calibri Light"/>
              </a:rPr>
              <a:t> </a:t>
            </a:r>
          </a:p>
        </p:txBody>
      </p:sp>
      <p:sp>
        <p:nvSpPr>
          <p:cNvPr id="9" name="Title 1"/>
          <p:cNvSpPr txBox="1">
            <a:spLocks/>
          </p:cNvSpPr>
          <p:nvPr/>
        </p:nvSpPr>
        <p:spPr>
          <a:xfrm>
            <a:off x="1100139" y="2236198"/>
            <a:ext cx="8043861" cy="1154162"/>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defTabSz="685800">
              <a:lnSpc>
                <a:spcPct val="100000"/>
              </a:lnSpc>
              <a:defRPr/>
            </a:pPr>
            <a:r>
              <a:rPr lang="en-US" sz="6000" dirty="0">
                <a:solidFill>
                  <a:prstClr val="white"/>
                </a:solidFill>
                <a:latin typeface="Casper" panose="02000506000000020004" pitchFamily="2" charset="0"/>
                <a:ea typeface="Segoe UI" panose="020B0502040204020203" pitchFamily="34" charset="0"/>
                <a:cs typeface="Segoe UI" panose="020B0502040204020203" pitchFamily="34" charset="0"/>
              </a:rPr>
              <a:t>THANK YOU</a:t>
            </a:r>
          </a:p>
          <a:p>
            <a:pPr algn="ctr" defTabSz="685800">
              <a:lnSpc>
                <a:spcPct val="100000"/>
              </a:lnSpc>
              <a:defRPr/>
            </a:pPr>
            <a:r>
              <a:rPr lang="en-US" sz="1500" dirty="0">
                <a:solidFill>
                  <a:prstClr val="white"/>
                </a:solidFill>
                <a:latin typeface="Casper" panose="02000506000000020004" pitchFamily="2" charset="0"/>
                <a:ea typeface="Segoe UI" panose="020B0502040204020203" pitchFamily="34" charset="0"/>
                <a:cs typeface="Segoe UI" panose="020B0502040204020203" pitchFamily="34" charset="0"/>
              </a:rPr>
              <a:t>     </a:t>
            </a:r>
          </a:p>
        </p:txBody>
      </p:sp>
      <p:sp>
        <p:nvSpPr>
          <p:cNvPr id="22" name="Diamond 6">
            <a:extLst>
              <a:ext uri="{FF2B5EF4-FFF2-40B4-BE49-F238E27FC236}">
                <a16:creationId xmlns:a16="http://schemas.microsoft.com/office/drawing/2014/main" id="{AFBA4B1A-59E0-42F9-8062-FE9B4E00A99F}"/>
              </a:ext>
            </a:extLst>
          </p:cNvPr>
          <p:cNvSpPr/>
          <p:nvPr/>
        </p:nvSpPr>
        <p:spPr>
          <a:xfrm>
            <a:off x="1765409" y="1678802"/>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3" name="Diamond 6">
            <a:extLst>
              <a:ext uri="{FF2B5EF4-FFF2-40B4-BE49-F238E27FC236}">
                <a16:creationId xmlns:a16="http://schemas.microsoft.com/office/drawing/2014/main" id="{4F0CA98B-3337-4AC3-8305-ED6C9C731FFB}"/>
              </a:ext>
            </a:extLst>
          </p:cNvPr>
          <p:cNvSpPr/>
          <p:nvPr/>
        </p:nvSpPr>
        <p:spPr>
          <a:xfrm>
            <a:off x="1981199" y="1663837"/>
            <a:ext cx="1822847" cy="241935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algn="ctr" defTabSz="685800">
              <a:defRPr/>
            </a:pPr>
            <a:endParaRPr lang="en-US" sz="1350">
              <a:solidFill>
                <a:prstClr val="white"/>
              </a:solidFill>
              <a:latin typeface="Calibri Light"/>
            </a:endParaRPr>
          </a:p>
        </p:txBody>
      </p:sp>
      <p:sp>
        <p:nvSpPr>
          <p:cNvPr id="2" name="Title 1">
            <a:extLst>
              <a:ext uri="{FF2B5EF4-FFF2-40B4-BE49-F238E27FC236}">
                <a16:creationId xmlns:a16="http://schemas.microsoft.com/office/drawing/2014/main" id="{161270E5-2B30-EF6D-D9AC-BE8AF96ED308}"/>
              </a:ext>
            </a:extLst>
          </p:cNvPr>
          <p:cNvSpPr>
            <a:spLocks noGrp="1"/>
          </p:cNvSpPr>
          <p:nvPr>
            <p:ph type="title"/>
          </p:nvPr>
        </p:nvSpPr>
        <p:spPr/>
        <p:txBody>
          <a:bodyPr>
            <a:normAutofit fontScale="90000"/>
          </a:bodyPr>
          <a:lstStyle/>
          <a:p>
            <a:br>
              <a:rPr lang="en-IN" dirty="0"/>
            </a:br>
            <a:br>
              <a:rPr lang="en-IN" dirty="0"/>
            </a:br>
            <a:endParaRPr lang="en-IN" dirty="0"/>
          </a:p>
        </p:txBody>
      </p:sp>
      <p:sp>
        <p:nvSpPr>
          <p:cNvPr id="10" name="Footer Placeholder 1"/>
          <p:cNvSpPr>
            <a:spLocks noGrp="1"/>
          </p:cNvSpPr>
          <p:nvPr>
            <p:ph type="ftr" sz="quarter" idx="11"/>
          </p:nvPr>
        </p:nvSpPr>
        <p:spPr/>
        <p:txBody>
          <a:bodyPr/>
          <a:lstStyle/>
          <a:p>
            <a:r>
              <a:rPr lang="en-US" dirty="0"/>
              <a:t>Department of Computer Application</a:t>
            </a:r>
          </a:p>
        </p:txBody>
      </p:sp>
      <p:sp>
        <p:nvSpPr>
          <p:cNvPr id="6" name="Slide Number Placeholder 5"/>
          <p:cNvSpPr>
            <a:spLocks noGrp="1"/>
          </p:cNvSpPr>
          <p:nvPr>
            <p:ph type="sldNum" sz="quarter" idx="12"/>
          </p:nvPr>
        </p:nvSpPr>
        <p:spPr/>
        <p:txBody>
          <a:bodyPr/>
          <a:lstStyle/>
          <a:p>
            <a:fld id="{FC9A48AB-23F1-45F1-98E5-D2CDC7A5261D}" type="slidenum">
              <a:rPr lang="en-US" sz="1050" b="1">
                <a:solidFill>
                  <a:schemeClr val="tx1"/>
                </a:solidFill>
              </a:rPr>
              <a:pPr/>
              <a:t>18</a:t>
            </a:fld>
            <a:endParaRPr lang="en-US" sz="1050" b="1" dirty="0">
              <a:solidFill>
                <a:schemeClr val="tx1"/>
              </a:solidFill>
            </a:endParaRPr>
          </a:p>
        </p:txBody>
      </p:sp>
      <p:pic>
        <p:nvPicPr>
          <p:cNvPr id="4" name="Picture 3">
            <a:extLst>
              <a:ext uri="{FF2B5EF4-FFF2-40B4-BE49-F238E27FC236}">
                <a16:creationId xmlns:a16="http://schemas.microsoft.com/office/drawing/2014/main" id="{5BB2CC9A-2712-B006-617B-C8D88C0D231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575" y="70037"/>
            <a:ext cx="2564258" cy="718788"/>
          </a:xfrm>
          <a:prstGeom prst="rect">
            <a:avLst/>
          </a:prstGeom>
        </p:spPr>
      </p:pic>
      <p:pic>
        <p:nvPicPr>
          <p:cNvPr id="7" name="Picture 6">
            <a:extLst>
              <a:ext uri="{FF2B5EF4-FFF2-40B4-BE49-F238E27FC236}">
                <a16:creationId xmlns:a16="http://schemas.microsoft.com/office/drawing/2014/main" id="{A658BBB4-BE5B-5C94-999C-C3EA364BE13C}"/>
              </a:ext>
            </a:extLst>
          </p:cNvPr>
          <p:cNvPicPr>
            <a:picLocks noChangeAspect="1"/>
          </p:cNvPicPr>
          <p:nvPr/>
        </p:nvPicPr>
        <p:blipFill>
          <a:blip r:embed="rId3"/>
          <a:stretch>
            <a:fillRect/>
          </a:stretch>
        </p:blipFill>
        <p:spPr>
          <a:xfrm>
            <a:off x="7290715" y="72947"/>
            <a:ext cx="1782539" cy="530631"/>
          </a:xfrm>
          <a:prstGeom prst="rect">
            <a:avLst/>
          </a:prstGeom>
        </p:spPr>
      </p:pic>
    </p:spTree>
    <p:extLst>
      <p:ext uri="{BB962C8B-B14F-4D97-AF65-F5344CB8AC3E}">
        <p14:creationId xmlns:p14="http://schemas.microsoft.com/office/powerpoint/2010/main" val="33001136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257</TotalTime>
  <Words>1234</Words>
  <Application>Microsoft Office PowerPoint</Application>
  <PresentationFormat>On-screen Show (16:9)</PresentationFormat>
  <Paragraphs>156</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Calibri Light</vt:lpstr>
      <vt:lpstr>Casper</vt:lpstr>
      <vt:lpstr>Times New Roman</vt:lpstr>
      <vt:lpstr>Wingdings</vt:lpstr>
      <vt:lpstr>Office Theme</vt:lpstr>
      <vt:lpstr>PowerPoint Presentation</vt:lpstr>
      <vt:lpstr>Outlines</vt:lpstr>
      <vt:lpstr>PTU Syllabus of Unit-I</vt:lpstr>
      <vt:lpstr>Key objectives or learning outcomes</vt:lpstr>
      <vt:lpstr>CO Introduction</vt:lpstr>
      <vt:lpstr>Topic Overview</vt:lpstr>
      <vt:lpstr>Brief of what the presentation will</vt:lpstr>
      <vt:lpstr>Importance of the topic</vt:lpstr>
      <vt:lpstr>Detail Topics</vt:lpstr>
      <vt:lpstr>Virtualization</vt:lpstr>
      <vt:lpstr>Taxonomy of Virtualization Techniques</vt:lpstr>
      <vt:lpstr>Hardware Virtualization</vt:lpstr>
      <vt:lpstr>Software Virtualization</vt:lpstr>
      <vt:lpstr>Storage Virtualization</vt:lpstr>
      <vt:lpstr>Virtualization vs. Cloud computing</vt:lpstr>
      <vt:lpstr>Summary</vt:lpstr>
      <vt:lpstr>References</vt:lpstr>
      <vt:lpst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gurvir kaur</cp:lastModifiedBy>
  <cp:revision>18</cp:revision>
  <dcterms:created xsi:type="dcterms:W3CDTF">2024-12-06T17:10:37Z</dcterms:created>
  <dcterms:modified xsi:type="dcterms:W3CDTF">2024-12-19T17:10:50Z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2019-10-25T00:00:00Z</vt:filetime>
  </property>
  <property fmtid="{D5CDD505-2E9C-101B-9397-08002B2CF9AE}" pid="3" name="LastSaved">
    <vt:filetime>2024-12-06T00:00:00Z</vt:filetime>
  </property>
</Properties>
</file>