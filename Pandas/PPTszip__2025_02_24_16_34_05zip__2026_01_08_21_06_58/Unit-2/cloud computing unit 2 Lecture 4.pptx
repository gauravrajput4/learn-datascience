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0"/>
  </p:notesMasterIdLst>
  <p:sldIdLst>
    <p:sldId id="390" r:id="rId2"/>
    <p:sldId id="413" r:id="rId3"/>
    <p:sldId id="414" r:id="rId4"/>
    <p:sldId id="420" r:id="rId5"/>
    <p:sldId id="415" r:id="rId6"/>
    <p:sldId id="416" r:id="rId7"/>
    <p:sldId id="417" r:id="rId8"/>
    <p:sldId id="418" r:id="rId9"/>
    <p:sldId id="419" r:id="rId10"/>
    <p:sldId id="275" r:id="rId11"/>
    <p:sldId id="276" r:id="rId12"/>
    <p:sldId id="277" r:id="rId13"/>
    <p:sldId id="278" r:id="rId14"/>
    <p:sldId id="423" r:id="rId15"/>
    <p:sldId id="424" r:id="rId16"/>
    <p:sldId id="421" r:id="rId17"/>
    <p:sldId id="422" r:id="rId18"/>
    <p:sldId id="352" r:id="rId19"/>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12/19/2024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12/19/2024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12/19/2024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12/19/2024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12/19/2024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12/19/2024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12/19/2024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12/19/2024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12/19/2024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12/19/2024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dirty="0"/>
              <a:t>Department of Computer Application</a:t>
            </a:r>
          </a:p>
          <a:p>
            <a:endParaRPr lang="en-US" dirty="0"/>
          </a:p>
        </p:txBody>
      </p:sp>
      <p:sp>
        <p:nvSpPr>
          <p:cNvPr id="6" name="Holder 6"/>
          <p:cNvSpPr>
            <a:spLocks noGrp="1"/>
          </p:cNvSpPr>
          <p:nvPr>
            <p:ph type="dt" sz="half" idx="6"/>
          </p:nvPr>
        </p:nvSpPr>
        <p:spPr>
          <a:xfrm>
            <a:off x="628650" y="4767263"/>
            <a:ext cx="2057400" cy="273844"/>
          </a:xfrm>
          <a:prstGeom prst="rect">
            <a:avLst/>
          </a:prstGeom>
        </p:spPr>
        <p:txBody>
          <a:bodyPr lIns="0" tIns="0" rIns="0" bIns="0"/>
          <a:lstStyle>
            <a:lvl1pPr algn="l">
              <a:defRPr>
                <a:solidFill>
                  <a:schemeClr val="tx1">
                    <a:tint val="75000"/>
                  </a:schemeClr>
                </a:solidFill>
              </a:defRPr>
            </a:lvl1pPr>
          </a:lstStyle>
          <a:p>
            <a:fld id="{788592C8-5D7C-4B56-AA77-C624EA73FAD7}" type="datetime1">
              <a:rPr lang="en-US" smtClean="0"/>
              <a:t>12/19/2024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305134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geeksforgeeks.org/7-steps-of-migrating-model-in-cloud/" TargetMode="External"/><Relationship Id="rId4" Type="http://schemas.openxmlformats.org/officeDocument/2006/relationships/hyperlink" Target="https://www.slideshare.net/slideshow/cloud-migration-presentation-246744264/246744264?from_action=download&amp;slideshow_id=246744264&amp;original_file=true" TargetMode="Externa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3200" b="1" dirty="0"/>
              <a:t>Chandigarh School of Business, Jhanjeri</a:t>
            </a:r>
          </a:p>
          <a:p>
            <a:pPr marL="0" indent="0" algn="ctr">
              <a:buNone/>
            </a:pPr>
            <a:r>
              <a:rPr lang="en-US" sz="2800" b="1" dirty="0"/>
              <a:t>Department of Computer Application </a:t>
            </a:r>
          </a:p>
          <a:p>
            <a:pPr marL="0" indent="0" algn="ctr">
              <a:buNone/>
            </a:pPr>
            <a:r>
              <a:rPr lang="en-US" sz="2000" b="1" dirty="0"/>
              <a:t>Program Code: NA</a:t>
            </a:r>
          </a:p>
          <a:p>
            <a:pPr marL="0" indent="0" algn="ctr">
              <a:buNone/>
            </a:pPr>
            <a:r>
              <a:rPr lang="en-US" sz="2000" b="1" dirty="0"/>
              <a:t>Program Name: MCA</a:t>
            </a:r>
          </a:p>
          <a:p>
            <a:pPr marL="0" indent="0" algn="ctr">
              <a:buNone/>
            </a:pPr>
            <a:r>
              <a:rPr lang="en-US" sz="2000" b="1" dirty="0"/>
              <a:t>Course Code: </a:t>
            </a:r>
            <a:r>
              <a:rPr lang="en-US" sz="2000" b="1" i="0" u="none" strike="noStrike" baseline="0" dirty="0">
                <a:solidFill>
                  <a:srgbClr val="000000"/>
                </a:solidFill>
              </a:rPr>
              <a:t>PGCA1937 </a:t>
            </a:r>
            <a:r>
              <a:rPr lang="en-US" sz="2000" b="1" dirty="0">
                <a:solidFill>
                  <a:srgbClr val="000000"/>
                </a:solidFill>
              </a:rPr>
              <a:t> </a:t>
            </a:r>
            <a:endParaRPr lang="en-US" sz="2000" b="1" dirty="0"/>
          </a:p>
          <a:p>
            <a:pPr marL="0" indent="0" algn="ctr">
              <a:buNone/>
            </a:pPr>
            <a:r>
              <a:rPr lang="en-US" sz="2000" b="1" dirty="0"/>
              <a:t>Course Name: </a:t>
            </a:r>
            <a:r>
              <a:rPr lang="en-US" sz="2000" b="1" i="0" u="none" strike="noStrike" baseline="0" dirty="0">
                <a:solidFill>
                  <a:srgbClr val="000000"/>
                </a:solidFill>
              </a:rPr>
              <a:t>Cloud Computing</a:t>
            </a:r>
            <a:r>
              <a:rPr lang="en-US" sz="1800" b="1" i="0" u="none" strike="noStrike" baseline="0" dirty="0">
                <a:solidFill>
                  <a:srgbClr val="000000"/>
                </a:solidFill>
              </a:rPr>
              <a:t>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a:xfrm>
            <a:off x="628650" y="1200150"/>
            <a:ext cx="7886700" cy="3432573"/>
          </a:xfrm>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228600" y="788825"/>
            <a:ext cx="8610600" cy="4068925"/>
          </a:xfrm>
        </p:spPr>
        <p:txBody>
          <a:bodyPr>
            <a:normAutofit fontScale="25000" lnSpcReduction="20000"/>
          </a:bodyPr>
          <a:lstStyle/>
          <a:p>
            <a:pPr marL="0" indent="0" algn="ctr">
              <a:buNone/>
            </a:pPr>
            <a:r>
              <a:rPr lang="en-US" sz="6800" b="1" dirty="0">
                <a:solidFill>
                  <a:srgbClr val="000000"/>
                </a:solidFill>
              </a:rPr>
              <a:t>Part-A</a:t>
            </a:r>
            <a:endParaRPr lang="en-US" sz="6800" dirty="0">
              <a:solidFill>
                <a:srgbClr val="000000"/>
              </a:solidFill>
            </a:endParaRPr>
          </a:p>
          <a:p>
            <a:pPr algn="just">
              <a:lnSpc>
                <a:spcPct val="120000"/>
              </a:lnSpc>
            </a:pPr>
            <a:r>
              <a:rPr lang="en-US" sz="6800" b="1" i="0" u="none" strike="noStrike" baseline="0" dirty="0">
                <a:solidFill>
                  <a:srgbClr val="000000"/>
                </a:solidFill>
              </a:rPr>
              <a:t>Overview of Computing Paradigm: </a:t>
            </a:r>
            <a:r>
              <a:rPr lang="en-US" sz="6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6800" b="1" i="0" u="none" strike="noStrike" baseline="0" dirty="0">
                <a:solidFill>
                  <a:srgbClr val="000000"/>
                </a:solidFill>
              </a:rPr>
              <a:t>Introduction to Cloud Computing: </a:t>
            </a:r>
            <a:r>
              <a:rPr lang="en-US" sz="6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6800" b="1" i="0" u="none" strike="noStrike" baseline="0" dirty="0">
                <a:solidFill>
                  <a:srgbClr val="000000"/>
                </a:solidFill>
              </a:rPr>
              <a:t>Migrating into a Cloud: </a:t>
            </a:r>
            <a:r>
              <a:rPr lang="en-US" sz="6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6800" b="1" i="0" u="none" strike="noStrike" baseline="0" dirty="0">
                <a:solidFill>
                  <a:srgbClr val="000000"/>
                </a:solidFill>
              </a:rPr>
              <a:t>Virtualization: </a:t>
            </a:r>
            <a:r>
              <a:rPr lang="en-US" sz="6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6800" b="1" i="0" u="none" strike="noStrike" baseline="0" dirty="0">
                <a:solidFill>
                  <a:srgbClr val="000000"/>
                </a:solidFill>
              </a:rPr>
              <a:t>Capacity Planning: </a:t>
            </a:r>
            <a:r>
              <a:rPr lang="en-US" sz="6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3200" b="1" kern="0" dirty="0">
                <a:latin typeface="+mn-lt"/>
              </a:rPr>
              <a:t>Key objectives or learning outcomes</a:t>
            </a:r>
            <a:endParaRPr lang="en-IN" sz="32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latin typeface="+mn-lt"/>
              </a:rPr>
              <a:t>CO Introduction</a:t>
            </a:r>
            <a:endParaRPr lang="en-IN" sz="3200" dirty="0">
              <a:latin typeface="+mn-lt"/>
            </a:endParaRPr>
          </a:p>
        </p:txBody>
      </p:sp>
      <p:graphicFrame>
        <p:nvGraphicFramePr>
          <p:cNvPr id="10" name="Content Placeholder 9"/>
          <p:cNvGraphicFramePr>
            <a:graphicFrameLocks noGrp="1"/>
          </p:cNvGraphicFramePr>
          <p:nvPr>
            <p:ph idx="1"/>
          </p:nvPr>
        </p:nvGraphicFramePr>
        <p:xfrm>
          <a:off x="635741" y="1056233"/>
          <a:ext cx="7764059" cy="391951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CO2</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Migrating into a Cloud:</a:t>
                      </a:r>
                      <a:r>
                        <a:rPr lang="en-US" sz="1800" b="0" i="0" u="none" strike="noStrike" kern="1200" baseline="0" dirty="0">
                          <a:solidFill>
                            <a:schemeClr val="tx1"/>
                          </a:solidFill>
                          <a:latin typeface="+mn-lt"/>
                          <a:ea typeface="+mn-ea"/>
                          <a:cs typeface="+mn-cs"/>
                        </a:rPr>
                        <a:t> Introduction, Broad approaches to Migrating into the Cloud, The Seven-Step Model of Migration Into a Cloud.</a:t>
                      </a:r>
                    </a:p>
                    <a:p>
                      <a:pPr algn="just"/>
                      <a:r>
                        <a:rPr lang="en-US" sz="1800" b="1" i="0" u="none" strike="noStrike" kern="1200" baseline="0" dirty="0">
                          <a:solidFill>
                            <a:schemeClr val="tx1"/>
                          </a:solidFill>
                          <a:latin typeface="+mn-lt"/>
                          <a:ea typeface="+mn-ea"/>
                          <a:cs typeface="+mn-cs"/>
                        </a:rPr>
                        <a:t>Virtualization: </a:t>
                      </a:r>
                      <a:r>
                        <a:rPr lang="en-US" sz="1800" b="0" i="0" u="none" strike="noStrike" kern="1200" baseline="0" dirty="0">
                          <a:solidFill>
                            <a:schemeClr val="tx1"/>
                          </a:solidFill>
                          <a:latin typeface="+mn-lt"/>
                          <a:ea typeface="+mn-ea"/>
                          <a:cs typeface="+mn-cs"/>
                        </a:rPr>
                        <a:t>Introduction, Characteristics of Virtualized environment, Taxonomy of Virtualization techniques, Virtualization and Cloud Computing, Pros and Cons of Virtualization, Technology Examples- Xen, VMware, Microsoft Hyper-V.</a:t>
                      </a:r>
                    </a:p>
                    <a:p>
                      <a:pPr algn="just"/>
                      <a:r>
                        <a:rPr lang="en-US" sz="1800" b="1" i="0" u="none" strike="noStrike" kern="1200" baseline="0" dirty="0">
                          <a:solidFill>
                            <a:schemeClr val="tx1"/>
                          </a:solidFill>
                          <a:latin typeface="+mn-lt"/>
                          <a:ea typeface="+mn-ea"/>
                          <a:cs typeface="+mn-cs"/>
                        </a:rPr>
                        <a:t>Capacity Planning: </a:t>
                      </a:r>
                      <a:r>
                        <a:rPr lang="en-US" sz="1800" b="0" i="0" u="none" strike="noStrike" kern="1200" baseline="0" dirty="0">
                          <a:solidFill>
                            <a:schemeClr val="tx1"/>
                          </a:solidFill>
                          <a:latin typeface="+mn-lt"/>
                          <a:ea typeface="+mn-ea"/>
                          <a:cs typeface="+mn-cs"/>
                        </a:rPr>
                        <a:t>Introduction, Defining Baseline and Metrics-Baseline Measurements, System Metrics, Load Testing, Resource Ceilings, Server and Instance types; Network Capacity, Scaling.</a:t>
                      </a:r>
                      <a:endParaRPr lang="en-US" sz="1350" b="0" i="0" u="none" strike="noStrike" kern="1200" baseline="0" dirty="0">
                        <a:solidFill>
                          <a:schemeClr val="tx1"/>
                        </a:solidFill>
                        <a:latin typeface="+mn-lt"/>
                        <a:ea typeface="+mn-ea"/>
                        <a:cs typeface="+mn-cs"/>
                      </a:endParaRP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3231009" cy="857250"/>
          </a:xfrm>
        </p:spPr>
        <p:txBody>
          <a:bodyPr>
            <a:noAutofit/>
          </a:bodyPr>
          <a:lstStyle/>
          <a:p>
            <a:r>
              <a:rPr lang="en-IN" sz="3200" b="1" kern="0" dirty="0">
                <a:latin typeface="+mn-lt"/>
              </a:rPr>
              <a:t>Topic Overview</a:t>
            </a:r>
            <a:endParaRPr lang="en-IN" sz="32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927190"/>
            <a:ext cx="8229600" cy="4023805"/>
          </a:xfrm>
        </p:spPr>
        <p:txBody>
          <a:bodyPr>
            <a:noAutofit/>
          </a:bodyPr>
          <a:lstStyle/>
          <a:p>
            <a:pPr algn="just">
              <a:lnSpc>
                <a:spcPct val="150000"/>
              </a:lnSpc>
            </a:pPr>
            <a:r>
              <a:rPr lang="en-US" sz="1800" dirty="0"/>
              <a:t>Virtualization is the process of creating virtual versions of physical hardware, enabling multiple operating systems or applications to run on a single machine. </a:t>
            </a:r>
          </a:p>
          <a:p>
            <a:pPr algn="just">
              <a:lnSpc>
                <a:spcPct val="150000"/>
              </a:lnSpc>
            </a:pPr>
            <a:r>
              <a:rPr lang="en-US" sz="1800" dirty="0"/>
              <a:t>It is characterized by scalability, resource optimization, isolation, and abstraction. </a:t>
            </a:r>
          </a:p>
          <a:p>
            <a:pPr algn="just">
              <a:lnSpc>
                <a:spcPct val="150000"/>
              </a:lnSpc>
            </a:pPr>
            <a:r>
              <a:rPr lang="en-US" sz="1800" dirty="0"/>
              <a:t>Virtualization techniques include hardware, software, and network virtualization, forming the foundation for cloud computing by enhancing efficiency and flexibility. </a:t>
            </a:r>
          </a:p>
          <a:p>
            <a:pPr algn="just">
              <a:lnSpc>
                <a:spcPct val="150000"/>
              </a:lnSpc>
            </a:pPr>
            <a:r>
              <a:rPr lang="en-US" sz="1800" dirty="0"/>
              <a:t>Examples include technologies like Xen, VMware, and Microsoft Hyper-V, each offering unique features and use cases while presenting pros such as cost savings and cons like potential performance overhead.</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487107" y="70037"/>
            <a:ext cx="5000616" cy="857250"/>
          </a:xfrm>
        </p:spPr>
        <p:txBody>
          <a:bodyPr>
            <a:noAutofit/>
          </a:bodyPr>
          <a:lstStyle/>
          <a:p>
            <a:pPr algn="ctr"/>
            <a:r>
              <a:rPr lang="en-US" altLang="en-US" sz="2800" b="1" kern="0" dirty="0"/>
              <a:t>Brief of what the presentation will</a:t>
            </a:r>
            <a:endParaRPr lang="en-IN" sz="28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a:xfrm>
            <a:off x="628650" y="1240618"/>
            <a:ext cx="7886700" cy="3263504"/>
          </a:xfrm>
        </p:spPr>
        <p:txBody>
          <a:bodyPr>
            <a:normAutofit/>
          </a:bodyPr>
          <a:lstStyle/>
          <a:p>
            <a:pPr marL="0" indent="0">
              <a:buNone/>
            </a:pPr>
            <a:r>
              <a:rPr lang="en-US" sz="2400" dirty="0"/>
              <a:t>The presentation will cover the following points:</a:t>
            </a:r>
          </a:p>
          <a:p>
            <a:pPr>
              <a:buFont typeface="+mj-lt"/>
              <a:buAutoNum type="arabicPeriod"/>
            </a:pPr>
            <a:r>
              <a:rPr lang="en-US" sz="2400" b="1" i="0" u="none" strike="noStrike" baseline="0" dirty="0">
                <a:solidFill>
                  <a:srgbClr val="000000"/>
                </a:solidFill>
              </a:rPr>
              <a:t>Virtualization: </a:t>
            </a:r>
          </a:p>
          <a:p>
            <a:pPr>
              <a:buFont typeface="+mj-lt"/>
              <a:buAutoNum type="arabicPeriod"/>
            </a:pPr>
            <a:r>
              <a:rPr lang="en-US" sz="2400" b="1" i="0" u="none" strike="noStrike" baseline="0" dirty="0">
                <a:solidFill>
                  <a:srgbClr val="000000"/>
                </a:solidFill>
              </a:rPr>
              <a:t>Introduction</a:t>
            </a:r>
          </a:p>
          <a:p>
            <a:pPr>
              <a:buFont typeface="+mj-lt"/>
              <a:buAutoNum type="arabicPeriod"/>
            </a:pPr>
            <a:r>
              <a:rPr lang="en-US" sz="2400" b="1" i="0" u="none" strike="noStrike" baseline="0" dirty="0">
                <a:solidFill>
                  <a:srgbClr val="000000"/>
                </a:solidFill>
              </a:rPr>
              <a:t>Pros and Cons of Virtualization, </a:t>
            </a:r>
          </a:p>
          <a:p>
            <a:pPr>
              <a:buFont typeface="+mj-lt"/>
              <a:buAutoNum type="arabicPeriod"/>
            </a:pPr>
            <a:r>
              <a:rPr lang="en-US" sz="2400" b="1" i="0" u="none" strike="noStrike" baseline="0" dirty="0">
                <a:solidFill>
                  <a:srgbClr val="000000"/>
                </a:solidFill>
              </a:rPr>
              <a:t>Technology Examples- Xen, VMware, Microsoft Hyper-V. </a:t>
            </a:r>
            <a:r>
              <a:rPr lang="en-US" sz="1800" b="0" i="0" u="none" strike="noStrike" baseline="0" dirty="0">
                <a:solidFill>
                  <a:srgbClr val="000000"/>
                </a:solidFill>
                <a:latin typeface="Times New Roman" panose="02020603050405020304" pitchFamily="18" charset="0"/>
              </a:rPr>
              <a:t>	</a:t>
            </a:r>
          </a:p>
          <a:p>
            <a:pPr marL="0" indent="0">
              <a:buNone/>
            </a:pPr>
            <a:r>
              <a:rPr lang="en-US" sz="1800" b="0" i="0" u="none" strike="noStrike" baseline="0" dirty="0">
                <a:solidFill>
                  <a:srgbClr val="000000"/>
                </a:solidFill>
                <a:latin typeface="Times New Roman" panose="02020603050405020304" pitchFamily="18" charset="0"/>
              </a:rPr>
              <a:t>	</a:t>
            </a:r>
          </a:p>
          <a:p>
            <a:pPr marL="0" indent="0">
              <a:buNone/>
            </a:pPr>
            <a:r>
              <a:rPr lang="en-US" sz="2400" b="0" i="0" u="none" strike="noStrike" baseline="0" dirty="0">
                <a:solidFill>
                  <a:srgbClr val="000000"/>
                </a:solidFill>
              </a:rPr>
              <a:t>	</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
        <p:nvSpPr>
          <p:cNvPr id="8" name="Rectangle 1">
            <a:extLst>
              <a:ext uri="{FF2B5EF4-FFF2-40B4-BE49-F238E27FC236}">
                <a16:creationId xmlns:a16="http://schemas.microsoft.com/office/drawing/2014/main" id="{150DDFC4-917A-A478-130D-D5467A903408}"/>
              </a:ext>
            </a:extLst>
          </p:cNvPr>
          <p:cNvSpPr>
            <a:spLocks noGrp="1" noChangeArrowheads="1"/>
          </p:cNvSpPr>
          <p:nvPr>
            <p:ph idx="1"/>
          </p:nvPr>
        </p:nvSpPr>
        <p:spPr bwMode="auto">
          <a:xfrm>
            <a:off x="457200" y="707701"/>
            <a:ext cx="8229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Optimized Resource Utilization</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Virtualization maximizes hardware efficiency by running multiple virtual environments on a single physical system, reducing costs and improving scalability.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Foundation for Cloud Computing</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It enables dynamic provisioning, resource pooling, and flexibility, making it a key enabler for cloud computing infrastructure and services.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Technological Advancements and Versatility</a:t>
            </a:r>
            <a:r>
              <a:rPr kumimoji="0" lang="en-US" altLang="en-US" sz="2000"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With tools like Xen, VMware, and Microsoft Hyper-V, virtualization supports diverse use cases, including testing, development, disaster recovery, and workload isolation.</a:t>
            </a:r>
          </a:p>
        </p:txBody>
      </p:sp>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09600" y="895350"/>
            <a:ext cx="8001000" cy="3737373"/>
          </a:xfrm>
        </p:spPr>
        <p:txBody>
          <a:bodyPr>
            <a:normAutofit fontScale="92500" lnSpcReduction="20000"/>
          </a:bodyPr>
          <a:lstStyle/>
          <a:p>
            <a:pPr marL="0" indent="0" algn="just">
              <a:buNone/>
            </a:pPr>
            <a:r>
              <a:rPr lang="en-US" sz="2400" dirty="0"/>
              <a:t>Virtualization is the process of creating virtual versions of physical resources, such as servers, storage devices, or networks. It allows multiple operating systems or applications to run independently on the same hardware.</a:t>
            </a:r>
          </a:p>
          <a:p>
            <a:pPr algn="just"/>
            <a:endParaRPr lang="en-US" sz="2400" dirty="0"/>
          </a:p>
          <a:p>
            <a:pPr marL="0" indent="0" algn="just">
              <a:buNone/>
            </a:pPr>
            <a:r>
              <a:rPr lang="en-US" sz="2400" dirty="0"/>
              <a:t>The primary goal is to optimize resource utilization, reduce hardware dependency, and enable flexibility by abstracting the physical layer and presenting it as virtual instances.</a:t>
            </a:r>
          </a:p>
          <a:p>
            <a:pPr algn="just"/>
            <a:endParaRPr lang="en-US" sz="2400" dirty="0"/>
          </a:p>
          <a:p>
            <a:pPr algn="just"/>
            <a:r>
              <a:rPr lang="en-US" sz="2400" dirty="0"/>
              <a:t>Virtualization plays a critical role in modern IT infrastructure by enhancing scalability, cost-efficiency, and performance, while serving as the foundation for cloud computing and software-defined data centers.</a:t>
            </a:r>
            <a:endParaRPr lang="en-IN" sz="24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275955"/>
            <a:ext cx="4048506" cy="504625"/>
          </a:xfrm>
          <a:prstGeom prst="rect">
            <a:avLst/>
          </a:prstGeom>
        </p:spPr>
        <p:txBody>
          <a:bodyPr vert="horz" wrap="square" lIns="0" tIns="12065" rIns="0" bIns="0" rtlCol="0">
            <a:spAutoFit/>
          </a:bodyPr>
          <a:lstStyle/>
          <a:p>
            <a:pPr marL="12700" algn="ctr">
              <a:lnSpc>
                <a:spcPct val="100000"/>
              </a:lnSpc>
              <a:spcBef>
                <a:spcPts val="95"/>
              </a:spcBef>
            </a:pPr>
            <a:r>
              <a:rPr lang="en-US" sz="3200" b="1" spc="-10" dirty="0"/>
              <a:t>Virtualization</a:t>
            </a:r>
            <a:endParaRPr lang="en-US" sz="32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3" name="object 3"/>
          <p:cNvSpPr txBox="1"/>
          <p:nvPr/>
        </p:nvSpPr>
        <p:spPr>
          <a:xfrm>
            <a:off x="685800" y="943813"/>
            <a:ext cx="7620000" cy="2883931"/>
          </a:xfrm>
          <a:prstGeom prst="rect">
            <a:avLst/>
          </a:prstGeom>
        </p:spPr>
        <p:txBody>
          <a:bodyPr vert="horz" wrap="square" lIns="0" tIns="13335" rIns="0" bIns="0" rtlCol="0">
            <a:spAutoFit/>
          </a:bodyPr>
          <a:lstStyle/>
          <a:p>
            <a:pPr marL="12700" marR="5080" algn="just">
              <a:lnSpc>
                <a:spcPts val="3020"/>
              </a:lnSpc>
              <a:spcBef>
                <a:spcPts val="475"/>
              </a:spcBef>
              <a:tabLst>
                <a:tab pos="355600" algn="l"/>
              </a:tabLst>
            </a:pPr>
            <a:r>
              <a:rPr lang="en-US" sz="2400" dirty="0">
                <a:latin typeface="Calibri"/>
                <a:cs typeface="Calibri"/>
              </a:rPr>
              <a:t>Virtualization involves creating virtual instances of physical resources to optimize utilization.</a:t>
            </a:r>
          </a:p>
          <a:p>
            <a:pPr marL="12700" marR="5080" algn="just">
              <a:lnSpc>
                <a:spcPts val="3020"/>
              </a:lnSpc>
              <a:spcBef>
                <a:spcPts val="475"/>
              </a:spcBef>
              <a:tabLst>
                <a:tab pos="355600" algn="l"/>
              </a:tabLst>
            </a:pPr>
            <a:r>
              <a:rPr lang="en-US" sz="2400" dirty="0">
                <a:latin typeface="Calibri"/>
                <a:cs typeface="Calibri"/>
              </a:rPr>
              <a:t>Enhance resource efficiency, enable scalability, and improve flexibility.</a:t>
            </a:r>
          </a:p>
          <a:p>
            <a:pPr marL="12700" marR="5080" algn="just">
              <a:lnSpc>
                <a:spcPts val="3020"/>
              </a:lnSpc>
              <a:spcBef>
                <a:spcPts val="475"/>
              </a:spcBef>
              <a:tabLst>
                <a:tab pos="355600" algn="l"/>
              </a:tabLst>
            </a:pPr>
            <a:r>
              <a:rPr lang="en-US" sz="2400" dirty="0">
                <a:latin typeface="Calibri"/>
                <a:cs typeface="Calibri"/>
              </a:rPr>
              <a:t>Virtualization is the foundation for cloud computing.</a:t>
            </a:r>
          </a:p>
          <a:p>
            <a:pPr marL="12700" marR="5080" algn="just">
              <a:lnSpc>
                <a:spcPts val="3020"/>
              </a:lnSpc>
              <a:spcBef>
                <a:spcPts val="475"/>
              </a:spcBef>
              <a:tabLst>
                <a:tab pos="355600" algn="l"/>
              </a:tabLst>
            </a:pPr>
            <a:r>
              <a:rPr lang="en-US" sz="2400" dirty="0">
                <a:latin typeface="Calibri"/>
                <a:cs typeface="Calibri"/>
              </a:rPr>
              <a:t>The different types of virtualization techniques used in IT environments.</a:t>
            </a:r>
            <a:endParaRPr sz="2400" dirty="0">
              <a:latin typeface="Calibri"/>
              <a:cs typeface="Calibri"/>
            </a:endParaRP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355973"/>
            <a:ext cx="5029200" cy="504625"/>
          </a:xfrm>
          <a:prstGeom prst="rect">
            <a:avLst/>
          </a:prstGeom>
        </p:spPr>
        <p:txBody>
          <a:bodyPr vert="horz" wrap="square" lIns="0" tIns="12065" rIns="0" bIns="0" rtlCol="0">
            <a:spAutoFit/>
          </a:bodyPr>
          <a:lstStyle/>
          <a:p>
            <a:pPr marL="12700" algn="ctr">
              <a:lnSpc>
                <a:spcPct val="100000"/>
              </a:lnSpc>
              <a:spcBef>
                <a:spcPts val="95"/>
              </a:spcBef>
            </a:pPr>
            <a:r>
              <a:rPr lang="en-US" dirty="0">
                <a:solidFill>
                  <a:schemeClr val="tx1"/>
                </a:solidFill>
                <a:latin typeface="Calibri"/>
                <a:cs typeface="Calibri"/>
              </a:rPr>
              <a:t>Advantages of Virtualization</a:t>
            </a:r>
            <a:endParaRPr dirty="0">
              <a:solidFill>
                <a:schemeClr val="tx1"/>
              </a:solidFill>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r>
              <a:rPr dirty="0"/>
              <a:t>8</a:t>
            </a:r>
          </a:p>
        </p:txBody>
      </p:sp>
      <p:sp>
        <p:nvSpPr>
          <p:cNvPr id="6" name="Footer Placeholder 5">
            <a:extLst>
              <a:ext uri="{FF2B5EF4-FFF2-40B4-BE49-F238E27FC236}">
                <a16:creationId xmlns:a16="http://schemas.microsoft.com/office/drawing/2014/main" id="{9EF65567-EA59-204B-9442-759FC19EEAA1}"/>
              </a:ext>
            </a:extLst>
          </p:cNvPr>
          <p:cNvSpPr>
            <a:spLocks noGrp="1"/>
          </p:cNvSpPr>
          <p:nvPr>
            <p:ph type="ftr" sz="quarter" idx="5"/>
          </p:nvPr>
        </p:nvSpPr>
        <p:spPr/>
        <p:txBody>
          <a:bodyPr/>
          <a:lstStyle/>
          <a:p>
            <a:r>
              <a:rPr lang="en-US"/>
              <a:t>Department of Computer Application</a:t>
            </a:r>
          </a:p>
          <a:p>
            <a:endParaRPr lang="en-US" dirty="0"/>
          </a:p>
        </p:txBody>
      </p:sp>
      <p:sp>
        <p:nvSpPr>
          <p:cNvPr id="8" name="TextBox 7">
            <a:extLst>
              <a:ext uri="{FF2B5EF4-FFF2-40B4-BE49-F238E27FC236}">
                <a16:creationId xmlns:a16="http://schemas.microsoft.com/office/drawing/2014/main" id="{4C767373-8E0A-FF5F-1708-8B5B766268E7}"/>
              </a:ext>
            </a:extLst>
          </p:cNvPr>
          <p:cNvSpPr txBox="1"/>
          <p:nvPr/>
        </p:nvSpPr>
        <p:spPr>
          <a:xfrm>
            <a:off x="685800" y="1276350"/>
            <a:ext cx="7924800" cy="3785652"/>
          </a:xfrm>
          <a:prstGeom prst="rect">
            <a:avLst/>
          </a:prstGeom>
          <a:noFill/>
        </p:spPr>
        <p:txBody>
          <a:bodyPr wrap="square" rtlCol="0">
            <a:spAutoFit/>
          </a:bodyPr>
          <a:lstStyle/>
          <a:p>
            <a:pPr algn="just"/>
            <a:r>
              <a:rPr lang="en-US" sz="2400" dirty="0"/>
              <a:t>Resource Efficiency: Maximizes hardware utilization by running multiple VMs on a single host.</a:t>
            </a:r>
          </a:p>
          <a:p>
            <a:pPr algn="just"/>
            <a:r>
              <a:rPr lang="en-US" sz="2400" dirty="0"/>
              <a:t>Cost Savings: Reduces hardware requirements and energy consumption.</a:t>
            </a:r>
          </a:p>
          <a:p>
            <a:pPr algn="just"/>
            <a:r>
              <a:rPr lang="en-US" sz="2400" dirty="0"/>
              <a:t>Flexibility: Supports a variety of OS environments on the same infrastructure.</a:t>
            </a:r>
          </a:p>
          <a:p>
            <a:pPr algn="just"/>
            <a:r>
              <a:rPr lang="en-US" sz="2400" dirty="0"/>
              <a:t>Disaster Recovery: Easier backup and replication for recovery purposes.</a:t>
            </a:r>
          </a:p>
          <a:p>
            <a:pPr algn="just"/>
            <a:r>
              <a:rPr lang="en-US" sz="2400" dirty="0"/>
              <a:t>Simplified Management: Centralized control and management of virtual environments.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102393"/>
            <a:ext cx="4724400" cy="997068"/>
          </a:xfrm>
          <a:prstGeom prst="rect">
            <a:avLst/>
          </a:prstGeom>
        </p:spPr>
        <p:txBody>
          <a:bodyPr vert="horz" wrap="square" lIns="0" tIns="12065" rIns="0" bIns="0" rtlCol="0">
            <a:spAutoFit/>
          </a:bodyPr>
          <a:lstStyle/>
          <a:p>
            <a:pPr marL="12700" algn="ctr">
              <a:lnSpc>
                <a:spcPct val="100000"/>
              </a:lnSpc>
              <a:spcBef>
                <a:spcPts val="95"/>
              </a:spcBef>
            </a:pPr>
            <a:r>
              <a:rPr lang="en-US" sz="3200" b="1" dirty="0"/>
              <a:t>Disadvantages of Virtualization</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9</a:t>
            </a:r>
          </a:p>
        </p:txBody>
      </p:sp>
      <p:sp>
        <p:nvSpPr>
          <p:cNvPr id="5" name="Footer Placeholder 4">
            <a:extLst>
              <a:ext uri="{FF2B5EF4-FFF2-40B4-BE49-F238E27FC236}">
                <a16:creationId xmlns:a16="http://schemas.microsoft.com/office/drawing/2014/main" id="{FFE8EBD2-62C8-530E-BA79-3949CFD9F063}"/>
              </a:ext>
            </a:extLst>
          </p:cNvPr>
          <p:cNvSpPr>
            <a:spLocks noGrp="1"/>
          </p:cNvSpPr>
          <p:nvPr>
            <p:ph type="ftr" sz="quarter" idx="11"/>
          </p:nvPr>
        </p:nvSpPr>
        <p:spPr/>
        <p:txBody>
          <a:bodyPr/>
          <a:lstStyle/>
          <a:p>
            <a:r>
              <a:rPr lang="en-US"/>
              <a:t>Department of Computer Application </a:t>
            </a:r>
            <a:endParaRPr lang="en-US" dirty="0"/>
          </a:p>
        </p:txBody>
      </p:sp>
      <p:sp>
        <p:nvSpPr>
          <p:cNvPr id="3" name="Rectangle 1">
            <a:extLst>
              <a:ext uri="{FF2B5EF4-FFF2-40B4-BE49-F238E27FC236}">
                <a16:creationId xmlns:a16="http://schemas.microsoft.com/office/drawing/2014/main" id="{070A0EDD-38ED-0A47-9FFE-A5D1B272899C}"/>
              </a:ext>
            </a:extLst>
          </p:cNvPr>
          <p:cNvSpPr>
            <a:spLocks noGrp="1" noChangeArrowheads="1"/>
          </p:cNvSpPr>
          <p:nvPr>
            <p:ph idx="1"/>
          </p:nvPr>
        </p:nvSpPr>
        <p:spPr bwMode="auto">
          <a:xfrm>
            <a:off x="603965" y="1118533"/>
            <a:ext cx="782955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Overhead: Virtualization introduces some performance overhead due to the hypervisor.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Complexity: Configuration and management can become complex with multiple virtual machines.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Resource Contention: Multiple VMs may compete for resources, leading to performance degradation.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Security Risks: Vulnerabilities in one VM can potentially affect other VMs on the same host.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Licensing Costs: Virtualization software and licenses for guest OS can be expensive.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70724"/>
            <a:ext cx="4648200" cy="456663"/>
          </a:xfrm>
          <a:prstGeom prst="rect">
            <a:avLst/>
          </a:prstGeom>
        </p:spPr>
        <p:txBody>
          <a:bodyPr vert="horz" wrap="square" lIns="0" tIns="13335" rIns="0" bIns="0" rtlCol="0">
            <a:spAutoFit/>
          </a:bodyPr>
          <a:lstStyle/>
          <a:p>
            <a:pPr algn="ctr"/>
            <a:r>
              <a:rPr lang="en-US" sz="3200" b="1" i="0" u="none" strike="noStrike" baseline="0" dirty="0">
                <a:solidFill>
                  <a:srgbClr val="000000"/>
                </a:solidFill>
              </a:rPr>
              <a:t>Technology Examples</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B5193DD6-ADEB-282F-9949-D6463F2EC4AA}"/>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7AA37BE4-D359-F7F7-EA1C-FE3FDDA07188}"/>
              </a:ext>
            </a:extLst>
          </p:cNvPr>
          <p:cNvSpPr>
            <a:spLocks noChangeArrowheads="1"/>
          </p:cNvSpPr>
          <p:nvPr/>
        </p:nvSpPr>
        <p:spPr bwMode="auto">
          <a:xfrm>
            <a:off x="685800" y="1197346"/>
            <a:ext cx="79248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Xen </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Open Source: Xen is an open-source hypervisor for x86 and ARM architectures.</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Bare-Metal Hypervisor: Runs directly on hardware without an underlying OS.</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Isolation: Provides strong isolation between virtual machines.</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Efficiency: Lightweight and highly efficient for high-performance computing.</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Use Cases: Cloud services, server consolidation, and research environments.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E60A7-35B0-DD50-9D02-E56CE914CE7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D3787A3-DC7B-9685-D1B1-6F9D27C99E91}"/>
              </a:ext>
            </a:extLst>
          </p:cNvPr>
          <p:cNvSpPr txBox="1">
            <a:spLocks noGrp="1"/>
          </p:cNvSpPr>
          <p:nvPr>
            <p:ph type="title"/>
          </p:nvPr>
        </p:nvSpPr>
        <p:spPr>
          <a:xfrm>
            <a:off x="2590800" y="270724"/>
            <a:ext cx="4648200" cy="456663"/>
          </a:xfrm>
          <a:prstGeom prst="rect">
            <a:avLst/>
          </a:prstGeom>
        </p:spPr>
        <p:txBody>
          <a:bodyPr vert="horz" wrap="square" lIns="0" tIns="13335" rIns="0" bIns="0" rtlCol="0">
            <a:spAutoFit/>
          </a:bodyPr>
          <a:lstStyle/>
          <a:p>
            <a:pPr algn="ctr"/>
            <a:r>
              <a:rPr lang="en-US" sz="3200" b="1" i="0" u="none" strike="noStrike" baseline="0" dirty="0">
                <a:solidFill>
                  <a:srgbClr val="000000"/>
                </a:solidFill>
              </a:rPr>
              <a:t>Technology Examples</a:t>
            </a:r>
          </a:p>
        </p:txBody>
      </p:sp>
      <p:sp>
        <p:nvSpPr>
          <p:cNvPr id="7" name="object 7">
            <a:extLst>
              <a:ext uri="{FF2B5EF4-FFF2-40B4-BE49-F238E27FC236}">
                <a16:creationId xmlns:a16="http://schemas.microsoft.com/office/drawing/2014/main" id="{AC3F2F8F-CB14-D84B-C540-EC87ABEB9D5A}"/>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6436FC9F-A38D-076B-20FA-3E8D67CAB71E}"/>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53D0858B-E44D-183B-66BA-A5B92666ADA2}"/>
              </a:ext>
            </a:extLst>
          </p:cNvPr>
          <p:cNvSpPr>
            <a:spLocks noChangeArrowheads="1"/>
          </p:cNvSpPr>
          <p:nvPr/>
        </p:nvSpPr>
        <p:spPr bwMode="auto">
          <a:xfrm>
            <a:off x="685800" y="1197346"/>
            <a:ext cx="79248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VMware</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Industry Leader: VMware is a leading proprietary virtualization platform.</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Comprehensive Features: Offers a full suite for server, network, and storage virtualization.</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vSphere: VMware's management suite for creating and managing virtual environments.</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High Availability: Provides features like </a:t>
            </a:r>
            <a:r>
              <a:rPr kumimoji="0" lang="en-US" altLang="en-US" sz="2200" b="0" i="0" u="none" strike="noStrike" cap="none" normalizeH="0" baseline="0" dirty="0" err="1">
                <a:ln>
                  <a:noFill/>
                </a:ln>
                <a:solidFill>
                  <a:schemeClr val="tx1"/>
                </a:solidFill>
                <a:effectLst/>
              </a:rPr>
              <a:t>VMotion</a:t>
            </a:r>
            <a:r>
              <a:rPr kumimoji="0" lang="en-US" altLang="en-US" sz="2200" b="0" i="0" u="none" strike="noStrike" cap="none" normalizeH="0" baseline="0" dirty="0">
                <a:ln>
                  <a:noFill/>
                </a:ln>
                <a:solidFill>
                  <a:schemeClr val="tx1"/>
                </a:solidFill>
                <a:effectLst/>
              </a:rPr>
              <a:t>, DRS, and HA for mission-critical workloads.</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Integration: Excellent integration with enterprise IT ecosystems.</a:t>
            </a:r>
          </a:p>
        </p:txBody>
      </p:sp>
    </p:spTree>
    <p:extLst>
      <p:ext uri="{BB962C8B-B14F-4D97-AF65-F5344CB8AC3E}">
        <p14:creationId xmlns:p14="http://schemas.microsoft.com/office/powerpoint/2010/main" val="2582936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D0DC3-C830-0049-1ED7-930EDC6596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26AF60C-D9E8-2EBF-98FB-62D17260532B}"/>
              </a:ext>
            </a:extLst>
          </p:cNvPr>
          <p:cNvSpPr txBox="1">
            <a:spLocks noGrp="1"/>
          </p:cNvSpPr>
          <p:nvPr>
            <p:ph type="title"/>
          </p:nvPr>
        </p:nvSpPr>
        <p:spPr>
          <a:xfrm>
            <a:off x="2590800" y="270724"/>
            <a:ext cx="4648200" cy="456663"/>
          </a:xfrm>
          <a:prstGeom prst="rect">
            <a:avLst/>
          </a:prstGeom>
        </p:spPr>
        <p:txBody>
          <a:bodyPr vert="horz" wrap="square" lIns="0" tIns="13335" rIns="0" bIns="0" rtlCol="0">
            <a:spAutoFit/>
          </a:bodyPr>
          <a:lstStyle/>
          <a:p>
            <a:pPr algn="ctr"/>
            <a:r>
              <a:rPr lang="en-US" sz="3200" b="1" i="0" u="none" strike="noStrike" baseline="0" dirty="0">
                <a:solidFill>
                  <a:srgbClr val="000000"/>
                </a:solidFill>
              </a:rPr>
              <a:t>Technology Examples</a:t>
            </a:r>
          </a:p>
        </p:txBody>
      </p:sp>
      <p:sp>
        <p:nvSpPr>
          <p:cNvPr id="7" name="object 7">
            <a:extLst>
              <a:ext uri="{FF2B5EF4-FFF2-40B4-BE49-F238E27FC236}">
                <a16:creationId xmlns:a16="http://schemas.microsoft.com/office/drawing/2014/main" id="{5356A29B-8F7F-781E-8F0D-94AEA6A4589D}"/>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21F1156E-8209-CF9A-03CC-09CC50ACA9EC}"/>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7F775764-5AC9-FD34-9B0C-4E433EAB689A}"/>
              </a:ext>
            </a:extLst>
          </p:cNvPr>
          <p:cNvSpPr>
            <a:spLocks noChangeArrowheads="1"/>
          </p:cNvSpPr>
          <p:nvPr/>
        </p:nvSpPr>
        <p:spPr bwMode="auto">
          <a:xfrm>
            <a:off x="685800" y="1197346"/>
            <a:ext cx="79248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Microsoft Hyper-V </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Part of Windows Server: Hyper-V is Microsoft's hypervisor integrated into Windows Server.</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Cost-Effective: Lower cost compared to VMware, especially for Windows environments.</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Seamless Integration: Works well with Microsoft services like Active Directory, SQL Server, etc.</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Scalability: Supports large-scale virtual environments.</a:t>
            </a:r>
          </a:p>
          <a:p>
            <a:pPr marL="0" marR="0" lvl="0" indent="0" algn="just" defTabSz="914400" rtl="0" eaLnBrk="0" fontAlgn="base" latinLnBrk="0" hangingPunct="0">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rPr>
              <a:t>Enhanced Security: Features like Shielded VMs and virtual TPM for improved security.</a:t>
            </a:r>
          </a:p>
        </p:txBody>
      </p:sp>
    </p:spTree>
    <p:extLst>
      <p:ext uri="{BB962C8B-B14F-4D97-AF65-F5344CB8AC3E}">
        <p14:creationId xmlns:p14="http://schemas.microsoft.com/office/powerpoint/2010/main" val="2695548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3200" b="1" kern="0" dirty="0"/>
              <a:t>Summary</a:t>
            </a:r>
            <a:endParaRPr lang="en-IN" sz="3200"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3"/>
          <a:stretch>
            <a:fillRect/>
          </a:stretch>
        </p:blipFill>
        <p:spPr>
          <a:xfrm>
            <a:off x="7290715" y="72947"/>
            <a:ext cx="1782539" cy="530631"/>
          </a:xfrm>
          <a:prstGeom prst="rect">
            <a:avLst/>
          </a:prstGeom>
        </p:spPr>
      </p:pic>
      <p:sp>
        <p:nvSpPr>
          <p:cNvPr id="7" name="Rectangle 1">
            <a:extLst>
              <a:ext uri="{FF2B5EF4-FFF2-40B4-BE49-F238E27FC236}">
                <a16:creationId xmlns:a16="http://schemas.microsoft.com/office/drawing/2014/main" id="{6D591638-8E11-7A58-CE82-2595A977E6C7}"/>
              </a:ext>
            </a:extLst>
          </p:cNvPr>
          <p:cNvSpPr>
            <a:spLocks noGrp="1" noChangeArrowheads="1"/>
          </p:cNvSpPr>
          <p:nvPr>
            <p:ph idx="1"/>
          </p:nvPr>
        </p:nvSpPr>
        <p:spPr bwMode="auto">
          <a:xfrm>
            <a:off x="533401" y="1032310"/>
            <a:ext cx="8229600" cy="3737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Virtualization brings many benefits, including resource efficiency and cost savings.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Technologies like Xen, VMware, and Hyper-V offer different strengths depending on the environment.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Choose the right virtualization technology based on needs, budget, and infrastructure.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rPr>
              <a:t>Virtualization remains a key technology for cloud computing and enterprise IT.</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55887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55000" lnSpcReduction="20000"/>
          </a:bodyPr>
          <a:lstStyle/>
          <a:p>
            <a:r>
              <a:rPr lang="en-US" sz="2200" dirty="0"/>
              <a:t>Books References</a:t>
            </a:r>
          </a:p>
          <a:p>
            <a:r>
              <a:rPr lang="en-US" sz="2200" dirty="0">
                <a:solidFill>
                  <a:srgbClr val="000000"/>
                </a:solidFill>
                <a:ea typeface="Calibri" panose="020F0502020204030204" pitchFamily="34" charset="0"/>
                <a:cs typeface="Calibri" panose="020F0502020204030204" pitchFamily="34" charset="0"/>
              </a:rPr>
              <a:t>Mastering Cloud Computing, Rajkumar </a:t>
            </a:r>
            <a:r>
              <a:rPr lang="en-US" sz="2200" dirty="0" err="1">
                <a:solidFill>
                  <a:srgbClr val="000000"/>
                </a:solidFill>
                <a:ea typeface="Calibri" panose="020F0502020204030204" pitchFamily="34" charset="0"/>
                <a:cs typeface="Calibri" panose="020F0502020204030204" pitchFamily="34" charset="0"/>
              </a:rPr>
              <a:t>Buyya</a:t>
            </a:r>
            <a:r>
              <a:rPr lang="en-US" sz="2200" dirty="0">
                <a:solidFill>
                  <a:srgbClr val="000000"/>
                </a:solidFill>
                <a:ea typeface="Calibri" panose="020F0502020204030204" pitchFamily="34" charset="0"/>
                <a:cs typeface="Calibri" panose="020F0502020204030204" pitchFamily="34" charset="0"/>
              </a:rPr>
              <a:t>, Christian </a:t>
            </a:r>
            <a:r>
              <a:rPr lang="en-US" sz="2200" dirty="0" err="1">
                <a:solidFill>
                  <a:srgbClr val="000000"/>
                </a:solidFill>
                <a:ea typeface="Calibri" panose="020F0502020204030204" pitchFamily="34" charset="0"/>
                <a:cs typeface="Calibri" panose="020F0502020204030204" pitchFamily="34" charset="0"/>
              </a:rPr>
              <a:t>Vecchiola</a:t>
            </a:r>
            <a:r>
              <a:rPr lang="en-US" sz="2200" dirty="0">
                <a:solidFill>
                  <a:srgbClr val="000000"/>
                </a:solidFill>
                <a:ea typeface="Calibri" panose="020F0502020204030204" pitchFamily="34" charset="0"/>
                <a:cs typeface="Calibri" panose="020F0502020204030204" pitchFamily="34" charset="0"/>
              </a:rPr>
              <a:t>, and </a:t>
            </a:r>
            <a:r>
              <a:rPr lang="en-US" sz="2200" dirty="0" err="1">
                <a:solidFill>
                  <a:srgbClr val="000000"/>
                </a:solidFill>
                <a:ea typeface="Calibri" panose="020F0502020204030204" pitchFamily="34" charset="0"/>
                <a:cs typeface="Calibri" panose="020F0502020204030204" pitchFamily="34" charset="0"/>
              </a:rPr>
              <a:t>ThamaraiSelvi</a:t>
            </a:r>
            <a:r>
              <a:rPr lang="en-US" sz="2200" dirty="0">
                <a:solidFill>
                  <a:srgbClr val="000000"/>
                </a:solidFill>
                <a:ea typeface="Calibri" panose="020F0502020204030204" pitchFamily="34" charset="0"/>
                <a:cs typeface="Calibri" panose="020F0502020204030204" pitchFamily="34" charset="0"/>
              </a:rPr>
              <a:t>, Tata McGraw Hill, ISBN-13: 978-1-25-902995-0, New Delhi, </a:t>
            </a:r>
            <a:r>
              <a:rPr lang="en-US" sz="2200" dirty="0" err="1">
                <a:solidFill>
                  <a:srgbClr val="000000"/>
                </a:solidFill>
                <a:ea typeface="Calibri" panose="020F0502020204030204" pitchFamily="34" charset="0"/>
                <a:cs typeface="Calibri" panose="020F0502020204030204" pitchFamily="34" charset="0"/>
              </a:rPr>
              <a:t>India,Feb</a:t>
            </a:r>
            <a:r>
              <a:rPr lang="en-US" sz="2200" dirty="0">
                <a:solidFill>
                  <a:srgbClr val="000000"/>
                </a:solidFill>
                <a:ea typeface="Calibri" panose="020F0502020204030204" pitchFamily="34" charset="0"/>
                <a:cs typeface="Calibri" panose="020F0502020204030204" pitchFamily="34" charset="0"/>
              </a:rPr>
              <a:t> 2013. </a:t>
            </a:r>
            <a:endParaRPr lang="en-US" sz="2200" dirty="0"/>
          </a:p>
          <a:p>
            <a:pPr marL="0" indent="0">
              <a:buNone/>
            </a:pPr>
            <a:endParaRPr lang="en-US" sz="2200" dirty="0"/>
          </a:p>
          <a:p>
            <a:r>
              <a:rPr lang="en-US" sz="2200" dirty="0"/>
              <a:t>E-book link</a:t>
            </a:r>
          </a:p>
          <a:p>
            <a:r>
              <a:rPr lang="en-US" sz="2200" dirty="0">
                <a:hlinkClick r:id="rId2"/>
              </a:rPr>
              <a:t>https://archive.org/details/cloudcomputingbi0000sosi</a:t>
            </a:r>
            <a:endParaRPr lang="en-US" sz="2200" dirty="0"/>
          </a:p>
          <a:p>
            <a:pPr marL="0" indent="0">
              <a:buNone/>
            </a:pPr>
            <a:endParaRPr lang="en-US" sz="2200" dirty="0"/>
          </a:p>
          <a:p>
            <a:r>
              <a:rPr lang="en-US" sz="2200" dirty="0"/>
              <a:t>YouTube link</a:t>
            </a:r>
          </a:p>
          <a:p>
            <a:r>
              <a:rPr lang="en-US" sz="2200" dirty="0">
                <a:hlinkClick r:id="rId3"/>
              </a:rPr>
              <a:t>https://www.youtube.com/@cloudcomputing351/videos</a:t>
            </a:r>
            <a:endParaRPr lang="en-US" sz="2200" dirty="0"/>
          </a:p>
          <a:p>
            <a:pPr marL="0" indent="0">
              <a:buNone/>
            </a:pPr>
            <a:endParaRPr lang="en-US" sz="2200" dirty="0"/>
          </a:p>
          <a:p>
            <a:pPr>
              <a:buFont typeface="Wingdings" pitchFamily="2" charset="2"/>
              <a:buChar char="Ø"/>
            </a:pPr>
            <a:r>
              <a:rPr lang="en-US" sz="2200" dirty="0">
                <a:hlinkClick r:id="rId4"/>
              </a:rPr>
              <a:t>https://www.slideshare.net/slideshow/cloud-migration-presentation-246744264/246744264?from_action=download&amp;slideshow_id=246744264&amp;original_file=true</a:t>
            </a:r>
            <a:endParaRPr lang="en-US" sz="2200" dirty="0"/>
          </a:p>
          <a:p>
            <a:pPr>
              <a:buFont typeface="Wingdings" pitchFamily="2" charset="2"/>
              <a:buChar char="Ø"/>
            </a:pPr>
            <a:r>
              <a:rPr lang="en-IN" sz="2200" dirty="0">
                <a:hlinkClick r:id="rId5"/>
              </a:rPr>
              <a:t>https://www.geeksforgeeks.org/7-steps-of-migrating-model-in-cloud/</a:t>
            </a:r>
            <a:endParaRPr lang="en-IN" sz="2200" dirty="0"/>
          </a:p>
          <a:p>
            <a:pPr>
              <a:buFont typeface="Wingdings" pitchFamily="2" charset="2"/>
              <a:buChar char="Ø"/>
            </a:pPr>
            <a:r>
              <a:rPr lang="en-IN" sz="2200" dirty="0">
                <a:hlinkClick r:id="rId6"/>
              </a:rPr>
              <a:t>https://nptel.ac.in/courses/106105167</a:t>
            </a:r>
            <a:endParaRPr lang="en-US" sz="2200" dirty="0"/>
          </a:p>
          <a:p>
            <a:pPr>
              <a:buFont typeface="Wingdings" pitchFamily="2" charset="2"/>
              <a:buChar char="Ø"/>
            </a:pPr>
            <a:r>
              <a:rPr lang="en-IN" sz="2200" dirty="0">
                <a:hlinkClick r:id="rId7"/>
              </a:rPr>
              <a:t>https://www.edx.org/learn/cloud-computing</a:t>
            </a:r>
            <a:endParaRPr lang="en-US" sz="22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17</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18</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262</TotalTime>
  <Words>1368</Words>
  <Application>Microsoft Office PowerPoint</Application>
  <PresentationFormat>On-screen Show (16:9)</PresentationFormat>
  <Paragraphs>167</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Virtualization</vt:lpstr>
      <vt:lpstr>Advantages of Virtualization</vt:lpstr>
      <vt:lpstr>Disadvantages of Virtualization</vt:lpstr>
      <vt:lpstr>Technology Examples</vt:lpstr>
      <vt:lpstr>Technology Examples</vt:lpstr>
      <vt:lpstr>Technology Examples</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19</cp:revision>
  <dcterms:created xsi:type="dcterms:W3CDTF">2024-12-06T17:10:37Z</dcterms:created>
  <dcterms:modified xsi:type="dcterms:W3CDTF">2024-12-19T17:09:40Z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