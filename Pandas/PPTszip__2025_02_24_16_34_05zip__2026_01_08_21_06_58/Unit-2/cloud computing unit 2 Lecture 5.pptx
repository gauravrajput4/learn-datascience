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3"/>
  </p:notesMasterIdLst>
  <p:sldIdLst>
    <p:sldId id="390" r:id="rId2"/>
    <p:sldId id="413" r:id="rId3"/>
    <p:sldId id="414" r:id="rId4"/>
    <p:sldId id="420" r:id="rId5"/>
    <p:sldId id="415" r:id="rId6"/>
    <p:sldId id="416" r:id="rId7"/>
    <p:sldId id="417" r:id="rId8"/>
    <p:sldId id="418" r:id="rId9"/>
    <p:sldId id="419" r:id="rId10"/>
    <p:sldId id="275" r:id="rId11"/>
    <p:sldId id="276" r:id="rId12"/>
    <p:sldId id="277" r:id="rId13"/>
    <p:sldId id="278" r:id="rId14"/>
    <p:sldId id="423" r:id="rId15"/>
    <p:sldId id="424" r:id="rId16"/>
    <p:sldId id="425" r:id="rId17"/>
    <p:sldId id="426" r:id="rId18"/>
    <p:sldId id="427" r:id="rId19"/>
    <p:sldId id="421" r:id="rId20"/>
    <p:sldId id="422" r:id="rId21"/>
    <p:sldId id="352" r:id="rId22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41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DC4A99-9312-4F8C-A4D7-0726CEA43945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608E4-73BD-4B32-A8E7-2CAA3D3FC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25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0C3FA-956A-C0F7-4365-C5AE4B781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A5A88-40B4-D19A-7453-A65FAB84F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19B4F-0FEB-66D2-5447-15B060E46E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B3E38762-2AFD-486A-9C39-8C32F04FF70B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B03CC-E8DD-7A7F-331E-89B2E349E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6FB3A-BE5C-CDF4-E6C4-2ABB2FA1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246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5D2B6-9442-1ACF-C0C7-A89F625A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01085-2CB1-03EE-C7D1-6765656FE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D8435-3FC5-EAE9-ECFD-6BEF85FC7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8CC44-2682-D9FE-9F81-3A6CC9A4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240"/>
              </a:lnSpc>
            </a:pPr>
            <a:r>
              <a:rPr lang="en-US" dirty="0"/>
              <a:t>12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B6E5F4-6304-6256-5695-7BD78A8ACC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5" y="70037"/>
            <a:ext cx="2564258" cy="7187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F09C4B-555B-8B2F-278E-9263CE1665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90715" y="72947"/>
            <a:ext cx="1782539" cy="5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3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59CC-689E-115B-0A40-4F2898674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5A29A-76C8-75E3-C412-D07CA2250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DAFB2-01F6-148D-1378-AB6F4EEE0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41863-4AEF-128C-9139-DFFC94B2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074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46480-4968-BC40-0399-5FC6F5D25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37503-6739-3552-AEBE-0C9014E53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04DD6-AF84-C7DC-B0B2-E3D8E2BE9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0C0D7-3E84-8214-1C76-BE27471A6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F5F93631-43AB-4E7B-972D-0F6F0C521BFB}" type="datetime1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EF193-9681-F300-592A-FAB09BD9D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21CFC-03DE-1DAC-D88C-71A4FE094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83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CE26-82D2-D25A-D9A3-E2F1C683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FC2C3-1300-E112-5576-1F02EED34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73102-13BF-362E-49F8-641DDD80D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06E4CD-19F5-A034-E5CB-7B86DC91D5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063A4-24CB-4E44-13A1-D065F2B82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09BCD1-9F6F-26DD-A2FA-3F0605B69F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9D85461E-7623-4714-934A-DE2E9089A6F7}" type="datetime1">
              <a:rPr lang="en-US" smtClean="0"/>
              <a:t>12/19/2024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B59446-DDFD-0C27-404A-6F34E6217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869AB-F99A-F176-BF8F-BABB297E5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14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BCE0B-4E31-0BCA-7E2D-A88C76365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2DC94B-B89C-F4AD-9437-34AA86F6FC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7F24AFF-8169-4C36-A194-98CC1E442CC2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B183C-E4FD-1C77-2F22-779CF596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4B489-3934-3E8D-ED4E-51109D37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9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9B2487-A1DE-765F-1108-4A102F465B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4C4D386-518F-47DC-9491-94E830BC1CB3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A5B8F-A44B-75BB-32A6-422B07820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7C921-34CD-31F3-20AD-0FDDCA7B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810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1DC25-48A6-087B-75D0-795092B0A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29551-E546-6186-0EC5-D3FB705E3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AC003-1A92-A1C4-E849-984DDC4F6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A1740-C096-A33D-E438-3F9AD6E86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BC2824D-218C-424B-A77B-CC590C0C592E}" type="datetime1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1BB76-FD9E-3CCB-056C-2BF2335D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95265-E66D-09B4-F7BE-8475BA602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986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818C6-7E01-7E3E-67C3-08E483C28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653A57-F481-9BBE-FCC3-EA3472686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5DF1C-6898-CB53-CE53-69CE4A10D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BF6D0-9446-AAA4-75DB-24E8BE0801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54DBEF21-4283-4C52-B383-45AAC0991FFA}" type="datetime1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622BE-5569-E1D1-FF35-0627E7C4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DB5F8-2338-5B87-A144-AC3A64B5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04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E178D-6E73-89E5-A563-A6E977FBD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98AA7-CCD0-4558-FB61-D81FEE437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09914-B1C2-8F4C-1CA2-E44E3E92A9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9069F578-6E95-4320-8BD4-332ABE4C5A02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CA74A-C55F-3AC6-217B-5AC433C99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47393-0B41-117F-D7CE-B11E68BA0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16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E4E15F-8303-3B0B-85A4-6FEE95BA50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936F1-44E8-B374-9A45-BBFB8C0E5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8CCF6-B925-CD5F-823A-5CDF8CC985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189F22B-29B3-4F91-8819-63933F2F32E2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C9C9B-986B-B081-60E4-12B7B252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6B517-18CB-1490-3466-0F808913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70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Department of Computer Application</a:t>
            </a:r>
          </a:p>
          <a:p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592C8-5D7C-4B56-AA77-C624EA73FAD7}" type="datetime1">
              <a:rPr lang="en-US" smtClean="0"/>
              <a:t>12/19/2024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1341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B1E53-DD21-3667-D6AA-503B34CA8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41172-3E17-CE01-056A-EDC62007D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B6549-DB78-C49A-D71D-305BF7E17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8596B-5C5D-1E04-F02C-3B590B606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r>
              <a:rPr lang="en-US" dirty="0"/>
              <a:t>12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FD36E8-325B-C8CF-D8A4-AB15159C594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5" y="70037"/>
            <a:ext cx="2564258" cy="7187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B506CE-F944-DABC-86CA-066C5644E25F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290715" y="72947"/>
            <a:ext cx="1782539" cy="5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384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9" r:id="rId12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hyperlink" Target="https://www.youtube.com/@cloudcomputing351/videos" TargetMode="External"/><Relationship Id="rId7" Type="http://schemas.openxmlformats.org/officeDocument/2006/relationships/hyperlink" Target="https://www.edx.org/learn/cloud-computing" TargetMode="External"/><Relationship Id="rId2" Type="http://schemas.openxmlformats.org/officeDocument/2006/relationships/hyperlink" Target="https://archive.org/details/cloudcomputingbi0000sos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ptel.ac.in/courses/106105167" TargetMode="External"/><Relationship Id="rId5" Type="http://schemas.openxmlformats.org/officeDocument/2006/relationships/hyperlink" Target="https://www.geeksforgeeks.org/7-steps-of-migrating-model-in-cloud/" TargetMode="External"/><Relationship Id="rId4" Type="http://schemas.openxmlformats.org/officeDocument/2006/relationships/hyperlink" Target="https://www.slideshare.net/slideshow/cloud-migration-presentation-246744264/246744264?from_action=download&amp;slideshow_id=246744264&amp;original_file=true" TargetMode="External"/><Relationship Id="rId9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48815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445491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93056" y="151914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91849" y="1238027"/>
            <a:ext cx="728662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+mn-lt"/>
              <a:cs typeface="Times New Roman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+mn-lt"/>
                <a:cs typeface="Times New Roman" pitchFamily="18" charset="0"/>
              </a:rPr>
              <a:t> </a:t>
            </a:r>
          </a:p>
          <a:p>
            <a:pPr eaLnBrk="1" hangingPunct="1"/>
            <a:endParaRPr lang="en-US" sz="1200" dirty="0">
              <a:latin typeface="+mn-lt"/>
              <a:cs typeface="Times New Roman" pitchFamily="18" charset="0"/>
            </a:endParaRP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6749124" y="3774566"/>
            <a:ext cx="2191305" cy="94864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r>
              <a:rPr lang="en-IN" sz="1050" b="1" dirty="0"/>
              <a:t> </a:t>
            </a:r>
            <a:endParaRPr lang="en-IN" sz="1050" dirty="0"/>
          </a:p>
          <a:p>
            <a:pPr algn="ctr" defTabSz="685800">
              <a:spcBef>
                <a:spcPct val="20000"/>
              </a:spcBef>
              <a:defRPr/>
            </a:pPr>
            <a:endParaRPr lang="en-US" sz="105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EB26A1-8062-1228-071E-62007D3AC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374" y="1136326"/>
            <a:ext cx="8504921" cy="35166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Chandigarh School of Business, Jhanjeri</a:t>
            </a:r>
          </a:p>
          <a:p>
            <a:pPr marL="0" indent="0" algn="ctr">
              <a:buNone/>
            </a:pPr>
            <a:r>
              <a:rPr lang="en-US" sz="2800" b="1" dirty="0"/>
              <a:t>Department of Computer Application </a:t>
            </a:r>
          </a:p>
          <a:p>
            <a:pPr marL="0" indent="0" algn="ctr">
              <a:buNone/>
            </a:pPr>
            <a:r>
              <a:rPr lang="en-US" sz="2000" b="1" dirty="0"/>
              <a:t>Program Code: NA</a:t>
            </a:r>
          </a:p>
          <a:p>
            <a:pPr marL="0" indent="0" algn="ctr">
              <a:buNone/>
            </a:pPr>
            <a:r>
              <a:rPr lang="en-US" sz="2000" b="1" dirty="0"/>
              <a:t>Program Name: MCA</a:t>
            </a:r>
          </a:p>
          <a:p>
            <a:pPr marL="0" indent="0" algn="ctr">
              <a:buNone/>
            </a:pPr>
            <a:r>
              <a:rPr lang="en-US" sz="2000" b="1" dirty="0"/>
              <a:t>Course Code: </a:t>
            </a:r>
            <a:r>
              <a:rPr lang="en-US" sz="2000" b="1" i="0" u="none" strike="noStrike" baseline="0" dirty="0">
                <a:solidFill>
                  <a:srgbClr val="000000"/>
                </a:solidFill>
              </a:rPr>
              <a:t>PGCA1937 </a:t>
            </a:r>
            <a:r>
              <a:rPr lang="en-US" sz="2000" b="1" dirty="0">
                <a:solidFill>
                  <a:srgbClr val="000000"/>
                </a:solidFill>
              </a:rPr>
              <a:t> </a:t>
            </a:r>
            <a:endParaRPr lang="en-US" sz="2000" b="1" dirty="0"/>
          </a:p>
          <a:p>
            <a:pPr marL="0" indent="0" algn="ctr">
              <a:buNone/>
            </a:pPr>
            <a:r>
              <a:rPr lang="en-US" sz="2000" b="1" dirty="0"/>
              <a:t>Course Name: </a:t>
            </a:r>
            <a:r>
              <a:rPr lang="en-US" sz="2000" b="1" i="0" u="none" strike="noStrike" baseline="0" dirty="0">
                <a:solidFill>
                  <a:srgbClr val="000000"/>
                </a:solidFill>
              </a:rPr>
              <a:t>Cloud Computing</a:t>
            </a:r>
            <a:r>
              <a:rPr lang="en-US" sz="1800" b="1" i="0" u="none" strike="noStrike" baseline="0" dirty="0">
                <a:solidFill>
                  <a:srgbClr val="000000"/>
                </a:solidFill>
              </a:rPr>
              <a:t> </a:t>
            </a:r>
            <a:endParaRPr lang="en-US" sz="1800" b="1" dirty="0"/>
          </a:p>
          <a:p>
            <a:pPr marL="0" indent="0" algn="ctr">
              <a:buNone/>
            </a:pPr>
            <a:endParaRPr lang="en-US" sz="1500" b="1" dirty="0"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1500" b="1" dirty="0"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cs typeface="Times New Roman" pitchFamily="18" charset="0"/>
              </a:rPr>
              <a:t>Prepared by: Dr. Gurvir Kaur</a:t>
            </a:r>
            <a:endParaRPr lang="en-US" sz="1500" b="1" dirty="0"/>
          </a:p>
          <a:p>
            <a:pPr marL="0" indent="0" algn="r">
              <a:buNone/>
            </a:pPr>
            <a:endParaRPr lang="en-IN" sz="1500" b="1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68278E7-5BB2-37C5-B8F9-D97E539F4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3EB1A6-EDF0-5BBF-94AD-51552627D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5" y="70037"/>
            <a:ext cx="2564258" cy="71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027762C-969A-0E13-AB80-F2139439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197" y="102395"/>
            <a:ext cx="3491204" cy="530631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+mn-lt"/>
              </a:rPr>
              <a:t>Outlines</a:t>
            </a:r>
            <a:endParaRPr lang="en-IN" sz="32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26BFAF0-D90E-2EEA-38D0-4ECEDF637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0150"/>
            <a:ext cx="7886700" cy="3432573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PTU Syllabus of Unit-I</a:t>
            </a:r>
          </a:p>
          <a:p>
            <a:r>
              <a:rPr lang="en-US" sz="2400" b="1" dirty="0"/>
              <a:t>CO’s Introduction</a:t>
            </a:r>
          </a:p>
          <a:p>
            <a:r>
              <a:rPr lang="en-US" sz="2400" b="1" dirty="0"/>
              <a:t>Topic Overview</a:t>
            </a:r>
          </a:p>
          <a:p>
            <a:r>
              <a:rPr lang="en-US" sz="2400" b="1" dirty="0"/>
              <a:t>Brief description of what the presentation will cover</a:t>
            </a:r>
          </a:p>
          <a:p>
            <a:r>
              <a:rPr lang="en-US" sz="2400" b="1" dirty="0"/>
              <a:t>Importance or relevance of the topic</a:t>
            </a:r>
          </a:p>
          <a:p>
            <a:r>
              <a:rPr lang="en-US" sz="2400" b="1" dirty="0"/>
              <a:t>Key objectives or learning outcomes</a:t>
            </a:r>
          </a:p>
          <a:p>
            <a:r>
              <a:rPr lang="en-US" sz="2400" b="1" dirty="0"/>
              <a:t>Summary</a:t>
            </a:r>
          </a:p>
          <a:p>
            <a:r>
              <a:rPr lang="en-US" sz="2400" b="1" dirty="0"/>
              <a:t>References </a:t>
            </a:r>
          </a:p>
          <a:p>
            <a:endParaRPr lang="en-IN" sz="1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79B33-ABD1-461E-797D-C46F7E70F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8908C-58B2-4982-0A1F-466E6873A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A187-1465-481C-91D5-B2B7D79C567F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7C24A2-13CD-BC24-0213-7A3B72F4A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5" y="70037"/>
            <a:ext cx="2564258" cy="7187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F959F7-EE60-1EE2-78FB-32CACB202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715" y="72947"/>
            <a:ext cx="1782539" cy="5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89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D39D3-F070-9902-1E0F-F7E4C6E76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6832" y="69056"/>
            <a:ext cx="4613882" cy="47982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PTU Syllabus of Unit-I</a:t>
            </a:r>
            <a:endParaRPr lang="en-IN" sz="3200" b="1" dirty="0">
              <a:latin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F45338-18AF-3BEB-42E0-7EFF6F989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88825"/>
            <a:ext cx="8610600" cy="406892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000000"/>
                </a:solidFill>
              </a:rPr>
              <a:t>Part-A</a:t>
            </a:r>
            <a:endParaRPr lang="en-US" sz="6800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6800" b="1" i="0" u="none" strike="noStrike" baseline="0" dirty="0">
                <a:solidFill>
                  <a:srgbClr val="000000"/>
                </a:solidFill>
              </a:rPr>
              <a:t>Overview of Computing Paradigm: </a:t>
            </a:r>
            <a:r>
              <a:rPr lang="en-US" sz="6800" b="0" i="0" u="none" strike="noStrike" baseline="0" dirty="0">
                <a:solidFill>
                  <a:srgbClr val="000000"/>
                </a:solidFill>
              </a:rPr>
              <a:t>Recent trends in Computing -Grid Computing, Cluster Computing, Distributed Computing, Utility Computing, Cloud Computing. </a:t>
            </a:r>
          </a:p>
          <a:p>
            <a:pPr algn="just">
              <a:lnSpc>
                <a:spcPct val="120000"/>
              </a:lnSpc>
            </a:pPr>
            <a:r>
              <a:rPr lang="en-US" sz="6800" b="1" i="0" u="none" strike="noStrike" baseline="0" dirty="0">
                <a:solidFill>
                  <a:srgbClr val="000000"/>
                </a:solidFill>
              </a:rPr>
              <a:t>Introduction to Cloud Computing: </a:t>
            </a:r>
            <a:r>
              <a:rPr lang="en-US" sz="6800" b="0" i="0" u="none" strike="noStrike" baseline="0" dirty="0">
                <a:solidFill>
                  <a:srgbClr val="000000"/>
                </a:solidFill>
              </a:rPr>
              <a:t>Vision of Cloud Computing, Defining a Cloud, Cloud Reference Model, Deployment Model, Characteristics, Benefits of Cloud Computing, Challenges ahead. Cloud computing vs. Cluster computing vs. Grid computing. </a:t>
            </a:r>
          </a:p>
          <a:p>
            <a:pPr algn="just">
              <a:lnSpc>
                <a:spcPct val="120000"/>
              </a:lnSpc>
            </a:pPr>
            <a:r>
              <a:rPr lang="en-US" sz="6800" b="1" i="0" u="none" strike="noStrike" baseline="0" dirty="0">
                <a:solidFill>
                  <a:srgbClr val="000000"/>
                </a:solidFill>
              </a:rPr>
              <a:t>Migrating into a Cloud: </a:t>
            </a:r>
            <a:r>
              <a:rPr lang="en-US" sz="6800" b="0" i="0" u="none" strike="noStrike" baseline="0" dirty="0">
                <a:solidFill>
                  <a:srgbClr val="000000"/>
                </a:solidFill>
              </a:rPr>
              <a:t>Introduction, Broad approaches to Migrating into the Cloud, The Seven-Step Model of Migration Into a Cloud. </a:t>
            </a:r>
          </a:p>
          <a:p>
            <a:pPr algn="just">
              <a:lnSpc>
                <a:spcPct val="120000"/>
              </a:lnSpc>
            </a:pPr>
            <a:r>
              <a:rPr lang="en-US" sz="6800" b="1" i="0" u="none" strike="noStrike" baseline="0" dirty="0">
                <a:solidFill>
                  <a:srgbClr val="000000"/>
                </a:solidFill>
              </a:rPr>
              <a:t>Virtualization: </a:t>
            </a:r>
            <a:r>
              <a:rPr lang="en-US" sz="6800" b="0" i="0" u="none" strike="noStrike" baseline="0" dirty="0">
                <a:solidFill>
                  <a:srgbClr val="000000"/>
                </a:solidFill>
              </a:rPr>
              <a:t>Introduction, Characteristics of Virtualized environment, Taxonomy of Virtualization techniques, Virtualization and Cloud Computing, Pros and Cons of Virtualization, Technology Examples- Xen, VMware, Microsoft Hyper-V. </a:t>
            </a:r>
          </a:p>
          <a:p>
            <a:pPr algn="just">
              <a:lnSpc>
                <a:spcPct val="120000"/>
              </a:lnSpc>
            </a:pPr>
            <a:r>
              <a:rPr lang="en-US" sz="6800" b="1" i="0" u="none" strike="noStrike" baseline="0" dirty="0">
                <a:solidFill>
                  <a:srgbClr val="000000"/>
                </a:solidFill>
              </a:rPr>
              <a:t>Capacity Planning: </a:t>
            </a:r>
            <a:r>
              <a:rPr lang="en-US" sz="6800" b="0" i="0" u="none" strike="noStrike" baseline="0" dirty="0">
                <a:solidFill>
                  <a:srgbClr val="000000"/>
                </a:solidFill>
              </a:rPr>
              <a:t>Introduction, Defining Baseline and Metrics-Baseline Measurements, System Metrics, Load Testing, Resource Ceilings, Server and Instance types; Network Capacity, Scaling. 	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9BEF9-C94B-8C47-8076-55546DF33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F9CB9-9068-828A-ECDA-FAAF3FDC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A187-1465-481C-91D5-B2B7D79C567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C12338-17A6-A70B-A692-805403795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5" y="70037"/>
            <a:ext cx="2564258" cy="718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574DE1-D8F5-0929-5361-0C9697D01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715" y="72947"/>
            <a:ext cx="1782539" cy="5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7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BCE61-23CC-B4A6-7670-DE842F17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192" y="205979"/>
            <a:ext cx="4436707" cy="451830"/>
          </a:xfrm>
        </p:spPr>
        <p:txBody>
          <a:bodyPr>
            <a:noAutofit/>
          </a:bodyPr>
          <a:lstStyle/>
          <a:p>
            <a:r>
              <a:rPr lang="en-US" altLang="en-US" sz="3200" b="1" kern="0" dirty="0">
                <a:latin typeface="+mn-lt"/>
              </a:rPr>
              <a:t>Key objectives or learning outcomes</a:t>
            </a:r>
            <a:endParaRPr lang="en-IN" sz="3200" dirty="0">
              <a:latin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79FA4CE-34FC-460D-480A-F5084E266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534400" cy="2590800"/>
          </a:xfrm>
        </p:spPr>
        <p:txBody>
          <a:bodyPr>
            <a:noAutofit/>
          </a:bodyPr>
          <a:lstStyle/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</a:rPr>
              <a:t>CO1 	Understand the basic concept and importance of cloud computing. 	</a:t>
            </a:r>
          </a:p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</a:rPr>
              <a:t>CO2 	Access the suitability of migrating to a cloud solution for different applications.</a:t>
            </a:r>
          </a:p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</a:rPr>
              <a:t>CO3 	Compare and evaluate the virtualization technologies. 	</a:t>
            </a:r>
          </a:p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</a:rPr>
              <a:t>CO4 	Monitor and manage the cloud resources, applications and data while addressing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the </a:t>
            </a:r>
            <a:r>
              <a:rPr lang="en-US" sz="1800" b="0" i="0" u="none" strike="noStrike" baseline="0" dirty="0">
                <a:solidFill>
                  <a:srgbClr val="000000"/>
                </a:solidFill>
              </a:rPr>
              <a:t>security concerns. 	</a:t>
            </a:r>
            <a:endParaRPr lang="en-US" sz="1800" dirty="0">
              <a:solidFill>
                <a:srgbClr val="000000"/>
              </a:solidFill>
            </a:endParaRPr>
          </a:p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</a:rPr>
              <a:t>CO5 	Use cloud solutions offered by industry leaders for various applications. 	</a:t>
            </a:r>
          </a:p>
          <a:p>
            <a:pPr algn="just"/>
            <a:endParaRPr lang="en-US" sz="1600" b="0" i="0" u="none" strike="noStrike" baseline="0" dirty="0">
              <a:solidFill>
                <a:srgbClr val="0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88263-C36D-6C08-9C90-8B3A8CD30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6A8A6-4F74-624C-8484-B814A5B2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A187-1465-481C-91D5-B2B7D79C567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E7ADFB-5888-F92B-00A1-5C8F64D34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5" y="70037"/>
            <a:ext cx="2564258" cy="718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08A957-11AB-AF28-3AF4-480F30BDD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715" y="72947"/>
            <a:ext cx="1782539" cy="5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78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19FC-4CED-7469-8759-EAC45991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198" y="102394"/>
            <a:ext cx="4457701" cy="743593"/>
          </a:xfrm>
        </p:spPr>
        <p:txBody>
          <a:bodyPr>
            <a:normAutofit/>
          </a:bodyPr>
          <a:lstStyle/>
          <a:p>
            <a:pPr algn="ctr"/>
            <a:r>
              <a:rPr lang="en-US" sz="3200" b="1" kern="0" dirty="0">
                <a:latin typeface="+mn-lt"/>
              </a:rPr>
              <a:t>CO Introduction</a:t>
            </a:r>
            <a:endParaRPr lang="en-IN" sz="3200" dirty="0">
              <a:latin typeface="+mn-lt"/>
            </a:endParaRP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635741" y="1056233"/>
          <a:ext cx="7764059" cy="39195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0799">
                  <a:extLst>
                    <a:ext uri="{9D8B030D-6E8A-4147-A177-3AD203B41FA5}">
                      <a16:colId xmlns:a16="http://schemas.microsoft.com/office/drawing/2014/main" val="353814041"/>
                    </a:ext>
                  </a:extLst>
                </a:gridCol>
                <a:gridCol w="5021698">
                  <a:extLst>
                    <a:ext uri="{9D8B030D-6E8A-4147-A177-3AD203B41FA5}">
                      <a16:colId xmlns:a16="http://schemas.microsoft.com/office/drawing/2014/main" val="3522618998"/>
                    </a:ext>
                  </a:extLst>
                </a:gridCol>
                <a:gridCol w="1381562">
                  <a:extLst>
                    <a:ext uri="{9D8B030D-6E8A-4147-A177-3AD203B41FA5}">
                      <a16:colId xmlns:a16="http://schemas.microsoft.com/office/drawing/2014/main" val="2807256984"/>
                    </a:ext>
                  </a:extLst>
                </a:gridCol>
              </a:tblGrid>
              <a:tr h="559098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CO</a:t>
                      </a:r>
                      <a:r>
                        <a:rPr lang="en-IN" sz="1800" b="1" baseline="0" dirty="0"/>
                        <a:t> NUMBER </a:t>
                      </a:r>
                      <a:endParaRPr lang="en-IN" sz="1800" b="1" dirty="0">
                        <a:latin typeface="+mn-lt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TOPICS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LEVEL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16712591"/>
                  </a:ext>
                </a:extLst>
              </a:tr>
              <a:tr h="590692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CO2</a:t>
                      </a:r>
                      <a:endParaRPr lang="en-IN" sz="1800" b="1" dirty="0">
                        <a:latin typeface="+mn-lt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Migrating into a Cloud: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Introduction, Broad approaches to Migrating into the Cloud, The Seven-Step Model of Migration Into a Cloud.</a:t>
                      </a:r>
                    </a:p>
                    <a:p>
                      <a:pPr algn="just"/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Virtualization: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Introduction, Characteristics of Virtualized environment, Taxonomy of Virtualization techniques, Virtualization and Cloud Computing, Pros and Cons of Virtualization, Technology Examples- Xen, VMware, Microsoft Hyper-V.</a:t>
                      </a:r>
                    </a:p>
                    <a:p>
                      <a:pPr algn="just"/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Capacity Planning: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Introduction, Defining Baseline and Metrics-Baseline Measurements, System Metrics, Load Testing, Resource Ceilings, Server and Instance types; Network Capacity, Scaling.</a:t>
                      </a:r>
                      <a:endParaRPr lang="en-US" sz="135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21715395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196E9-BAFA-D5BC-9517-3A1055A38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05296-6F48-66B9-DA0C-69C879BC0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A187-1465-481C-91D5-B2B7D79C567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0D813D-BF95-D3C8-8DD2-A48259B2A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5" y="70037"/>
            <a:ext cx="2564258" cy="718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66B9C3-9EA4-DAB9-68E1-E8F4E8C81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715" y="72947"/>
            <a:ext cx="1782539" cy="5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43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6E06-F0DB-E329-38B3-A0C6469B3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791" y="0"/>
            <a:ext cx="3231009" cy="857250"/>
          </a:xfrm>
        </p:spPr>
        <p:txBody>
          <a:bodyPr>
            <a:noAutofit/>
          </a:bodyPr>
          <a:lstStyle/>
          <a:p>
            <a:r>
              <a:rPr lang="en-IN" sz="3200" b="1" kern="0" dirty="0">
                <a:latin typeface="+mn-lt"/>
              </a:rPr>
              <a:t>Topic Overview</a:t>
            </a:r>
            <a:endParaRPr lang="en-IN" sz="3200" dirty="0">
              <a:latin typeface="+mn-l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CD11FB-92DA-BAB7-B630-7C53F9B80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27190"/>
            <a:ext cx="8229600" cy="402380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/>
              <a:t>Capacity planning involves forecasting and managing resources to ensure a system meets current and future demands. </a:t>
            </a:r>
          </a:p>
          <a:p>
            <a:pPr algn="just">
              <a:lnSpc>
                <a:spcPct val="150000"/>
              </a:lnSpc>
            </a:pPr>
            <a:r>
              <a:rPr lang="en-US" sz="2200" dirty="0"/>
              <a:t>It includes defining baselines, measuring system metrics, conducting load testing, and identifying resource ceilings. </a:t>
            </a:r>
          </a:p>
          <a:p>
            <a:pPr algn="just">
              <a:lnSpc>
                <a:spcPct val="150000"/>
              </a:lnSpc>
            </a:pPr>
            <a:r>
              <a:rPr lang="en-US" sz="2200" dirty="0"/>
              <a:t>Key considerations include choosing the right server and instance types, managing network capacity, and planning for scaling. Effective scaling ensures system performance, availability, and cost-efficiency.</a:t>
            </a:r>
          </a:p>
          <a:p>
            <a:pPr algn="just"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C1B49-59F2-DE81-19E5-79EEC9739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61E5A-2CC5-9A09-3921-68618B7D2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A187-1465-481C-91D5-B2B7D79C567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956DD8-189F-6B97-CD94-A835937D3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5" y="70037"/>
            <a:ext cx="2564258" cy="718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C9A958-9808-A784-10D7-CC7C67775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715" y="72947"/>
            <a:ext cx="1782539" cy="5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062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0FBBE-7C83-1FEE-F301-70AE420E8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107" y="70037"/>
            <a:ext cx="5000616" cy="857250"/>
          </a:xfrm>
        </p:spPr>
        <p:txBody>
          <a:bodyPr>
            <a:noAutofit/>
          </a:bodyPr>
          <a:lstStyle/>
          <a:p>
            <a:pPr algn="ctr"/>
            <a:r>
              <a:rPr lang="en-US" altLang="en-US" sz="2800" b="1" kern="0" dirty="0"/>
              <a:t>Brief of what the presentation will</a:t>
            </a:r>
            <a:endParaRPr lang="en-IN" sz="28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900F9C-52E2-DC4F-B92B-FECF167EF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40618"/>
            <a:ext cx="7886700" cy="32635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The presentation will cover the following points: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i="0" u="none" strike="noStrike" baseline="0" dirty="0">
                <a:solidFill>
                  <a:srgbClr val="000000"/>
                </a:solidFill>
              </a:rPr>
              <a:t>Capacity Planning: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i="0" u="none" strike="noStrike" baseline="0" dirty="0">
                <a:solidFill>
                  <a:srgbClr val="000000"/>
                </a:solidFill>
              </a:rPr>
              <a:t>Introduction,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i="0" u="none" strike="noStrike" baseline="0" dirty="0">
                <a:solidFill>
                  <a:srgbClr val="000000"/>
                </a:solidFill>
              </a:rPr>
              <a:t>Defining Baseline and Metrics-Baseline Measurements,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i="0" u="none" strike="noStrike" baseline="0" dirty="0">
                <a:solidFill>
                  <a:srgbClr val="000000"/>
                </a:solidFill>
              </a:rPr>
              <a:t>System Metrics,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i="0" u="none" strike="noStrike" baseline="0" dirty="0">
                <a:solidFill>
                  <a:srgbClr val="000000"/>
                </a:solidFill>
              </a:rPr>
              <a:t>Load Testing, Resource Ceilings, Server and Instance types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i="0" u="none" strike="noStrike" baseline="0" dirty="0">
                <a:solidFill>
                  <a:srgbClr val="000000"/>
                </a:solidFill>
              </a:rPr>
              <a:t>Network Capacity, Scaling.</a:t>
            </a:r>
          </a:p>
          <a:p>
            <a:pPr marL="0" indent="0"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</a:rPr>
              <a:t>	</a:t>
            </a:r>
          </a:p>
          <a:p>
            <a:pPr>
              <a:buFont typeface="+mj-lt"/>
              <a:buAutoNum type="arabicPeriod"/>
            </a:pPr>
            <a:endParaRPr lang="en-US" sz="2400" b="1" dirty="0">
              <a:latin typeface="Calibri"/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3D1A0-34F9-4BA5-39D2-26EC7CF15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4380D-987B-E4FA-611D-35498E236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A187-1465-481C-91D5-B2B7D79C567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2E8D4E-6D07-8237-CA2C-C70527869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5" y="70037"/>
            <a:ext cx="2564258" cy="718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444A5A-D3AE-D5BE-39FB-ECBD81173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715" y="72947"/>
            <a:ext cx="1782539" cy="5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772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617AB-1058-84F2-6310-36916463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4426" y="70037"/>
            <a:ext cx="4478695" cy="530631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kern="0" dirty="0">
                <a:latin typeface="+mn-lt"/>
              </a:rPr>
              <a:t>Importance of the topic</a:t>
            </a:r>
            <a:endParaRPr lang="en-IN" sz="3200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4A2B2-5C07-0B66-78DF-A6A289556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AD9F8-2B89-E89E-F744-9A302202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A187-1465-481C-91D5-B2B7D79C567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70ED2B-727D-50EB-2310-D83584E19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5" y="70037"/>
            <a:ext cx="2564258" cy="718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8AA71D-A967-DA93-697C-C57147248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715" y="72947"/>
            <a:ext cx="1782539" cy="530631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50DDFC4-917A-A478-130D-D5467A9034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00144"/>
            <a:ext cx="8229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Capacity planning is crucial for ensuring systems can handle both current and future demands without performance degradation.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helps optimize resource usage, minimize costs, and prevent downtime by identifying performance limits and bottlenecks.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Accurate baselines, metrics, and load testing guide efficient scaling decisions.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Ultimately, it ensures systems remain reliable, responsive, and cost-effective as they grow.</a:t>
            </a:r>
          </a:p>
        </p:txBody>
      </p:sp>
    </p:spTree>
    <p:extLst>
      <p:ext uri="{BB962C8B-B14F-4D97-AF65-F5344CB8AC3E}">
        <p14:creationId xmlns:p14="http://schemas.microsoft.com/office/powerpoint/2010/main" val="1011551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89529-E5EC-AB2F-A33A-578AB9C4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4426" y="70036"/>
            <a:ext cx="4478695" cy="594770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kern="0" dirty="0">
                <a:latin typeface="+mn-lt"/>
              </a:rPr>
              <a:t>Detail Topics</a:t>
            </a:r>
            <a:endParaRPr lang="en-IN" sz="3200" dirty="0">
              <a:latin typeface="+mn-l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D2FBB5B-A900-E331-6F3D-85F861C3E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95350"/>
            <a:ext cx="8001000" cy="373737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Capacity planning involves forecasting and managing the resources needed to meet both current and future system demands. </a:t>
            </a:r>
          </a:p>
          <a:p>
            <a:pPr algn="just"/>
            <a:r>
              <a:rPr lang="en-US" sz="2400" dirty="0"/>
              <a:t>It includes defining performance baselines, measuring system metrics, and conducting load testing to identify potential bottlenecks. </a:t>
            </a:r>
          </a:p>
          <a:p>
            <a:pPr algn="just"/>
            <a:r>
              <a:rPr lang="en-US" sz="2400" dirty="0"/>
              <a:t>Key aspects like resource ceilings, server and instance types, and network capacity are critical in planning. </a:t>
            </a:r>
          </a:p>
          <a:p>
            <a:pPr algn="just"/>
            <a:r>
              <a:rPr lang="en-US" sz="2400" dirty="0"/>
              <a:t>Scaling strategies ensure systems can grow efficiently while maintaining optimal performance.</a:t>
            </a:r>
            <a:endParaRPr lang="en-IN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6E4C3-F586-0F54-F0EF-44F54F48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E147F-08C4-C72F-F71C-93C3DC17C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A187-1465-481C-91D5-B2B7D79C567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DFFC85-E021-027B-3318-9CB898565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5" y="70037"/>
            <a:ext cx="2564258" cy="718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F5F606-7026-E1F5-FFA3-FFF6E984D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715" y="72947"/>
            <a:ext cx="1782539" cy="5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177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0" y="29734"/>
            <a:ext cx="510540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200" b="1" spc="-10" dirty="0"/>
              <a:t>Introduction to Capacity Planning</a:t>
            </a:r>
            <a:endParaRPr lang="en-US" sz="3200" b="1" dirty="0"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943813"/>
            <a:ext cx="8077200" cy="37174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ts val="3020"/>
              </a:lnSpc>
              <a:spcBef>
                <a:spcPts val="475"/>
              </a:spcBef>
              <a:tabLst>
                <a:tab pos="355600" algn="l"/>
              </a:tabLst>
            </a:pPr>
            <a:r>
              <a:rPr lang="en-US" sz="2400" dirty="0">
                <a:latin typeface="Calibri"/>
                <a:cs typeface="Calibri"/>
              </a:rPr>
              <a:t>The process of determining the resources (hardware, software, and networking) required to meet future demands.</a:t>
            </a:r>
          </a:p>
          <a:p>
            <a:pPr marL="12700" marR="5080" algn="just">
              <a:lnSpc>
                <a:spcPts val="3020"/>
              </a:lnSpc>
              <a:spcBef>
                <a:spcPts val="475"/>
              </a:spcBef>
              <a:tabLst>
                <a:tab pos="355600" algn="l"/>
              </a:tabLst>
            </a:pPr>
            <a:r>
              <a:rPr lang="en-US" sz="2400" dirty="0">
                <a:latin typeface="Calibri"/>
                <a:cs typeface="Calibri"/>
              </a:rPr>
              <a:t>Helps ensure the system can handle current and future workloads.</a:t>
            </a:r>
          </a:p>
          <a:p>
            <a:pPr marL="12700" marR="5080" algn="just">
              <a:lnSpc>
                <a:spcPts val="3020"/>
              </a:lnSpc>
              <a:spcBef>
                <a:spcPts val="475"/>
              </a:spcBef>
              <a:tabLst>
                <a:tab pos="355600" algn="l"/>
              </a:tabLst>
            </a:pPr>
            <a:r>
              <a:rPr lang="en-US" sz="2400" dirty="0">
                <a:latin typeface="Calibri"/>
                <a:cs typeface="Calibri"/>
              </a:rPr>
              <a:t>Importance: Prevents over-provisioning (wasted resources) and under-provisioning (performance issues).</a:t>
            </a:r>
          </a:p>
          <a:p>
            <a:pPr marL="12700" marR="5080" algn="just">
              <a:lnSpc>
                <a:spcPts val="3020"/>
              </a:lnSpc>
              <a:spcBef>
                <a:spcPts val="475"/>
              </a:spcBef>
              <a:tabLst>
                <a:tab pos="355600" algn="l"/>
              </a:tabLst>
            </a:pPr>
            <a:r>
              <a:rPr lang="en-US" sz="2400" dirty="0">
                <a:latin typeface="Calibri"/>
                <a:cs typeface="Calibri"/>
              </a:rPr>
              <a:t>Involves forecasting, testing, and scaling strategies.</a:t>
            </a:r>
          </a:p>
          <a:p>
            <a:pPr marL="12700" marR="5080" algn="just">
              <a:lnSpc>
                <a:spcPts val="3020"/>
              </a:lnSpc>
              <a:spcBef>
                <a:spcPts val="475"/>
              </a:spcBef>
              <a:tabLst>
                <a:tab pos="355600" algn="l"/>
              </a:tabLst>
            </a:pPr>
            <a:r>
              <a:rPr lang="en-US" sz="2400" dirty="0">
                <a:latin typeface="Calibri"/>
                <a:cs typeface="Calibri"/>
              </a:rPr>
              <a:t>Typically focuses on server, storage, network, and application performance.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C3B1B-8066-FE32-4BDC-B2F4FD3FE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83913"/>
            <a:ext cx="449580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Defining Baseline in Capacity Planning</a:t>
            </a:r>
            <a:endParaRPr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65567-EA59-204B-9442-759FC19EEA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Department of Computer Application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67373-8E0A-FF5F-1708-8B5B766268E7}"/>
              </a:ext>
            </a:extLst>
          </p:cNvPr>
          <p:cNvSpPr txBox="1"/>
          <p:nvPr/>
        </p:nvSpPr>
        <p:spPr>
          <a:xfrm>
            <a:off x="685800" y="1276350"/>
            <a:ext cx="7924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starting point for capacity planning. It represents current system performance under normal conditions.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Collect data over a period of time, ensuring it represents typical system usage.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Components: CPU usage, memory usage, disk I/O, and network throughput.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Provides a reference for planning future growth and identifying system weaknesses.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348614"/>
            <a:ext cx="47244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200" b="1" dirty="0"/>
              <a:t>Baseline Measurements</a:t>
            </a:r>
            <a:endParaRPr sz="3200" b="1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8EBD2-62C8-530E-BA79-3949CFD9F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70A0EDD-38ED-0A47-9FFE-A5D1B27289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3965" y="1118533"/>
            <a:ext cx="782955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CPU Utilization: Average CPU usage over a period, which indicates how much processing power is used.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Memory Utilization: Measures how much of the available RAM is being used by the system.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Disk I/O: Tracks the rate of data being read from or written to storage.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Network Throughput: Measures the amount of data transmitted over the network.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Response Time: The time it takes for the system to respond to user requests under normal conditions.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800" y="270724"/>
            <a:ext cx="4648200" cy="4566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US" sz="3200" b="1" i="0" u="none" strike="noStrike" baseline="0" dirty="0">
                <a:solidFill>
                  <a:srgbClr val="000000"/>
                </a:solidFill>
              </a:rPr>
              <a:t>System Metrics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93DD6-ADEB-282F-9949-D6463F2E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AA37BE4-D359-F7F7-EA1C-FE3FDDA07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35900"/>
            <a:ext cx="792480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Throughput: The number of transactions or tasks processed per unit of time.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Latency: Time taken for data to travel from source to destination.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Error Rate: Percentage of failed requests or transactions.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Resource Utilization: Percentage of hardware resources (CPU, memory, disk) used over time.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Peak Load: The highest amount of load the system handles during high traffic periods.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E60A7-35B0-DD50-9D02-E56CE914C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D3787A3-DC7B-9685-D1B1-6F9D27C99E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0800" y="270724"/>
            <a:ext cx="4648200" cy="4566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US" sz="3200" b="1" i="0" u="none" strike="noStrike" baseline="0" dirty="0">
                <a:solidFill>
                  <a:srgbClr val="000000"/>
                </a:solidFill>
              </a:rPr>
              <a:t>Load Testing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C3F2F8F-CB14-D84B-C540-EC87ABEB9D5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36FC9F-A38D-076B-20FA-3E8D67CAB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3D0858B-E44D-183B-66BA-A5B92666A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028069"/>
            <a:ext cx="792480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Purpose of Load Testing: Simulate user traffic to determine how the system performs under varying loads.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Types of Load Testing: Includes stress testing (beyond normal capacity) and performance testing (under typical conditions).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Identifying Bottlenecks: Load testing helps identify where performance issues or slowdowns occur (e.g., CPU, memory, network).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Tools for Load Testing: Tools like Apache JMeter, LoadRunner, or custom scripts.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Continuous Testing: Regular load testing helps keep track of performance changes over time.</a:t>
            </a:r>
          </a:p>
        </p:txBody>
      </p:sp>
    </p:spTree>
    <p:extLst>
      <p:ext uri="{BB962C8B-B14F-4D97-AF65-F5344CB8AC3E}">
        <p14:creationId xmlns:p14="http://schemas.microsoft.com/office/powerpoint/2010/main" val="2582936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D0DC3-C830-0049-1ED7-930EDC659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26AF60C-D9E8-2EBF-98FB-62D172605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3650" y="590550"/>
            <a:ext cx="4953000" cy="4566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3200" b="1" dirty="0"/>
              <a:t>Resource Ceilings and Limits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356A29B-8F7F-781E-8F0D-94AEA6A4589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F1156E-8209-CF9A-03CC-09CC50ACA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F775764-5AC9-FD34-9B0C-4E433EAB6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197346"/>
            <a:ext cx="79248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/>
              <a:t>The upper limits of system resources (CPU, memory, disk, etc.) that can be safely utilized before performance degradation occurs.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Identifying Ceilings</a:t>
            </a:r>
            <a:r>
              <a:rPr lang="en-US" sz="2200" dirty="0"/>
              <a:t>: By analyzing system metrics and load testing, determine the maximum sustainable usage for each resource.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Impact of Exceeding Ceilings</a:t>
            </a:r>
            <a:r>
              <a:rPr lang="en-US" sz="2200" dirty="0"/>
              <a:t>: Leads to poor performance, system crashes, or data loss.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Resource Contention</a:t>
            </a:r>
            <a:r>
              <a:rPr lang="en-US" sz="2200" dirty="0"/>
              <a:t>: When multiple processes compete for limited resources, leading to performance bottlenecks.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Scaling Decisions</a:t>
            </a:r>
            <a:r>
              <a:rPr lang="en-US" sz="2200" dirty="0"/>
              <a:t>: When resource ceilings are approached, it’s time to consider adding more resources or scaling out.</a:t>
            </a:r>
          </a:p>
        </p:txBody>
      </p:sp>
    </p:spTree>
    <p:extLst>
      <p:ext uri="{BB962C8B-B14F-4D97-AF65-F5344CB8AC3E}">
        <p14:creationId xmlns:p14="http://schemas.microsoft.com/office/powerpoint/2010/main" val="2695548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F67DD-D44C-9292-6481-230D380DD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2DCBAD-6226-D72E-009F-02689AE39F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41163" y="60129"/>
            <a:ext cx="4953000" cy="4566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US" sz="3200" b="1" dirty="0"/>
              <a:t>Server and Instance Types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6CA9ACF-3AA4-F4E3-8753-96DE8E7DB61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A2662F-B1CD-4DEE-BA3A-D3D7222F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10F1501-6153-C667-F3B3-88B3B26AC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858791"/>
            <a:ext cx="79248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Choosing the Right Server Type</a:t>
            </a:r>
            <a:r>
              <a:rPr lang="en-US" sz="2200" dirty="0"/>
              <a:t>: Different workloads (e.g., web, database, application) require different server configurations (CPU, RAM, storage).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Instance Types (Cloud)</a:t>
            </a:r>
            <a:r>
              <a:rPr lang="en-US" sz="2200" dirty="0"/>
              <a:t>: Cloud providers offer various instance types tailored to specific use cases (e.g., compute-optimized, memory-optimized).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Vertical Scaling</a:t>
            </a:r>
            <a:r>
              <a:rPr lang="en-US" sz="2200" dirty="0"/>
              <a:t>: Upgrading the server by adding more resources (CPU, memory).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Horizontal Scaling</a:t>
            </a:r>
            <a:r>
              <a:rPr lang="en-US" sz="2200" dirty="0"/>
              <a:t>: Adding more servers or instances to distribute the load.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Resource Considerations</a:t>
            </a:r>
            <a:r>
              <a:rPr lang="en-US" sz="2200" dirty="0"/>
              <a:t>: Balance cost and resource requirements when selecting server or instance types.</a:t>
            </a:r>
          </a:p>
        </p:txBody>
      </p:sp>
    </p:spTree>
    <p:extLst>
      <p:ext uri="{BB962C8B-B14F-4D97-AF65-F5344CB8AC3E}">
        <p14:creationId xmlns:p14="http://schemas.microsoft.com/office/powerpoint/2010/main" val="4004398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4AEE6-BDD0-701F-2E29-8DA208A6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C1763D-7042-1B96-9B28-28B62A0446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41163" y="60129"/>
            <a:ext cx="4953000" cy="4566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US" sz="3200" b="1" dirty="0"/>
              <a:t>Network Capacity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E59F5A5-4011-FAFD-D023-124A13AA7B56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0D976-BC24-724C-C528-E320979F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F1CE881-0917-5A1F-6F6C-B77B7C1BB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197345"/>
            <a:ext cx="79248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Network Throughput: </a:t>
            </a:r>
            <a:r>
              <a:rPr lang="en-US" sz="2200" dirty="0"/>
              <a:t>Measures the amount of data transferred over the network per second.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Latency and Bandwidth: </a:t>
            </a:r>
            <a:r>
              <a:rPr lang="en-US" sz="2200" dirty="0"/>
              <a:t>Ensure network latency is minimized, and sufficient bandwidth is available to handle traffic spikes.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Network Scaling: </a:t>
            </a:r>
            <a:r>
              <a:rPr lang="en-US" sz="2200" dirty="0"/>
              <a:t>Techniques to increase network capacity, such as adding more network interfaces or optimizing routing.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Redundancy: </a:t>
            </a:r>
            <a:r>
              <a:rPr lang="en-US" sz="2200" dirty="0"/>
              <a:t>Implementing multiple network paths to avoid single points of failure.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Monitoring Network: </a:t>
            </a:r>
            <a:r>
              <a:rPr lang="en-US" sz="2200" dirty="0"/>
              <a:t>Regularly monitor network performance to ensure it can handle increased traffic demands.</a:t>
            </a:r>
          </a:p>
        </p:txBody>
      </p:sp>
    </p:spTree>
    <p:extLst>
      <p:ext uri="{BB962C8B-B14F-4D97-AF65-F5344CB8AC3E}">
        <p14:creationId xmlns:p14="http://schemas.microsoft.com/office/powerpoint/2010/main" val="1018202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42234-53D4-CE09-4700-63532184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0435DA7-9338-F0B7-9A0D-5DEF9A0CF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41163" y="60129"/>
            <a:ext cx="4953000" cy="4566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US" sz="3200" b="1" dirty="0"/>
              <a:t>Scaling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B0983BE-9D92-16A9-14A5-47CF6FDBE476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dirty="0"/>
              <a:t>10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63C4BC-D221-AB9A-F61D-83A2507F8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 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E0CCBCC-2ECE-8F52-B467-C2D4D1DB0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028068"/>
            <a:ext cx="792480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Vertical Scaling (Scaling Up): </a:t>
            </a:r>
            <a:r>
              <a:rPr lang="en-US" sz="2200" dirty="0"/>
              <a:t>Increasing the capacity of existing servers by adding more resources (CPU, RAM, storage).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Horizontal Scaling (Scaling Out): </a:t>
            </a:r>
            <a:r>
              <a:rPr lang="en-US" sz="2200" dirty="0"/>
              <a:t>Adding more servers or instances to distribute the load and increase capacity.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Elastic Scaling: </a:t>
            </a:r>
            <a:r>
              <a:rPr lang="en-US" sz="2200" dirty="0"/>
              <a:t>Automatically scaling resources based on current demand, commonly used in cloud environments.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Auto-scaling: </a:t>
            </a:r>
            <a:r>
              <a:rPr lang="en-US" sz="2200" dirty="0"/>
              <a:t>Automatically adjusts the number of instances in response to demand, reducing costs and ensuring performance.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Capacity Planning for Scaling: </a:t>
            </a:r>
            <a:r>
              <a:rPr lang="en-US" sz="2200" dirty="0"/>
              <a:t>Understanding when and how to scale based on performance metrics and future demand predictions.</a:t>
            </a:r>
          </a:p>
        </p:txBody>
      </p:sp>
    </p:spTree>
    <p:extLst>
      <p:ext uri="{BB962C8B-B14F-4D97-AF65-F5344CB8AC3E}">
        <p14:creationId xmlns:p14="http://schemas.microsoft.com/office/powerpoint/2010/main" val="3012113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523DD-9F30-2998-B335-D3793E30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1921" y="101066"/>
            <a:ext cx="3638879" cy="530631"/>
          </a:xfrm>
        </p:spPr>
        <p:txBody>
          <a:bodyPr>
            <a:normAutofit/>
          </a:bodyPr>
          <a:lstStyle/>
          <a:p>
            <a:pPr algn="ctr"/>
            <a:r>
              <a:rPr lang="en-IN" sz="3200" b="1" kern="0" dirty="0"/>
              <a:t>Summary</a:t>
            </a:r>
            <a:endParaRPr lang="en-IN" sz="3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B2739-9CDD-CFDC-9ACC-F769D636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A028B-D4AB-FD38-B390-9A1500B1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A187-1465-481C-91D5-B2B7D79C567F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A90572-0907-90A3-209E-CE36823DA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5" y="70037"/>
            <a:ext cx="2564258" cy="718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D9A907-954C-FDDE-0088-F27E87D8D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715" y="72947"/>
            <a:ext cx="1782539" cy="530631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D591638-8E11-7A58-CE82-2595A977E6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401" y="1085401"/>
            <a:ext cx="822960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Capacity Planning is Critical: Ensures that systems meet current and future demands without over-provisioning.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Baselines and Metrics: These are essential for measuring system performance and planning for growth.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Load Testing: Helps predict how systems will handle stress and identify bottlenecks.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Scaling: Knowing when and how to scale is essential for maintaining performance and availability.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Continuous Monitoring: Ongoing monitoring and planning are key to adapting to changing needs.</a:t>
            </a:r>
          </a:p>
        </p:txBody>
      </p:sp>
    </p:spTree>
    <p:extLst>
      <p:ext uri="{BB962C8B-B14F-4D97-AF65-F5344CB8AC3E}">
        <p14:creationId xmlns:p14="http://schemas.microsoft.com/office/powerpoint/2010/main" val="955887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7B17F-57F1-4833-2F9C-574989E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242" y="70037"/>
            <a:ext cx="4545062" cy="397599"/>
          </a:xfrm>
        </p:spPr>
        <p:txBody>
          <a:bodyPr>
            <a:noAutofit/>
          </a:bodyPr>
          <a:lstStyle/>
          <a:p>
            <a:pPr algn="ctr"/>
            <a:r>
              <a:rPr lang="en-IN" sz="3200" b="1" kern="0" dirty="0"/>
              <a:t>References</a:t>
            </a:r>
            <a:endParaRPr lang="en-IN" sz="32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61AB46-72A9-1DD5-A1BD-51B6BBB0E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200" dirty="0"/>
              <a:t>Books References</a:t>
            </a:r>
          </a:p>
          <a:p>
            <a:r>
              <a:rPr lang="en-US" sz="2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Mastering Cloud Computing, Rajkumar </a:t>
            </a:r>
            <a:r>
              <a:rPr lang="en-US" sz="220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Buyya</a:t>
            </a:r>
            <a:r>
              <a:rPr lang="en-US" sz="2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, Christian </a:t>
            </a:r>
            <a:r>
              <a:rPr lang="en-US" sz="220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Vecchiola</a:t>
            </a:r>
            <a:r>
              <a:rPr lang="en-US" sz="2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20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ThamaraiSelvi</a:t>
            </a:r>
            <a:r>
              <a:rPr lang="en-US" sz="2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, Tata McGraw Hill, ISBN-13: 978-1-25-902995-0, New Delhi, </a:t>
            </a:r>
            <a:r>
              <a:rPr lang="en-US" sz="220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India,Feb</a:t>
            </a:r>
            <a:r>
              <a:rPr lang="en-US" sz="2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2013. 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E-book link</a:t>
            </a:r>
          </a:p>
          <a:p>
            <a:r>
              <a:rPr lang="en-US" sz="2200" dirty="0">
                <a:hlinkClick r:id="rId2"/>
              </a:rPr>
              <a:t>https://archive.org/details/cloudcomputingbi0000sosi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YouTube link</a:t>
            </a:r>
          </a:p>
          <a:p>
            <a:r>
              <a:rPr lang="en-US" sz="2200" dirty="0">
                <a:hlinkClick r:id="rId3"/>
              </a:rPr>
              <a:t>https://www.youtube.com/@cloudcomputing351/videos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>
              <a:buFont typeface="Wingdings" pitchFamily="2" charset="2"/>
              <a:buChar char="Ø"/>
            </a:pPr>
            <a:r>
              <a:rPr lang="en-US" sz="2200" dirty="0">
                <a:hlinkClick r:id="rId4"/>
              </a:rPr>
              <a:t>https://www.slideshare.net/slideshow/cloud-migration-presentation-246744264/246744264?from_action=download&amp;slideshow_id=246744264&amp;original_file=true</a:t>
            </a:r>
            <a:endParaRPr lang="en-US" sz="2200" dirty="0"/>
          </a:p>
          <a:p>
            <a:pPr>
              <a:buFont typeface="Wingdings" pitchFamily="2" charset="2"/>
              <a:buChar char="Ø"/>
            </a:pPr>
            <a:r>
              <a:rPr lang="en-IN" sz="2200" dirty="0">
                <a:hlinkClick r:id="rId5"/>
              </a:rPr>
              <a:t>https://www.geeksforgeeks.org/7-steps-of-migrating-model-in-cloud/</a:t>
            </a:r>
            <a:endParaRPr lang="en-IN" sz="2200" dirty="0"/>
          </a:p>
          <a:p>
            <a:pPr>
              <a:buFont typeface="Wingdings" pitchFamily="2" charset="2"/>
              <a:buChar char="Ø"/>
            </a:pPr>
            <a:r>
              <a:rPr lang="en-IN" sz="2200" dirty="0">
                <a:hlinkClick r:id="rId6"/>
              </a:rPr>
              <a:t>https://nptel.ac.in/courses/106105167</a:t>
            </a:r>
            <a:endParaRPr lang="en-US" sz="2200" dirty="0"/>
          </a:p>
          <a:p>
            <a:pPr>
              <a:buFont typeface="Wingdings" pitchFamily="2" charset="2"/>
              <a:buChar char="Ø"/>
            </a:pPr>
            <a:r>
              <a:rPr lang="en-IN" sz="2200" dirty="0">
                <a:hlinkClick r:id="rId7"/>
              </a:rPr>
              <a:t>https://www.edx.org/learn/cloud-computing</a:t>
            </a:r>
            <a:endParaRPr lang="en-US" sz="2200" dirty="0"/>
          </a:p>
          <a:p>
            <a:pPr>
              <a:buFont typeface="Wingdings" pitchFamily="2" charset="2"/>
              <a:buChar char="Ø"/>
            </a:pPr>
            <a:endParaRPr lang="en-IN" sz="1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3DE2F-1A03-19B7-553F-796BD1308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09F22-1813-5651-3629-61D46B88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A187-1465-481C-91D5-B2B7D79C567F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499693-794D-B053-BA4D-BAB163D114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5" y="70037"/>
            <a:ext cx="2564258" cy="7187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709E1B-BC09-155B-1313-8050BA7DA1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0715" y="72947"/>
            <a:ext cx="1782539" cy="5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01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555172" y="1493556"/>
            <a:ext cx="8229600" cy="2961536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dirty="0">
                <a:solidFill>
                  <a:prstClr val="white"/>
                </a:solidFill>
                <a:latin typeface="Calibri Light"/>
              </a:rPr>
              <a:t> 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100139" y="2236198"/>
            <a:ext cx="8043861" cy="115416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ct val="100000"/>
              </a:lnSpc>
              <a:defRPr/>
            </a:pPr>
            <a:r>
              <a:rPr lang="en-US" sz="6000" dirty="0">
                <a:solidFill>
                  <a:prstClr val="white"/>
                </a:solidFill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  <a:p>
            <a:pPr algn="ctr" defTabSz="685800">
              <a:lnSpc>
                <a:spcPct val="100000"/>
              </a:lnSpc>
              <a:defRPr/>
            </a:pPr>
            <a:r>
              <a:rPr lang="en-US" sz="1500" dirty="0">
                <a:solidFill>
                  <a:prstClr val="white"/>
                </a:solidFill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     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1765409" y="1678802"/>
            <a:ext cx="1822847" cy="241935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1981199" y="1663837"/>
            <a:ext cx="1822847" cy="241935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270E5-2B30-EF6D-D9AC-BE8AF96E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10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Application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z="1050" b="1">
                <a:solidFill>
                  <a:schemeClr val="tx1"/>
                </a:solidFill>
              </a:rPr>
              <a:pPr/>
              <a:t>21</a:t>
            </a:fld>
            <a:endParaRPr lang="en-US" sz="105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B2CC9A-2712-B006-617B-C8D88C0D2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5" y="70037"/>
            <a:ext cx="2564258" cy="7187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58BBB4-BE5B-5C94-999C-C3EA364BE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715" y="72947"/>
            <a:ext cx="1782539" cy="5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13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</TotalTime>
  <Words>1739</Words>
  <Application>Microsoft Office PowerPoint</Application>
  <PresentationFormat>On-screen Show (16:9)</PresentationFormat>
  <Paragraphs>185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Casper</vt:lpstr>
      <vt:lpstr>Times New Roman</vt:lpstr>
      <vt:lpstr>Wingdings</vt:lpstr>
      <vt:lpstr>Office Theme</vt:lpstr>
      <vt:lpstr>PowerPoint Presentation</vt:lpstr>
      <vt:lpstr>Outlines</vt:lpstr>
      <vt:lpstr>PTU Syllabus of Unit-I</vt:lpstr>
      <vt:lpstr>Key objectives or learning outcomes</vt:lpstr>
      <vt:lpstr>CO Introduction</vt:lpstr>
      <vt:lpstr>Topic Overview</vt:lpstr>
      <vt:lpstr>Brief of what the presentation will</vt:lpstr>
      <vt:lpstr>Importance of the topic</vt:lpstr>
      <vt:lpstr>Detail Topics</vt:lpstr>
      <vt:lpstr>Introduction to Capacity Planning</vt:lpstr>
      <vt:lpstr>Defining Baseline in Capacity Planning</vt:lpstr>
      <vt:lpstr>Baseline Measurements</vt:lpstr>
      <vt:lpstr>System Metrics</vt:lpstr>
      <vt:lpstr>Load Testing</vt:lpstr>
      <vt:lpstr>Resource Ceilings and Limits</vt:lpstr>
      <vt:lpstr>Server and Instance Types</vt:lpstr>
      <vt:lpstr>Network Capacity</vt:lpstr>
      <vt:lpstr>Scaling </vt:lpstr>
      <vt:lpstr>Summary</vt:lpstr>
      <vt:lpstr>References</vt:lpstr>
      <vt:lpstr>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gurvir kaur</cp:lastModifiedBy>
  <cp:revision>21</cp:revision>
  <dcterms:created xsi:type="dcterms:W3CDTF">2024-12-06T17:10:37Z</dcterms:created>
  <dcterms:modified xsi:type="dcterms:W3CDTF">2024-12-19T17:34:29Z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2019-10-25T00:00:00Z</vt:filetime>
  </property>
  <property fmtid="{D5CDD505-2E9C-101B-9397-08002B2CF9AE}" pid="3" name="LastSaved">
    <vt:filetime>2024-12-06T00:00:00Z</vt:filetime>
  </property>
</Properties>
</file>