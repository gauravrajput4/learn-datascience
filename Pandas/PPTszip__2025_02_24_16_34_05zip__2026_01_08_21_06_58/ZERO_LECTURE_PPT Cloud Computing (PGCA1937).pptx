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12192000"/>
  <p:notesSz cx="6858000" cy="9144000"/>
  <p:embeddedFontLst>
    <p:embeddedFont>
      <p:font typeface="Arial Black"/>
      <p:regular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7" roundtripDataSignature="AMtx7mgQSNUZUKDIcs2itov0qs0q+8sK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D2D4A21-442C-4ACF-867A-BBFB1515C7F3}">
  <a:tblStyle styleId="{CD2D4A21-442C-4ACF-867A-BBFB1515C7F3}"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accent3"/>
              </a:solidFill>
              <a:prstDash val="solid"/>
              <a:round/>
              <a:headEnd len="sm" w="sm" type="none"/>
              <a:tailEnd len="sm" w="sm" type="none"/>
            </a:ln>
          </a:top>
          <a:bottom>
            <a:ln cap="flat" cmpd="sng" w="12700">
              <a:solidFill>
                <a:schemeClr val="accent3"/>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fill>
          <a:solidFill>
            <a:schemeClr val="accent3">
              <a:alpha val="20000"/>
            </a:schemeClr>
          </a:solidFill>
        </a:fill>
      </a:tcStyle>
    </a:band1H>
    <a:band2H>
      <a:tcTxStyle b="off" i="off"/>
    </a:band2H>
    <a:band1V>
      <a:tcTxStyle b="off" i="off"/>
      <a:tcStyle>
        <a:fill>
          <a:solidFill>
            <a:schemeClr val="accent3">
              <a:alpha val="20000"/>
            </a:schemeClr>
          </a:solidFill>
        </a:fill>
      </a:tcStyle>
    </a:band1V>
    <a:band2V>
      <a:tcTxStyle b="off" i="off"/>
    </a:band2V>
    <a:lastCol>
      <a:tcTxStyle b="on" i="off"/>
    </a:lastCol>
    <a:firstCol>
      <a:tcTxStyle b="on" i="off"/>
    </a:firstCol>
    <a:lastRow>
      <a:tcTxStyle b="on" i="off"/>
      <a:tcStyle>
        <a:tcBdr>
          <a:top>
            <a:ln cap="flat" cmpd="sng" w="12700">
              <a:solidFill>
                <a:schemeClr val="accent3"/>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12700">
              <a:solidFill>
                <a:schemeClr val="accent3"/>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 styleId="{0188CC62-7809-4361-BF76-21CB3F00A493}" styleName="Table_1">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3AB6966F-4593-4250-AC56-97D5DCCA556C}" styleName="Table_2">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ArialBlack-regular.fntdata"/><Relationship Id="rId25" Type="http://schemas.openxmlformats.org/officeDocument/2006/relationships/slide" Target="slides/slide19.xml"/><Relationship Id="rId27"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 name="Google Shape;9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86" name="Google Shape;18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5" name="Google Shape;21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9" name="Google Shape;23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0"/>
          <p:cNvSpPr/>
          <p:nvPr>
            <p:ph idx="2" type="pic"/>
          </p:nvPr>
        </p:nvSpPr>
        <p:spPr>
          <a:xfrm>
            <a:off x="5183188" y="987425"/>
            <a:ext cx="6172200" cy="4873625"/>
          </a:xfrm>
          <a:prstGeom prst="rect">
            <a:avLst/>
          </a:prstGeom>
          <a:noFill/>
          <a:ln>
            <a:noFill/>
          </a:ln>
        </p:spPr>
      </p:sp>
      <p:sp>
        <p:nvSpPr>
          <p:cNvPr id="68" name="Google Shape;6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3.jp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8.jpg"/><Relationship Id="rId6" Type="http://schemas.openxmlformats.org/officeDocument/2006/relationships/image" Target="../media/image7.jpg"/><Relationship Id="rId7" Type="http://schemas.openxmlformats.org/officeDocument/2006/relationships/image" Target="../media/image1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jp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jpg"/><Relationship Id="rId4" Type="http://schemas.openxmlformats.org/officeDocument/2006/relationships/image" Target="../media/image3.jpg"/><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3.jpg"/><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jpg"/><Relationship Id="rId4" Type="http://schemas.openxmlformats.org/officeDocument/2006/relationships/image" Target="../media/image3.jpg"/><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jp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jp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jp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jp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jp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3.jp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grpSp>
        <p:nvGrpSpPr>
          <p:cNvPr id="88" name="Google Shape;88;p1"/>
          <p:cNvGrpSpPr/>
          <p:nvPr/>
        </p:nvGrpSpPr>
        <p:grpSpPr>
          <a:xfrm>
            <a:off x="2866030" y="846161"/>
            <a:ext cx="6469037" cy="5566605"/>
            <a:chOff x="6350744" y="4001252"/>
            <a:chExt cx="2533650" cy="2667000"/>
          </a:xfrm>
        </p:grpSpPr>
        <p:pic>
          <p:nvPicPr>
            <p:cNvPr descr="http://2h963i3oa54o1nc84a14ihzo.wpengine.netdna-cdn.com/wp-content/uploads/sites/3/2014/09/red_award2_1.jpg" id="89" name="Google Shape;89;p1"/>
            <p:cNvPicPr preferRelativeResize="0"/>
            <p:nvPr/>
          </p:nvPicPr>
          <p:blipFill rotWithShape="1">
            <a:blip r:embed="rId3">
              <a:alphaModFix/>
            </a:blip>
            <a:srcRect b="0" l="0" r="0" t="0"/>
            <a:stretch/>
          </p:blipFill>
          <p:spPr>
            <a:xfrm>
              <a:off x="6350744" y="4001252"/>
              <a:ext cx="2533650" cy="2667000"/>
            </a:xfrm>
            <a:prstGeom prst="rect">
              <a:avLst/>
            </a:prstGeom>
            <a:noFill/>
            <a:ln>
              <a:noFill/>
            </a:ln>
          </p:spPr>
        </p:pic>
        <p:sp>
          <p:nvSpPr>
            <p:cNvPr id="90" name="Google Shape;90;p1"/>
            <p:cNvSpPr txBox="1"/>
            <p:nvPr/>
          </p:nvSpPr>
          <p:spPr>
            <a:xfrm>
              <a:off x="7154048" y="4736193"/>
              <a:ext cx="917868" cy="2211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2400"/>
                <a:buFont typeface="Noto Sans Symbols"/>
                <a:buNone/>
              </a:pPr>
              <a:r>
                <a:rPr b="1" i="0" lang="en-IN" sz="2400" u="none" cap="none" strike="noStrike">
                  <a:solidFill>
                    <a:srgbClr val="C00000"/>
                  </a:solidFill>
                  <a:latin typeface="Calibri"/>
                  <a:ea typeface="Calibri"/>
                  <a:cs typeface="Calibri"/>
                  <a:sym typeface="Calibri"/>
                </a:rPr>
                <a:t>Zero Lecture</a:t>
              </a:r>
              <a:endParaRPr b="1" i="0" sz="2400" u="none" cap="none" strike="noStrike">
                <a:solidFill>
                  <a:srgbClr val="C00000"/>
                </a:solidFill>
                <a:latin typeface="Calibri"/>
                <a:ea typeface="Calibri"/>
                <a:cs typeface="Calibri"/>
                <a:sym typeface="Calibri"/>
              </a:endParaRPr>
            </a:p>
          </p:txBody>
        </p:sp>
      </p:grpSp>
      <p:pic>
        <p:nvPicPr>
          <p:cNvPr id="91" name="Google Shape;91;p1"/>
          <p:cNvPicPr preferRelativeResize="0"/>
          <p:nvPr/>
        </p:nvPicPr>
        <p:blipFill rotWithShape="1">
          <a:blip r:embed="rId4">
            <a:alphaModFix/>
          </a:blip>
          <a:srcRect b="0" l="0" r="0" t="0"/>
          <a:stretch/>
        </p:blipFill>
        <p:spPr>
          <a:xfrm>
            <a:off x="150099" y="93382"/>
            <a:ext cx="3419011" cy="958384"/>
          </a:xfrm>
          <a:prstGeom prst="rect">
            <a:avLst/>
          </a:prstGeom>
          <a:noFill/>
          <a:ln>
            <a:noFill/>
          </a:ln>
        </p:spPr>
      </p:pic>
      <p:pic>
        <p:nvPicPr>
          <p:cNvPr id="92" name="Google Shape;92;p1"/>
          <p:cNvPicPr preferRelativeResize="0"/>
          <p:nvPr/>
        </p:nvPicPr>
        <p:blipFill rotWithShape="1">
          <a:blip r:embed="rId5">
            <a:alphaModFix/>
          </a:blip>
          <a:srcRect b="0" l="0" r="0" t="0"/>
          <a:stretch/>
        </p:blipFill>
        <p:spPr>
          <a:xfrm>
            <a:off x="9720952" y="97262"/>
            <a:ext cx="2376719" cy="70750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8"/>
                                        </p:tgtEl>
                                        <p:attrNameLst>
                                          <p:attrName>style.visibility</p:attrName>
                                        </p:attrNameLst>
                                      </p:cBhvr>
                                      <p:to>
                                        <p:strVal val="visible"/>
                                      </p:to>
                                    </p:set>
                                    <p:anim calcmode="lin" valueType="num">
                                      <p:cBhvr additive="base">
                                        <p:cTn dur="500"/>
                                        <p:tgtEl>
                                          <p:spTgt spid="88"/>
                                        </p:tgtEl>
                                        <p:attrNameLst>
                                          <p:attrName>ppt_w</p:attrName>
                                        </p:attrNameLst>
                                      </p:cBhvr>
                                      <p:tavLst>
                                        <p:tav fmla="" tm="0">
                                          <p:val>
                                            <p:strVal val="0"/>
                                          </p:val>
                                        </p:tav>
                                        <p:tav fmla="" tm="100000">
                                          <p:val>
                                            <p:strVal val="#ppt_w"/>
                                          </p:val>
                                        </p:tav>
                                      </p:tavLst>
                                    </p:anim>
                                    <p:anim calcmode="lin" valueType="num">
                                      <p:cBhvr additive="base">
                                        <p:cTn dur="500"/>
                                        <p:tgtEl>
                                          <p:spTgt spid="8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type="ctrTitle"/>
          </p:nvPr>
        </p:nvSpPr>
        <p:spPr>
          <a:xfrm>
            <a:off x="3057832" y="2389239"/>
            <a:ext cx="8898194" cy="2271251"/>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rgbClr val="FF0000"/>
              </a:buClr>
              <a:buSzPct val="100000"/>
              <a:buFont typeface="Calibri"/>
              <a:buNone/>
            </a:pPr>
            <a:br>
              <a:rPr b="1" lang="en-IN" sz="3200">
                <a:solidFill>
                  <a:srgbClr val="FF0000"/>
                </a:solidFill>
                <a:highlight>
                  <a:srgbClr val="00FF00"/>
                </a:highlight>
                <a:latin typeface="Calibri"/>
                <a:ea typeface="Calibri"/>
                <a:cs typeface="Calibri"/>
                <a:sym typeface="Calibri"/>
              </a:rPr>
            </a:br>
            <a:r>
              <a:rPr b="1" i="0" lang="en-IN" sz="3200" u="none" strike="noStrike">
                <a:solidFill>
                  <a:srgbClr val="000000"/>
                </a:solidFill>
                <a:latin typeface="Calibri"/>
                <a:ea typeface="Calibri"/>
                <a:cs typeface="Calibri"/>
                <a:sym typeface="Calibri"/>
              </a:rPr>
              <a:t>Program Code: </a:t>
            </a:r>
            <a:r>
              <a:rPr b="1" lang="en-IN" sz="3200">
                <a:solidFill>
                  <a:srgbClr val="000000"/>
                </a:solidFill>
              </a:rPr>
              <a:t>N</a:t>
            </a:r>
            <a:r>
              <a:rPr b="1" i="0" lang="en-IN" sz="3200" u="none" strike="noStrike">
                <a:solidFill>
                  <a:srgbClr val="000000"/>
                </a:solidFill>
                <a:latin typeface="Calibri"/>
                <a:ea typeface="Calibri"/>
                <a:cs typeface="Calibri"/>
                <a:sym typeface="Calibri"/>
              </a:rPr>
              <a:t>A</a:t>
            </a:r>
            <a:br>
              <a:rPr b="1" i="0" lang="en-IN" sz="3200" u="none" strike="noStrike">
                <a:solidFill>
                  <a:srgbClr val="000000"/>
                </a:solidFill>
                <a:latin typeface="Calibri"/>
                <a:ea typeface="Calibri"/>
                <a:cs typeface="Calibri"/>
                <a:sym typeface="Calibri"/>
              </a:rPr>
            </a:br>
            <a:r>
              <a:rPr b="1" i="0" lang="en-IN" sz="3200" u="none" strike="noStrike">
                <a:solidFill>
                  <a:srgbClr val="000000"/>
                </a:solidFill>
                <a:latin typeface="Calibri"/>
                <a:ea typeface="Calibri"/>
                <a:cs typeface="Calibri"/>
                <a:sym typeface="Calibri"/>
              </a:rPr>
              <a:t>Program Name: MCA</a:t>
            </a:r>
            <a:br>
              <a:rPr b="1" i="0" lang="en-IN" sz="3200" u="none" strike="noStrike">
                <a:solidFill>
                  <a:srgbClr val="000000"/>
                </a:solidFill>
                <a:latin typeface="Calibri"/>
                <a:ea typeface="Calibri"/>
                <a:cs typeface="Calibri"/>
                <a:sym typeface="Calibri"/>
              </a:rPr>
            </a:br>
            <a:r>
              <a:rPr b="1" i="0" lang="en-IN" sz="3200" u="none" strike="noStrike">
                <a:solidFill>
                  <a:srgbClr val="000000"/>
                </a:solidFill>
                <a:latin typeface="Calibri"/>
                <a:ea typeface="Calibri"/>
                <a:cs typeface="Calibri"/>
                <a:sym typeface="Calibri"/>
              </a:rPr>
              <a:t>Course Name &amp; Code: </a:t>
            </a:r>
            <a:r>
              <a:rPr b="1" i="0" lang="en-IN" sz="3100" u="none" strike="noStrike">
                <a:solidFill>
                  <a:srgbClr val="000000"/>
                </a:solidFill>
                <a:latin typeface="Calibri"/>
                <a:ea typeface="Calibri"/>
                <a:cs typeface="Calibri"/>
                <a:sym typeface="Calibri"/>
              </a:rPr>
              <a:t>Cloud Computing [PGCA1937 </a:t>
            </a:r>
            <a:r>
              <a:rPr b="1" lang="en-IN" sz="3100">
                <a:latin typeface="Calibri"/>
                <a:ea typeface="Calibri"/>
                <a:cs typeface="Calibri"/>
                <a:sym typeface="Calibri"/>
              </a:rPr>
              <a:t>]</a:t>
            </a:r>
            <a:br>
              <a:rPr b="1" i="0" lang="en-IN" sz="3100" u="none" strike="noStrike">
                <a:solidFill>
                  <a:srgbClr val="000000"/>
                </a:solidFill>
                <a:latin typeface="Calibri"/>
                <a:ea typeface="Calibri"/>
                <a:cs typeface="Calibri"/>
                <a:sym typeface="Calibri"/>
              </a:rPr>
            </a:br>
            <a:br>
              <a:rPr b="1" lang="en-IN" sz="3100">
                <a:solidFill>
                  <a:srgbClr val="FF0000"/>
                </a:solidFill>
                <a:latin typeface="Calibri"/>
                <a:ea typeface="Calibri"/>
                <a:cs typeface="Calibri"/>
                <a:sym typeface="Calibri"/>
              </a:rPr>
            </a:br>
            <a:endParaRPr b="1" sz="3100">
              <a:solidFill>
                <a:srgbClr val="FF0000"/>
              </a:solidFill>
              <a:highlight>
                <a:srgbClr val="00FF00"/>
              </a:highlight>
              <a:latin typeface="Calibri"/>
              <a:ea typeface="Calibri"/>
              <a:cs typeface="Calibri"/>
              <a:sym typeface="Calibri"/>
            </a:endParaRPr>
          </a:p>
        </p:txBody>
      </p:sp>
      <p:sp>
        <p:nvSpPr>
          <p:cNvPr id="98" name="Google Shape;98;p2"/>
          <p:cNvSpPr txBox="1"/>
          <p:nvPr>
            <p:ph idx="1" type="subTitle"/>
          </p:nvPr>
        </p:nvSpPr>
        <p:spPr>
          <a:xfrm>
            <a:off x="3873909" y="5683761"/>
            <a:ext cx="4444181" cy="786515"/>
          </a:xfrm>
          <a:prstGeom prst="rect">
            <a:avLst/>
          </a:prstGeom>
          <a:noFill/>
          <a:ln>
            <a:noFill/>
          </a:ln>
        </p:spPr>
        <p:txBody>
          <a:bodyPr anchorCtr="0" anchor="t" bIns="45700" lIns="91425" spcFirstLastPara="1" rIns="91425" wrap="square" tIns="45700">
            <a:normAutofit fontScale="92500" lnSpcReduction="20000"/>
          </a:bodyPr>
          <a:lstStyle/>
          <a:p>
            <a:pPr indent="-406400" lvl="0" marL="457200" rtl="0" algn="l">
              <a:lnSpc>
                <a:spcPct val="90000"/>
              </a:lnSpc>
              <a:spcBef>
                <a:spcPts val="1000"/>
              </a:spcBef>
              <a:spcAft>
                <a:spcPts val="0"/>
              </a:spcAft>
              <a:buSzPct val="129729"/>
              <a:buNone/>
            </a:pPr>
            <a:r>
              <a:rPr b="1" lang="en-IN" sz="2000"/>
              <a:t>Name: Dr. Gurvir Kaur</a:t>
            </a:r>
            <a:endParaRPr/>
          </a:p>
          <a:p>
            <a:pPr indent="-406400" lvl="0" marL="457200" rtl="0" algn="l">
              <a:lnSpc>
                <a:spcPct val="90000"/>
              </a:lnSpc>
              <a:spcBef>
                <a:spcPts val="1000"/>
              </a:spcBef>
              <a:spcAft>
                <a:spcPts val="0"/>
              </a:spcAft>
              <a:buSzPct val="129729"/>
              <a:buNone/>
            </a:pPr>
            <a:r>
              <a:rPr b="1" lang="en-IN" sz="2000"/>
              <a:t>Designation: Assistant Professor</a:t>
            </a:r>
            <a:endParaRPr/>
          </a:p>
        </p:txBody>
      </p:sp>
      <p:pic>
        <p:nvPicPr>
          <p:cNvPr id="99" name="Google Shape;99;p2"/>
          <p:cNvPicPr preferRelativeResize="0"/>
          <p:nvPr/>
        </p:nvPicPr>
        <p:blipFill rotWithShape="1">
          <a:blip r:embed="rId3">
            <a:alphaModFix/>
          </a:blip>
          <a:srcRect b="0" l="0" r="0" t="0"/>
          <a:stretch/>
        </p:blipFill>
        <p:spPr>
          <a:xfrm>
            <a:off x="150099" y="93382"/>
            <a:ext cx="3419011" cy="958384"/>
          </a:xfrm>
          <a:prstGeom prst="rect">
            <a:avLst/>
          </a:prstGeom>
          <a:noFill/>
          <a:ln>
            <a:noFill/>
          </a:ln>
        </p:spPr>
      </p:pic>
      <p:pic>
        <p:nvPicPr>
          <p:cNvPr id="100" name="Google Shape;100;p2"/>
          <p:cNvPicPr preferRelativeResize="0"/>
          <p:nvPr/>
        </p:nvPicPr>
        <p:blipFill rotWithShape="1">
          <a:blip r:embed="rId4">
            <a:alphaModFix/>
          </a:blip>
          <a:srcRect b="0" l="0" r="0" t="0"/>
          <a:stretch/>
        </p:blipFill>
        <p:spPr>
          <a:xfrm>
            <a:off x="9720952" y="97262"/>
            <a:ext cx="2376719" cy="707508"/>
          </a:xfrm>
          <a:prstGeom prst="rect">
            <a:avLst/>
          </a:prstGeom>
          <a:noFill/>
          <a:ln>
            <a:noFill/>
          </a:ln>
        </p:spPr>
      </p:pic>
      <p:sp>
        <p:nvSpPr>
          <p:cNvPr id="101" name="Google Shape;101;p2"/>
          <p:cNvSpPr txBox="1"/>
          <p:nvPr/>
        </p:nvSpPr>
        <p:spPr>
          <a:xfrm>
            <a:off x="1474839" y="1375866"/>
            <a:ext cx="9881419" cy="107721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IN" sz="3200" u="none" cap="none" strike="noStrike">
                <a:solidFill>
                  <a:srgbClr val="0C0C0C"/>
                </a:solidFill>
                <a:latin typeface="Calibri"/>
                <a:ea typeface="Calibri"/>
                <a:cs typeface="Calibri"/>
                <a:sym typeface="Calibri"/>
              </a:rPr>
              <a:t>Lecture Zero</a:t>
            </a:r>
            <a:br>
              <a:rPr b="1" i="0" lang="en-IN" sz="3200" u="none" cap="none" strike="noStrike">
                <a:solidFill>
                  <a:srgbClr val="FF0000"/>
                </a:solidFill>
                <a:latin typeface="Calibri"/>
                <a:ea typeface="Calibri"/>
                <a:cs typeface="Calibri"/>
                <a:sym typeface="Calibri"/>
              </a:rPr>
            </a:br>
            <a:r>
              <a:rPr b="1" i="0" lang="en-IN" sz="3200" u="none" cap="none" strike="noStrike">
                <a:solidFill>
                  <a:srgbClr val="FF0000"/>
                </a:solidFill>
                <a:highlight>
                  <a:srgbClr val="00FF00"/>
                </a:highlight>
                <a:latin typeface="Calibri"/>
                <a:ea typeface="Calibri"/>
                <a:cs typeface="Calibri"/>
                <a:sym typeface="Calibri"/>
              </a:rPr>
              <a:t>The Kick Start Session </a:t>
            </a:r>
            <a:endParaRPr b="0" i="0" sz="3200" u="none" cap="none" strike="noStrike">
              <a:solidFill>
                <a:schemeClr val="dk1"/>
              </a:solidFill>
              <a:latin typeface="Calibri"/>
              <a:ea typeface="Calibri"/>
              <a:cs typeface="Calibri"/>
              <a:sym typeface="Calibri"/>
            </a:endParaRPr>
          </a:p>
        </p:txBody>
      </p:sp>
      <p:pic>
        <p:nvPicPr>
          <p:cNvPr descr="CGC Jhanjeri - Chandigarh Group of Colleges Jhanjeri, Mohali-140307  (Punjab) | about.me" id="102" name="Google Shape;102;p2"/>
          <p:cNvPicPr preferRelativeResize="0"/>
          <p:nvPr/>
        </p:nvPicPr>
        <p:blipFill rotWithShape="1">
          <a:blip r:embed="rId5">
            <a:alphaModFix/>
          </a:blip>
          <a:srcRect b="0" l="0" r="0" t="0"/>
          <a:stretch/>
        </p:blipFill>
        <p:spPr>
          <a:xfrm>
            <a:off x="235974" y="2260536"/>
            <a:ext cx="2823391" cy="2823391"/>
          </a:xfrm>
          <a:prstGeom prst="rect">
            <a:avLst/>
          </a:prstGeom>
          <a:noFill/>
          <a:ln>
            <a:noFill/>
          </a:ln>
        </p:spPr>
      </p:pic>
      <p:sp>
        <p:nvSpPr>
          <p:cNvPr id="103" name="Google Shape;103;p2"/>
          <p:cNvSpPr/>
          <p:nvPr/>
        </p:nvSpPr>
        <p:spPr>
          <a:xfrm flipH="1">
            <a:off x="9825377" y="5261151"/>
            <a:ext cx="2366623" cy="1600201"/>
          </a:xfrm>
          <a:prstGeom prst="rtTriangle">
            <a:avLst/>
          </a:prstGeom>
          <a:solidFill>
            <a:srgbClr val="1E4E7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3"/>
          <p:cNvSpPr txBox="1"/>
          <p:nvPr>
            <p:ph type="title"/>
          </p:nvPr>
        </p:nvSpPr>
        <p:spPr>
          <a:xfrm>
            <a:off x="3685521" y="41146"/>
            <a:ext cx="5919019" cy="106285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IN" sz="3200">
                <a:latin typeface="Calibri"/>
                <a:ea typeface="Calibri"/>
                <a:cs typeface="Calibri"/>
                <a:sym typeface="Calibri"/>
              </a:rPr>
              <a:t>Department Overview</a:t>
            </a:r>
            <a:endParaRPr b="1" sz="3200">
              <a:latin typeface="Calibri"/>
              <a:ea typeface="Calibri"/>
              <a:cs typeface="Calibri"/>
              <a:sym typeface="Calibri"/>
            </a:endParaRPr>
          </a:p>
        </p:txBody>
      </p:sp>
      <p:pic>
        <p:nvPicPr>
          <p:cNvPr id="109" name="Google Shape;109;p3"/>
          <p:cNvPicPr preferRelativeResize="0"/>
          <p:nvPr/>
        </p:nvPicPr>
        <p:blipFill rotWithShape="1">
          <a:blip r:embed="rId3">
            <a:alphaModFix/>
          </a:blip>
          <a:srcRect b="0" l="0" r="0" t="0"/>
          <a:stretch/>
        </p:blipFill>
        <p:spPr>
          <a:xfrm>
            <a:off x="150099" y="93382"/>
            <a:ext cx="3419011" cy="958384"/>
          </a:xfrm>
          <a:prstGeom prst="rect">
            <a:avLst/>
          </a:prstGeom>
          <a:noFill/>
          <a:ln>
            <a:noFill/>
          </a:ln>
        </p:spPr>
      </p:pic>
      <p:pic>
        <p:nvPicPr>
          <p:cNvPr id="110" name="Google Shape;110;p3"/>
          <p:cNvPicPr preferRelativeResize="0"/>
          <p:nvPr/>
        </p:nvPicPr>
        <p:blipFill rotWithShape="1">
          <a:blip r:embed="rId4">
            <a:alphaModFix/>
          </a:blip>
          <a:srcRect b="0" l="0" r="0" t="0"/>
          <a:stretch/>
        </p:blipFill>
        <p:spPr>
          <a:xfrm>
            <a:off x="9720952" y="97262"/>
            <a:ext cx="2376719" cy="707508"/>
          </a:xfrm>
          <a:prstGeom prst="rect">
            <a:avLst/>
          </a:prstGeom>
          <a:noFill/>
          <a:ln>
            <a:noFill/>
          </a:ln>
        </p:spPr>
      </p:pic>
      <p:sp>
        <p:nvSpPr>
          <p:cNvPr id="111" name="Google Shape;111;p3"/>
          <p:cNvSpPr/>
          <p:nvPr/>
        </p:nvSpPr>
        <p:spPr>
          <a:xfrm>
            <a:off x="5977217" y="3244334"/>
            <a:ext cx="23756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12" name="Google Shape;112;p3"/>
          <p:cNvSpPr txBox="1"/>
          <p:nvPr/>
        </p:nvSpPr>
        <p:spPr>
          <a:xfrm>
            <a:off x="1308675" y="4646550"/>
            <a:ext cx="26391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Dr. </a:t>
            </a:r>
            <a:r>
              <a:rPr lang="en-IN" sz="1800">
                <a:solidFill>
                  <a:schemeClr val="dk1"/>
                </a:solidFill>
                <a:latin typeface="Calibri"/>
                <a:ea typeface="Calibri"/>
                <a:cs typeface="Calibri"/>
                <a:sym typeface="Calibri"/>
              </a:rPr>
              <a:t>Avinash</a:t>
            </a:r>
            <a:r>
              <a:rPr b="0" i="0" lang="en-IN" sz="1800" u="none" cap="none" strike="noStrike">
                <a:solidFill>
                  <a:schemeClr val="dk1"/>
                </a:solidFill>
                <a:latin typeface="Calibri"/>
                <a:ea typeface="Calibri"/>
                <a:cs typeface="Calibri"/>
                <a:sym typeface="Calibri"/>
              </a:rPr>
              <a:t> Sharma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Director</a:t>
            </a:r>
            <a:endParaRPr b="0" i="0" sz="1800" u="none" cap="none" strike="noStrike">
              <a:solidFill>
                <a:schemeClr val="dk1"/>
              </a:solidFill>
              <a:latin typeface="Calibri"/>
              <a:ea typeface="Calibri"/>
              <a:cs typeface="Calibri"/>
              <a:sym typeface="Calibri"/>
            </a:endParaRPr>
          </a:p>
        </p:txBody>
      </p:sp>
      <p:sp>
        <p:nvSpPr>
          <p:cNvPr id="113" name="Google Shape;113;p3"/>
          <p:cNvSpPr txBox="1"/>
          <p:nvPr/>
        </p:nvSpPr>
        <p:spPr>
          <a:xfrm>
            <a:off x="4792125" y="4646550"/>
            <a:ext cx="27339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Dr. Amit Jain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Associate Director</a:t>
            </a:r>
            <a:endParaRPr b="0" i="0" sz="1800" u="none" cap="none" strike="noStrike">
              <a:solidFill>
                <a:schemeClr val="dk1"/>
              </a:solidFill>
              <a:latin typeface="Calibri"/>
              <a:ea typeface="Calibri"/>
              <a:cs typeface="Calibri"/>
              <a:sym typeface="Calibri"/>
            </a:endParaRPr>
          </a:p>
        </p:txBody>
      </p:sp>
      <p:sp>
        <p:nvSpPr>
          <p:cNvPr id="114" name="Google Shape;114;p3"/>
          <p:cNvSpPr txBox="1"/>
          <p:nvPr/>
        </p:nvSpPr>
        <p:spPr>
          <a:xfrm>
            <a:off x="8799150" y="4630325"/>
            <a:ext cx="25407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Ms. Rohini Mahajan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HOD</a:t>
            </a:r>
            <a:endParaRPr b="0" i="0" sz="1800" u="none" cap="none" strike="noStrike">
              <a:solidFill>
                <a:schemeClr val="dk1"/>
              </a:solidFill>
              <a:latin typeface="Calibri"/>
              <a:ea typeface="Calibri"/>
              <a:cs typeface="Calibri"/>
              <a:sym typeface="Calibri"/>
            </a:endParaRPr>
          </a:p>
        </p:txBody>
      </p:sp>
      <p:pic>
        <p:nvPicPr>
          <p:cNvPr id="115" name="Google Shape;115;p3"/>
          <p:cNvPicPr preferRelativeResize="0"/>
          <p:nvPr/>
        </p:nvPicPr>
        <p:blipFill rotWithShape="1">
          <a:blip r:embed="rId5">
            <a:alphaModFix/>
          </a:blip>
          <a:srcRect b="0" l="0" r="0" t="0"/>
          <a:stretch/>
        </p:blipFill>
        <p:spPr>
          <a:xfrm>
            <a:off x="1308800" y="1524825"/>
            <a:ext cx="2639026" cy="3069500"/>
          </a:xfrm>
          <a:prstGeom prst="rect">
            <a:avLst/>
          </a:prstGeom>
          <a:noFill/>
          <a:ln>
            <a:noFill/>
          </a:ln>
        </p:spPr>
      </p:pic>
      <p:pic>
        <p:nvPicPr>
          <p:cNvPr id="116" name="Google Shape;116;p3"/>
          <p:cNvPicPr preferRelativeResize="0"/>
          <p:nvPr/>
        </p:nvPicPr>
        <p:blipFill rotWithShape="1">
          <a:blip r:embed="rId6">
            <a:alphaModFix/>
          </a:blip>
          <a:srcRect b="0" l="0" r="0" t="0"/>
          <a:stretch/>
        </p:blipFill>
        <p:spPr>
          <a:xfrm>
            <a:off x="4792124" y="1524825"/>
            <a:ext cx="2733800" cy="3121724"/>
          </a:xfrm>
          <a:prstGeom prst="rect">
            <a:avLst/>
          </a:prstGeom>
          <a:noFill/>
          <a:ln>
            <a:noFill/>
          </a:ln>
        </p:spPr>
      </p:pic>
      <p:pic>
        <p:nvPicPr>
          <p:cNvPr id="117" name="Google Shape;117;p3"/>
          <p:cNvPicPr preferRelativeResize="0"/>
          <p:nvPr/>
        </p:nvPicPr>
        <p:blipFill rotWithShape="1">
          <a:blip r:embed="rId7">
            <a:alphaModFix/>
          </a:blip>
          <a:srcRect b="0" l="0" r="0" t="0"/>
          <a:stretch/>
        </p:blipFill>
        <p:spPr>
          <a:xfrm>
            <a:off x="8806550" y="1524825"/>
            <a:ext cx="2540700" cy="3069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ph type="title"/>
          </p:nvPr>
        </p:nvSpPr>
        <p:spPr>
          <a:xfrm>
            <a:off x="3677264" y="109183"/>
            <a:ext cx="5899355" cy="119417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Calibri"/>
              <a:buNone/>
            </a:pPr>
            <a:r>
              <a:rPr b="1" lang="en-IN" sz="3600">
                <a:latin typeface="Calibri"/>
                <a:ea typeface="Calibri"/>
                <a:cs typeface="Calibri"/>
                <a:sym typeface="Calibri"/>
              </a:rPr>
              <a:t>Course Details</a:t>
            </a:r>
            <a:endParaRPr/>
          </a:p>
        </p:txBody>
      </p:sp>
      <p:sp>
        <p:nvSpPr>
          <p:cNvPr id="123" name="Google Shape;123;p4"/>
          <p:cNvSpPr txBox="1"/>
          <p:nvPr>
            <p:ph idx="1" type="body"/>
          </p:nvPr>
        </p:nvSpPr>
        <p:spPr>
          <a:xfrm>
            <a:off x="907575" y="1494425"/>
            <a:ext cx="10515600" cy="45684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90000"/>
              </a:lnSpc>
              <a:spcBef>
                <a:spcPts val="0"/>
              </a:spcBef>
              <a:spcAft>
                <a:spcPts val="0"/>
              </a:spcAft>
              <a:buClr>
                <a:schemeClr val="dk1"/>
              </a:buClr>
              <a:buSzPct val="129032"/>
              <a:buNone/>
            </a:pPr>
            <a:r>
              <a:rPr lang="en-IN" sz="2400"/>
              <a:t>L T P- </a:t>
            </a:r>
            <a:endParaRPr/>
          </a:p>
          <a:p>
            <a:pPr indent="0" lvl="0" marL="0" rtl="0" algn="l">
              <a:lnSpc>
                <a:spcPct val="90000"/>
              </a:lnSpc>
              <a:spcBef>
                <a:spcPts val="1000"/>
              </a:spcBef>
              <a:spcAft>
                <a:spcPts val="0"/>
              </a:spcAft>
              <a:buClr>
                <a:schemeClr val="dk1"/>
              </a:buClr>
              <a:buSzPct val="129032"/>
              <a:buNone/>
            </a:pPr>
            <a:r>
              <a:t/>
            </a:r>
            <a:endParaRPr sz="2400"/>
          </a:p>
          <a:p>
            <a:pPr indent="0" lvl="0" marL="0" rtl="0" algn="l">
              <a:lnSpc>
                <a:spcPct val="90000"/>
              </a:lnSpc>
              <a:spcBef>
                <a:spcPts val="1000"/>
              </a:spcBef>
              <a:spcAft>
                <a:spcPts val="0"/>
              </a:spcAft>
              <a:buClr>
                <a:srgbClr val="FF0000"/>
              </a:buClr>
              <a:buSzPct val="129032"/>
              <a:buNone/>
            </a:pPr>
            <a:r>
              <a:rPr b="1" lang="en-IN" sz="2400">
                <a:solidFill>
                  <a:srgbClr val="FF0000"/>
                </a:solidFill>
              </a:rPr>
              <a:t>Credits:   3	</a:t>
            </a:r>
            <a:endParaRPr sz="2400"/>
          </a:p>
          <a:p>
            <a:pPr indent="0" lvl="0" marL="0" rtl="0" algn="l">
              <a:lnSpc>
                <a:spcPct val="90000"/>
              </a:lnSpc>
              <a:spcBef>
                <a:spcPts val="1000"/>
              </a:spcBef>
              <a:spcAft>
                <a:spcPts val="0"/>
              </a:spcAft>
              <a:buClr>
                <a:srgbClr val="FF0000"/>
              </a:buClr>
              <a:buSzPct val="129032"/>
              <a:buNone/>
            </a:pPr>
            <a:r>
              <a:rPr b="1" lang="en-IN" sz="2400">
                <a:solidFill>
                  <a:srgbClr val="FF0000"/>
                </a:solidFill>
              </a:rPr>
              <a:t>Text Book</a:t>
            </a:r>
            <a:endParaRPr b="0" i="0" sz="1800" u="none" strike="noStrike">
              <a:solidFill>
                <a:srgbClr val="000000"/>
              </a:solidFill>
              <a:latin typeface="Times New Roman"/>
              <a:ea typeface="Times New Roman"/>
              <a:cs typeface="Times New Roman"/>
              <a:sym typeface="Times New Roman"/>
            </a:endParaRPr>
          </a:p>
          <a:p>
            <a:pPr indent="-342900" lvl="0" marL="457200" rtl="0" algn="just">
              <a:lnSpc>
                <a:spcPct val="90000"/>
              </a:lnSpc>
              <a:spcBef>
                <a:spcPts val="1000"/>
              </a:spcBef>
              <a:spcAft>
                <a:spcPts val="0"/>
              </a:spcAft>
              <a:buSzPct val="82949"/>
              <a:buFont typeface="Noto Sans Symbols"/>
              <a:buChar char="▪"/>
            </a:pPr>
            <a:r>
              <a:rPr b="0" i="0" lang="en-IN" u="none" strike="noStrike">
                <a:solidFill>
                  <a:srgbClr val="000000"/>
                </a:solidFill>
                <a:latin typeface="Calibri"/>
                <a:ea typeface="Calibri"/>
                <a:cs typeface="Calibri"/>
                <a:sym typeface="Calibri"/>
              </a:rPr>
              <a:t>Mastering Cloud Computing, Rajkumar Buyya, Christian Vecchiola, and ThamaraiSelvi, Tata McGraw Hill, ISBN-13: 978-1-25-902995-0, New Delhi, India,Feb 2013. </a:t>
            </a:r>
            <a:endParaRPr/>
          </a:p>
          <a:p>
            <a:pPr indent="-342900" lvl="0" marL="457200" rtl="0" algn="just">
              <a:lnSpc>
                <a:spcPct val="90000"/>
              </a:lnSpc>
              <a:spcBef>
                <a:spcPts val="1000"/>
              </a:spcBef>
              <a:spcAft>
                <a:spcPts val="0"/>
              </a:spcAft>
              <a:buSzPct val="82949"/>
              <a:buFont typeface="Noto Sans Symbols"/>
              <a:buChar char="▪"/>
            </a:pPr>
            <a:r>
              <a:rPr b="0" i="0" lang="en-IN" u="none" strike="noStrike">
                <a:solidFill>
                  <a:srgbClr val="000000"/>
                </a:solidFill>
                <a:latin typeface="Calibri"/>
                <a:ea typeface="Calibri"/>
                <a:cs typeface="Calibri"/>
                <a:sym typeface="Calibri"/>
              </a:rPr>
              <a:t>Cloud Computing Bible, Barrie Sosinsky, Wiley India Pvt. Ltd, ISBN-13: 978-81-265-2980-3,New Delhi, India, 2011</a:t>
            </a:r>
            <a:r>
              <a:rPr b="1" i="0" lang="en-IN" u="none" strike="noStrike">
                <a:solidFill>
                  <a:srgbClr val="000000"/>
                </a:solidFill>
                <a:latin typeface="Calibri"/>
                <a:ea typeface="Calibri"/>
                <a:cs typeface="Calibri"/>
                <a:sym typeface="Calibri"/>
              </a:rPr>
              <a:t>. </a:t>
            </a:r>
            <a:endParaRPr b="0" i="0" u="none" strike="noStrike">
              <a:solidFill>
                <a:srgbClr val="000000"/>
              </a:solidFill>
              <a:latin typeface="Calibri"/>
              <a:ea typeface="Calibri"/>
              <a:cs typeface="Calibri"/>
              <a:sym typeface="Calibri"/>
            </a:endParaRPr>
          </a:p>
          <a:p>
            <a:pPr indent="0" lvl="0" marL="0" rtl="0" algn="l">
              <a:lnSpc>
                <a:spcPct val="90000"/>
              </a:lnSpc>
              <a:spcBef>
                <a:spcPts val="1000"/>
              </a:spcBef>
              <a:spcAft>
                <a:spcPts val="0"/>
              </a:spcAft>
              <a:buClr>
                <a:schemeClr val="dk1"/>
              </a:buClr>
              <a:buSzPct val="129032"/>
              <a:buNone/>
            </a:pPr>
            <a:r>
              <a:t/>
            </a:r>
            <a:endParaRPr b="1" sz="2400">
              <a:solidFill>
                <a:srgbClr val="FF0000"/>
              </a:solidFill>
            </a:endParaRPr>
          </a:p>
          <a:p>
            <a:pPr indent="0" lvl="0" marL="0" rtl="0" algn="l">
              <a:lnSpc>
                <a:spcPct val="90000"/>
              </a:lnSpc>
              <a:spcBef>
                <a:spcPts val="1000"/>
              </a:spcBef>
              <a:spcAft>
                <a:spcPts val="0"/>
              </a:spcAft>
              <a:buClr>
                <a:srgbClr val="FF0000"/>
              </a:buClr>
              <a:buSzPct val="129032"/>
              <a:buNone/>
            </a:pPr>
            <a:r>
              <a:rPr b="1" lang="en-IN" sz="2400">
                <a:solidFill>
                  <a:srgbClr val="FF0000"/>
                </a:solidFill>
              </a:rPr>
              <a:t>Reference Book-</a:t>
            </a:r>
            <a:endParaRPr b="0" i="0" sz="1800" u="none" strike="noStrike">
              <a:solidFill>
                <a:srgbClr val="000000"/>
              </a:solidFill>
              <a:latin typeface="Times New Roman"/>
              <a:ea typeface="Times New Roman"/>
              <a:cs typeface="Times New Roman"/>
              <a:sym typeface="Times New Roman"/>
            </a:endParaRPr>
          </a:p>
          <a:p>
            <a:pPr indent="-342900" lvl="0" marL="457200" rtl="0" algn="just">
              <a:lnSpc>
                <a:spcPct val="90000"/>
              </a:lnSpc>
              <a:spcBef>
                <a:spcPts val="1000"/>
              </a:spcBef>
              <a:spcAft>
                <a:spcPts val="0"/>
              </a:spcAft>
              <a:buSzPct val="82949"/>
              <a:buFont typeface="Noto Sans Symbols"/>
              <a:buChar char="▪"/>
            </a:pPr>
            <a:r>
              <a:rPr b="0" i="0" lang="en-IN" u="none" strike="noStrike">
                <a:solidFill>
                  <a:srgbClr val="000000"/>
                </a:solidFill>
                <a:latin typeface="Calibri"/>
                <a:ea typeface="Calibri"/>
                <a:cs typeface="Calibri"/>
                <a:sym typeface="Calibri"/>
              </a:rPr>
              <a:t>Cloud Computing For Dummies, Fern Halper, Hurwitz, Robin Bloor, Marcia Kaufman, Wiley India Pvt. Ltd, ISBN-13: 978-0-47-0597422, New Delhi, India, 2011. </a:t>
            </a:r>
            <a:endParaRPr/>
          </a:p>
          <a:p>
            <a:pPr indent="0" lvl="0" marL="0" rtl="0" algn="l">
              <a:lnSpc>
                <a:spcPct val="90000"/>
              </a:lnSpc>
              <a:spcBef>
                <a:spcPts val="1000"/>
              </a:spcBef>
              <a:spcAft>
                <a:spcPts val="0"/>
              </a:spcAft>
              <a:buClr>
                <a:schemeClr val="dk1"/>
              </a:buClr>
              <a:buSzPct val="129032"/>
              <a:buNone/>
            </a:pPr>
            <a:r>
              <a:t/>
            </a:r>
            <a:endParaRPr b="1" sz="2400">
              <a:solidFill>
                <a:srgbClr val="FF0000"/>
              </a:solidFill>
            </a:endParaRPr>
          </a:p>
          <a:p>
            <a:pPr indent="0" lvl="0" marL="0" rtl="0" algn="l">
              <a:lnSpc>
                <a:spcPct val="90000"/>
              </a:lnSpc>
              <a:spcBef>
                <a:spcPts val="1000"/>
              </a:spcBef>
              <a:spcAft>
                <a:spcPts val="0"/>
              </a:spcAft>
              <a:buClr>
                <a:schemeClr val="dk1"/>
              </a:buClr>
              <a:buSzPct val="129032"/>
              <a:buNone/>
            </a:pPr>
            <a:r>
              <a:t/>
            </a:r>
            <a:endParaRPr b="1" sz="2400">
              <a:solidFill>
                <a:srgbClr val="FF0000"/>
              </a:solidFill>
            </a:endParaRPr>
          </a:p>
        </p:txBody>
      </p:sp>
      <p:graphicFrame>
        <p:nvGraphicFramePr>
          <p:cNvPr id="124" name="Google Shape;124;p4"/>
          <p:cNvGraphicFramePr/>
          <p:nvPr/>
        </p:nvGraphicFramePr>
        <p:xfrm>
          <a:off x="1976165" y="1494430"/>
          <a:ext cx="3000000" cy="3000000"/>
        </p:xfrm>
        <a:graphic>
          <a:graphicData uri="http://schemas.openxmlformats.org/drawingml/2006/table">
            <a:tbl>
              <a:tblPr bandRow="1" firstRow="1">
                <a:noFill/>
                <a:tableStyleId>{CD2D4A21-442C-4ACF-867A-BBFB1515C7F3}</a:tableStyleId>
              </a:tblPr>
              <a:tblGrid>
                <a:gridCol w="941800"/>
                <a:gridCol w="941800"/>
                <a:gridCol w="941800"/>
              </a:tblGrid>
              <a:tr h="547700">
                <a:tc>
                  <a:txBody>
                    <a:bodyPr/>
                    <a:lstStyle/>
                    <a:p>
                      <a:pPr indent="0" lvl="0" marL="0" marR="0" rtl="0" algn="ctr">
                        <a:lnSpc>
                          <a:spcPct val="100000"/>
                        </a:lnSpc>
                        <a:spcBef>
                          <a:spcPts val="0"/>
                        </a:spcBef>
                        <a:spcAft>
                          <a:spcPts val="0"/>
                        </a:spcAft>
                        <a:buClr>
                          <a:srgbClr val="000000"/>
                        </a:buClr>
                        <a:buSzPts val="2400"/>
                        <a:buFont typeface="Arial"/>
                        <a:buNone/>
                      </a:pPr>
                      <a:r>
                        <a:rPr lang="en-IN" sz="2400" u="none" cap="none" strike="noStrike"/>
                        <a:t>4</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lang="en-IN" sz="2400" u="none" cap="none" strike="noStrike"/>
                        <a:t>0</a:t>
                      </a:r>
                      <a:endParaRPr sz="2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400"/>
                        <a:buFont typeface="Arial"/>
                        <a:buNone/>
                      </a:pPr>
                      <a:r>
                        <a:rPr lang="en-IN" sz="2400" u="none" cap="none" strike="noStrike"/>
                        <a:t>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125" name="Google Shape;125;p4"/>
          <p:cNvPicPr preferRelativeResize="0"/>
          <p:nvPr/>
        </p:nvPicPr>
        <p:blipFill rotWithShape="1">
          <a:blip r:embed="rId3">
            <a:alphaModFix/>
          </a:blip>
          <a:srcRect b="0" l="0" r="0" t="0"/>
          <a:stretch/>
        </p:blipFill>
        <p:spPr>
          <a:xfrm>
            <a:off x="150099" y="93382"/>
            <a:ext cx="3419011" cy="958384"/>
          </a:xfrm>
          <a:prstGeom prst="rect">
            <a:avLst/>
          </a:prstGeom>
          <a:noFill/>
          <a:ln>
            <a:noFill/>
          </a:ln>
        </p:spPr>
      </p:pic>
      <p:pic>
        <p:nvPicPr>
          <p:cNvPr id="126" name="Google Shape;126;p4"/>
          <p:cNvPicPr preferRelativeResize="0"/>
          <p:nvPr/>
        </p:nvPicPr>
        <p:blipFill rotWithShape="1">
          <a:blip r:embed="rId4">
            <a:alphaModFix/>
          </a:blip>
          <a:srcRect b="0" l="0" r="0" t="0"/>
          <a:stretch/>
        </p:blipFill>
        <p:spPr>
          <a:xfrm>
            <a:off x="9720952" y="97262"/>
            <a:ext cx="2376719" cy="70750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5"/>
          <p:cNvSpPr txBox="1"/>
          <p:nvPr>
            <p:ph type="title"/>
          </p:nvPr>
        </p:nvSpPr>
        <p:spPr>
          <a:xfrm>
            <a:off x="3569110" y="115599"/>
            <a:ext cx="6027174" cy="70750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IN" sz="3200">
                <a:latin typeface="Calibri"/>
                <a:ea typeface="Calibri"/>
                <a:cs typeface="Calibri"/>
                <a:sym typeface="Calibri"/>
              </a:rPr>
              <a:t>Program Outcomes</a:t>
            </a:r>
            <a:endParaRPr b="1" sz="3200">
              <a:latin typeface="Calibri"/>
              <a:ea typeface="Calibri"/>
              <a:cs typeface="Calibri"/>
              <a:sym typeface="Calibri"/>
            </a:endParaRPr>
          </a:p>
        </p:txBody>
      </p:sp>
      <p:graphicFrame>
        <p:nvGraphicFramePr>
          <p:cNvPr id="132" name="Google Shape;132;p5"/>
          <p:cNvGraphicFramePr/>
          <p:nvPr/>
        </p:nvGraphicFramePr>
        <p:xfrm>
          <a:off x="391886" y="1146691"/>
          <a:ext cx="3000000" cy="3000000"/>
        </p:xfrm>
        <a:graphic>
          <a:graphicData uri="http://schemas.openxmlformats.org/drawingml/2006/table">
            <a:tbl>
              <a:tblPr bandRow="1" firstRow="1">
                <a:noFill/>
                <a:tableStyleId>{0188CC62-7809-4361-BF76-21CB3F00A493}</a:tableStyleId>
              </a:tblPr>
              <a:tblGrid>
                <a:gridCol w="655275"/>
                <a:gridCol w="1643800"/>
                <a:gridCol w="9121575"/>
              </a:tblGrid>
              <a:tr h="625575">
                <a:tc>
                  <a:txBody>
                    <a:bodyPr/>
                    <a:lstStyle/>
                    <a:p>
                      <a:pPr indent="0" lvl="0" marL="0" marR="0" rtl="0" algn="ctr">
                        <a:lnSpc>
                          <a:spcPct val="100000"/>
                        </a:lnSpc>
                        <a:spcBef>
                          <a:spcPts val="0"/>
                        </a:spcBef>
                        <a:spcAft>
                          <a:spcPts val="0"/>
                        </a:spcAft>
                        <a:buClr>
                          <a:srgbClr val="000000"/>
                        </a:buClr>
                        <a:buSzPts val="1600"/>
                        <a:buFont typeface="Arial"/>
                        <a:buNone/>
                      </a:pPr>
                      <a:r>
                        <a:rPr b="1" lang="en-IN" sz="1600" u="none" cap="none" strike="noStrike"/>
                        <a:t>p</a:t>
                      </a:r>
                      <a:endParaRPr b="1" sz="16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600"/>
                        <a:buFont typeface="Arial"/>
                        <a:buNone/>
                      </a:pPr>
                      <a:r>
                        <a:rPr b="1" lang="en-IN" sz="1600" u="none" cap="none" strike="noStrike"/>
                        <a:t>Program Outcome (PO)</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600"/>
                        <a:buFont typeface="Arial"/>
                        <a:buNone/>
                      </a:pPr>
                      <a:r>
                        <a:rPr b="1" lang="en-IN" sz="1600" u="none" cap="none" strike="noStrike"/>
                        <a:t>OUTCOME DESCRIPTION</a:t>
                      </a:r>
                      <a:endParaRPr sz="1400" u="none" cap="none" strike="noStrike"/>
                    </a:p>
                  </a:txBody>
                  <a:tcPr marT="45725" marB="45725" marR="91450" marL="91450" anchor="ctr"/>
                </a:tc>
              </a:tr>
              <a:tr h="806525">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t>1</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t>PO1</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chemeClr val="dk1"/>
                          </a:solidFill>
                          <a:latin typeface="Calibri"/>
                          <a:ea typeface="Calibri"/>
                          <a:cs typeface="Calibri"/>
                          <a:sym typeface="Calibri"/>
                        </a:rPr>
                        <a:t>Computational Knowledge: </a:t>
                      </a:r>
                      <a:r>
                        <a:rPr b="0" i="0" lang="en-IN" sz="1600" u="none" cap="none" strike="noStrike">
                          <a:solidFill>
                            <a:schemeClr val="dk1"/>
                          </a:solidFill>
                          <a:latin typeface="Calibri"/>
                          <a:ea typeface="Calibri"/>
                          <a:cs typeface="Calibri"/>
                          <a:sym typeface="Calibri"/>
                        </a:rPr>
                        <a:t>Apply knowledge of computing fundamentals, computing specialization, mathematics, and domain knowledge appropriate for the computing specialization to the abstraction and conceptualization of computing models from defined problems and requirements. </a:t>
                      </a:r>
                      <a:endParaRPr sz="1400" u="none" cap="none" strike="noStrike"/>
                    </a:p>
                  </a:txBody>
                  <a:tcPr marT="45725" marB="45725" marR="91450" marL="91450" anchor="ctr"/>
                </a:tc>
              </a:tr>
              <a:tr h="806525">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t>2</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t>PO2</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chemeClr val="dk1"/>
                          </a:solidFill>
                          <a:latin typeface="Calibri"/>
                          <a:ea typeface="Calibri"/>
                          <a:cs typeface="Calibri"/>
                          <a:sym typeface="Calibri"/>
                        </a:rPr>
                        <a:t>Problem Analysis: </a:t>
                      </a:r>
                      <a:r>
                        <a:rPr b="0" i="0" lang="en-IN" sz="1600" u="none" cap="none" strike="noStrike">
                          <a:solidFill>
                            <a:schemeClr val="dk1"/>
                          </a:solidFill>
                          <a:latin typeface="Calibri"/>
                          <a:ea typeface="Calibri"/>
                          <a:cs typeface="Calibri"/>
                          <a:sym typeface="Calibri"/>
                        </a:rPr>
                        <a:t>Identify, formulate, research literature, and solve complex computing problem searching substantiated conclusions using fundamental principles of mathematics, computing sciences, and relevant domain disciplines. </a:t>
                      </a:r>
                      <a:endParaRPr sz="1400" u="none" cap="none" strike="noStrike"/>
                    </a:p>
                  </a:txBody>
                  <a:tcPr marT="45725" marB="45725" marR="91450" marL="91450" anchor="ctr"/>
                </a:tc>
              </a:tr>
              <a:tr h="971850">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t>3</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t>PO3</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chemeClr val="dk1"/>
                          </a:solidFill>
                          <a:latin typeface="Calibri"/>
                          <a:ea typeface="Calibri"/>
                          <a:cs typeface="Calibri"/>
                          <a:sym typeface="Calibri"/>
                        </a:rPr>
                        <a:t>Design /Development of Solutions: </a:t>
                      </a:r>
                      <a:r>
                        <a:rPr b="0" i="0" lang="en-IN" sz="1600" u="none" cap="none" strike="noStrike">
                          <a:solidFill>
                            <a:schemeClr val="dk1"/>
                          </a:solidFill>
                          <a:latin typeface="Calibri"/>
                          <a:ea typeface="Calibri"/>
                          <a:cs typeface="Calibri"/>
                          <a:sym typeface="Calibri"/>
                        </a:rPr>
                        <a:t>Design and evaluate solutions for complex computing problems, and design and evaluate systems, components, or processes that meet specified needs with appropriate consideration for public health and safety, cultural, societal, and environmental considerations. </a:t>
                      </a:r>
                      <a:endParaRPr sz="1400" u="none" cap="none" strike="noStrike"/>
                    </a:p>
                  </a:txBody>
                  <a:tcPr marT="45725" marB="45725" marR="91450" marL="91450" anchor="ctr"/>
                </a:tc>
              </a:tr>
              <a:tr h="806525">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t>4</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t>PO4</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chemeClr val="dk1"/>
                          </a:solidFill>
                          <a:latin typeface="Calibri"/>
                          <a:ea typeface="Calibri"/>
                          <a:cs typeface="Calibri"/>
                          <a:sym typeface="Calibri"/>
                        </a:rPr>
                        <a:t>Conduct investigations of complex Computing problems: </a:t>
                      </a:r>
                      <a:r>
                        <a:rPr b="0" i="0" lang="en-IN" sz="1600" u="none" cap="none" strike="noStrike">
                          <a:solidFill>
                            <a:schemeClr val="dk1"/>
                          </a:solidFill>
                          <a:latin typeface="Calibri"/>
                          <a:ea typeface="Calibri"/>
                          <a:cs typeface="Calibri"/>
                          <a:sym typeface="Calibri"/>
                        </a:rPr>
                        <a:t>User search-based knowledge and research methods including design of experiments, analysis and interpretation of data, and synthesis of the information to provide valid conclusions. </a:t>
                      </a:r>
                      <a:endParaRPr sz="1400" u="none" cap="none" strike="noStrike"/>
                    </a:p>
                  </a:txBody>
                  <a:tcPr marT="45725" marB="45725" marR="91450" marL="91450" anchor="ctr"/>
                </a:tc>
              </a:tr>
              <a:tr h="833000">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t>5</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t>PO5</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chemeClr val="dk1"/>
                          </a:solidFill>
                          <a:latin typeface="Calibri"/>
                          <a:ea typeface="Calibri"/>
                          <a:cs typeface="Calibri"/>
                          <a:sym typeface="Calibri"/>
                        </a:rPr>
                        <a:t>Modern Tool Usage: </a:t>
                      </a:r>
                      <a:r>
                        <a:rPr b="0" i="0" lang="en-IN" sz="1600" u="none" cap="none" strike="noStrike">
                          <a:solidFill>
                            <a:schemeClr val="dk1"/>
                          </a:solidFill>
                          <a:latin typeface="Calibri"/>
                          <a:ea typeface="Calibri"/>
                          <a:cs typeface="Calibri"/>
                          <a:sym typeface="Calibri"/>
                        </a:rPr>
                        <a:t>Create, select, adapt and apply appropriate techniques, resources, and modern computing tools to complex computing activities, with an understanding of the limitations. </a:t>
                      </a:r>
                      <a:endParaRPr sz="1600" u="none" cap="none" strike="noStrike"/>
                    </a:p>
                  </a:txBody>
                  <a:tcPr marT="45725" marB="45725" marR="91450" marL="91450" anchor="ctr"/>
                </a:tc>
              </a:tr>
              <a:tr h="740025">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t>6</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t>PO6</a:t>
                      </a:r>
                      <a:endParaRPr sz="16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chemeClr val="dk1"/>
                          </a:solidFill>
                          <a:latin typeface="Calibri"/>
                          <a:ea typeface="Calibri"/>
                          <a:cs typeface="Calibri"/>
                          <a:sym typeface="Calibri"/>
                        </a:rPr>
                        <a:t>Professional Ethics: </a:t>
                      </a:r>
                      <a:r>
                        <a:rPr b="0" i="0" lang="en-IN" sz="1600" u="none" cap="none" strike="noStrike">
                          <a:solidFill>
                            <a:schemeClr val="dk1"/>
                          </a:solidFill>
                          <a:latin typeface="Calibri"/>
                          <a:ea typeface="Calibri"/>
                          <a:cs typeface="Calibri"/>
                          <a:sym typeface="Calibri"/>
                        </a:rPr>
                        <a:t>Understand and commit to professional ethics and cyber regulations, responsibilities, and norms of professional computing practices. </a:t>
                      </a:r>
                      <a:endParaRPr sz="1600" u="none" cap="none" strike="noStrike"/>
                    </a:p>
                  </a:txBody>
                  <a:tcPr marT="45725" marB="45725" marR="91450" marL="91450" anchor="ctr"/>
                </a:tc>
              </a:tr>
            </a:tbl>
          </a:graphicData>
        </a:graphic>
      </p:graphicFrame>
      <p:pic>
        <p:nvPicPr>
          <p:cNvPr id="133" name="Google Shape;133;p5"/>
          <p:cNvPicPr preferRelativeResize="0"/>
          <p:nvPr/>
        </p:nvPicPr>
        <p:blipFill rotWithShape="1">
          <a:blip r:embed="rId3">
            <a:alphaModFix/>
          </a:blip>
          <a:srcRect b="0" l="0" r="0" t="0"/>
          <a:stretch/>
        </p:blipFill>
        <p:spPr>
          <a:xfrm>
            <a:off x="150099" y="93382"/>
            <a:ext cx="3419011" cy="958384"/>
          </a:xfrm>
          <a:prstGeom prst="rect">
            <a:avLst/>
          </a:prstGeom>
          <a:noFill/>
          <a:ln>
            <a:noFill/>
          </a:ln>
        </p:spPr>
      </p:pic>
      <p:pic>
        <p:nvPicPr>
          <p:cNvPr id="134" name="Google Shape;134;p5"/>
          <p:cNvPicPr preferRelativeResize="0"/>
          <p:nvPr/>
        </p:nvPicPr>
        <p:blipFill rotWithShape="1">
          <a:blip r:embed="rId4">
            <a:alphaModFix/>
          </a:blip>
          <a:srcRect b="0" l="0" r="0" t="0"/>
          <a:stretch/>
        </p:blipFill>
        <p:spPr>
          <a:xfrm>
            <a:off x="9720952" y="97262"/>
            <a:ext cx="2376719" cy="70750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6"/>
          <p:cNvSpPr txBox="1"/>
          <p:nvPr>
            <p:ph type="title"/>
          </p:nvPr>
        </p:nvSpPr>
        <p:spPr>
          <a:xfrm>
            <a:off x="3569110" y="115599"/>
            <a:ext cx="6027174" cy="70750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IN" sz="3200">
                <a:latin typeface="Calibri"/>
                <a:ea typeface="Calibri"/>
                <a:cs typeface="Calibri"/>
                <a:sym typeface="Calibri"/>
              </a:rPr>
              <a:t>Program Outcomes</a:t>
            </a:r>
            <a:endParaRPr b="1" sz="3200">
              <a:latin typeface="Calibri"/>
              <a:ea typeface="Calibri"/>
              <a:cs typeface="Calibri"/>
              <a:sym typeface="Calibri"/>
            </a:endParaRPr>
          </a:p>
        </p:txBody>
      </p:sp>
      <p:graphicFrame>
        <p:nvGraphicFramePr>
          <p:cNvPr id="140" name="Google Shape;140;p6"/>
          <p:cNvGraphicFramePr/>
          <p:nvPr/>
        </p:nvGraphicFramePr>
        <p:xfrm>
          <a:off x="261260" y="1051766"/>
          <a:ext cx="3000000" cy="3000000"/>
        </p:xfrm>
        <a:graphic>
          <a:graphicData uri="http://schemas.openxmlformats.org/drawingml/2006/table">
            <a:tbl>
              <a:tblPr bandRow="1" firstRow="1">
                <a:noFill/>
                <a:tableStyleId>{0188CC62-7809-4361-BF76-21CB3F00A493}</a:tableStyleId>
              </a:tblPr>
              <a:tblGrid>
                <a:gridCol w="663325"/>
                <a:gridCol w="1663950"/>
                <a:gridCol w="9233350"/>
              </a:tblGrid>
              <a:tr h="611225">
                <a:tc>
                  <a:txBody>
                    <a:bodyPr/>
                    <a:lstStyle/>
                    <a:p>
                      <a:pPr indent="0" lvl="0" marL="0" marR="0" rtl="0" algn="ctr">
                        <a:lnSpc>
                          <a:spcPct val="100000"/>
                        </a:lnSpc>
                        <a:spcBef>
                          <a:spcPts val="0"/>
                        </a:spcBef>
                        <a:spcAft>
                          <a:spcPts val="0"/>
                        </a:spcAft>
                        <a:buClr>
                          <a:srgbClr val="000000"/>
                        </a:buClr>
                        <a:buSzPts val="1600"/>
                        <a:buFont typeface="Arial"/>
                        <a:buNone/>
                      </a:pPr>
                      <a:r>
                        <a:rPr b="1" lang="en-IN" sz="1600" u="none" cap="none" strike="noStrike"/>
                        <a:t>p</a:t>
                      </a:r>
                      <a:endParaRPr b="1" sz="16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600"/>
                        <a:buFont typeface="Arial"/>
                        <a:buNone/>
                      </a:pPr>
                      <a:r>
                        <a:rPr b="1" lang="en-IN" sz="1600" u="none" cap="none" strike="noStrike"/>
                        <a:t>Program Outcome (PO)</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600"/>
                        <a:buFont typeface="Arial"/>
                        <a:buNone/>
                      </a:pPr>
                      <a:r>
                        <a:rPr b="1" lang="en-IN" sz="1600" u="none" cap="none" strike="noStrike"/>
                        <a:t>OUTCOME DESCRIPTION</a:t>
                      </a:r>
                      <a:endParaRPr sz="1400" u="none" cap="none" strike="noStrike"/>
                    </a:p>
                  </a:txBody>
                  <a:tcPr marT="45725" marB="45725" marR="91450" marL="91450" anchor="ctr"/>
                </a:tc>
              </a:tr>
              <a:tr h="711450">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latin typeface="Calibri"/>
                          <a:ea typeface="Calibri"/>
                          <a:cs typeface="Calibri"/>
                          <a:sym typeface="Calibri"/>
                        </a:rPr>
                        <a:t>1</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latin typeface="Calibri"/>
                          <a:ea typeface="Calibri"/>
                          <a:cs typeface="Calibri"/>
                          <a:sym typeface="Calibri"/>
                        </a:rPr>
                        <a:t>PO7</a:t>
                      </a:r>
                      <a:endParaRPr sz="1600" u="none" cap="none" strike="noStrike">
                        <a:latin typeface="Calibri"/>
                        <a:ea typeface="Calibri"/>
                        <a:cs typeface="Calibri"/>
                        <a:sym typeface="Calibri"/>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chemeClr val="dk1"/>
                          </a:solidFill>
                          <a:latin typeface="Calibri"/>
                          <a:ea typeface="Calibri"/>
                          <a:cs typeface="Calibri"/>
                          <a:sym typeface="Calibri"/>
                        </a:rPr>
                        <a:t>Life-long Learning: </a:t>
                      </a:r>
                      <a:r>
                        <a:rPr b="0" i="0" lang="en-IN" sz="1600" u="none" cap="none" strike="noStrike">
                          <a:solidFill>
                            <a:schemeClr val="dk1"/>
                          </a:solidFill>
                          <a:latin typeface="Calibri"/>
                          <a:ea typeface="Calibri"/>
                          <a:cs typeface="Calibri"/>
                          <a:sym typeface="Calibri"/>
                        </a:rPr>
                        <a:t>Recognize the need, and have the ability, to engage in independent learning for continual development as a computing professional. </a:t>
                      </a:r>
                      <a:endParaRPr sz="1600" u="none" cap="none" strike="noStrike">
                        <a:latin typeface="Calibri"/>
                        <a:ea typeface="Calibri"/>
                        <a:cs typeface="Calibri"/>
                        <a:sym typeface="Calibri"/>
                      </a:endParaRPr>
                    </a:p>
                  </a:txBody>
                  <a:tcPr marT="45725" marB="45725" marR="91450" marL="91450" anchor="ctr"/>
                </a:tc>
              </a:tr>
              <a:tr h="868600">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latin typeface="Calibri"/>
                          <a:ea typeface="Calibri"/>
                          <a:cs typeface="Calibri"/>
                          <a:sym typeface="Calibri"/>
                        </a:rPr>
                        <a:t>2</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latin typeface="Calibri"/>
                          <a:ea typeface="Calibri"/>
                          <a:cs typeface="Calibri"/>
                          <a:sym typeface="Calibri"/>
                        </a:rPr>
                        <a:t>PO8</a:t>
                      </a:r>
                      <a:endParaRPr sz="1600" u="none" cap="none" strike="noStrike">
                        <a:latin typeface="Calibri"/>
                        <a:ea typeface="Calibri"/>
                        <a:cs typeface="Calibri"/>
                        <a:sym typeface="Calibri"/>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chemeClr val="dk1"/>
                          </a:solidFill>
                          <a:latin typeface="Calibri"/>
                          <a:ea typeface="Calibri"/>
                          <a:cs typeface="Calibri"/>
                          <a:sym typeface="Calibri"/>
                        </a:rPr>
                        <a:t>Project management and finance: </a:t>
                      </a:r>
                      <a:r>
                        <a:rPr b="0" i="0" lang="en-IN" sz="1600" u="none" cap="none" strike="noStrike">
                          <a:solidFill>
                            <a:schemeClr val="dk1"/>
                          </a:solidFill>
                          <a:latin typeface="Calibri"/>
                          <a:ea typeface="Calibri"/>
                          <a:cs typeface="Calibri"/>
                          <a:sym typeface="Calibri"/>
                        </a:rPr>
                        <a:t>Demonstrate knowledge and understanding of the computing and management principles and apply these to one’s own work, as a member and leader in a team to manage projects and in multidisciplinary environments. </a:t>
                      </a:r>
                      <a:endParaRPr sz="1600" u="none" cap="none" strike="noStrike">
                        <a:latin typeface="Calibri"/>
                        <a:ea typeface="Calibri"/>
                        <a:cs typeface="Calibri"/>
                        <a:sym typeface="Calibri"/>
                      </a:endParaRPr>
                    </a:p>
                  </a:txBody>
                  <a:tcPr marT="45725" marB="45725" marR="91450" marL="91450" anchor="ctr"/>
                </a:tc>
              </a:tr>
              <a:tr h="1105500">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latin typeface="Calibri"/>
                          <a:ea typeface="Calibri"/>
                          <a:cs typeface="Calibri"/>
                          <a:sym typeface="Calibri"/>
                        </a:rPr>
                        <a:t>3</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latin typeface="Calibri"/>
                          <a:ea typeface="Calibri"/>
                          <a:cs typeface="Calibri"/>
                          <a:sym typeface="Calibri"/>
                        </a:rPr>
                        <a:t>PO9</a:t>
                      </a:r>
                      <a:endParaRPr sz="1600" u="none" cap="none" strike="noStrike">
                        <a:latin typeface="Calibri"/>
                        <a:ea typeface="Calibri"/>
                        <a:cs typeface="Calibri"/>
                        <a:sym typeface="Calibri"/>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chemeClr val="dk1"/>
                          </a:solidFill>
                          <a:latin typeface="Calibri"/>
                          <a:ea typeface="Calibri"/>
                          <a:cs typeface="Calibri"/>
                          <a:sym typeface="Calibri"/>
                        </a:rPr>
                        <a:t>Communication Efficacy: </a:t>
                      </a:r>
                      <a:r>
                        <a:rPr b="0" i="0" lang="en-IN" sz="1600" u="none" cap="none" strike="noStrike">
                          <a:solidFill>
                            <a:schemeClr val="dk1"/>
                          </a:solidFill>
                          <a:latin typeface="Calibri"/>
                          <a:ea typeface="Calibri"/>
                          <a:cs typeface="Calibri"/>
                          <a:sym typeface="Calibri"/>
                        </a:rPr>
                        <a:t>Communicate effectively with the computing community, and with society at large, about complexcomputingactivitiesbybeingabletocomprehendandwriteeffectivereports, design documentation, make effective presentations, and give and understand clear instructions. </a:t>
                      </a:r>
                      <a:endParaRPr sz="1600" u="none" cap="none" strike="noStrike">
                        <a:latin typeface="Calibri"/>
                        <a:ea typeface="Calibri"/>
                        <a:cs typeface="Calibri"/>
                        <a:sym typeface="Calibri"/>
                      </a:endParaRPr>
                    </a:p>
                  </a:txBody>
                  <a:tcPr marT="45725" marB="45725" marR="91450" marL="91450" anchor="ctr"/>
                </a:tc>
              </a:tr>
              <a:tr h="868600">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latin typeface="Calibri"/>
                          <a:ea typeface="Calibri"/>
                          <a:cs typeface="Calibri"/>
                          <a:sym typeface="Calibri"/>
                        </a:rPr>
                        <a:t>4</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latin typeface="Calibri"/>
                          <a:ea typeface="Calibri"/>
                          <a:cs typeface="Calibri"/>
                          <a:sym typeface="Calibri"/>
                        </a:rPr>
                        <a:t>PO10</a:t>
                      </a:r>
                      <a:endParaRPr sz="1600" u="none" cap="none" strike="noStrike">
                        <a:latin typeface="Calibri"/>
                        <a:ea typeface="Calibri"/>
                        <a:cs typeface="Calibri"/>
                        <a:sym typeface="Calibri"/>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chemeClr val="dk1"/>
                          </a:solidFill>
                          <a:latin typeface="Calibri"/>
                          <a:ea typeface="Calibri"/>
                          <a:cs typeface="Calibri"/>
                          <a:sym typeface="Calibri"/>
                        </a:rPr>
                        <a:t>Societal and Environmental Concern: </a:t>
                      </a:r>
                      <a:r>
                        <a:rPr b="0" i="0" lang="en-IN" sz="1600" u="none" cap="none" strike="noStrike">
                          <a:solidFill>
                            <a:schemeClr val="dk1"/>
                          </a:solidFill>
                          <a:latin typeface="Calibri"/>
                          <a:ea typeface="Calibri"/>
                          <a:cs typeface="Calibri"/>
                          <a:sym typeface="Calibri"/>
                        </a:rPr>
                        <a:t>Understand and assess societal, environmental, health, safety, legal, and cultural issues within local and global contexts, and the consequential responsibilities relevant to professional computing practices. </a:t>
                      </a:r>
                      <a:endParaRPr sz="1600" u="none" cap="none" strike="noStrike">
                        <a:latin typeface="Calibri"/>
                        <a:ea typeface="Calibri"/>
                        <a:cs typeface="Calibri"/>
                        <a:sym typeface="Calibri"/>
                      </a:endParaRPr>
                    </a:p>
                  </a:txBody>
                  <a:tcPr marT="45725" marB="45725" marR="91450" marL="91450" anchor="ctr"/>
                </a:tc>
              </a:tr>
              <a:tr h="790500">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latin typeface="Calibri"/>
                          <a:ea typeface="Calibri"/>
                          <a:cs typeface="Calibri"/>
                          <a:sym typeface="Calibri"/>
                        </a:rPr>
                        <a:t>5</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latin typeface="Calibri"/>
                          <a:ea typeface="Calibri"/>
                          <a:cs typeface="Calibri"/>
                          <a:sym typeface="Calibri"/>
                        </a:rPr>
                        <a:t>PO11</a:t>
                      </a:r>
                      <a:endParaRPr sz="1600" u="none" cap="none" strike="noStrike">
                        <a:latin typeface="Calibri"/>
                        <a:ea typeface="Calibri"/>
                        <a:cs typeface="Calibri"/>
                        <a:sym typeface="Calibri"/>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chemeClr val="dk1"/>
                          </a:solidFill>
                          <a:latin typeface="Calibri"/>
                          <a:ea typeface="Calibri"/>
                          <a:cs typeface="Calibri"/>
                          <a:sym typeface="Calibri"/>
                        </a:rPr>
                        <a:t>Individual and Team Work: </a:t>
                      </a:r>
                      <a:r>
                        <a:rPr b="0" i="0" lang="en-IN" sz="1600" u="none" cap="none" strike="noStrike">
                          <a:solidFill>
                            <a:schemeClr val="dk1"/>
                          </a:solidFill>
                          <a:latin typeface="Calibri"/>
                          <a:ea typeface="Calibri"/>
                          <a:cs typeface="Calibri"/>
                          <a:sym typeface="Calibri"/>
                        </a:rPr>
                        <a:t>Function effectively as an individual and as a member or leader in diverse teams and in multidisciplinary environments. </a:t>
                      </a:r>
                      <a:endParaRPr sz="1600" u="none" cap="none" strike="noStrike">
                        <a:latin typeface="Calibri"/>
                        <a:ea typeface="Calibri"/>
                        <a:cs typeface="Calibri"/>
                        <a:sym typeface="Calibri"/>
                      </a:endParaRPr>
                    </a:p>
                  </a:txBody>
                  <a:tcPr marT="45725" marB="45725" marR="91450" marL="91450" anchor="ctr"/>
                </a:tc>
              </a:tr>
              <a:tr h="850400">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latin typeface="Calibri"/>
                          <a:ea typeface="Calibri"/>
                          <a:cs typeface="Calibri"/>
                          <a:sym typeface="Calibri"/>
                        </a:rPr>
                        <a:t>6</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latin typeface="Calibri"/>
                          <a:ea typeface="Calibri"/>
                          <a:cs typeface="Calibri"/>
                          <a:sym typeface="Calibri"/>
                        </a:rPr>
                        <a:t>PO12</a:t>
                      </a:r>
                      <a:endParaRPr sz="1600" u="none" cap="none" strike="noStrike">
                        <a:latin typeface="Calibri"/>
                        <a:ea typeface="Calibri"/>
                        <a:cs typeface="Calibri"/>
                        <a:sym typeface="Calibri"/>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chemeClr val="dk1"/>
                          </a:solidFill>
                          <a:latin typeface="Calibri"/>
                          <a:ea typeface="Calibri"/>
                          <a:cs typeface="Calibri"/>
                          <a:sym typeface="Calibri"/>
                        </a:rPr>
                        <a:t>Innovation and Entrepreneurship: </a:t>
                      </a:r>
                      <a:r>
                        <a:rPr b="0" i="0" lang="en-IN" sz="1600" u="none" cap="none" strike="noStrike">
                          <a:solidFill>
                            <a:schemeClr val="dk1"/>
                          </a:solidFill>
                          <a:latin typeface="Calibri"/>
                          <a:ea typeface="Calibri"/>
                          <a:cs typeface="Calibri"/>
                          <a:sym typeface="Calibri"/>
                        </a:rPr>
                        <a:t>Identify a timely opportunity and using innovation to pursue that opportunity to create value and wealth for the betterment ofthe individual and society at large. </a:t>
                      </a:r>
                      <a:endParaRPr sz="1600" u="none" cap="none" strike="noStrike">
                        <a:latin typeface="Calibri"/>
                        <a:ea typeface="Calibri"/>
                        <a:cs typeface="Calibri"/>
                        <a:sym typeface="Calibri"/>
                      </a:endParaRPr>
                    </a:p>
                  </a:txBody>
                  <a:tcPr marT="45725" marB="45725" marR="91450" marL="91450" anchor="ctr"/>
                </a:tc>
              </a:tr>
            </a:tbl>
          </a:graphicData>
        </a:graphic>
      </p:graphicFrame>
      <p:pic>
        <p:nvPicPr>
          <p:cNvPr id="141" name="Google Shape;141;p6"/>
          <p:cNvPicPr preferRelativeResize="0"/>
          <p:nvPr/>
        </p:nvPicPr>
        <p:blipFill rotWithShape="1">
          <a:blip r:embed="rId3">
            <a:alphaModFix/>
          </a:blip>
          <a:srcRect b="0" l="0" r="0" t="0"/>
          <a:stretch/>
        </p:blipFill>
        <p:spPr>
          <a:xfrm>
            <a:off x="150099" y="93382"/>
            <a:ext cx="3419011" cy="958384"/>
          </a:xfrm>
          <a:prstGeom prst="rect">
            <a:avLst/>
          </a:prstGeom>
          <a:noFill/>
          <a:ln>
            <a:noFill/>
          </a:ln>
        </p:spPr>
      </p:pic>
      <p:pic>
        <p:nvPicPr>
          <p:cNvPr id="142" name="Google Shape;142;p6"/>
          <p:cNvPicPr preferRelativeResize="0"/>
          <p:nvPr/>
        </p:nvPicPr>
        <p:blipFill rotWithShape="1">
          <a:blip r:embed="rId4">
            <a:alphaModFix/>
          </a:blip>
          <a:srcRect b="0" l="0" r="0" t="0"/>
          <a:stretch/>
        </p:blipFill>
        <p:spPr>
          <a:xfrm>
            <a:off x="9720952" y="97262"/>
            <a:ext cx="2376719" cy="70750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7"/>
          <p:cNvSpPr txBox="1"/>
          <p:nvPr>
            <p:ph type="title"/>
          </p:nvPr>
        </p:nvSpPr>
        <p:spPr>
          <a:xfrm>
            <a:off x="3685521" y="41146"/>
            <a:ext cx="5919019" cy="106285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IN" sz="3200">
                <a:latin typeface="Calibri"/>
                <a:ea typeface="Calibri"/>
                <a:cs typeface="Calibri"/>
                <a:sym typeface="Calibri"/>
              </a:rPr>
              <a:t>Course Outcomes</a:t>
            </a:r>
            <a:endParaRPr b="1" sz="3200">
              <a:latin typeface="Calibri"/>
              <a:ea typeface="Calibri"/>
              <a:cs typeface="Calibri"/>
              <a:sym typeface="Calibri"/>
            </a:endParaRPr>
          </a:p>
        </p:txBody>
      </p:sp>
      <p:sp>
        <p:nvSpPr>
          <p:cNvPr id="148" name="Google Shape;148;p7"/>
          <p:cNvSpPr txBox="1"/>
          <p:nvPr>
            <p:ph idx="1" type="body"/>
          </p:nvPr>
        </p:nvSpPr>
        <p:spPr>
          <a:xfrm>
            <a:off x="150100" y="1506688"/>
            <a:ext cx="11947572" cy="3031445"/>
          </a:xfrm>
          <a:prstGeom prst="rect">
            <a:avLst/>
          </a:prstGeom>
          <a:noFill/>
          <a:ln>
            <a:noFill/>
          </a:ln>
        </p:spPr>
        <p:txBody>
          <a:bodyPr anchorCtr="0" anchor="t" bIns="45700" lIns="91425" spcFirstLastPara="1" rIns="91425" wrap="square" tIns="45700">
            <a:noAutofit/>
          </a:bodyPr>
          <a:lstStyle/>
          <a:p>
            <a:pPr indent="0" lvl="0" marL="114300" rtl="0" algn="l">
              <a:lnSpc>
                <a:spcPct val="90000"/>
              </a:lnSpc>
              <a:spcBef>
                <a:spcPts val="1000"/>
              </a:spcBef>
              <a:spcAft>
                <a:spcPts val="0"/>
              </a:spcAft>
              <a:buSzPts val="1800"/>
              <a:buNone/>
            </a:pPr>
            <a:r>
              <a:rPr b="1" i="0" lang="en-IN" sz="2400" u="none" strike="noStrike">
                <a:solidFill>
                  <a:srgbClr val="000000"/>
                </a:solidFill>
                <a:latin typeface="Calibri"/>
                <a:ea typeface="Calibri"/>
                <a:cs typeface="Calibri"/>
                <a:sym typeface="Calibri"/>
              </a:rPr>
              <a:t>CO1 	</a:t>
            </a:r>
            <a:r>
              <a:rPr i="0" lang="en-IN" sz="2400" u="none" strike="noStrike">
                <a:solidFill>
                  <a:srgbClr val="000000"/>
                </a:solidFill>
                <a:latin typeface="Calibri"/>
                <a:ea typeface="Calibri"/>
                <a:cs typeface="Calibri"/>
                <a:sym typeface="Calibri"/>
              </a:rPr>
              <a:t>Understand the basic concept and importance of cloud computing. </a:t>
            </a:r>
            <a:r>
              <a:rPr b="1" i="0" lang="en-IN" sz="2400" u="none" strike="noStrike">
                <a:solidFill>
                  <a:srgbClr val="000000"/>
                </a:solidFill>
                <a:latin typeface="Calibri"/>
                <a:ea typeface="Calibri"/>
                <a:cs typeface="Calibri"/>
                <a:sym typeface="Calibri"/>
              </a:rPr>
              <a:t>	</a:t>
            </a:r>
            <a:endParaRPr/>
          </a:p>
          <a:p>
            <a:pPr indent="0" lvl="0" marL="114300" rtl="0" algn="l">
              <a:lnSpc>
                <a:spcPct val="90000"/>
              </a:lnSpc>
              <a:spcBef>
                <a:spcPts val="1000"/>
              </a:spcBef>
              <a:spcAft>
                <a:spcPts val="0"/>
              </a:spcAft>
              <a:buSzPts val="1800"/>
              <a:buNone/>
            </a:pPr>
            <a:r>
              <a:rPr b="1" i="0" lang="en-IN" sz="2400" u="none" strike="noStrike">
                <a:solidFill>
                  <a:srgbClr val="000000"/>
                </a:solidFill>
                <a:latin typeface="Calibri"/>
                <a:ea typeface="Calibri"/>
                <a:cs typeface="Calibri"/>
                <a:sym typeface="Calibri"/>
              </a:rPr>
              <a:t>CO2 	</a:t>
            </a:r>
            <a:r>
              <a:rPr i="0" lang="en-IN" sz="2400" u="none" strike="noStrike">
                <a:solidFill>
                  <a:srgbClr val="000000"/>
                </a:solidFill>
                <a:latin typeface="Calibri"/>
                <a:ea typeface="Calibri"/>
                <a:cs typeface="Calibri"/>
                <a:sym typeface="Calibri"/>
              </a:rPr>
              <a:t>Access the suitability of migrating to a cloud solution for different applications. </a:t>
            </a:r>
            <a:endParaRPr/>
          </a:p>
          <a:p>
            <a:pPr indent="0" lvl="0" marL="114300" rtl="0" algn="l">
              <a:lnSpc>
                <a:spcPct val="90000"/>
              </a:lnSpc>
              <a:spcBef>
                <a:spcPts val="1000"/>
              </a:spcBef>
              <a:spcAft>
                <a:spcPts val="0"/>
              </a:spcAft>
              <a:buSzPts val="1800"/>
              <a:buNone/>
            </a:pPr>
            <a:r>
              <a:rPr b="1" i="0" lang="en-IN" sz="2400" u="none" strike="noStrike">
                <a:solidFill>
                  <a:srgbClr val="000000"/>
                </a:solidFill>
                <a:latin typeface="Calibri"/>
                <a:ea typeface="Calibri"/>
                <a:cs typeface="Calibri"/>
                <a:sym typeface="Calibri"/>
              </a:rPr>
              <a:t>CO3 	</a:t>
            </a:r>
            <a:r>
              <a:rPr i="0" lang="en-IN" sz="2400" u="none" strike="noStrike">
                <a:solidFill>
                  <a:srgbClr val="000000"/>
                </a:solidFill>
                <a:latin typeface="Calibri"/>
                <a:ea typeface="Calibri"/>
                <a:cs typeface="Calibri"/>
                <a:sym typeface="Calibri"/>
              </a:rPr>
              <a:t>Compare and evaluate the virtualization technologies. </a:t>
            </a:r>
            <a:r>
              <a:rPr b="1" i="0" lang="en-IN" sz="2400" u="none" strike="noStrike">
                <a:solidFill>
                  <a:srgbClr val="000000"/>
                </a:solidFill>
                <a:latin typeface="Calibri"/>
                <a:ea typeface="Calibri"/>
                <a:cs typeface="Calibri"/>
                <a:sym typeface="Calibri"/>
              </a:rPr>
              <a:t>	</a:t>
            </a:r>
            <a:endParaRPr/>
          </a:p>
          <a:p>
            <a:pPr indent="0" lvl="0" marL="114300" rtl="0" algn="l">
              <a:lnSpc>
                <a:spcPct val="90000"/>
              </a:lnSpc>
              <a:spcBef>
                <a:spcPts val="1000"/>
              </a:spcBef>
              <a:spcAft>
                <a:spcPts val="0"/>
              </a:spcAft>
              <a:buSzPts val="1800"/>
              <a:buNone/>
            </a:pPr>
            <a:r>
              <a:rPr b="1" i="0" lang="en-IN" sz="2400" u="none" strike="noStrike">
                <a:solidFill>
                  <a:srgbClr val="000000"/>
                </a:solidFill>
                <a:latin typeface="Calibri"/>
                <a:ea typeface="Calibri"/>
                <a:cs typeface="Calibri"/>
                <a:sym typeface="Calibri"/>
              </a:rPr>
              <a:t>CO4 	</a:t>
            </a:r>
            <a:r>
              <a:rPr i="0" lang="en-IN" sz="2400" u="none" strike="noStrike">
                <a:solidFill>
                  <a:srgbClr val="000000"/>
                </a:solidFill>
                <a:latin typeface="Calibri"/>
                <a:ea typeface="Calibri"/>
                <a:cs typeface="Calibri"/>
                <a:sym typeface="Calibri"/>
              </a:rPr>
              <a:t>Monitor and manage the cloud resources, applications and data while addressing the    security concerns. 	</a:t>
            </a:r>
            <a:endParaRPr/>
          </a:p>
          <a:p>
            <a:pPr indent="0" lvl="0" marL="114300" rtl="0" algn="l">
              <a:lnSpc>
                <a:spcPct val="90000"/>
              </a:lnSpc>
              <a:spcBef>
                <a:spcPts val="1000"/>
              </a:spcBef>
              <a:spcAft>
                <a:spcPts val="0"/>
              </a:spcAft>
              <a:buSzPts val="1800"/>
              <a:buNone/>
            </a:pPr>
            <a:r>
              <a:rPr b="1" i="0" lang="en-IN" sz="2400" u="none" strike="noStrike">
                <a:solidFill>
                  <a:srgbClr val="000000"/>
                </a:solidFill>
                <a:latin typeface="Calibri"/>
                <a:ea typeface="Calibri"/>
                <a:cs typeface="Calibri"/>
                <a:sym typeface="Calibri"/>
              </a:rPr>
              <a:t>CO5 	</a:t>
            </a:r>
            <a:r>
              <a:rPr i="0" lang="en-IN" sz="2400" u="none" strike="noStrike">
                <a:solidFill>
                  <a:srgbClr val="000000"/>
                </a:solidFill>
                <a:latin typeface="Calibri"/>
                <a:ea typeface="Calibri"/>
                <a:cs typeface="Calibri"/>
                <a:sym typeface="Calibri"/>
              </a:rPr>
              <a:t>Use cloud solutions offered by industry leaders for various applications. </a:t>
            </a:r>
            <a:r>
              <a:rPr i="0" lang="en-IN" sz="1800" u="none" strike="noStrike">
                <a:solidFill>
                  <a:srgbClr val="000000"/>
                </a:solidFill>
                <a:latin typeface="Times New Roman"/>
                <a:ea typeface="Times New Roman"/>
                <a:cs typeface="Times New Roman"/>
                <a:sym typeface="Times New Roman"/>
              </a:rPr>
              <a:t>	</a:t>
            </a:r>
            <a:endParaRPr/>
          </a:p>
          <a:p>
            <a:pPr indent="0" lvl="0" marL="0" rtl="0" algn="just">
              <a:lnSpc>
                <a:spcPct val="90000"/>
              </a:lnSpc>
              <a:spcBef>
                <a:spcPts val="1000"/>
              </a:spcBef>
              <a:spcAft>
                <a:spcPts val="0"/>
              </a:spcAft>
              <a:buClr>
                <a:schemeClr val="dk1"/>
              </a:buClr>
              <a:buSzPts val="2400"/>
              <a:buNone/>
            </a:pPr>
            <a:r>
              <a:t/>
            </a:r>
            <a:endParaRPr sz="2400"/>
          </a:p>
        </p:txBody>
      </p:sp>
      <p:pic>
        <p:nvPicPr>
          <p:cNvPr id="149" name="Google Shape;149;p7"/>
          <p:cNvPicPr preferRelativeResize="0"/>
          <p:nvPr/>
        </p:nvPicPr>
        <p:blipFill rotWithShape="1">
          <a:blip r:embed="rId3">
            <a:alphaModFix/>
          </a:blip>
          <a:srcRect b="0" l="0" r="0" t="0"/>
          <a:stretch/>
        </p:blipFill>
        <p:spPr>
          <a:xfrm>
            <a:off x="150099" y="93382"/>
            <a:ext cx="3419011" cy="958384"/>
          </a:xfrm>
          <a:prstGeom prst="rect">
            <a:avLst/>
          </a:prstGeom>
          <a:noFill/>
          <a:ln>
            <a:noFill/>
          </a:ln>
        </p:spPr>
      </p:pic>
      <p:pic>
        <p:nvPicPr>
          <p:cNvPr id="150" name="Google Shape;150;p7"/>
          <p:cNvPicPr preferRelativeResize="0"/>
          <p:nvPr/>
        </p:nvPicPr>
        <p:blipFill rotWithShape="1">
          <a:blip r:embed="rId4">
            <a:alphaModFix/>
          </a:blip>
          <a:srcRect b="0" l="0" r="0" t="0"/>
          <a:stretch/>
        </p:blipFill>
        <p:spPr>
          <a:xfrm>
            <a:off x="9720952" y="97262"/>
            <a:ext cx="2376719" cy="70750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8"/>
          <p:cNvSpPr txBox="1"/>
          <p:nvPr>
            <p:ph type="title"/>
          </p:nvPr>
        </p:nvSpPr>
        <p:spPr>
          <a:xfrm>
            <a:off x="3613355" y="93383"/>
            <a:ext cx="6063352" cy="707508"/>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Font typeface="Calibri"/>
              <a:buNone/>
            </a:pPr>
            <a:r>
              <a:rPr b="1" lang="en-IN" sz="3200">
                <a:latin typeface="Calibri"/>
                <a:ea typeface="Calibri"/>
                <a:cs typeface="Calibri"/>
                <a:sym typeface="Calibri"/>
              </a:rPr>
              <a:t>Internal Assessments</a:t>
            </a:r>
            <a:endParaRPr b="1" sz="3200">
              <a:latin typeface="Calibri"/>
              <a:ea typeface="Calibri"/>
              <a:cs typeface="Calibri"/>
              <a:sym typeface="Calibri"/>
            </a:endParaRPr>
          </a:p>
        </p:txBody>
      </p:sp>
      <p:sp>
        <p:nvSpPr>
          <p:cNvPr id="156" name="Google Shape;156;p8"/>
          <p:cNvSpPr txBox="1"/>
          <p:nvPr>
            <p:ph idx="1" type="body"/>
          </p:nvPr>
        </p:nvSpPr>
        <p:spPr>
          <a:xfrm>
            <a:off x="838200" y="1642701"/>
            <a:ext cx="10515600" cy="4534200"/>
          </a:xfrm>
          <a:prstGeom prst="rect">
            <a:avLst/>
          </a:prstGeom>
          <a:no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dk1"/>
              </a:buClr>
              <a:buSzPts val="2400"/>
              <a:buNone/>
            </a:pPr>
            <a:r>
              <a:rPr b="1" i="0" lang="en-IN" sz="2400"/>
              <a:t>Examinations:</a:t>
            </a:r>
            <a:endParaRPr b="1" sz="2400"/>
          </a:p>
          <a:p>
            <a:pPr indent="-228600" lvl="0" marL="228600" rtl="0" algn="just">
              <a:lnSpc>
                <a:spcPct val="100000"/>
              </a:lnSpc>
              <a:spcBef>
                <a:spcPts val="1000"/>
              </a:spcBef>
              <a:spcAft>
                <a:spcPts val="0"/>
              </a:spcAft>
              <a:buClr>
                <a:schemeClr val="dk1"/>
              </a:buClr>
              <a:buSzPts val="2400"/>
              <a:buChar char="•"/>
            </a:pPr>
            <a:r>
              <a:rPr b="0" i="0" lang="en-IN" sz="2400"/>
              <a:t>4 Assignments need be </a:t>
            </a:r>
            <a:r>
              <a:rPr lang="en-IN" sz="2400"/>
              <a:t>submitted</a:t>
            </a:r>
            <a:r>
              <a:rPr b="0" i="0" lang="en-IN" sz="2400"/>
              <a:t> in 3</a:t>
            </a:r>
            <a:r>
              <a:rPr b="0" baseline="30000" i="0" lang="en-IN" sz="2400"/>
              <a:t>rd,  </a:t>
            </a:r>
            <a:r>
              <a:rPr b="0" i="0" lang="en-IN" sz="2400"/>
              <a:t>6</a:t>
            </a:r>
            <a:r>
              <a:rPr b="0" baseline="30000" i="0" lang="en-IN" sz="2400"/>
              <a:t>th</a:t>
            </a:r>
            <a:r>
              <a:rPr lang="en-IN" sz="2400"/>
              <a:t>, 9</a:t>
            </a:r>
            <a:r>
              <a:rPr baseline="30000" lang="en-IN" sz="2400"/>
              <a:t>th</a:t>
            </a:r>
            <a:r>
              <a:rPr b="0" i="0" lang="en-IN" sz="2400"/>
              <a:t>, and 12</a:t>
            </a:r>
            <a:r>
              <a:rPr b="0" baseline="30000" i="0" lang="en-IN" sz="2400"/>
              <a:t>th</a:t>
            </a:r>
            <a:r>
              <a:rPr b="0" i="0" lang="en-IN" sz="2400"/>
              <a:t> Week of the Semester. </a:t>
            </a:r>
            <a:endParaRPr sz="2400"/>
          </a:p>
          <a:p>
            <a:pPr indent="-228600" lvl="0" marL="228600" rtl="0" algn="just">
              <a:lnSpc>
                <a:spcPct val="100000"/>
              </a:lnSpc>
              <a:spcBef>
                <a:spcPts val="1000"/>
              </a:spcBef>
              <a:spcAft>
                <a:spcPts val="0"/>
              </a:spcAft>
              <a:buClr>
                <a:schemeClr val="dk1"/>
              </a:buClr>
              <a:buSzPts val="2400"/>
              <a:buChar char="•"/>
            </a:pPr>
            <a:r>
              <a:rPr b="0" i="0" lang="en-IN" sz="2400"/>
              <a:t>Mid Term </a:t>
            </a:r>
            <a:r>
              <a:rPr lang="en-IN" sz="2400"/>
              <a:t>E</a:t>
            </a:r>
            <a:r>
              <a:rPr b="0" i="0" lang="en-IN" sz="2400"/>
              <a:t>xamination</a:t>
            </a:r>
            <a:endParaRPr sz="2400"/>
          </a:p>
          <a:p>
            <a:pPr indent="-228600" lvl="0" marL="228600" rtl="0" algn="just">
              <a:lnSpc>
                <a:spcPct val="100000"/>
              </a:lnSpc>
              <a:spcBef>
                <a:spcPts val="1000"/>
              </a:spcBef>
              <a:spcAft>
                <a:spcPts val="0"/>
              </a:spcAft>
              <a:buClr>
                <a:schemeClr val="dk1"/>
              </a:buClr>
              <a:buSzPts val="2400"/>
              <a:buChar char="•"/>
            </a:pPr>
            <a:r>
              <a:rPr b="0" i="0" lang="en-IN" sz="2400"/>
              <a:t>End Term Exam.</a:t>
            </a:r>
            <a:endParaRPr sz="2400"/>
          </a:p>
          <a:p>
            <a:pPr indent="-76200" lvl="0" marL="228600" rtl="0" algn="just">
              <a:lnSpc>
                <a:spcPct val="90000"/>
              </a:lnSpc>
              <a:spcBef>
                <a:spcPts val="1000"/>
              </a:spcBef>
              <a:spcAft>
                <a:spcPts val="0"/>
              </a:spcAft>
              <a:buClr>
                <a:schemeClr val="dk1"/>
              </a:buClr>
              <a:buSzPts val="2400"/>
              <a:buNone/>
            </a:pPr>
            <a:r>
              <a:t/>
            </a:r>
            <a:endParaRPr sz="2400"/>
          </a:p>
        </p:txBody>
      </p:sp>
      <p:pic>
        <p:nvPicPr>
          <p:cNvPr id="157" name="Google Shape;157;p8"/>
          <p:cNvPicPr preferRelativeResize="0"/>
          <p:nvPr/>
        </p:nvPicPr>
        <p:blipFill rotWithShape="1">
          <a:blip r:embed="rId3">
            <a:alphaModFix/>
          </a:blip>
          <a:srcRect b="0" l="0" r="0" t="0"/>
          <a:stretch/>
        </p:blipFill>
        <p:spPr>
          <a:xfrm>
            <a:off x="150099" y="93382"/>
            <a:ext cx="3419011" cy="958384"/>
          </a:xfrm>
          <a:prstGeom prst="rect">
            <a:avLst/>
          </a:prstGeom>
          <a:noFill/>
          <a:ln>
            <a:noFill/>
          </a:ln>
        </p:spPr>
      </p:pic>
      <p:pic>
        <p:nvPicPr>
          <p:cNvPr id="158" name="Google Shape;158;p8"/>
          <p:cNvPicPr preferRelativeResize="0"/>
          <p:nvPr/>
        </p:nvPicPr>
        <p:blipFill rotWithShape="1">
          <a:blip r:embed="rId4">
            <a:alphaModFix/>
          </a:blip>
          <a:srcRect b="0" l="0" r="0" t="0"/>
          <a:stretch/>
        </p:blipFill>
        <p:spPr>
          <a:xfrm>
            <a:off x="9720952" y="97262"/>
            <a:ext cx="2376719" cy="70750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9"/>
          <p:cNvSpPr txBox="1"/>
          <p:nvPr>
            <p:ph type="title"/>
          </p:nvPr>
        </p:nvSpPr>
        <p:spPr>
          <a:xfrm>
            <a:off x="4267200" y="150125"/>
            <a:ext cx="5270090" cy="70750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IN" sz="3200">
                <a:latin typeface="Calibri"/>
                <a:ea typeface="Calibri"/>
                <a:cs typeface="Calibri"/>
                <a:sym typeface="Calibri"/>
              </a:rPr>
              <a:t>Assessment Model </a:t>
            </a:r>
            <a:endParaRPr/>
          </a:p>
        </p:txBody>
      </p:sp>
      <p:sp>
        <p:nvSpPr>
          <p:cNvPr id="164" name="Google Shape;164;p9"/>
          <p:cNvSpPr txBox="1"/>
          <p:nvPr>
            <p:ph idx="1" type="body"/>
          </p:nvPr>
        </p:nvSpPr>
        <p:spPr>
          <a:xfrm>
            <a:off x="2553425" y="2118075"/>
            <a:ext cx="7848900" cy="3225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IN" sz="2400"/>
              <a:t>Attendance:		06</a:t>
            </a:r>
            <a:endParaRPr/>
          </a:p>
          <a:p>
            <a:pPr indent="0" lvl="0" marL="0" rtl="0" algn="l">
              <a:lnSpc>
                <a:spcPct val="90000"/>
              </a:lnSpc>
              <a:spcBef>
                <a:spcPts val="1000"/>
              </a:spcBef>
              <a:spcAft>
                <a:spcPts val="0"/>
              </a:spcAft>
              <a:buClr>
                <a:schemeClr val="dk1"/>
              </a:buClr>
              <a:buSzPts val="2400"/>
              <a:buNone/>
            </a:pPr>
            <a:r>
              <a:rPr lang="en-IN" sz="2400"/>
              <a:t>MST: 				24</a:t>
            </a:r>
            <a:endParaRPr/>
          </a:p>
          <a:p>
            <a:pPr indent="0" lvl="0" marL="0" rtl="0" algn="l">
              <a:lnSpc>
                <a:spcPct val="90000"/>
              </a:lnSpc>
              <a:spcBef>
                <a:spcPts val="1000"/>
              </a:spcBef>
              <a:spcAft>
                <a:spcPts val="0"/>
              </a:spcAft>
              <a:buClr>
                <a:schemeClr val="dk1"/>
              </a:buClr>
              <a:buSzPts val="2400"/>
              <a:buNone/>
            </a:pPr>
            <a:r>
              <a:rPr lang="en-IN" sz="2400"/>
              <a:t>Assignment:		10</a:t>
            </a:r>
            <a:endParaRPr/>
          </a:p>
          <a:p>
            <a:pPr indent="0" lvl="0" marL="0" rtl="0" algn="l">
              <a:lnSpc>
                <a:spcPct val="90000"/>
              </a:lnSpc>
              <a:spcBef>
                <a:spcPts val="1000"/>
              </a:spcBef>
              <a:spcAft>
                <a:spcPts val="0"/>
              </a:spcAft>
              <a:buClr>
                <a:schemeClr val="dk1"/>
              </a:buClr>
              <a:buSzPts val="2400"/>
              <a:buNone/>
            </a:pPr>
            <a:r>
              <a:rPr lang="en-IN" sz="2400"/>
              <a:t>ETP:				70	</a:t>
            </a:r>
            <a:endParaRPr/>
          </a:p>
          <a:p>
            <a:pPr indent="0" lvl="0" marL="0" rtl="0" algn="l">
              <a:lnSpc>
                <a:spcPct val="90000"/>
              </a:lnSpc>
              <a:spcBef>
                <a:spcPts val="1000"/>
              </a:spcBef>
              <a:spcAft>
                <a:spcPts val="0"/>
              </a:spcAft>
              <a:buClr>
                <a:schemeClr val="dk1"/>
              </a:buClr>
              <a:buSzPts val="2400"/>
              <a:buNone/>
            </a:pPr>
            <a:r>
              <a:rPr b="1" lang="en-IN" sz="2400"/>
              <a:t>Total: 		             100</a:t>
            </a:r>
            <a:endParaRPr/>
          </a:p>
        </p:txBody>
      </p:sp>
      <p:pic>
        <p:nvPicPr>
          <p:cNvPr id="165" name="Google Shape;165;p9"/>
          <p:cNvPicPr preferRelativeResize="0"/>
          <p:nvPr/>
        </p:nvPicPr>
        <p:blipFill rotWithShape="1">
          <a:blip r:embed="rId3">
            <a:alphaModFix/>
          </a:blip>
          <a:srcRect b="0" l="0" r="0" t="0"/>
          <a:stretch/>
        </p:blipFill>
        <p:spPr>
          <a:xfrm>
            <a:off x="150099" y="93382"/>
            <a:ext cx="3419011" cy="958384"/>
          </a:xfrm>
          <a:prstGeom prst="rect">
            <a:avLst/>
          </a:prstGeom>
          <a:noFill/>
          <a:ln>
            <a:noFill/>
          </a:ln>
        </p:spPr>
      </p:pic>
      <p:pic>
        <p:nvPicPr>
          <p:cNvPr id="166" name="Google Shape;166;p9"/>
          <p:cNvPicPr preferRelativeResize="0"/>
          <p:nvPr/>
        </p:nvPicPr>
        <p:blipFill rotWithShape="1">
          <a:blip r:embed="rId4">
            <a:alphaModFix/>
          </a:blip>
          <a:srcRect b="0" l="0" r="0" t="0"/>
          <a:stretch/>
        </p:blipFill>
        <p:spPr>
          <a:xfrm>
            <a:off x="9720952" y="97262"/>
            <a:ext cx="2376719" cy="70750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0"/>
          <p:cNvSpPr txBox="1"/>
          <p:nvPr>
            <p:ph type="title"/>
          </p:nvPr>
        </p:nvSpPr>
        <p:spPr>
          <a:xfrm>
            <a:off x="3913240" y="116006"/>
            <a:ext cx="5712542" cy="847555"/>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Font typeface="Calibri"/>
              <a:buNone/>
            </a:pPr>
            <a:r>
              <a:rPr b="1" lang="en-IN" sz="3200">
                <a:latin typeface="Calibri"/>
                <a:ea typeface="Calibri"/>
                <a:cs typeface="Calibri"/>
                <a:sym typeface="Calibri"/>
              </a:rPr>
              <a:t>Assignment Schedule</a:t>
            </a:r>
            <a:endParaRPr b="1" sz="3200">
              <a:latin typeface="Calibri"/>
              <a:ea typeface="Calibri"/>
              <a:cs typeface="Calibri"/>
              <a:sym typeface="Calibri"/>
            </a:endParaRPr>
          </a:p>
        </p:txBody>
      </p:sp>
      <p:graphicFrame>
        <p:nvGraphicFramePr>
          <p:cNvPr id="172" name="Google Shape;172;p10"/>
          <p:cNvGraphicFramePr/>
          <p:nvPr/>
        </p:nvGraphicFramePr>
        <p:xfrm>
          <a:off x="325474" y="1695303"/>
          <a:ext cx="3000000" cy="3000000"/>
        </p:xfrm>
        <a:graphic>
          <a:graphicData uri="http://schemas.openxmlformats.org/drawingml/2006/table">
            <a:tbl>
              <a:tblPr bandRow="1" firstRow="1">
                <a:noFill/>
                <a:tableStyleId>{3AB6966F-4593-4250-AC56-97D5DCCA556C}</a:tableStyleId>
              </a:tblPr>
              <a:tblGrid>
                <a:gridCol w="2941650"/>
                <a:gridCol w="2941650"/>
                <a:gridCol w="2941650"/>
                <a:gridCol w="2433000"/>
              </a:tblGrid>
              <a:tr h="692375">
                <a:tc>
                  <a:txBody>
                    <a:bodyPr/>
                    <a:lstStyle/>
                    <a:p>
                      <a:pPr indent="0" lvl="0" marL="0" marR="0" rtl="0" algn="ctr">
                        <a:lnSpc>
                          <a:spcPct val="100000"/>
                        </a:lnSpc>
                        <a:spcBef>
                          <a:spcPts val="0"/>
                        </a:spcBef>
                        <a:spcAft>
                          <a:spcPts val="0"/>
                        </a:spcAft>
                        <a:buClr>
                          <a:srgbClr val="000000"/>
                        </a:buClr>
                        <a:buSzPts val="1800"/>
                        <a:buFont typeface="Arial"/>
                        <a:buNone/>
                      </a:pPr>
                      <a:r>
                        <a:t/>
                      </a:r>
                      <a:endParaRPr b="1" sz="1800" u="none" cap="none" strike="noStrike">
                        <a:latin typeface="Arial Black"/>
                        <a:ea typeface="Arial Black"/>
                        <a:cs typeface="Arial Black"/>
                        <a:sym typeface="Arial Blac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en-IN" sz="1800" u="none" cap="none" strike="noStrike">
                          <a:solidFill>
                            <a:schemeClr val="dk1"/>
                          </a:solidFill>
                          <a:latin typeface="Arial Black"/>
                          <a:ea typeface="Arial Black"/>
                          <a:cs typeface="Arial Black"/>
                          <a:sym typeface="Arial Black"/>
                        </a:rPr>
                        <a:t>Allotment Weeks</a:t>
                      </a:r>
                      <a:endParaRPr b="1" sz="1800" u="none" cap="none" strike="noStrike">
                        <a:latin typeface="Arial Black"/>
                        <a:ea typeface="Arial Black"/>
                        <a:cs typeface="Arial Black"/>
                        <a:sym typeface="Arial Blac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en-IN" sz="1800" u="none" cap="none" strike="noStrike">
                          <a:solidFill>
                            <a:schemeClr val="dk1"/>
                          </a:solidFill>
                          <a:latin typeface="Arial Black"/>
                          <a:ea typeface="Arial Black"/>
                          <a:cs typeface="Arial Black"/>
                          <a:sym typeface="Arial Black"/>
                        </a:rPr>
                        <a:t>Submission weeks </a:t>
                      </a:r>
                      <a:endParaRPr b="1" sz="1800" u="none" cap="none" strike="noStrike">
                        <a:latin typeface="Arial Black"/>
                        <a:ea typeface="Arial Black"/>
                        <a:cs typeface="Arial Black"/>
                        <a:sym typeface="Arial Black"/>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en-IN" sz="1800" u="none" cap="none" strike="noStrike">
                          <a:latin typeface="Arial Black"/>
                          <a:ea typeface="Arial Black"/>
                          <a:cs typeface="Arial Black"/>
                          <a:sym typeface="Arial Black"/>
                        </a:rPr>
                        <a:t>Marks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92375">
                <a:tc>
                  <a:txBody>
                    <a:bodyPr/>
                    <a:lstStyle/>
                    <a:p>
                      <a:pPr indent="0" lvl="0" marL="0" marR="0" rtl="0" algn="ctr">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Assignment -1</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2</a:t>
                      </a:r>
                      <a:r>
                        <a:rPr baseline="30000" lang="en-IN" sz="1800" u="none" cap="none" strike="noStrike"/>
                        <a:t>nd</a:t>
                      </a:r>
                      <a:r>
                        <a:rPr lang="en-IN" sz="1800" u="none" cap="none" strike="noStrike"/>
                        <a:t> Week</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3</a:t>
                      </a:r>
                      <a:r>
                        <a:rPr baseline="30000" lang="en-IN" sz="1800" u="none" cap="none" strike="noStrike"/>
                        <a:t>rd</a:t>
                      </a:r>
                      <a:r>
                        <a:rPr lang="en-IN" sz="1800" u="none" cap="none" strike="noStrike"/>
                        <a:t> Week</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10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97900">
                <a:tc>
                  <a:txBody>
                    <a:bodyPr/>
                    <a:lstStyle/>
                    <a:p>
                      <a:pPr indent="0" lvl="0" marL="0" marR="0" rtl="0" algn="ctr">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Assignment -2</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5</a:t>
                      </a:r>
                      <a:r>
                        <a:rPr baseline="30000" lang="en-IN" sz="1800" u="none" cap="none" strike="noStrike"/>
                        <a:t>th</a:t>
                      </a:r>
                      <a:r>
                        <a:rPr lang="en-IN" sz="1800" u="none" cap="none" strike="noStrike"/>
                        <a:t> Week</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6</a:t>
                      </a:r>
                      <a:r>
                        <a:rPr baseline="30000" lang="en-IN" sz="1800" u="none" cap="none" strike="noStrike"/>
                        <a:t>th</a:t>
                      </a:r>
                      <a:r>
                        <a:rPr lang="en-IN" sz="1800" u="none" cap="none" strike="noStrike"/>
                        <a:t> Week</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10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92375">
                <a:tc>
                  <a:txBody>
                    <a:bodyPr/>
                    <a:lstStyle/>
                    <a:p>
                      <a:pPr indent="0" lvl="0" marL="0" marR="0" rtl="0" algn="ctr">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Assignment -3</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8</a:t>
                      </a:r>
                      <a:r>
                        <a:rPr baseline="30000" lang="en-IN" sz="1800" u="none" cap="none" strike="noStrike"/>
                        <a:t>th</a:t>
                      </a:r>
                      <a:r>
                        <a:rPr lang="en-IN" sz="1800" u="none" cap="none" strike="noStrike"/>
                        <a:t>  Week</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9</a:t>
                      </a:r>
                      <a:r>
                        <a:rPr baseline="30000" lang="en-IN" sz="1800" u="none" cap="none" strike="noStrike"/>
                        <a:t>th</a:t>
                      </a:r>
                      <a:r>
                        <a:rPr lang="en-IN" sz="1800" u="none" cap="none" strike="noStrike"/>
                        <a:t>  Week</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10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92375">
                <a:tc>
                  <a:txBody>
                    <a:bodyPr/>
                    <a:lstStyle/>
                    <a:p>
                      <a:pPr indent="0" lvl="0" marL="0" marR="0" rtl="0" algn="ctr">
                        <a:lnSpc>
                          <a:spcPct val="100000"/>
                        </a:lnSpc>
                        <a:spcBef>
                          <a:spcPts val="0"/>
                        </a:spcBef>
                        <a:spcAft>
                          <a:spcPts val="0"/>
                        </a:spcAft>
                        <a:buClr>
                          <a:srgbClr val="000000"/>
                        </a:buClr>
                        <a:buSzPts val="1800"/>
                        <a:buFont typeface="Arial"/>
                        <a:buNone/>
                      </a:pPr>
                      <a:r>
                        <a:rPr b="1" lang="en-IN" sz="1800" u="none" cap="none" strike="noStrike">
                          <a:latin typeface="Times New Roman"/>
                          <a:ea typeface="Times New Roman"/>
                          <a:cs typeface="Times New Roman"/>
                          <a:sym typeface="Times New Roman"/>
                        </a:rPr>
                        <a:t>Assignment -4</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11</a:t>
                      </a:r>
                      <a:r>
                        <a:rPr baseline="30000" lang="en-IN" sz="1800" u="none" cap="none" strike="noStrike"/>
                        <a:t>th</a:t>
                      </a:r>
                      <a:r>
                        <a:rPr lang="en-IN" sz="1800" u="none" cap="none" strike="noStrike"/>
                        <a:t>  Week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12</a:t>
                      </a:r>
                      <a:r>
                        <a:rPr baseline="30000" lang="en-IN" sz="1800" u="none" cap="none" strike="noStrike"/>
                        <a:t>th</a:t>
                      </a:r>
                      <a:r>
                        <a:rPr lang="en-IN" sz="1800" u="none" cap="none" strike="noStrike"/>
                        <a:t>  Week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IN" sz="1800" u="none" cap="none" strike="noStrike"/>
                        <a:t>10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173" name="Google Shape;173;p10"/>
          <p:cNvPicPr preferRelativeResize="0"/>
          <p:nvPr/>
        </p:nvPicPr>
        <p:blipFill rotWithShape="1">
          <a:blip r:embed="rId3">
            <a:alphaModFix/>
          </a:blip>
          <a:srcRect b="0" l="0" r="0" t="0"/>
          <a:stretch/>
        </p:blipFill>
        <p:spPr>
          <a:xfrm>
            <a:off x="150099" y="93382"/>
            <a:ext cx="3419011" cy="958384"/>
          </a:xfrm>
          <a:prstGeom prst="rect">
            <a:avLst/>
          </a:prstGeom>
          <a:noFill/>
          <a:ln>
            <a:noFill/>
          </a:ln>
        </p:spPr>
      </p:pic>
      <p:pic>
        <p:nvPicPr>
          <p:cNvPr id="174" name="Google Shape;174;p10"/>
          <p:cNvPicPr preferRelativeResize="0"/>
          <p:nvPr/>
        </p:nvPicPr>
        <p:blipFill rotWithShape="1">
          <a:blip r:embed="rId4">
            <a:alphaModFix/>
          </a:blip>
          <a:srcRect b="0" l="0" r="0" t="0"/>
          <a:stretch/>
        </p:blipFill>
        <p:spPr>
          <a:xfrm>
            <a:off x="9720952" y="97262"/>
            <a:ext cx="2376719" cy="70750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1"/>
          <p:cNvSpPr txBox="1"/>
          <p:nvPr>
            <p:ph type="title"/>
          </p:nvPr>
        </p:nvSpPr>
        <p:spPr>
          <a:xfrm>
            <a:off x="3700269" y="93382"/>
            <a:ext cx="5889524" cy="70750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IN" sz="3200">
                <a:latin typeface="Calibri"/>
                <a:ea typeface="Calibri"/>
                <a:cs typeface="Calibri"/>
                <a:sym typeface="Calibri"/>
              </a:rPr>
              <a:t>The Hitch……</a:t>
            </a:r>
            <a:endParaRPr/>
          </a:p>
        </p:txBody>
      </p:sp>
      <p:sp>
        <p:nvSpPr>
          <p:cNvPr id="180" name="Google Shape;180;p11"/>
          <p:cNvSpPr txBox="1"/>
          <p:nvPr>
            <p:ph idx="1" type="body"/>
          </p:nvPr>
        </p:nvSpPr>
        <p:spPr>
          <a:xfrm>
            <a:off x="838200" y="1825625"/>
            <a:ext cx="10515600" cy="317899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b="1" lang="en-IN" sz="2400"/>
              <a:t>The three BURNING questions in mind…</a:t>
            </a:r>
            <a:endParaRPr/>
          </a:p>
          <a:p>
            <a:pPr indent="-304800" lvl="0" marL="457200" rtl="0" algn="l">
              <a:lnSpc>
                <a:spcPct val="90000"/>
              </a:lnSpc>
              <a:spcBef>
                <a:spcPts val="0"/>
              </a:spcBef>
              <a:spcAft>
                <a:spcPts val="0"/>
              </a:spcAft>
              <a:buClr>
                <a:schemeClr val="dk1"/>
              </a:buClr>
              <a:buSzPts val="2400"/>
              <a:buNone/>
            </a:pPr>
            <a:r>
              <a:t/>
            </a:r>
            <a:endParaRPr b="1" sz="2400"/>
          </a:p>
          <a:p>
            <a:pPr indent="-457200" lvl="0" marL="457200" rtl="0" algn="l">
              <a:lnSpc>
                <a:spcPct val="90000"/>
              </a:lnSpc>
              <a:spcBef>
                <a:spcPts val="0"/>
              </a:spcBef>
              <a:spcAft>
                <a:spcPts val="0"/>
              </a:spcAft>
              <a:buSzPts val="2400"/>
              <a:buChar char="•"/>
            </a:pPr>
            <a:r>
              <a:rPr lang="en-IN" sz="2400"/>
              <a:t>Why are we learning </a:t>
            </a:r>
            <a:r>
              <a:rPr b="0" i="0" lang="en-IN" sz="2400" u="none" strike="noStrike">
                <a:solidFill>
                  <a:srgbClr val="000000"/>
                </a:solidFill>
                <a:latin typeface="Calibri"/>
                <a:ea typeface="Calibri"/>
                <a:cs typeface="Calibri"/>
                <a:sym typeface="Calibri"/>
              </a:rPr>
              <a:t>Cloud Computing</a:t>
            </a:r>
            <a:r>
              <a:rPr lang="en-IN" sz="2400">
                <a:latin typeface="Calibri"/>
                <a:ea typeface="Calibri"/>
                <a:cs typeface="Calibri"/>
                <a:sym typeface="Calibri"/>
              </a:rPr>
              <a:t>?</a:t>
            </a:r>
            <a:endParaRPr sz="2400">
              <a:latin typeface="Calibri"/>
              <a:ea typeface="Calibri"/>
              <a:cs typeface="Calibri"/>
              <a:sym typeface="Calibri"/>
            </a:endParaRPr>
          </a:p>
          <a:p>
            <a:pPr indent="-304800" lvl="0" marL="457200" rtl="0" algn="l">
              <a:lnSpc>
                <a:spcPct val="90000"/>
              </a:lnSpc>
              <a:spcBef>
                <a:spcPts val="0"/>
              </a:spcBef>
              <a:spcAft>
                <a:spcPts val="0"/>
              </a:spcAft>
              <a:buClr>
                <a:schemeClr val="dk1"/>
              </a:buClr>
              <a:buSzPts val="2400"/>
              <a:buNone/>
            </a:pPr>
            <a:r>
              <a:t/>
            </a:r>
            <a:endParaRPr sz="2400"/>
          </a:p>
          <a:p>
            <a:pPr indent="-457200" lvl="0" marL="457200" rtl="0" algn="l">
              <a:lnSpc>
                <a:spcPct val="90000"/>
              </a:lnSpc>
              <a:spcBef>
                <a:spcPts val="0"/>
              </a:spcBef>
              <a:spcAft>
                <a:spcPts val="0"/>
              </a:spcAft>
              <a:buClr>
                <a:schemeClr val="dk1"/>
              </a:buClr>
              <a:buSzPts val="2400"/>
              <a:buChar char="•"/>
            </a:pPr>
            <a:r>
              <a:rPr lang="en-IN" sz="2400"/>
              <a:t>What would we do with it?</a:t>
            </a:r>
            <a:endParaRPr/>
          </a:p>
          <a:p>
            <a:pPr indent="-304800" lvl="0" marL="457200" rtl="0" algn="l">
              <a:lnSpc>
                <a:spcPct val="90000"/>
              </a:lnSpc>
              <a:spcBef>
                <a:spcPts val="0"/>
              </a:spcBef>
              <a:spcAft>
                <a:spcPts val="0"/>
              </a:spcAft>
              <a:buClr>
                <a:schemeClr val="dk1"/>
              </a:buClr>
              <a:buSzPts val="2400"/>
              <a:buNone/>
            </a:pPr>
            <a:r>
              <a:t/>
            </a:r>
            <a:endParaRPr sz="2400"/>
          </a:p>
          <a:p>
            <a:pPr indent="-457200" lvl="0" marL="457200" rtl="0" algn="l">
              <a:lnSpc>
                <a:spcPct val="90000"/>
              </a:lnSpc>
              <a:spcBef>
                <a:spcPts val="0"/>
              </a:spcBef>
              <a:spcAft>
                <a:spcPts val="0"/>
              </a:spcAft>
              <a:buClr>
                <a:schemeClr val="dk1"/>
              </a:buClr>
              <a:buSzPts val="2400"/>
              <a:buChar char="•"/>
            </a:pPr>
            <a:r>
              <a:rPr lang="en-IN" sz="2400"/>
              <a:t>What will be the course outcome?</a:t>
            </a:r>
            <a:endParaRPr sz="2400"/>
          </a:p>
          <a:p>
            <a:pPr indent="-76200" lvl="0" marL="228600" rtl="0" algn="l">
              <a:lnSpc>
                <a:spcPct val="90000"/>
              </a:lnSpc>
              <a:spcBef>
                <a:spcPts val="1000"/>
              </a:spcBef>
              <a:spcAft>
                <a:spcPts val="0"/>
              </a:spcAft>
              <a:buClr>
                <a:schemeClr val="dk1"/>
              </a:buClr>
              <a:buSzPts val="2400"/>
              <a:buNone/>
            </a:pPr>
            <a:r>
              <a:t/>
            </a:r>
            <a:endParaRPr sz="2400"/>
          </a:p>
        </p:txBody>
      </p:sp>
      <p:pic>
        <p:nvPicPr>
          <p:cNvPr descr="http://www.anxiety.org/sites/default/files/contentpathway/signs-of-anxiety_0.jpg" id="181" name="Google Shape;181;p11"/>
          <p:cNvPicPr preferRelativeResize="0"/>
          <p:nvPr/>
        </p:nvPicPr>
        <p:blipFill rotWithShape="1">
          <a:blip r:embed="rId3">
            <a:alphaModFix/>
          </a:blip>
          <a:srcRect b="0" l="0" r="0" t="0"/>
          <a:stretch/>
        </p:blipFill>
        <p:spPr>
          <a:xfrm>
            <a:off x="9218273" y="4001294"/>
            <a:ext cx="2381250" cy="2381250"/>
          </a:xfrm>
          <a:prstGeom prst="rect">
            <a:avLst/>
          </a:prstGeom>
          <a:noFill/>
          <a:ln>
            <a:noFill/>
          </a:ln>
        </p:spPr>
      </p:pic>
      <p:pic>
        <p:nvPicPr>
          <p:cNvPr id="182" name="Google Shape;182;p11"/>
          <p:cNvPicPr preferRelativeResize="0"/>
          <p:nvPr/>
        </p:nvPicPr>
        <p:blipFill rotWithShape="1">
          <a:blip r:embed="rId4">
            <a:alphaModFix/>
          </a:blip>
          <a:srcRect b="0" l="0" r="0" t="0"/>
          <a:stretch/>
        </p:blipFill>
        <p:spPr>
          <a:xfrm>
            <a:off x="150099" y="93382"/>
            <a:ext cx="3419011" cy="958384"/>
          </a:xfrm>
          <a:prstGeom prst="rect">
            <a:avLst/>
          </a:prstGeom>
          <a:noFill/>
          <a:ln>
            <a:noFill/>
          </a:ln>
        </p:spPr>
      </p:pic>
      <p:pic>
        <p:nvPicPr>
          <p:cNvPr id="183" name="Google Shape;183;p11"/>
          <p:cNvPicPr preferRelativeResize="0"/>
          <p:nvPr/>
        </p:nvPicPr>
        <p:blipFill rotWithShape="1">
          <a:blip r:embed="rId5">
            <a:alphaModFix/>
          </a:blip>
          <a:srcRect b="0" l="0" r="0" t="0"/>
          <a:stretch/>
        </p:blipFill>
        <p:spPr>
          <a:xfrm>
            <a:off x="9720952" y="97262"/>
            <a:ext cx="2376719" cy="70750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2"/>
          <p:cNvSpPr txBox="1"/>
          <p:nvPr/>
        </p:nvSpPr>
        <p:spPr>
          <a:xfrm>
            <a:off x="8077200" y="6356350"/>
            <a:ext cx="21336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rgbClr val="898989"/>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
        <p:nvSpPr>
          <p:cNvPr id="189" name="Google Shape;189;p12"/>
          <p:cNvSpPr txBox="1"/>
          <p:nvPr/>
        </p:nvSpPr>
        <p:spPr>
          <a:xfrm>
            <a:off x="3665857" y="142581"/>
            <a:ext cx="5958348" cy="541687"/>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3200"/>
              <a:buFont typeface="Arial"/>
              <a:buNone/>
            </a:pPr>
            <a:r>
              <a:rPr b="1" i="0" lang="en-IN" sz="3200" u="none" cap="none" strike="noStrike">
                <a:solidFill>
                  <a:schemeClr val="dk1"/>
                </a:solidFill>
                <a:latin typeface="Calibri"/>
                <a:ea typeface="Calibri"/>
                <a:cs typeface="Calibri"/>
                <a:sym typeface="Calibri"/>
              </a:rPr>
              <a:t>Bloom’s Taxonomy</a:t>
            </a:r>
            <a:endParaRPr b="1" i="0" sz="3200" u="none" cap="none" strike="noStrike">
              <a:solidFill>
                <a:schemeClr val="dk1"/>
              </a:solidFill>
              <a:latin typeface="Calibri"/>
              <a:ea typeface="Calibri"/>
              <a:cs typeface="Calibri"/>
              <a:sym typeface="Calibri"/>
            </a:endParaRPr>
          </a:p>
        </p:txBody>
      </p:sp>
      <p:pic>
        <p:nvPicPr>
          <p:cNvPr descr="Melding Bloom's Taxonomy and Universal Design for Learning" id="190" name="Google Shape;190;p12"/>
          <p:cNvPicPr preferRelativeResize="0"/>
          <p:nvPr/>
        </p:nvPicPr>
        <p:blipFill rotWithShape="1">
          <a:blip r:embed="rId3">
            <a:alphaModFix/>
          </a:blip>
          <a:srcRect b="0" l="0" r="0" t="19309"/>
          <a:stretch/>
        </p:blipFill>
        <p:spPr>
          <a:xfrm>
            <a:off x="887106" y="1394552"/>
            <a:ext cx="10078870" cy="5083791"/>
          </a:xfrm>
          <a:prstGeom prst="rect">
            <a:avLst/>
          </a:prstGeom>
          <a:noFill/>
          <a:ln>
            <a:noFill/>
          </a:ln>
        </p:spPr>
      </p:pic>
      <p:pic>
        <p:nvPicPr>
          <p:cNvPr id="191" name="Google Shape;191;p12"/>
          <p:cNvPicPr preferRelativeResize="0"/>
          <p:nvPr/>
        </p:nvPicPr>
        <p:blipFill rotWithShape="1">
          <a:blip r:embed="rId4">
            <a:alphaModFix/>
          </a:blip>
          <a:srcRect b="0" l="0" r="0" t="0"/>
          <a:stretch/>
        </p:blipFill>
        <p:spPr>
          <a:xfrm>
            <a:off x="150099" y="93382"/>
            <a:ext cx="3419011" cy="958384"/>
          </a:xfrm>
          <a:prstGeom prst="rect">
            <a:avLst/>
          </a:prstGeom>
          <a:noFill/>
          <a:ln>
            <a:noFill/>
          </a:ln>
        </p:spPr>
      </p:pic>
      <p:pic>
        <p:nvPicPr>
          <p:cNvPr id="192" name="Google Shape;192;p12"/>
          <p:cNvPicPr preferRelativeResize="0"/>
          <p:nvPr/>
        </p:nvPicPr>
        <p:blipFill rotWithShape="1">
          <a:blip r:embed="rId5">
            <a:alphaModFix/>
          </a:blip>
          <a:srcRect b="0" l="0" r="0" t="0"/>
          <a:stretch/>
        </p:blipFill>
        <p:spPr>
          <a:xfrm>
            <a:off x="9720952" y="97262"/>
            <a:ext cx="2376719" cy="70750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3"/>
          <p:cNvSpPr txBox="1"/>
          <p:nvPr>
            <p:ph type="title"/>
          </p:nvPr>
        </p:nvSpPr>
        <p:spPr>
          <a:xfrm>
            <a:off x="3706761" y="93383"/>
            <a:ext cx="5943886" cy="80519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IN" sz="3200">
                <a:latin typeface="Calibri"/>
                <a:ea typeface="Calibri"/>
                <a:cs typeface="Calibri"/>
                <a:sym typeface="Calibri"/>
              </a:rPr>
              <a:t>Let us re-invent ourselves</a:t>
            </a:r>
            <a:endParaRPr b="1" sz="3200">
              <a:latin typeface="Calibri"/>
              <a:ea typeface="Calibri"/>
              <a:cs typeface="Calibri"/>
              <a:sym typeface="Calibri"/>
            </a:endParaRPr>
          </a:p>
        </p:txBody>
      </p:sp>
      <p:sp>
        <p:nvSpPr>
          <p:cNvPr id="198" name="Google Shape;198;p13"/>
          <p:cNvSpPr txBox="1"/>
          <p:nvPr>
            <p:ph idx="1" type="body"/>
          </p:nvPr>
        </p:nvSpPr>
        <p:spPr>
          <a:xfrm>
            <a:off x="838200" y="1445481"/>
            <a:ext cx="10515600" cy="198351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IN" sz="2400"/>
              <a:t>To begin with basics…</a:t>
            </a:r>
            <a:endParaRPr/>
          </a:p>
          <a:p>
            <a:pPr indent="0" lvl="0" marL="0" rtl="0" algn="l">
              <a:lnSpc>
                <a:spcPct val="90000"/>
              </a:lnSpc>
              <a:spcBef>
                <a:spcPts val="1000"/>
              </a:spcBef>
              <a:spcAft>
                <a:spcPts val="0"/>
              </a:spcAft>
              <a:buClr>
                <a:schemeClr val="dk1"/>
              </a:buClr>
              <a:buSzPts val="2400"/>
              <a:buNone/>
            </a:pPr>
            <a:r>
              <a:rPr lang="en-IN" sz="2400"/>
              <a:t>Let us go to basics.</a:t>
            </a:r>
            <a:endParaRPr/>
          </a:p>
          <a:p>
            <a:pPr indent="0" lvl="0" marL="0" rtl="0" algn="l">
              <a:lnSpc>
                <a:spcPct val="90000"/>
              </a:lnSpc>
              <a:spcBef>
                <a:spcPts val="1000"/>
              </a:spcBef>
              <a:spcAft>
                <a:spcPts val="0"/>
              </a:spcAft>
              <a:buClr>
                <a:schemeClr val="dk1"/>
              </a:buClr>
              <a:buSzPts val="2400"/>
              <a:buNone/>
            </a:pPr>
            <a:r>
              <a:rPr lang="en-IN" sz="2400"/>
              <a:t>Let us begin from toddling to learn to walk</a:t>
            </a:r>
            <a:endParaRPr/>
          </a:p>
          <a:p>
            <a:pPr indent="-76200" lvl="0" marL="228600" rtl="0" algn="l">
              <a:lnSpc>
                <a:spcPct val="90000"/>
              </a:lnSpc>
              <a:spcBef>
                <a:spcPts val="1000"/>
              </a:spcBef>
              <a:spcAft>
                <a:spcPts val="0"/>
              </a:spcAft>
              <a:buClr>
                <a:schemeClr val="dk1"/>
              </a:buClr>
              <a:buSzPts val="2400"/>
              <a:buNone/>
            </a:pPr>
            <a:r>
              <a:t/>
            </a:r>
            <a:endParaRPr sz="2400"/>
          </a:p>
        </p:txBody>
      </p:sp>
      <p:grpSp>
        <p:nvGrpSpPr>
          <p:cNvPr id="199" name="Google Shape;199;p13"/>
          <p:cNvGrpSpPr/>
          <p:nvPr/>
        </p:nvGrpSpPr>
        <p:grpSpPr>
          <a:xfrm>
            <a:off x="1187355" y="3657600"/>
            <a:ext cx="9915099" cy="2558266"/>
            <a:chOff x="1763688" y="3356992"/>
            <a:chExt cx="5482580" cy="3355072"/>
          </a:xfrm>
        </p:grpSpPr>
        <p:pic>
          <p:nvPicPr>
            <p:cNvPr descr="http://www.bcreative.al/wp-content/uploads/2011/10/Human-Evolution.jpg" id="200" name="Google Shape;200;p13"/>
            <p:cNvPicPr preferRelativeResize="0"/>
            <p:nvPr/>
          </p:nvPicPr>
          <p:blipFill rotWithShape="1">
            <a:blip r:embed="rId3">
              <a:alphaModFix/>
            </a:blip>
            <a:srcRect b="0" l="0" r="0" t="0"/>
            <a:stretch/>
          </p:blipFill>
          <p:spPr>
            <a:xfrm>
              <a:off x="1763688" y="3356992"/>
              <a:ext cx="5482580" cy="2741290"/>
            </a:xfrm>
            <a:prstGeom prst="rect">
              <a:avLst/>
            </a:prstGeom>
            <a:noFill/>
            <a:ln>
              <a:noFill/>
            </a:ln>
          </p:spPr>
        </p:pic>
        <p:sp>
          <p:nvSpPr>
            <p:cNvPr id="201" name="Google Shape;201;p13"/>
            <p:cNvSpPr txBox="1"/>
            <p:nvPr/>
          </p:nvSpPr>
          <p:spPr>
            <a:xfrm>
              <a:off x="4967783" y="6188844"/>
              <a:ext cx="15909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Calibri"/>
                <a:ea typeface="Calibri"/>
                <a:cs typeface="Calibri"/>
                <a:sym typeface="Calibri"/>
              </a:endParaRPr>
            </a:p>
          </p:txBody>
        </p:sp>
      </p:grpSp>
      <p:pic>
        <p:nvPicPr>
          <p:cNvPr id="202" name="Google Shape;202;p13"/>
          <p:cNvPicPr preferRelativeResize="0"/>
          <p:nvPr/>
        </p:nvPicPr>
        <p:blipFill rotWithShape="1">
          <a:blip r:embed="rId4">
            <a:alphaModFix/>
          </a:blip>
          <a:srcRect b="0" l="0" r="0" t="0"/>
          <a:stretch/>
        </p:blipFill>
        <p:spPr>
          <a:xfrm>
            <a:off x="9758051" y="136525"/>
            <a:ext cx="2269314" cy="991457"/>
          </a:xfrm>
          <a:prstGeom prst="rect">
            <a:avLst/>
          </a:prstGeom>
          <a:noFill/>
          <a:ln>
            <a:noFill/>
          </a:ln>
        </p:spPr>
      </p:pic>
      <p:pic>
        <p:nvPicPr>
          <p:cNvPr id="203" name="Google Shape;203;p13"/>
          <p:cNvPicPr preferRelativeResize="0"/>
          <p:nvPr/>
        </p:nvPicPr>
        <p:blipFill rotWithShape="1">
          <a:blip r:embed="rId4">
            <a:alphaModFix/>
          </a:blip>
          <a:srcRect b="0" l="0" r="0" t="0"/>
          <a:stretch/>
        </p:blipFill>
        <p:spPr>
          <a:xfrm>
            <a:off x="150099" y="93382"/>
            <a:ext cx="3419011" cy="958384"/>
          </a:xfrm>
          <a:prstGeom prst="rect">
            <a:avLst/>
          </a:prstGeom>
          <a:noFill/>
          <a:ln>
            <a:noFill/>
          </a:ln>
        </p:spPr>
      </p:pic>
      <p:pic>
        <p:nvPicPr>
          <p:cNvPr id="204" name="Google Shape;204;p13"/>
          <p:cNvPicPr preferRelativeResize="0"/>
          <p:nvPr/>
        </p:nvPicPr>
        <p:blipFill rotWithShape="1">
          <a:blip r:embed="rId5">
            <a:alphaModFix/>
          </a:blip>
          <a:srcRect b="0" l="0" r="0" t="0"/>
          <a:stretch/>
        </p:blipFill>
        <p:spPr>
          <a:xfrm>
            <a:off x="9720952" y="97262"/>
            <a:ext cx="2376719" cy="70750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4"/>
          <p:cNvSpPr txBox="1"/>
          <p:nvPr>
            <p:ph type="title"/>
          </p:nvPr>
        </p:nvSpPr>
        <p:spPr>
          <a:xfrm>
            <a:off x="3690437" y="93382"/>
            <a:ext cx="5909188" cy="7915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IN" sz="3200">
                <a:latin typeface="Calibri"/>
                <a:ea typeface="Calibri"/>
                <a:cs typeface="Calibri"/>
                <a:sym typeface="Calibri"/>
              </a:rPr>
              <a:t>Course Content</a:t>
            </a:r>
            <a:endParaRPr sz="3200">
              <a:latin typeface="Calibri"/>
              <a:ea typeface="Calibri"/>
              <a:cs typeface="Calibri"/>
              <a:sym typeface="Calibri"/>
            </a:endParaRPr>
          </a:p>
        </p:txBody>
      </p:sp>
      <p:sp>
        <p:nvSpPr>
          <p:cNvPr id="210" name="Google Shape;210;p14"/>
          <p:cNvSpPr txBox="1"/>
          <p:nvPr>
            <p:ph idx="1" type="body"/>
          </p:nvPr>
        </p:nvSpPr>
        <p:spPr>
          <a:xfrm>
            <a:off x="150098" y="1051766"/>
            <a:ext cx="11774423" cy="5526316"/>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None/>
            </a:pPr>
            <a:r>
              <a:rPr b="1" lang="en-IN"/>
              <a:t>Part-A </a:t>
            </a:r>
            <a:endParaRPr/>
          </a:p>
          <a:p>
            <a:pPr indent="-342900" lvl="0" marL="457200" rtl="0" algn="just">
              <a:lnSpc>
                <a:spcPct val="90000"/>
              </a:lnSpc>
              <a:spcBef>
                <a:spcPts val="1000"/>
              </a:spcBef>
              <a:spcAft>
                <a:spcPts val="0"/>
              </a:spcAft>
              <a:buSzPts val="1800"/>
              <a:buChar char="•"/>
            </a:pPr>
            <a:r>
              <a:rPr b="1" i="0" lang="en-IN" sz="2400" u="none" strike="noStrike">
                <a:solidFill>
                  <a:srgbClr val="000000"/>
                </a:solidFill>
                <a:latin typeface="Calibri"/>
                <a:ea typeface="Calibri"/>
                <a:cs typeface="Calibri"/>
                <a:sym typeface="Calibri"/>
              </a:rPr>
              <a:t>Overview of Computing Paradigm: </a:t>
            </a:r>
            <a:r>
              <a:rPr b="0" i="0" lang="en-IN" sz="2400" u="none" strike="noStrike">
                <a:solidFill>
                  <a:srgbClr val="000000"/>
                </a:solidFill>
                <a:latin typeface="Calibri"/>
                <a:ea typeface="Calibri"/>
                <a:cs typeface="Calibri"/>
                <a:sym typeface="Calibri"/>
              </a:rPr>
              <a:t>Recent trends in Computing -Grid Computing, Cluster Computing, Distributed Computing, Utility Computing, Cloud Computing. </a:t>
            </a:r>
            <a:endParaRPr/>
          </a:p>
          <a:p>
            <a:pPr indent="-342900" lvl="0" marL="457200" rtl="0" algn="just">
              <a:lnSpc>
                <a:spcPct val="90000"/>
              </a:lnSpc>
              <a:spcBef>
                <a:spcPts val="1000"/>
              </a:spcBef>
              <a:spcAft>
                <a:spcPts val="0"/>
              </a:spcAft>
              <a:buSzPts val="1800"/>
              <a:buChar char="•"/>
            </a:pPr>
            <a:r>
              <a:rPr b="1" i="0" lang="en-IN" sz="2400" u="none" strike="noStrike">
                <a:solidFill>
                  <a:srgbClr val="000000"/>
                </a:solidFill>
                <a:latin typeface="Calibri"/>
                <a:ea typeface="Calibri"/>
                <a:cs typeface="Calibri"/>
                <a:sym typeface="Calibri"/>
              </a:rPr>
              <a:t>Introduction to Cloud Computing: </a:t>
            </a:r>
            <a:r>
              <a:rPr b="0" i="0" lang="en-IN" sz="2400" u="none" strike="noStrike">
                <a:solidFill>
                  <a:srgbClr val="000000"/>
                </a:solidFill>
                <a:latin typeface="Calibri"/>
                <a:ea typeface="Calibri"/>
                <a:cs typeface="Calibri"/>
                <a:sym typeface="Calibri"/>
              </a:rPr>
              <a:t>Vision of Cloud Computing, Defining a Cloud, Cloud Reference Model, Deployment Model, Characteristics, Benefits of Cloud Computing, Challenges ahead. Cloud computing vs. Cluster computing vs. Grid computing. </a:t>
            </a:r>
            <a:endParaRPr/>
          </a:p>
          <a:p>
            <a:pPr indent="-342900" lvl="0" marL="457200" rtl="0" algn="just">
              <a:lnSpc>
                <a:spcPct val="90000"/>
              </a:lnSpc>
              <a:spcBef>
                <a:spcPts val="1000"/>
              </a:spcBef>
              <a:spcAft>
                <a:spcPts val="0"/>
              </a:spcAft>
              <a:buSzPts val="1800"/>
              <a:buChar char="•"/>
            </a:pPr>
            <a:r>
              <a:rPr b="1" i="0" lang="en-IN" sz="2400" u="none" strike="noStrike">
                <a:solidFill>
                  <a:srgbClr val="000000"/>
                </a:solidFill>
                <a:latin typeface="Calibri"/>
                <a:ea typeface="Calibri"/>
                <a:cs typeface="Calibri"/>
                <a:sym typeface="Calibri"/>
              </a:rPr>
              <a:t>Migrating into a Cloud: </a:t>
            </a:r>
            <a:r>
              <a:rPr b="0" i="0" lang="en-IN" sz="2400" u="none" strike="noStrike">
                <a:solidFill>
                  <a:srgbClr val="000000"/>
                </a:solidFill>
                <a:latin typeface="Calibri"/>
                <a:ea typeface="Calibri"/>
                <a:cs typeface="Calibri"/>
                <a:sym typeface="Calibri"/>
              </a:rPr>
              <a:t>Introduction, Broad approaches to Migrating into the Cloud, The Seven-Step Model of Migration Into a Cloud. </a:t>
            </a:r>
            <a:endParaRPr/>
          </a:p>
          <a:p>
            <a:pPr indent="-342900" lvl="0" marL="457200" rtl="0" algn="just">
              <a:lnSpc>
                <a:spcPct val="90000"/>
              </a:lnSpc>
              <a:spcBef>
                <a:spcPts val="1000"/>
              </a:spcBef>
              <a:spcAft>
                <a:spcPts val="0"/>
              </a:spcAft>
              <a:buSzPts val="1800"/>
              <a:buChar char="•"/>
            </a:pPr>
            <a:r>
              <a:rPr b="1" i="0" lang="en-IN" sz="2400" u="none" strike="noStrike">
                <a:solidFill>
                  <a:srgbClr val="000000"/>
                </a:solidFill>
                <a:latin typeface="Calibri"/>
                <a:ea typeface="Calibri"/>
                <a:cs typeface="Calibri"/>
                <a:sym typeface="Calibri"/>
              </a:rPr>
              <a:t>Virtualization: </a:t>
            </a:r>
            <a:r>
              <a:rPr b="0" i="0" lang="en-IN" sz="2400" u="none" strike="noStrike">
                <a:solidFill>
                  <a:srgbClr val="000000"/>
                </a:solidFill>
                <a:latin typeface="Calibri"/>
                <a:ea typeface="Calibri"/>
                <a:cs typeface="Calibri"/>
                <a:sym typeface="Calibri"/>
              </a:rPr>
              <a:t>Introduction, Characteristics of Virtualized environment, Taxonomy of Virtualization techniques, Virtualization and Cloud Computing, Pros and Cons of Virtualization, Technology Examples- Xen, VMware, Microsoft Hyper-V. </a:t>
            </a:r>
            <a:endParaRPr/>
          </a:p>
          <a:p>
            <a:pPr indent="-342900" lvl="0" marL="457200" rtl="0" algn="just">
              <a:lnSpc>
                <a:spcPct val="90000"/>
              </a:lnSpc>
              <a:spcBef>
                <a:spcPts val="1000"/>
              </a:spcBef>
              <a:spcAft>
                <a:spcPts val="0"/>
              </a:spcAft>
              <a:buSzPts val="1800"/>
              <a:buChar char="•"/>
            </a:pPr>
            <a:r>
              <a:rPr b="1" i="0" lang="en-IN" sz="2400" u="none" strike="noStrike">
                <a:solidFill>
                  <a:srgbClr val="000000"/>
                </a:solidFill>
                <a:latin typeface="Calibri"/>
                <a:ea typeface="Calibri"/>
                <a:cs typeface="Calibri"/>
                <a:sym typeface="Calibri"/>
              </a:rPr>
              <a:t>Capacity Planning: </a:t>
            </a:r>
            <a:r>
              <a:rPr b="0" i="0" lang="en-IN" sz="2400" u="none" strike="noStrike">
                <a:solidFill>
                  <a:srgbClr val="000000"/>
                </a:solidFill>
                <a:latin typeface="Calibri"/>
                <a:ea typeface="Calibri"/>
                <a:cs typeface="Calibri"/>
                <a:sym typeface="Calibri"/>
              </a:rPr>
              <a:t>Introduction, Defining Baseline and Metrics-Baseline Measurements, System Metrics, Load Testing, Resource Ceilings, Server and Instance types; Network Capacity, Scaling. 	</a:t>
            </a:r>
            <a:endParaRPr/>
          </a:p>
          <a:p>
            <a:pPr indent="0" lvl="0" marL="0" rtl="0" algn="l">
              <a:lnSpc>
                <a:spcPct val="90000"/>
              </a:lnSpc>
              <a:spcBef>
                <a:spcPts val="1000"/>
              </a:spcBef>
              <a:spcAft>
                <a:spcPts val="0"/>
              </a:spcAft>
              <a:buClr>
                <a:schemeClr val="dk1"/>
              </a:buClr>
              <a:buSzPts val="2800"/>
              <a:buNone/>
            </a:pPr>
            <a:r>
              <a:t/>
            </a:r>
            <a:endParaRPr/>
          </a:p>
        </p:txBody>
      </p:sp>
      <p:pic>
        <p:nvPicPr>
          <p:cNvPr id="211" name="Google Shape;211;p14"/>
          <p:cNvPicPr preferRelativeResize="0"/>
          <p:nvPr/>
        </p:nvPicPr>
        <p:blipFill rotWithShape="1">
          <a:blip r:embed="rId3">
            <a:alphaModFix/>
          </a:blip>
          <a:srcRect b="0" l="0" r="0" t="0"/>
          <a:stretch/>
        </p:blipFill>
        <p:spPr>
          <a:xfrm>
            <a:off x="150099" y="93382"/>
            <a:ext cx="3419011" cy="958384"/>
          </a:xfrm>
          <a:prstGeom prst="rect">
            <a:avLst/>
          </a:prstGeom>
          <a:noFill/>
          <a:ln>
            <a:noFill/>
          </a:ln>
        </p:spPr>
      </p:pic>
      <p:pic>
        <p:nvPicPr>
          <p:cNvPr id="212" name="Google Shape;212;p14"/>
          <p:cNvPicPr preferRelativeResize="0"/>
          <p:nvPr/>
        </p:nvPicPr>
        <p:blipFill rotWithShape="1">
          <a:blip r:embed="rId4">
            <a:alphaModFix/>
          </a:blip>
          <a:srcRect b="0" l="0" r="0" t="0"/>
          <a:stretch/>
        </p:blipFill>
        <p:spPr>
          <a:xfrm>
            <a:off x="9720952" y="97262"/>
            <a:ext cx="2376719" cy="70750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6"/>
          <p:cNvSpPr txBox="1"/>
          <p:nvPr>
            <p:ph type="title"/>
          </p:nvPr>
        </p:nvSpPr>
        <p:spPr>
          <a:xfrm>
            <a:off x="3690437" y="93382"/>
            <a:ext cx="5909188" cy="7915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IN" sz="3200">
                <a:latin typeface="Calibri"/>
                <a:ea typeface="Calibri"/>
                <a:cs typeface="Calibri"/>
                <a:sym typeface="Calibri"/>
              </a:rPr>
              <a:t>Course Content</a:t>
            </a:r>
            <a:endParaRPr sz="3200">
              <a:latin typeface="Calibri"/>
              <a:ea typeface="Calibri"/>
              <a:cs typeface="Calibri"/>
              <a:sym typeface="Calibri"/>
            </a:endParaRPr>
          </a:p>
        </p:txBody>
      </p:sp>
      <p:sp>
        <p:nvSpPr>
          <p:cNvPr id="218" name="Google Shape;218;p16"/>
          <p:cNvSpPr txBox="1"/>
          <p:nvPr>
            <p:ph idx="1" type="body"/>
          </p:nvPr>
        </p:nvSpPr>
        <p:spPr>
          <a:xfrm>
            <a:off x="378500" y="1177900"/>
            <a:ext cx="11383500" cy="5535000"/>
          </a:xfrm>
          <a:prstGeom prst="rect">
            <a:avLst/>
          </a:prstGeom>
          <a:noFill/>
          <a:ln>
            <a:noFill/>
          </a:ln>
        </p:spPr>
        <p:txBody>
          <a:bodyPr anchorCtr="0" anchor="t" bIns="45700" lIns="91425" spcFirstLastPara="1" rIns="91425" wrap="square" tIns="45700">
            <a:normAutofit fontScale="77500" lnSpcReduction="10000"/>
          </a:bodyPr>
          <a:lstStyle/>
          <a:p>
            <a:pPr indent="0" lvl="0" marL="0" rtl="0" algn="ctr">
              <a:lnSpc>
                <a:spcPct val="90000"/>
              </a:lnSpc>
              <a:spcBef>
                <a:spcPts val="0"/>
              </a:spcBef>
              <a:spcAft>
                <a:spcPts val="0"/>
              </a:spcAft>
              <a:buClr>
                <a:schemeClr val="dk1"/>
              </a:buClr>
              <a:buSzPct val="100000"/>
              <a:buNone/>
            </a:pPr>
            <a:r>
              <a:rPr b="1" lang="en-IN"/>
              <a:t>Part-B</a:t>
            </a:r>
            <a:endParaRPr/>
          </a:p>
          <a:p>
            <a:pPr indent="-338533" lvl="0" marL="457200" rtl="0" algn="just">
              <a:lnSpc>
                <a:spcPct val="90000"/>
              </a:lnSpc>
              <a:spcBef>
                <a:spcPts val="1000"/>
              </a:spcBef>
              <a:spcAft>
                <a:spcPts val="0"/>
              </a:spcAft>
              <a:buSzPct val="78827"/>
              <a:buChar char="•"/>
            </a:pPr>
            <a:r>
              <a:rPr b="1" i="0" lang="en-IN" sz="2833" u="none" strike="noStrike">
                <a:solidFill>
                  <a:srgbClr val="000000"/>
                </a:solidFill>
                <a:latin typeface="Calibri"/>
                <a:ea typeface="Calibri"/>
                <a:cs typeface="Calibri"/>
                <a:sym typeface="Calibri"/>
              </a:rPr>
              <a:t>SLA Management in Cloud Computing: </a:t>
            </a:r>
            <a:r>
              <a:rPr b="0" i="0" lang="en-IN" sz="2833" u="none" strike="noStrike">
                <a:solidFill>
                  <a:srgbClr val="000000"/>
                </a:solidFill>
                <a:latin typeface="Calibri"/>
                <a:ea typeface="Calibri"/>
                <a:cs typeface="Calibri"/>
                <a:sym typeface="Calibri"/>
              </a:rPr>
              <a:t>Inspiration, Traditional Approaches to SLO Management, Types of SLA, Life Cycle of SLA, SLA management in Cloud. Automated Policy-based management. </a:t>
            </a:r>
            <a:endParaRPr sz="3233"/>
          </a:p>
          <a:p>
            <a:pPr indent="-338533" lvl="0" marL="457200" rtl="0" algn="just">
              <a:lnSpc>
                <a:spcPct val="90000"/>
              </a:lnSpc>
              <a:spcBef>
                <a:spcPts val="1000"/>
              </a:spcBef>
              <a:spcAft>
                <a:spcPts val="0"/>
              </a:spcAft>
              <a:buSzPct val="78827"/>
              <a:buChar char="•"/>
            </a:pPr>
            <a:r>
              <a:rPr b="1" i="0" lang="en-IN" sz="2833" u="none" strike="noStrike">
                <a:solidFill>
                  <a:srgbClr val="000000"/>
                </a:solidFill>
                <a:latin typeface="Calibri"/>
                <a:ea typeface="Calibri"/>
                <a:cs typeface="Calibri"/>
                <a:sym typeface="Calibri"/>
              </a:rPr>
              <a:t>Securing Cloud services: </a:t>
            </a:r>
            <a:r>
              <a:rPr b="0" i="0" lang="en-IN" sz="2833" u="none" strike="noStrike">
                <a:solidFill>
                  <a:srgbClr val="000000"/>
                </a:solidFill>
                <a:latin typeface="Calibri"/>
                <a:ea typeface="Calibri"/>
                <a:cs typeface="Calibri"/>
                <a:sym typeface="Calibri"/>
              </a:rPr>
              <a:t>Cloud Security, Securing Data- Brokered Cloud Storage Access, Storage location and tenancy, Encryption, Auditing and compliance. </a:t>
            </a:r>
            <a:endParaRPr sz="3233"/>
          </a:p>
          <a:p>
            <a:pPr indent="-338533" lvl="0" marL="457200" rtl="0" algn="just">
              <a:lnSpc>
                <a:spcPct val="90000"/>
              </a:lnSpc>
              <a:spcBef>
                <a:spcPts val="1000"/>
              </a:spcBef>
              <a:spcAft>
                <a:spcPts val="0"/>
              </a:spcAft>
              <a:buSzPct val="78827"/>
              <a:buChar char="•"/>
            </a:pPr>
            <a:r>
              <a:rPr b="1" i="0" lang="en-IN" sz="2833" u="none" strike="noStrike">
                <a:solidFill>
                  <a:srgbClr val="000000"/>
                </a:solidFill>
                <a:latin typeface="Calibri"/>
                <a:ea typeface="Calibri"/>
                <a:cs typeface="Calibri"/>
                <a:sym typeface="Calibri"/>
              </a:rPr>
              <a:t>Cloud Storage: </a:t>
            </a:r>
            <a:r>
              <a:rPr b="0" i="0" lang="en-IN" sz="2833" u="none" strike="noStrike">
                <a:solidFill>
                  <a:srgbClr val="000000"/>
                </a:solidFill>
                <a:latin typeface="Calibri"/>
                <a:ea typeface="Calibri"/>
                <a:cs typeface="Calibri"/>
                <a:sym typeface="Calibri"/>
              </a:rPr>
              <a:t>Provisioning Cloud Storage, Virtual storage containers, Cloud Storage Interoperability (CDMI, OCCI), Database Storage, Resource Management, </a:t>
            </a:r>
            <a:endParaRPr sz="3233"/>
          </a:p>
          <a:p>
            <a:pPr indent="-338533" lvl="0" marL="457200" rtl="0" algn="just">
              <a:lnSpc>
                <a:spcPct val="90000"/>
              </a:lnSpc>
              <a:spcBef>
                <a:spcPts val="1000"/>
              </a:spcBef>
              <a:spcAft>
                <a:spcPts val="0"/>
              </a:spcAft>
              <a:buSzPct val="78827"/>
              <a:buChar char="•"/>
            </a:pPr>
            <a:r>
              <a:rPr b="1" i="0" lang="en-IN" sz="2833" u="none" strike="noStrike">
                <a:solidFill>
                  <a:srgbClr val="000000"/>
                </a:solidFill>
                <a:latin typeface="Calibri"/>
                <a:ea typeface="Calibri"/>
                <a:cs typeface="Calibri"/>
                <a:sym typeface="Calibri"/>
              </a:rPr>
              <a:t>Advance Topics in Cloud:</a:t>
            </a:r>
            <a:r>
              <a:rPr b="0" i="0" lang="en-IN" sz="2833" u="none" strike="noStrike">
                <a:solidFill>
                  <a:srgbClr val="000000"/>
                </a:solidFill>
                <a:latin typeface="Calibri"/>
                <a:ea typeface="Calibri"/>
                <a:cs typeface="Calibri"/>
                <a:sym typeface="Calibri"/>
              </a:rPr>
              <a:t>Energy Efficiency in cloud, Market Oriented Cloud Computing, Federated Cloud Computing, Mobile Cloud Computing, Fog computing, BigData Analytics, Basics of IoT. </a:t>
            </a:r>
            <a:endParaRPr sz="3233"/>
          </a:p>
          <a:p>
            <a:pPr indent="-338533" lvl="0" marL="457200" rtl="0" algn="just">
              <a:lnSpc>
                <a:spcPct val="90000"/>
              </a:lnSpc>
              <a:spcBef>
                <a:spcPts val="1000"/>
              </a:spcBef>
              <a:spcAft>
                <a:spcPts val="0"/>
              </a:spcAft>
              <a:buSzPct val="78827"/>
              <a:buChar char="•"/>
            </a:pPr>
            <a:r>
              <a:rPr b="1" i="0" lang="en-IN" sz="2833" u="none" strike="noStrike">
                <a:solidFill>
                  <a:srgbClr val="000000"/>
                </a:solidFill>
                <a:latin typeface="Calibri"/>
                <a:ea typeface="Calibri"/>
                <a:cs typeface="Calibri"/>
                <a:sym typeface="Calibri"/>
              </a:rPr>
              <a:t>Cloud Platforms in Industry: </a:t>
            </a:r>
            <a:r>
              <a:rPr b="0" i="0" lang="en-IN" sz="2833" u="none" strike="noStrike">
                <a:solidFill>
                  <a:srgbClr val="000000"/>
                </a:solidFill>
                <a:latin typeface="Calibri"/>
                <a:ea typeface="Calibri"/>
                <a:cs typeface="Calibri"/>
                <a:sym typeface="Calibri"/>
              </a:rPr>
              <a:t>Amazon Web Services-Compute Services, Storage Services, Communication Services, Additional Services. Google AppEngine-Architecture and Core Concepts, Application Life Cycle. Cost Model. Microsoft Azure-Azure Core Concepts, SQL Azure, Windows Azure Platform Appliance. 	</a:t>
            </a:r>
            <a:endParaRPr sz="3233"/>
          </a:p>
          <a:p>
            <a:pPr indent="0" lvl="0" marL="0" rtl="0" algn="ctr">
              <a:lnSpc>
                <a:spcPct val="90000"/>
              </a:lnSpc>
              <a:spcBef>
                <a:spcPts val="1000"/>
              </a:spcBef>
              <a:spcAft>
                <a:spcPts val="0"/>
              </a:spcAft>
              <a:buClr>
                <a:schemeClr val="dk1"/>
              </a:buClr>
              <a:buSzPct val="100000"/>
              <a:buNone/>
            </a:pPr>
            <a:r>
              <a:rPr lang="en-IN" sz="2400"/>
              <a:t>	</a:t>
            </a:r>
            <a:endParaRPr/>
          </a:p>
          <a:p>
            <a:pPr indent="0" lvl="0" marL="0" rtl="0" algn="l">
              <a:lnSpc>
                <a:spcPct val="90000"/>
              </a:lnSpc>
              <a:spcBef>
                <a:spcPts val="1000"/>
              </a:spcBef>
              <a:spcAft>
                <a:spcPts val="0"/>
              </a:spcAft>
              <a:buClr>
                <a:schemeClr val="dk1"/>
              </a:buClr>
              <a:buSzPct val="100000"/>
              <a:buNone/>
            </a:pPr>
            <a:r>
              <a:t/>
            </a:r>
            <a:endParaRPr/>
          </a:p>
        </p:txBody>
      </p:sp>
      <p:pic>
        <p:nvPicPr>
          <p:cNvPr id="219" name="Google Shape;219;p16"/>
          <p:cNvPicPr preferRelativeResize="0"/>
          <p:nvPr/>
        </p:nvPicPr>
        <p:blipFill rotWithShape="1">
          <a:blip r:embed="rId3">
            <a:alphaModFix/>
          </a:blip>
          <a:srcRect b="0" l="0" r="0" t="0"/>
          <a:stretch/>
        </p:blipFill>
        <p:spPr>
          <a:xfrm>
            <a:off x="150099" y="93382"/>
            <a:ext cx="3419011" cy="958384"/>
          </a:xfrm>
          <a:prstGeom prst="rect">
            <a:avLst/>
          </a:prstGeom>
          <a:noFill/>
          <a:ln>
            <a:noFill/>
          </a:ln>
        </p:spPr>
      </p:pic>
      <p:pic>
        <p:nvPicPr>
          <p:cNvPr id="220" name="Google Shape;220;p16"/>
          <p:cNvPicPr preferRelativeResize="0"/>
          <p:nvPr/>
        </p:nvPicPr>
        <p:blipFill rotWithShape="1">
          <a:blip r:embed="rId4">
            <a:alphaModFix/>
          </a:blip>
          <a:srcRect b="0" l="0" r="0" t="0"/>
          <a:stretch/>
        </p:blipFill>
        <p:spPr>
          <a:xfrm>
            <a:off x="9720952" y="97262"/>
            <a:ext cx="2376719" cy="70750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7"/>
          <p:cNvSpPr txBox="1"/>
          <p:nvPr>
            <p:ph type="title"/>
          </p:nvPr>
        </p:nvSpPr>
        <p:spPr>
          <a:xfrm>
            <a:off x="3660941" y="97261"/>
            <a:ext cx="5968180" cy="70750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b="1" lang="en-IN" sz="3200">
                <a:latin typeface="Calibri"/>
                <a:ea typeface="Calibri"/>
                <a:cs typeface="Calibri"/>
                <a:sym typeface="Calibri"/>
              </a:rPr>
              <a:t>Lets clear some Basics….</a:t>
            </a:r>
            <a:br>
              <a:rPr b="1" lang="en-IN" sz="3200">
                <a:latin typeface="Calibri"/>
                <a:ea typeface="Calibri"/>
                <a:cs typeface="Calibri"/>
                <a:sym typeface="Calibri"/>
              </a:rPr>
            </a:br>
            <a:r>
              <a:rPr b="1" lang="en-IN" sz="3200">
                <a:latin typeface="Calibri"/>
                <a:ea typeface="Calibri"/>
                <a:cs typeface="Calibri"/>
                <a:sym typeface="Calibri"/>
              </a:rPr>
              <a:t>Web technologies?</a:t>
            </a:r>
            <a:endParaRPr b="1" sz="3200">
              <a:latin typeface="Calibri"/>
              <a:ea typeface="Calibri"/>
              <a:cs typeface="Calibri"/>
              <a:sym typeface="Calibri"/>
            </a:endParaRPr>
          </a:p>
        </p:txBody>
      </p:sp>
      <p:pic>
        <p:nvPicPr>
          <p:cNvPr id="226" name="Google Shape;226;p17"/>
          <p:cNvPicPr preferRelativeResize="0"/>
          <p:nvPr/>
        </p:nvPicPr>
        <p:blipFill rotWithShape="1">
          <a:blip r:embed="rId3">
            <a:alphaModFix/>
          </a:blip>
          <a:srcRect b="0" l="0" r="0" t="0"/>
          <a:stretch/>
        </p:blipFill>
        <p:spPr>
          <a:xfrm>
            <a:off x="150099" y="93382"/>
            <a:ext cx="3419011" cy="958384"/>
          </a:xfrm>
          <a:prstGeom prst="rect">
            <a:avLst/>
          </a:prstGeom>
          <a:noFill/>
          <a:ln>
            <a:noFill/>
          </a:ln>
        </p:spPr>
      </p:pic>
      <p:pic>
        <p:nvPicPr>
          <p:cNvPr id="227" name="Google Shape;227;p17"/>
          <p:cNvPicPr preferRelativeResize="0"/>
          <p:nvPr/>
        </p:nvPicPr>
        <p:blipFill rotWithShape="1">
          <a:blip r:embed="rId4">
            <a:alphaModFix/>
          </a:blip>
          <a:srcRect b="0" l="0" r="0" t="0"/>
          <a:stretch/>
        </p:blipFill>
        <p:spPr>
          <a:xfrm>
            <a:off x="9720952" y="97262"/>
            <a:ext cx="2376719" cy="707508"/>
          </a:xfrm>
          <a:prstGeom prst="rect">
            <a:avLst/>
          </a:prstGeom>
          <a:noFill/>
          <a:ln>
            <a:noFill/>
          </a:ln>
        </p:spPr>
      </p:pic>
      <p:sp>
        <p:nvSpPr>
          <p:cNvPr id="228" name="Google Shape;228;p17"/>
          <p:cNvSpPr/>
          <p:nvPr/>
        </p:nvSpPr>
        <p:spPr>
          <a:xfrm>
            <a:off x="685450" y="1441000"/>
            <a:ext cx="10558800" cy="47592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chemeClr val="dk1"/>
              </a:buClr>
              <a:buSzPts val="2400"/>
              <a:buFont typeface="Calibri"/>
              <a:buAutoNum type="arabicPeriod"/>
            </a:pPr>
            <a:r>
              <a:rPr b="0" i="0" lang="en-IN" sz="2800" u="none" cap="none" strike="noStrike">
                <a:solidFill>
                  <a:srgbClr val="000000"/>
                </a:solidFill>
                <a:latin typeface="Calibri"/>
                <a:ea typeface="Calibri"/>
                <a:cs typeface="Calibri"/>
                <a:sym typeface="Calibri"/>
              </a:rPr>
              <a:t>What is Cloud Computing?</a:t>
            </a:r>
            <a:endParaRPr b="0" i="0" sz="2800" u="none" cap="none" strike="noStrike">
              <a:solidFill>
                <a:schemeClr val="dk1"/>
              </a:solidFill>
              <a:latin typeface="Calibri"/>
              <a:ea typeface="Calibri"/>
              <a:cs typeface="Calibri"/>
              <a:sym typeface="Calibri"/>
            </a:endParaRPr>
          </a:p>
          <a:p>
            <a:pPr indent="-342900" lvl="0" marL="342900" marR="0" rtl="0" algn="l">
              <a:lnSpc>
                <a:spcPct val="150000"/>
              </a:lnSpc>
              <a:spcBef>
                <a:spcPts val="0"/>
              </a:spcBef>
              <a:spcAft>
                <a:spcPts val="0"/>
              </a:spcAft>
              <a:buClr>
                <a:schemeClr val="dk1"/>
              </a:buClr>
              <a:buSzPts val="2400"/>
              <a:buFont typeface="Calibri"/>
              <a:buAutoNum type="arabicPeriod"/>
            </a:pPr>
            <a:r>
              <a:rPr b="0" i="0" lang="en-IN" sz="2800" u="none" cap="none" strike="noStrike">
                <a:solidFill>
                  <a:srgbClr val="000000"/>
                </a:solidFill>
                <a:latin typeface="Calibri"/>
                <a:ea typeface="Calibri"/>
                <a:cs typeface="Calibri"/>
                <a:sym typeface="Calibri"/>
              </a:rPr>
              <a:t>What are the Benefits of Cloud Computing?</a:t>
            </a:r>
            <a:endParaRPr b="0" i="0" sz="2800" u="none" cap="none" strike="noStrike">
              <a:solidFill>
                <a:schemeClr val="dk1"/>
              </a:solidFill>
              <a:latin typeface="Calibri"/>
              <a:ea typeface="Calibri"/>
              <a:cs typeface="Calibri"/>
              <a:sym typeface="Calibri"/>
            </a:endParaRPr>
          </a:p>
          <a:p>
            <a:pPr indent="-342900" lvl="0" marL="342900" marR="0" rtl="0" algn="l">
              <a:lnSpc>
                <a:spcPct val="150000"/>
              </a:lnSpc>
              <a:spcBef>
                <a:spcPts val="0"/>
              </a:spcBef>
              <a:spcAft>
                <a:spcPts val="0"/>
              </a:spcAft>
              <a:buClr>
                <a:schemeClr val="dk1"/>
              </a:buClr>
              <a:buSzPts val="2400"/>
              <a:buFont typeface="Calibri"/>
              <a:buAutoNum type="arabicPeriod"/>
            </a:pPr>
            <a:r>
              <a:rPr b="0" i="0" lang="en-IN" sz="2800" u="none" cap="none" strike="noStrike">
                <a:solidFill>
                  <a:srgbClr val="000000"/>
                </a:solidFill>
                <a:latin typeface="Calibri"/>
                <a:ea typeface="Calibri"/>
                <a:cs typeface="Calibri"/>
                <a:sym typeface="Calibri"/>
              </a:rPr>
              <a:t>What are the Different Types of Cloud Computing Services?</a:t>
            </a:r>
            <a:endParaRPr b="0" i="0" sz="2800" u="none" cap="none" strike="noStrike">
              <a:solidFill>
                <a:schemeClr val="dk1"/>
              </a:solidFill>
              <a:latin typeface="Calibri"/>
              <a:ea typeface="Calibri"/>
              <a:cs typeface="Calibri"/>
              <a:sym typeface="Calibri"/>
            </a:endParaRPr>
          </a:p>
          <a:p>
            <a:pPr indent="-342900" lvl="0" marL="342900" marR="0" rtl="0" algn="l">
              <a:lnSpc>
                <a:spcPct val="150000"/>
              </a:lnSpc>
              <a:spcBef>
                <a:spcPts val="0"/>
              </a:spcBef>
              <a:spcAft>
                <a:spcPts val="0"/>
              </a:spcAft>
              <a:buClr>
                <a:schemeClr val="dk1"/>
              </a:buClr>
              <a:buSzPts val="2400"/>
              <a:buFont typeface="Calibri"/>
              <a:buAutoNum type="arabicPeriod"/>
            </a:pPr>
            <a:r>
              <a:rPr b="0" i="0" lang="en-IN" sz="2800" u="none" cap="none" strike="noStrike">
                <a:solidFill>
                  <a:srgbClr val="000000"/>
                </a:solidFill>
                <a:latin typeface="Calibri"/>
                <a:ea typeface="Calibri"/>
                <a:cs typeface="Calibri"/>
                <a:sym typeface="Calibri"/>
              </a:rPr>
              <a:t>What are Some Popular Cloud Providers?</a:t>
            </a:r>
            <a:endParaRPr/>
          </a:p>
          <a:p>
            <a:pPr indent="-342900" lvl="0" marL="342900" marR="0" rtl="0" algn="l">
              <a:lnSpc>
                <a:spcPct val="150000"/>
              </a:lnSpc>
              <a:spcBef>
                <a:spcPts val="0"/>
              </a:spcBef>
              <a:spcAft>
                <a:spcPts val="0"/>
              </a:spcAft>
              <a:buClr>
                <a:schemeClr val="dk1"/>
              </a:buClr>
              <a:buSzPts val="2400"/>
              <a:buFont typeface="Calibri"/>
              <a:buAutoNum type="arabicPeriod"/>
            </a:pPr>
            <a:r>
              <a:rPr b="0" i="0" lang="en-IN" sz="2800" u="none" cap="none" strike="noStrike">
                <a:solidFill>
                  <a:srgbClr val="000000"/>
                </a:solidFill>
                <a:latin typeface="Calibri"/>
                <a:ea typeface="Calibri"/>
                <a:cs typeface="Calibri"/>
                <a:sym typeface="Calibri"/>
              </a:rPr>
              <a:t>How is Cloud Computing Different from Traditional IT Infrastructure?</a:t>
            </a:r>
            <a:endParaRPr b="0" i="0" sz="2800" u="none" cap="none" strike="noStrike">
              <a:solidFill>
                <a:schemeClr val="dk1"/>
              </a:solidFill>
              <a:latin typeface="Calibri"/>
              <a:ea typeface="Calibri"/>
              <a:cs typeface="Calibri"/>
              <a:sym typeface="Calibri"/>
            </a:endParaRPr>
          </a:p>
          <a:p>
            <a:pPr indent="-190500" lvl="0" marL="34290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8"/>
          <p:cNvSpPr txBox="1"/>
          <p:nvPr>
            <p:ph type="title"/>
          </p:nvPr>
        </p:nvSpPr>
        <p:spPr>
          <a:xfrm>
            <a:off x="3705185" y="93383"/>
            <a:ext cx="5879692" cy="958384"/>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Font typeface="Calibri"/>
              <a:buNone/>
            </a:pPr>
            <a:r>
              <a:rPr b="1" lang="en-IN" sz="3200">
                <a:latin typeface="Calibri"/>
                <a:ea typeface="Calibri"/>
                <a:cs typeface="Calibri"/>
                <a:sym typeface="Calibri"/>
              </a:rPr>
              <a:t>MOOCs/Competitions</a:t>
            </a:r>
            <a:br>
              <a:rPr b="1" lang="en-IN" sz="3200">
                <a:latin typeface="Calibri"/>
                <a:ea typeface="Calibri"/>
                <a:cs typeface="Calibri"/>
                <a:sym typeface="Calibri"/>
              </a:rPr>
            </a:br>
            <a:r>
              <a:rPr b="1" lang="en-IN" sz="3200">
                <a:latin typeface="Calibri"/>
                <a:ea typeface="Calibri"/>
                <a:cs typeface="Calibri"/>
                <a:sym typeface="Calibri"/>
              </a:rPr>
              <a:t>/Hackathons </a:t>
            </a:r>
            <a:endParaRPr b="1" sz="3200">
              <a:latin typeface="Calibri"/>
              <a:ea typeface="Calibri"/>
              <a:cs typeface="Calibri"/>
              <a:sym typeface="Calibri"/>
            </a:endParaRPr>
          </a:p>
        </p:txBody>
      </p:sp>
      <p:sp>
        <p:nvSpPr>
          <p:cNvPr id="234" name="Google Shape;234;p18"/>
          <p:cNvSpPr txBox="1"/>
          <p:nvPr>
            <p:ph idx="1" type="body"/>
          </p:nvPr>
        </p:nvSpPr>
        <p:spPr>
          <a:xfrm>
            <a:off x="838200" y="1608162"/>
            <a:ext cx="10515600" cy="456880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IN" sz="2400"/>
              <a:t>Udemy</a:t>
            </a:r>
            <a:endParaRPr/>
          </a:p>
          <a:p>
            <a:pPr indent="-228600" lvl="0" marL="228600" rtl="0" algn="l">
              <a:lnSpc>
                <a:spcPct val="90000"/>
              </a:lnSpc>
              <a:spcBef>
                <a:spcPts val="1000"/>
              </a:spcBef>
              <a:spcAft>
                <a:spcPts val="0"/>
              </a:spcAft>
              <a:buClr>
                <a:schemeClr val="dk1"/>
              </a:buClr>
              <a:buSzPts val="2400"/>
              <a:buChar char="•"/>
            </a:pPr>
            <a:r>
              <a:rPr lang="en-IN" sz="2400"/>
              <a:t>Coursera</a:t>
            </a:r>
            <a:endParaRPr/>
          </a:p>
          <a:p>
            <a:pPr indent="-228600" lvl="0" marL="228600" rtl="0" algn="l">
              <a:lnSpc>
                <a:spcPct val="90000"/>
              </a:lnSpc>
              <a:spcBef>
                <a:spcPts val="1000"/>
              </a:spcBef>
              <a:spcAft>
                <a:spcPts val="0"/>
              </a:spcAft>
              <a:buClr>
                <a:schemeClr val="dk1"/>
              </a:buClr>
              <a:buSzPts val="2400"/>
              <a:buChar char="•"/>
            </a:pPr>
            <a:r>
              <a:rPr lang="en-IN" sz="2400"/>
              <a:t>EDX</a:t>
            </a:r>
            <a:endParaRPr/>
          </a:p>
          <a:p>
            <a:pPr indent="-228600" lvl="0" marL="228600" rtl="0" algn="l">
              <a:lnSpc>
                <a:spcPct val="90000"/>
              </a:lnSpc>
              <a:spcBef>
                <a:spcPts val="1000"/>
              </a:spcBef>
              <a:spcAft>
                <a:spcPts val="0"/>
              </a:spcAft>
              <a:buClr>
                <a:schemeClr val="dk1"/>
              </a:buClr>
              <a:buSzPts val="2400"/>
              <a:buChar char="•"/>
            </a:pPr>
            <a:r>
              <a:rPr lang="en-IN" sz="2400"/>
              <a:t>Udacity</a:t>
            </a:r>
            <a:endParaRPr/>
          </a:p>
        </p:txBody>
      </p:sp>
      <p:pic>
        <p:nvPicPr>
          <p:cNvPr id="235" name="Google Shape;235;p18"/>
          <p:cNvPicPr preferRelativeResize="0"/>
          <p:nvPr/>
        </p:nvPicPr>
        <p:blipFill rotWithShape="1">
          <a:blip r:embed="rId3">
            <a:alphaModFix/>
          </a:blip>
          <a:srcRect b="0" l="0" r="0" t="0"/>
          <a:stretch/>
        </p:blipFill>
        <p:spPr>
          <a:xfrm>
            <a:off x="150099" y="93382"/>
            <a:ext cx="3419011" cy="958384"/>
          </a:xfrm>
          <a:prstGeom prst="rect">
            <a:avLst/>
          </a:prstGeom>
          <a:noFill/>
          <a:ln>
            <a:noFill/>
          </a:ln>
        </p:spPr>
      </p:pic>
      <p:pic>
        <p:nvPicPr>
          <p:cNvPr id="236" name="Google Shape;236;p18"/>
          <p:cNvPicPr preferRelativeResize="0"/>
          <p:nvPr/>
        </p:nvPicPr>
        <p:blipFill rotWithShape="1">
          <a:blip r:embed="rId4">
            <a:alphaModFix/>
          </a:blip>
          <a:srcRect b="0" l="0" r="0" t="0"/>
          <a:stretch/>
        </p:blipFill>
        <p:spPr>
          <a:xfrm>
            <a:off x="9720952" y="97262"/>
            <a:ext cx="2376719" cy="70750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9"/>
          <p:cNvSpPr txBox="1"/>
          <p:nvPr>
            <p:ph type="title"/>
          </p:nvPr>
        </p:nvSpPr>
        <p:spPr>
          <a:xfrm>
            <a:off x="3705185" y="93383"/>
            <a:ext cx="5879692" cy="958384"/>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Font typeface="Calibri"/>
              <a:buNone/>
            </a:pPr>
            <a:r>
              <a:rPr b="1" lang="en-IN" sz="3200">
                <a:latin typeface="Calibri"/>
                <a:ea typeface="Calibri"/>
                <a:cs typeface="Calibri"/>
                <a:sym typeface="Calibri"/>
              </a:rPr>
              <a:t>Summary</a:t>
            </a:r>
            <a:endParaRPr b="1" sz="3200">
              <a:latin typeface="Calibri"/>
              <a:ea typeface="Calibri"/>
              <a:cs typeface="Calibri"/>
              <a:sym typeface="Calibri"/>
            </a:endParaRPr>
          </a:p>
        </p:txBody>
      </p:sp>
      <p:sp>
        <p:nvSpPr>
          <p:cNvPr id="242" name="Google Shape;242;p19"/>
          <p:cNvSpPr txBox="1"/>
          <p:nvPr>
            <p:ph idx="1" type="body"/>
          </p:nvPr>
        </p:nvSpPr>
        <p:spPr>
          <a:xfrm>
            <a:off x="869625" y="1476075"/>
            <a:ext cx="10484100" cy="25359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IN" sz="2400"/>
              <a:t>Course Overview</a:t>
            </a:r>
            <a:endParaRPr/>
          </a:p>
          <a:p>
            <a:pPr indent="-228600" lvl="0" marL="228600" rtl="0" algn="l">
              <a:lnSpc>
                <a:spcPct val="90000"/>
              </a:lnSpc>
              <a:spcBef>
                <a:spcPts val="1000"/>
              </a:spcBef>
              <a:spcAft>
                <a:spcPts val="0"/>
              </a:spcAft>
              <a:buClr>
                <a:schemeClr val="dk1"/>
              </a:buClr>
              <a:buSzPts val="2400"/>
              <a:buChar char="•"/>
            </a:pPr>
            <a:r>
              <a:rPr lang="en-IN" sz="2400"/>
              <a:t>Course Objectives</a:t>
            </a:r>
            <a:endParaRPr/>
          </a:p>
          <a:p>
            <a:pPr indent="-228600" lvl="0" marL="228600" rtl="0" algn="l">
              <a:lnSpc>
                <a:spcPct val="90000"/>
              </a:lnSpc>
              <a:spcBef>
                <a:spcPts val="1000"/>
              </a:spcBef>
              <a:spcAft>
                <a:spcPts val="0"/>
              </a:spcAft>
              <a:buClr>
                <a:schemeClr val="dk1"/>
              </a:buClr>
              <a:buSzPts val="2400"/>
              <a:buChar char="•"/>
            </a:pPr>
            <a:r>
              <a:rPr lang="en-IN" sz="2400"/>
              <a:t>Course Outcomes</a:t>
            </a:r>
            <a:endParaRPr/>
          </a:p>
          <a:p>
            <a:pPr indent="-228600" lvl="0" marL="228600" rtl="0" algn="l">
              <a:lnSpc>
                <a:spcPct val="90000"/>
              </a:lnSpc>
              <a:spcBef>
                <a:spcPts val="1000"/>
              </a:spcBef>
              <a:spcAft>
                <a:spcPts val="0"/>
              </a:spcAft>
              <a:buClr>
                <a:schemeClr val="dk1"/>
              </a:buClr>
              <a:buSzPts val="2400"/>
              <a:buChar char="•"/>
            </a:pPr>
            <a:r>
              <a:rPr lang="en-IN" sz="2400"/>
              <a:t>Understanding the basics of Cloud Computing</a:t>
            </a:r>
            <a:endParaRPr/>
          </a:p>
        </p:txBody>
      </p:sp>
      <p:pic>
        <p:nvPicPr>
          <p:cNvPr id="243" name="Google Shape;243;p19"/>
          <p:cNvPicPr preferRelativeResize="0"/>
          <p:nvPr/>
        </p:nvPicPr>
        <p:blipFill rotWithShape="1">
          <a:blip r:embed="rId3">
            <a:alphaModFix/>
          </a:blip>
          <a:srcRect b="0" l="0" r="0" t="0"/>
          <a:stretch/>
        </p:blipFill>
        <p:spPr>
          <a:xfrm>
            <a:off x="150099" y="93382"/>
            <a:ext cx="3419011" cy="958384"/>
          </a:xfrm>
          <a:prstGeom prst="rect">
            <a:avLst/>
          </a:prstGeom>
          <a:noFill/>
          <a:ln>
            <a:noFill/>
          </a:ln>
        </p:spPr>
      </p:pic>
      <p:pic>
        <p:nvPicPr>
          <p:cNvPr id="244" name="Google Shape;244;p19"/>
          <p:cNvPicPr preferRelativeResize="0"/>
          <p:nvPr/>
        </p:nvPicPr>
        <p:blipFill rotWithShape="1">
          <a:blip r:embed="rId4">
            <a:alphaModFix/>
          </a:blip>
          <a:srcRect b="0" l="0" r="0" t="0"/>
          <a:stretch/>
        </p:blipFill>
        <p:spPr>
          <a:xfrm>
            <a:off x="9720952" y="97262"/>
            <a:ext cx="2376719" cy="70750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0"/>
          <p:cNvSpPr txBox="1"/>
          <p:nvPr>
            <p:ph type="title"/>
          </p:nvPr>
        </p:nvSpPr>
        <p:spPr>
          <a:xfrm>
            <a:off x="4928972" y="2947363"/>
            <a:ext cx="428860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IN">
                <a:latin typeface="Calibri"/>
                <a:ea typeface="Calibri"/>
                <a:cs typeface="Calibri"/>
                <a:sym typeface="Calibri"/>
              </a:rPr>
              <a:t>Any Queries ?</a:t>
            </a:r>
            <a:endParaRPr/>
          </a:p>
        </p:txBody>
      </p:sp>
      <p:pic>
        <p:nvPicPr>
          <p:cNvPr id="250" name="Google Shape;250;p20"/>
          <p:cNvPicPr preferRelativeResize="0"/>
          <p:nvPr/>
        </p:nvPicPr>
        <p:blipFill rotWithShape="1">
          <a:blip r:embed="rId3">
            <a:alphaModFix/>
          </a:blip>
          <a:srcRect b="0" l="0" r="0" t="0"/>
          <a:stretch/>
        </p:blipFill>
        <p:spPr>
          <a:xfrm>
            <a:off x="2708953" y="1780381"/>
            <a:ext cx="1808163" cy="3297237"/>
          </a:xfrm>
          <a:prstGeom prst="rect">
            <a:avLst/>
          </a:prstGeom>
          <a:noFill/>
          <a:ln>
            <a:noFill/>
          </a:ln>
        </p:spPr>
      </p:pic>
      <p:cxnSp>
        <p:nvCxnSpPr>
          <p:cNvPr id="251" name="Google Shape;251;p20"/>
          <p:cNvCxnSpPr/>
          <p:nvPr/>
        </p:nvCxnSpPr>
        <p:spPr>
          <a:xfrm>
            <a:off x="2061039" y="5229665"/>
            <a:ext cx="8069921" cy="0"/>
          </a:xfrm>
          <a:prstGeom prst="straightConnector1">
            <a:avLst/>
          </a:prstGeom>
          <a:noFill/>
          <a:ln cap="flat" cmpd="sng" w="19050">
            <a:solidFill>
              <a:schemeClr val="accent6"/>
            </a:solidFill>
            <a:prstDash val="solid"/>
            <a:miter lim="800000"/>
            <a:headEnd len="sm" w="sm" type="none"/>
            <a:tailEnd len="sm" w="sm" type="none"/>
          </a:ln>
        </p:spPr>
      </p:cxnSp>
      <p:pic>
        <p:nvPicPr>
          <p:cNvPr id="252" name="Google Shape;252;p20"/>
          <p:cNvPicPr preferRelativeResize="0"/>
          <p:nvPr/>
        </p:nvPicPr>
        <p:blipFill rotWithShape="1">
          <a:blip r:embed="rId4">
            <a:alphaModFix/>
          </a:blip>
          <a:srcRect b="0" l="0" r="0" t="0"/>
          <a:stretch/>
        </p:blipFill>
        <p:spPr>
          <a:xfrm>
            <a:off x="150099" y="93382"/>
            <a:ext cx="3419011" cy="958384"/>
          </a:xfrm>
          <a:prstGeom prst="rect">
            <a:avLst/>
          </a:prstGeom>
          <a:noFill/>
          <a:ln>
            <a:noFill/>
          </a:ln>
        </p:spPr>
      </p:pic>
      <p:pic>
        <p:nvPicPr>
          <p:cNvPr id="253" name="Google Shape;253;p20"/>
          <p:cNvPicPr preferRelativeResize="0"/>
          <p:nvPr/>
        </p:nvPicPr>
        <p:blipFill rotWithShape="1">
          <a:blip r:embed="rId5">
            <a:alphaModFix/>
          </a:blip>
          <a:srcRect b="0" l="0" r="0" t="0"/>
          <a:stretch/>
        </p:blipFill>
        <p:spPr>
          <a:xfrm>
            <a:off x="9720952" y="97262"/>
            <a:ext cx="2376719" cy="70750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2023-01-08T15:58:04Z</dcterms:created>
  <dc:creator>Gurvinder Singh</dc:creator>
</cp:coreProperties>
</file>