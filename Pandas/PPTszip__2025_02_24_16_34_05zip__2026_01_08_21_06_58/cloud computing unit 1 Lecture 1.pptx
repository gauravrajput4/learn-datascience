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3.jpg" ContentType="image/jpg"/>
  <Override PartName="/ppt/media/image4.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2"/>
  </p:notesMasterIdLst>
  <p:sldIdLst>
    <p:sldId id="390" r:id="rId2"/>
    <p:sldId id="413" r:id="rId3"/>
    <p:sldId id="414" r:id="rId4"/>
    <p:sldId id="420" r:id="rId5"/>
    <p:sldId id="415" r:id="rId6"/>
    <p:sldId id="416" r:id="rId7"/>
    <p:sldId id="417" r:id="rId8"/>
    <p:sldId id="418" r:id="rId9"/>
    <p:sldId id="419" r:id="rId10"/>
    <p:sldId id="275" r:id="rId11"/>
    <p:sldId id="276" r:id="rId12"/>
    <p:sldId id="277" r:id="rId13"/>
    <p:sldId id="278" r:id="rId14"/>
    <p:sldId id="279" r:id="rId15"/>
    <p:sldId id="280" r:id="rId16"/>
    <p:sldId id="281" r:id="rId17"/>
    <p:sldId id="282" r:id="rId18"/>
    <p:sldId id="421" r:id="rId19"/>
    <p:sldId id="422" r:id="rId20"/>
    <p:sldId id="352" r:id="rId21"/>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9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12/8/2024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12/8/2024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12/8/2024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12/8/2024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12/8/2024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12/8/2024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12/8/2024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12/8/2024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12/8/2024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12/8/2024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dirty="0"/>
              <a:t>Department of Computer Application</a:t>
            </a:r>
          </a:p>
          <a:p>
            <a:endParaRPr lang="en-US" dirty="0"/>
          </a:p>
        </p:txBody>
      </p:sp>
      <p:sp>
        <p:nvSpPr>
          <p:cNvPr id="6" name="Holder 6"/>
          <p:cNvSpPr>
            <a:spLocks noGrp="1"/>
          </p:cNvSpPr>
          <p:nvPr>
            <p:ph type="dt" sz="half" idx="6"/>
          </p:nvPr>
        </p:nvSpPr>
        <p:spPr>
          <a:xfrm>
            <a:off x="628650" y="4767263"/>
            <a:ext cx="2057400" cy="273844"/>
          </a:xfrm>
          <a:prstGeom prst="rect">
            <a:avLst/>
          </a:prstGeom>
        </p:spPr>
        <p:txBody>
          <a:bodyPr lIns="0" tIns="0" rIns="0" bIns="0"/>
          <a:lstStyle>
            <a:lvl1pPr algn="l">
              <a:defRPr>
                <a:solidFill>
                  <a:schemeClr val="tx1">
                    <a:tint val="75000"/>
                  </a:schemeClr>
                </a:solidFill>
              </a:defRPr>
            </a:lvl1pPr>
          </a:lstStyle>
          <a:p>
            <a:fld id="{788592C8-5D7C-4B56-AA77-C624EA73FAD7}" type="datetime1">
              <a:rPr lang="en-US" smtClean="0"/>
              <a:t>12/8/2024</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extLst>
      <p:ext uri="{BB962C8B-B14F-4D97-AF65-F5344CB8AC3E}">
        <p14:creationId xmlns:p14="http://schemas.microsoft.com/office/powerpoint/2010/main" val="3051341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5"/>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gi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tutorialspoint.com/cloud_computing/index.htm" TargetMode="External"/><Relationship Id="rId4" Type="http://schemas.openxmlformats.org/officeDocument/2006/relationships/hyperlink" Target="https://www.geeksforgeeks.org/cloud-computing/" TargetMode="External"/><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a:bodyPr>
          <a:lstStyle/>
          <a:p>
            <a:pPr marL="0" indent="0" algn="ctr">
              <a:buNone/>
            </a:pPr>
            <a:r>
              <a:rPr lang="en-US" sz="2700" b="1" dirty="0"/>
              <a:t>Chandigarh School of Business, Jhanjeri</a:t>
            </a:r>
          </a:p>
          <a:p>
            <a:pPr marL="0" indent="0" algn="ctr">
              <a:buNone/>
            </a:pPr>
            <a:r>
              <a:rPr lang="en-US" b="1" dirty="0"/>
              <a:t>Department of Computer Application </a:t>
            </a:r>
          </a:p>
          <a:p>
            <a:pPr marL="0" indent="0" algn="ctr">
              <a:buNone/>
            </a:pPr>
            <a:r>
              <a:rPr lang="en-US" sz="1800" b="1" dirty="0"/>
              <a:t>Program Code: NA</a:t>
            </a:r>
          </a:p>
          <a:p>
            <a:pPr marL="0" indent="0" algn="ctr">
              <a:buNone/>
            </a:pPr>
            <a:r>
              <a:rPr lang="en-US" sz="1800" b="1" dirty="0"/>
              <a:t>Program Name: MCA</a:t>
            </a:r>
          </a:p>
          <a:p>
            <a:pPr marL="0" indent="0" algn="ctr">
              <a:buNone/>
            </a:pPr>
            <a:r>
              <a:rPr lang="en-US" sz="1800" b="1" dirty="0"/>
              <a:t>Course Code: </a:t>
            </a:r>
            <a:r>
              <a:rPr lang="en-US" sz="1800" b="1" i="0" u="none" strike="noStrike" baseline="0" dirty="0">
                <a:solidFill>
                  <a:srgbClr val="000000"/>
                </a:solidFill>
              </a:rPr>
              <a:t>PGCA1937</a:t>
            </a:r>
            <a:r>
              <a:rPr lang="en-US" sz="1800" b="1" i="0" u="none" strike="noStrike" baseline="0" dirty="0">
                <a:solidFill>
                  <a:srgbClr val="000000"/>
                </a:solidFill>
                <a:latin typeface="Times New Roman" panose="02020603050405020304" pitchFamily="18" charset="0"/>
              </a:rPr>
              <a:t> </a:t>
            </a:r>
            <a:r>
              <a:rPr lang="en-US" sz="1800" b="1" dirty="0">
                <a:solidFill>
                  <a:srgbClr val="000000"/>
                </a:solidFill>
              </a:rPr>
              <a:t> </a:t>
            </a:r>
            <a:endParaRPr lang="en-US" sz="1800" b="1" dirty="0"/>
          </a:p>
          <a:p>
            <a:pPr marL="0" indent="0" algn="ctr">
              <a:buNone/>
            </a:pPr>
            <a:r>
              <a:rPr lang="en-US" sz="1800" b="1" dirty="0"/>
              <a:t>Course Name: </a:t>
            </a:r>
            <a:r>
              <a:rPr lang="en-US" sz="1800" b="1" i="0" u="none" strike="noStrike" baseline="0" dirty="0">
                <a:solidFill>
                  <a:srgbClr val="000000"/>
                </a:solidFill>
              </a:rPr>
              <a:t>Cloud Computing </a:t>
            </a:r>
            <a:endParaRPr lang="en-US" sz="18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2400" b="1" dirty="0">
                <a:latin typeface="+mn-lt"/>
              </a:rPr>
              <a:t>Outlines</a:t>
            </a:r>
            <a:endParaRPr lang="en-IN" sz="24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p:txBody>
          <a:bodyPr>
            <a:normAutofit/>
          </a:bodyPr>
          <a:lstStyle/>
          <a:p>
            <a:r>
              <a:rPr lang="en-US" sz="1800" b="1" dirty="0"/>
              <a:t>PTU Syllabus of Unit-I</a:t>
            </a:r>
          </a:p>
          <a:p>
            <a:r>
              <a:rPr lang="en-US" sz="1800" b="1" dirty="0"/>
              <a:t>CO’s Introduction</a:t>
            </a:r>
          </a:p>
          <a:p>
            <a:r>
              <a:rPr lang="en-US" sz="1800" b="1" dirty="0"/>
              <a:t>Topic Overview</a:t>
            </a:r>
          </a:p>
          <a:p>
            <a:r>
              <a:rPr lang="en-US" sz="1800" b="1" dirty="0"/>
              <a:t>Brief description of what the presentation will cover</a:t>
            </a:r>
          </a:p>
          <a:p>
            <a:r>
              <a:rPr lang="en-US" sz="1800" b="1" dirty="0"/>
              <a:t>Importance or relevance of the topic</a:t>
            </a:r>
          </a:p>
          <a:p>
            <a:r>
              <a:rPr lang="en-US" sz="1800" b="1" dirty="0"/>
              <a:t>Key objectives or learning outcomes</a:t>
            </a:r>
          </a:p>
          <a:p>
            <a:r>
              <a:rPr lang="en-US" sz="1800" b="1" dirty="0"/>
              <a:t>Summary</a:t>
            </a:r>
          </a:p>
          <a:p>
            <a:r>
              <a:rPr lang="en-US" sz="18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6288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lstStyle/>
          <a:p>
            <a:r>
              <a:rPr lang="en-US" sz="2400" b="1" dirty="0">
                <a:latin typeface="+mn-lt"/>
              </a:rPr>
              <a:t>PTU Syllabus of Unit-I</a:t>
            </a:r>
            <a:endParaRPr lang="en-IN" sz="24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628650" y="1123950"/>
            <a:ext cx="7886700" cy="3508773"/>
          </a:xfrm>
        </p:spPr>
        <p:txBody>
          <a:bodyPr>
            <a:normAutofit fontScale="40000" lnSpcReduction="20000"/>
          </a:bodyPr>
          <a:lstStyle/>
          <a:p>
            <a:pPr marL="0" indent="0" algn="ctr">
              <a:buNone/>
            </a:pPr>
            <a:r>
              <a:rPr lang="en-US" sz="3600" b="1" dirty="0">
                <a:solidFill>
                  <a:srgbClr val="000000"/>
                </a:solidFill>
              </a:rPr>
              <a:t>Part-A</a:t>
            </a:r>
            <a:endParaRPr lang="en-US" sz="3600" dirty="0">
              <a:solidFill>
                <a:srgbClr val="000000"/>
              </a:solidFill>
            </a:endParaRPr>
          </a:p>
          <a:p>
            <a:pPr algn="just">
              <a:lnSpc>
                <a:spcPct val="120000"/>
              </a:lnSpc>
            </a:pPr>
            <a:r>
              <a:rPr lang="en-US" sz="3600" b="1" i="0" u="none" strike="noStrike" baseline="0" dirty="0">
                <a:solidFill>
                  <a:srgbClr val="000000"/>
                </a:solidFill>
              </a:rPr>
              <a:t>Overview of Computing Paradigm: </a:t>
            </a:r>
            <a:r>
              <a:rPr lang="en-US" sz="36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3600" b="1" i="0" u="none" strike="noStrike" baseline="0" dirty="0">
                <a:solidFill>
                  <a:srgbClr val="000000"/>
                </a:solidFill>
              </a:rPr>
              <a:t>Introduction to Cloud Computing: </a:t>
            </a:r>
            <a:r>
              <a:rPr lang="en-US" sz="36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3600" b="1" i="0" u="none" strike="noStrike" baseline="0" dirty="0">
                <a:solidFill>
                  <a:srgbClr val="000000"/>
                </a:solidFill>
              </a:rPr>
              <a:t>Migrating into a Cloud: </a:t>
            </a:r>
            <a:r>
              <a:rPr lang="en-US" sz="36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3600" b="1" i="0" u="none" strike="noStrike" baseline="0" dirty="0">
                <a:solidFill>
                  <a:srgbClr val="000000"/>
                </a:solidFill>
              </a:rPr>
              <a:t>Virtualization: </a:t>
            </a:r>
            <a:r>
              <a:rPr lang="en-US" sz="36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3600" b="1" i="0" u="none" strike="noStrike" baseline="0" dirty="0">
                <a:solidFill>
                  <a:srgbClr val="000000"/>
                </a:solidFill>
              </a:rPr>
              <a:t>Capacity Planning: </a:t>
            </a:r>
            <a:r>
              <a:rPr lang="en-US" sz="36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574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r>
              <a:rPr lang="en-US" altLang="en-US" sz="2400" b="1" kern="0" dirty="0">
                <a:latin typeface="+mn-lt"/>
              </a:rPr>
              <a:t>Key objectives or learning outcomes</a:t>
            </a:r>
            <a:endParaRPr lang="en-IN" sz="2400" dirty="0">
              <a:latin typeface="+mn-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534400" cy="2590800"/>
          </a:xfrm>
        </p:spPr>
        <p:txBody>
          <a:bodyPr>
            <a:noAutofit/>
          </a:bodyPr>
          <a:lstStyle/>
          <a:p>
            <a:pPr algn="just"/>
            <a:r>
              <a:rPr lang="en-US" sz="1800" b="0" i="0" u="none" strike="noStrike" baseline="0" dirty="0">
                <a:solidFill>
                  <a:srgbClr val="000000"/>
                </a:solidFill>
              </a:rPr>
              <a:t>CO1 	Understand the basic concept and importance of cloud computing. 	</a:t>
            </a:r>
          </a:p>
          <a:p>
            <a:pPr algn="just"/>
            <a:r>
              <a:rPr lang="en-US" sz="1800" b="0" i="0" u="none" strike="noStrike" baseline="0" dirty="0">
                <a:solidFill>
                  <a:srgbClr val="000000"/>
                </a:solidFill>
              </a:rPr>
              <a:t>CO2 	Access the suitability of migrating to a cloud solution for different applications.</a:t>
            </a:r>
          </a:p>
          <a:p>
            <a:pPr algn="just"/>
            <a:r>
              <a:rPr lang="en-US" sz="1800" b="0" i="0" u="none" strike="noStrike" baseline="0" dirty="0">
                <a:solidFill>
                  <a:srgbClr val="000000"/>
                </a:solidFill>
              </a:rPr>
              <a:t>CO3 	Compare and evaluate the virtualization technologies. 	</a:t>
            </a:r>
          </a:p>
          <a:p>
            <a:pPr algn="just"/>
            <a:r>
              <a:rPr lang="en-US" sz="1800" b="0" i="0" u="none" strike="noStrike" baseline="0" dirty="0">
                <a:solidFill>
                  <a:srgbClr val="000000"/>
                </a:solidFill>
              </a:rPr>
              <a:t>CO4 	Monitor and manage the cloud resources, applications and data while addressing </a:t>
            </a:r>
            <a:r>
              <a:rPr lang="en-US" sz="1800" b="0" i="0" u="none" strike="noStrike" baseline="0" dirty="0">
                <a:solidFill>
                  <a:srgbClr val="000000"/>
                </a:solidFill>
                <a:latin typeface="Times New Roman" panose="02020603050405020304" pitchFamily="18" charset="0"/>
              </a:rPr>
              <a:t>	the </a:t>
            </a:r>
            <a:r>
              <a:rPr lang="en-US" sz="1800" b="0" i="0" u="none" strike="noStrike" baseline="0" dirty="0">
                <a:solidFill>
                  <a:srgbClr val="000000"/>
                </a:solidFill>
              </a:rPr>
              <a:t>security concerns. 	</a:t>
            </a:r>
            <a:endParaRPr lang="en-US" sz="1800" dirty="0">
              <a:solidFill>
                <a:srgbClr val="000000"/>
              </a:solidFill>
            </a:endParaRPr>
          </a:p>
          <a:p>
            <a:pPr algn="just"/>
            <a:r>
              <a:rPr lang="en-US" sz="18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73487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2400" b="1" kern="0" dirty="0">
                <a:latin typeface="+mn-lt"/>
              </a:rPr>
              <a:t>CO Introduction</a:t>
            </a:r>
            <a:endParaRPr lang="en-IN" sz="2400" dirty="0">
              <a:latin typeface="+mn-lt"/>
            </a:endParaRP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3062688452"/>
              </p:ext>
            </p:extLst>
          </p:nvPr>
        </p:nvGraphicFramePr>
        <p:xfrm>
          <a:off x="635741" y="1056233"/>
          <a:ext cx="7764059" cy="337087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CO1</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Overview of Computing Paradigm: </a:t>
                      </a:r>
                      <a:r>
                        <a:rPr lang="en-US" sz="1800" b="0" i="0" u="none" strike="noStrike" kern="1200" baseline="0" dirty="0">
                          <a:solidFill>
                            <a:schemeClr val="tx1"/>
                          </a:solidFill>
                          <a:latin typeface="+mn-lt"/>
                          <a:ea typeface="+mn-ea"/>
                          <a:cs typeface="+mn-cs"/>
                        </a:rPr>
                        <a:t>Recent trends in Computing -Grid Computing, Cluster Computing, Distributed Computing, Utility Computing, Cloud Computing. </a:t>
                      </a:r>
                    </a:p>
                    <a:p>
                      <a:pPr algn="just"/>
                      <a:r>
                        <a:rPr lang="en-US" sz="1800" b="1" i="0" u="none" strike="noStrike" kern="1200" baseline="0" dirty="0">
                          <a:solidFill>
                            <a:schemeClr val="tx1"/>
                          </a:solidFill>
                          <a:latin typeface="+mn-lt"/>
                          <a:ea typeface="+mn-ea"/>
                          <a:cs typeface="+mn-cs"/>
                        </a:rPr>
                        <a:t>Introduction to Cloud Computing: </a:t>
                      </a:r>
                      <a:r>
                        <a:rPr lang="en-US" sz="1800" b="0" i="0" u="none" strike="noStrike" kern="1200" baseline="0" dirty="0">
                          <a:solidFill>
                            <a:schemeClr val="tx1"/>
                          </a:solidFill>
                          <a:latin typeface="+mn-lt"/>
                          <a:ea typeface="+mn-ea"/>
                          <a:cs typeface="+mn-cs"/>
                        </a:rPr>
                        <a:t>Vision of Cloud Computing, Defining a Cloud, Cloud Reference Model, Deployment Model, Characteristics, Benefits of Cloud Computing, Challenges ahead. Cloud computing vs. Cluster computing vs. Grid computing. </a:t>
                      </a:r>
                      <a:r>
                        <a:rPr lang="en-US" sz="1350" b="0" i="0" u="none" strike="noStrike" kern="1200" baseline="0" dirty="0">
                          <a:solidFill>
                            <a:schemeClr val="tx1"/>
                          </a:solidFill>
                          <a:latin typeface="+mn-lt"/>
                          <a:ea typeface="+mn-ea"/>
                          <a:cs typeface="+mn-cs"/>
                        </a:rPr>
                        <a:t>	</a:t>
                      </a: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84274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550791" y="0"/>
            <a:ext cx="2564259" cy="857250"/>
          </a:xfrm>
        </p:spPr>
        <p:txBody>
          <a:bodyPr>
            <a:normAutofit/>
          </a:bodyPr>
          <a:lstStyle/>
          <a:p>
            <a:r>
              <a:rPr lang="en-IN" sz="2400" b="1" kern="0" dirty="0">
                <a:latin typeface="+mn-lt"/>
              </a:rPr>
              <a:t>Topic Overview</a:t>
            </a:r>
            <a:endParaRPr lang="en-IN" sz="24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1046748"/>
            <a:ext cx="8229600" cy="3547875"/>
          </a:xfrm>
        </p:spPr>
        <p:txBody>
          <a:bodyPr>
            <a:normAutofit/>
          </a:bodyPr>
          <a:lstStyle/>
          <a:p>
            <a:pPr algn="just">
              <a:lnSpc>
                <a:spcPct val="150000"/>
              </a:lnSpc>
            </a:pPr>
            <a:r>
              <a:rPr lang="en-US" sz="1800" b="1" dirty="0"/>
              <a:t>Evolution and Integration</a:t>
            </a:r>
            <a:r>
              <a:rPr lang="en-US" sz="1800" dirty="0"/>
              <a:t>: Recent trends in computing, such as Grid Computing, Cluster Computing, and Distributed Computing, focus on optimizing resource utilization across multiple systems. </a:t>
            </a:r>
          </a:p>
          <a:p>
            <a:pPr algn="just">
              <a:lnSpc>
                <a:spcPct val="150000"/>
              </a:lnSpc>
            </a:pPr>
            <a:r>
              <a:rPr lang="en-US" sz="1800" dirty="0"/>
              <a:t>These paradigms enable parallel processing and resource sharing, improving performance, scalability, and fault tolerance. </a:t>
            </a:r>
          </a:p>
          <a:p>
            <a:pPr algn="just">
              <a:lnSpc>
                <a:spcPct val="150000"/>
              </a:lnSpc>
            </a:pPr>
            <a:r>
              <a:rPr lang="en-US" sz="1800" dirty="0"/>
              <a:t>Grid Computing uses distributed resources to solve complex tasks, Cluster Computing groups tightly coupled systems for enhanced performance, and Distributed Computing splits workloads across geographically dispersed networks.</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743200" y="205979"/>
            <a:ext cx="4436706" cy="857250"/>
          </a:xfrm>
        </p:spPr>
        <p:txBody>
          <a:bodyPr>
            <a:noAutofit/>
          </a:bodyPr>
          <a:lstStyle/>
          <a:p>
            <a:r>
              <a:rPr lang="en-US" altLang="en-US" sz="2400" b="1" kern="0" dirty="0"/>
              <a:t>Brief of what the presentation will</a:t>
            </a:r>
            <a:endParaRPr lang="en-IN" sz="24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p:txBody>
          <a:bodyPr>
            <a:normAutofit/>
          </a:bodyPr>
          <a:lstStyle/>
          <a:p>
            <a:pPr marL="0" indent="0">
              <a:buNone/>
            </a:pPr>
            <a:r>
              <a:rPr lang="en-US" dirty="0"/>
              <a:t>The presentation will cover the following points:</a:t>
            </a:r>
          </a:p>
          <a:p>
            <a:pPr>
              <a:buFont typeface="+mj-lt"/>
              <a:buAutoNum type="arabicPeriod"/>
            </a:pPr>
            <a:r>
              <a:rPr lang="en-US" sz="2400" b="1" spc="-55" dirty="0">
                <a:solidFill>
                  <a:srgbClr val="000000"/>
                </a:solidFill>
                <a:latin typeface="Calibri"/>
                <a:cs typeface="Calibri"/>
              </a:rPr>
              <a:t>Trends</a:t>
            </a:r>
            <a:r>
              <a:rPr lang="en-US" sz="2400" b="1" spc="-10" dirty="0">
                <a:solidFill>
                  <a:srgbClr val="000000"/>
                </a:solidFill>
                <a:latin typeface="Calibri"/>
                <a:cs typeface="Calibri"/>
              </a:rPr>
              <a:t> </a:t>
            </a:r>
            <a:r>
              <a:rPr lang="en-US" sz="2400" b="1" dirty="0">
                <a:solidFill>
                  <a:srgbClr val="000000"/>
                </a:solidFill>
                <a:latin typeface="Calibri"/>
                <a:cs typeface="Calibri"/>
              </a:rPr>
              <a:t>in</a:t>
            </a:r>
            <a:r>
              <a:rPr lang="en-US" sz="2400" b="1" spc="-30" dirty="0">
                <a:solidFill>
                  <a:srgbClr val="000000"/>
                </a:solidFill>
                <a:latin typeface="Calibri"/>
                <a:cs typeface="Calibri"/>
              </a:rPr>
              <a:t> </a:t>
            </a:r>
            <a:r>
              <a:rPr lang="en-US" sz="2400" b="1" spc="-5" dirty="0">
                <a:solidFill>
                  <a:srgbClr val="000000"/>
                </a:solidFill>
                <a:latin typeface="Calibri"/>
                <a:cs typeface="Calibri"/>
              </a:rPr>
              <a:t>Computing</a:t>
            </a:r>
          </a:p>
          <a:p>
            <a:pPr>
              <a:buFont typeface="+mj-lt"/>
              <a:buAutoNum type="arabicPeriod"/>
            </a:pPr>
            <a:r>
              <a:rPr lang="en-US" sz="2400" b="1" dirty="0">
                <a:latin typeface="Calibri"/>
                <a:cs typeface="Calibri"/>
              </a:rPr>
              <a:t>Grid</a:t>
            </a:r>
            <a:r>
              <a:rPr lang="en-US" sz="2400" b="1" spc="-25" dirty="0">
                <a:latin typeface="Calibri"/>
                <a:cs typeface="Calibri"/>
              </a:rPr>
              <a:t> </a:t>
            </a:r>
            <a:r>
              <a:rPr lang="en-US" sz="2400" b="1" spc="-5" dirty="0">
                <a:latin typeface="Calibri"/>
                <a:cs typeface="Calibri"/>
              </a:rPr>
              <a:t>Computing</a:t>
            </a:r>
          </a:p>
          <a:p>
            <a:pPr>
              <a:buFont typeface="+mj-lt"/>
              <a:buAutoNum type="arabicPeriod"/>
            </a:pPr>
            <a:r>
              <a:rPr lang="en-US" sz="2400" b="1" spc="-5" dirty="0">
                <a:latin typeface="Calibri"/>
                <a:cs typeface="Calibri"/>
              </a:rPr>
              <a:t>Need</a:t>
            </a:r>
          </a:p>
          <a:p>
            <a:pPr>
              <a:buFont typeface="+mj-lt"/>
              <a:buAutoNum type="arabicPeriod"/>
            </a:pPr>
            <a:r>
              <a:rPr lang="en-US" sz="2400" b="1" spc="-5" dirty="0">
                <a:latin typeface="Calibri"/>
                <a:cs typeface="Calibri"/>
              </a:rPr>
              <a:t>Uses</a:t>
            </a:r>
          </a:p>
          <a:p>
            <a:pPr>
              <a:buFont typeface="+mj-lt"/>
              <a:buAutoNum type="arabicPeriod"/>
            </a:pPr>
            <a:r>
              <a:rPr lang="en-US" sz="2400" b="1" spc="-5" dirty="0">
                <a:latin typeface="Calibri"/>
                <a:cs typeface="Calibri"/>
              </a:rPr>
              <a:t>Types</a:t>
            </a:r>
          </a:p>
          <a:p>
            <a:pPr>
              <a:buFont typeface="+mj-lt"/>
              <a:buAutoNum type="arabicPeriod"/>
            </a:pPr>
            <a:r>
              <a:rPr lang="en-US" sz="2400" b="1" spc="-5" dirty="0">
                <a:latin typeface="Calibri"/>
                <a:cs typeface="Calibri"/>
              </a:rPr>
              <a:t>Components</a:t>
            </a:r>
          </a:p>
          <a:p>
            <a:pPr>
              <a:buFont typeface="+mj-lt"/>
              <a:buAutoNum type="arabicPeriod"/>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2400" b="1" kern="0" dirty="0">
                <a:latin typeface="+mn-lt"/>
              </a:rPr>
              <a:t>Importance of the topic</a:t>
            </a:r>
            <a:endParaRPr lang="en-IN" sz="2400" dirty="0">
              <a:latin typeface="+mn-lt"/>
            </a:endParaRPr>
          </a:p>
        </p:txBody>
      </p:sp>
      <p:sp>
        <p:nvSpPr>
          <p:cNvPr id="7" name="Content Placeholder 6">
            <a:extLst>
              <a:ext uri="{FF2B5EF4-FFF2-40B4-BE49-F238E27FC236}">
                <a16:creationId xmlns:a16="http://schemas.microsoft.com/office/drawing/2014/main" id="{C05D211D-56BC-A519-0A90-7523B1284AAC}"/>
              </a:ext>
            </a:extLst>
          </p:cNvPr>
          <p:cNvSpPr>
            <a:spLocks noGrp="1"/>
          </p:cNvSpPr>
          <p:nvPr>
            <p:ph idx="1"/>
          </p:nvPr>
        </p:nvSpPr>
        <p:spPr>
          <a:xfrm>
            <a:off x="457200" y="1046747"/>
            <a:ext cx="8229600" cy="3723425"/>
          </a:xfrm>
        </p:spPr>
        <p:txBody>
          <a:bodyPr>
            <a:normAutofit/>
          </a:bodyPr>
          <a:lstStyle/>
          <a:p>
            <a:pPr algn="just"/>
            <a:r>
              <a:rPr lang="en-US" sz="2000" b="1" dirty="0"/>
              <a:t>Scalability and Flexibility</a:t>
            </a:r>
            <a:r>
              <a:rPr lang="en-US" sz="2000" dirty="0"/>
              <a:t>: Cloud computing provides on-demand access to a vast range of resources, enabling businesses to scale up or down based on their needs.</a:t>
            </a:r>
          </a:p>
          <a:p>
            <a:pPr algn="just"/>
            <a:r>
              <a:rPr lang="en-US" sz="2000" b="1" dirty="0"/>
              <a:t>Cost Efficiency</a:t>
            </a:r>
            <a:r>
              <a:rPr lang="en-US" sz="2000" dirty="0"/>
              <a:t>: By using cloud services, businesses can significantly reduce costs associated with maintaining and upgrading physical hardware.</a:t>
            </a:r>
          </a:p>
          <a:p>
            <a:pPr algn="just"/>
            <a:r>
              <a:rPr lang="en-US" sz="2000" b="1" dirty="0"/>
              <a:t>Accessibility and Collaboration</a:t>
            </a:r>
            <a:r>
              <a:rPr lang="en-US" sz="2000" dirty="0"/>
              <a:t>: Cloud computing allows users to access data and applications from any device with an internet connection, facilitating remote work and global collaboration. This enhances productivity, supports flexible work environments, and enables real-time collaboration across teams and locations.</a:t>
            </a:r>
            <a:endParaRPr lang="en-IN" sz="2000" dirty="0"/>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2400" b="1" kern="0" dirty="0">
                <a:latin typeface="+mn-lt"/>
              </a:rPr>
              <a:t>Detail Topics</a:t>
            </a:r>
            <a:endParaRPr lang="en-IN" sz="24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p:txBody>
          <a:bodyPr>
            <a:normAutofit fontScale="55000" lnSpcReduction="20000"/>
          </a:bodyPr>
          <a:lstStyle/>
          <a:p>
            <a:pPr marL="12065" indent="0">
              <a:lnSpc>
                <a:spcPct val="100000"/>
              </a:lnSpc>
              <a:spcBef>
                <a:spcPts val="95"/>
              </a:spcBef>
              <a:buNone/>
              <a:tabLst>
                <a:tab pos="355600" algn="l"/>
                <a:tab pos="356235" algn="l"/>
              </a:tabLst>
            </a:pPr>
            <a:r>
              <a:rPr lang="en-US" sz="2800" spc="-10" dirty="0">
                <a:latin typeface="Calibri"/>
                <a:cs typeface="Calibri"/>
              </a:rPr>
              <a:t>The</a:t>
            </a:r>
            <a:r>
              <a:rPr lang="en-US" sz="2800" spc="20" dirty="0">
                <a:latin typeface="Calibri"/>
                <a:cs typeface="Calibri"/>
              </a:rPr>
              <a:t> </a:t>
            </a:r>
            <a:r>
              <a:rPr lang="en-US" sz="2800" spc="-10" dirty="0">
                <a:latin typeface="Calibri"/>
                <a:cs typeface="Calibri"/>
              </a:rPr>
              <a:t>ACM</a:t>
            </a:r>
            <a:r>
              <a:rPr lang="en-US" sz="2800" spc="-5" dirty="0">
                <a:latin typeface="Calibri"/>
                <a:cs typeface="Calibri"/>
              </a:rPr>
              <a:t> </a:t>
            </a:r>
            <a:r>
              <a:rPr lang="en-US" sz="2800" i="1" spc="-5" dirty="0">
                <a:latin typeface="Calibri"/>
                <a:cs typeface="Calibri"/>
              </a:rPr>
              <a:t>Computing</a:t>
            </a:r>
            <a:r>
              <a:rPr lang="en-US" sz="2800" i="1" spc="-10" dirty="0">
                <a:latin typeface="Calibri"/>
                <a:cs typeface="Calibri"/>
              </a:rPr>
              <a:t> </a:t>
            </a:r>
            <a:r>
              <a:rPr lang="en-US" sz="2800" i="1" spc="-5" dirty="0">
                <a:latin typeface="Calibri"/>
                <a:cs typeface="Calibri"/>
              </a:rPr>
              <a:t>Curricula</a:t>
            </a:r>
            <a:r>
              <a:rPr lang="en-US" sz="2800" i="1" spc="-35" dirty="0">
                <a:latin typeface="Calibri"/>
                <a:cs typeface="Calibri"/>
              </a:rPr>
              <a:t> </a:t>
            </a:r>
            <a:r>
              <a:rPr lang="en-US" sz="2800" i="1" spc="-5" dirty="0">
                <a:latin typeface="Calibri"/>
                <a:cs typeface="Calibri"/>
              </a:rPr>
              <a:t>2005</a:t>
            </a:r>
            <a:r>
              <a:rPr lang="en-US" sz="2800" i="1" spc="-170" dirty="0">
                <a:latin typeface="Calibri"/>
                <a:cs typeface="Calibri"/>
              </a:rPr>
              <a:t> </a:t>
            </a:r>
            <a:r>
              <a:rPr lang="en-US" sz="2800" spc="-10" dirty="0">
                <a:latin typeface="Calibri"/>
                <a:cs typeface="Calibri"/>
              </a:rPr>
              <a:t>defined</a:t>
            </a:r>
            <a:r>
              <a:rPr lang="en-US" sz="2800" spc="15" dirty="0">
                <a:latin typeface="Calibri"/>
                <a:cs typeface="Calibri"/>
              </a:rPr>
              <a:t> </a:t>
            </a:r>
            <a:r>
              <a:rPr lang="en-US" sz="2800" spc="-10" dirty="0">
                <a:latin typeface="Calibri"/>
                <a:cs typeface="Calibri"/>
              </a:rPr>
              <a:t>"computing"</a:t>
            </a:r>
            <a:r>
              <a:rPr lang="en-US" sz="2800" spc="40" dirty="0">
                <a:latin typeface="Calibri"/>
                <a:cs typeface="Calibri"/>
              </a:rPr>
              <a:t> </a:t>
            </a:r>
            <a:r>
              <a:rPr lang="en-US" sz="2800" spc="-5" dirty="0">
                <a:latin typeface="Calibri"/>
                <a:cs typeface="Calibri"/>
              </a:rPr>
              <a:t>as</a:t>
            </a:r>
            <a:endParaRPr lang="en-US" sz="2800" dirty="0">
              <a:latin typeface="Calibri"/>
              <a:cs typeface="Calibri"/>
            </a:endParaRPr>
          </a:p>
          <a:p>
            <a:pPr>
              <a:lnSpc>
                <a:spcPct val="100000"/>
              </a:lnSpc>
              <a:spcBef>
                <a:spcPts val="55"/>
              </a:spcBef>
            </a:pPr>
            <a:endParaRPr lang="en-US" sz="3200" dirty="0">
              <a:latin typeface="Calibri"/>
              <a:cs typeface="Calibri"/>
            </a:endParaRPr>
          </a:p>
          <a:p>
            <a:pPr marL="12700" marR="5080" algn="just">
              <a:lnSpc>
                <a:spcPct val="170000"/>
              </a:lnSpc>
            </a:pPr>
            <a:r>
              <a:rPr lang="en-US" sz="2800" spc="-5" dirty="0">
                <a:cs typeface="Calibri"/>
              </a:rPr>
              <a:t>"In a </a:t>
            </a:r>
            <a:r>
              <a:rPr lang="en-US" sz="2800" spc="-15" dirty="0">
                <a:cs typeface="Calibri"/>
              </a:rPr>
              <a:t>general </a:t>
            </a:r>
            <a:r>
              <a:rPr lang="en-US" sz="2800" spc="-60" dirty="0">
                <a:cs typeface="Calibri"/>
              </a:rPr>
              <a:t>way, </a:t>
            </a:r>
            <a:r>
              <a:rPr lang="en-US" sz="2800" spc="-15" dirty="0">
                <a:cs typeface="Calibri"/>
              </a:rPr>
              <a:t>we can </a:t>
            </a:r>
            <a:r>
              <a:rPr lang="en-US" sz="2800" spc="-10" dirty="0">
                <a:cs typeface="Calibri"/>
              </a:rPr>
              <a:t>define </a:t>
            </a:r>
            <a:r>
              <a:rPr lang="en-US" sz="2800" spc="-5" dirty="0">
                <a:uFill>
                  <a:solidFill>
                    <a:srgbClr val="000000"/>
                  </a:solidFill>
                </a:uFill>
                <a:cs typeface="Calibri"/>
              </a:rPr>
              <a:t>computing </a:t>
            </a:r>
            <a:r>
              <a:rPr lang="en-US" sz="2800" spc="-20" dirty="0">
                <a:uFill>
                  <a:solidFill>
                    <a:srgbClr val="000000"/>
                  </a:solidFill>
                </a:uFill>
                <a:cs typeface="Calibri"/>
              </a:rPr>
              <a:t>to </a:t>
            </a:r>
            <a:r>
              <a:rPr lang="en-US" sz="2800" spc="-5" dirty="0">
                <a:uFill>
                  <a:solidFill>
                    <a:srgbClr val="000000"/>
                  </a:solidFill>
                </a:uFill>
                <a:cs typeface="Calibri"/>
              </a:rPr>
              <a:t>mean </a:t>
            </a:r>
            <a:r>
              <a:rPr lang="en-US" sz="2800" spc="-15" dirty="0">
                <a:uFill>
                  <a:solidFill>
                    <a:srgbClr val="000000"/>
                  </a:solidFill>
                </a:uFill>
                <a:cs typeface="Calibri"/>
              </a:rPr>
              <a:t>any </a:t>
            </a:r>
            <a:r>
              <a:rPr lang="en-US" sz="2800" spc="-10" dirty="0">
                <a:uFill>
                  <a:solidFill>
                    <a:srgbClr val="000000"/>
                  </a:solidFill>
                </a:uFill>
                <a:cs typeface="Calibri"/>
              </a:rPr>
              <a:t>goal-oriented </a:t>
            </a:r>
            <a:r>
              <a:rPr lang="en-US" sz="2800" spc="-5" dirty="0">
                <a:cs typeface="Calibri"/>
              </a:rPr>
              <a:t> </a:t>
            </a:r>
            <a:r>
              <a:rPr lang="en-US" sz="2800" spc="-5" dirty="0">
                <a:uFill>
                  <a:solidFill>
                    <a:srgbClr val="000000"/>
                  </a:solidFill>
                </a:uFill>
                <a:cs typeface="Calibri"/>
              </a:rPr>
              <a:t>activity</a:t>
            </a:r>
            <a:r>
              <a:rPr lang="en-US" sz="2800" dirty="0">
                <a:uFill>
                  <a:solidFill>
                    <a:srgbClr val="000000"/>
                  </a:solidFill>
                </a:uFill>
                <a:cs typeface="Calibri"/>
              </a:rPr>
              <a:t> </a:t>
            </a:r>
            <a:r>
              <a:rPr lang="en-US" sz="2800" spc="-5" dirty="0">
                <a:uFill>
                  <a:solidFill>
                    <a:srgbClr val="000000"/>
                  </a:solidFill>
                </a:uFill>
                <a:cs typeface="Calibri"/>
              </a:rPr>
              <a:t>requiring</a:t>
            </a:r>
            <a:r>
              <a:rPr lang="en-US" sz="2800" spc="-5" dirty="0">
                <a:cs typeface="Calibri"/>
              </a:rPr>
              <a:t>,</a:t>
            </a:r>
            <a:r>
              <a:rPr lang="en-US" sz="2800" dirty="0">
                <a:cs typeface="Calibri"/>
              </a:rPr>
              <a:t> </a:t>
            </a:r>
            <a:r>
              <a:rPr lang="en-US" sz="2800" spc="-10" dirty="0">
                <a:cs typeface="Calibri"/>
              </a:rPr>
              <a:t>benefiting</a:t>
            </a:r>
            <a:r>
              <a:rPr lang="en-US" sz="2800" spc="-5" dirty="0">
                <a:cs typeface="Calibri"/>
              </a:rPr>
              <a:t> </a:t>
            </a:r>
            <a:r>
              <a:rPr lang="en-US" sz="2800" spc="-15" dirty="0">
                <a:cs typeface="Calibri"/>
              </a:rPr>
              <a:t>from,</a:t>
            </a:r>
            <a:r>
              <a:rPr lang="en-US" sz="2800" spc="-10" dirty="0">
                <a:cs typeface="Calibri"/>
              </a:rPr>
              <a:t> </a:t>
            </a:r>
            <a:r>
              <a:rPr lang="en-US" sz="2800" spc="-5" dirty="0">
                <a:cs typeface="Calibri"/>
              </a:rPr>
              <a:t>or</a:t>
            </a:r>
            <a:r>
              <a:rPr lang="en-US" sz="2800" dirty="0">
                <a:cs typeface="Calibri"/>
              </a:rPr>
              <a:t> </a:t>
            </a:r>
            <a:r>
              <a:rPr lang="en-US" sz="2800" spc="-10" dirty="0">
                <a:cs typeface="Calibri"/>
              </a:rPr>
              <a:t>creating</a:t>
            </a:r>
            <a:r>
              <a:rPr lang="en-US" sz="2800" spc="-5" dirty="0">
                <a:cs typeface="Calibri"/>
              </a:rPr>
              <a:t> </a:t>
            </a:r>
            <a:r>
              <a:rPr lang="en-US" sz="2800" spc="-15" dirty="0">
                <a:cs typeface="Calibri"/>
              </a:rPr>
              <a:t>computers.</a:t>
            </a:r>
            <a:r>
              <a:rPr lang="en-US" sz="2800" spc="-10" dirty="0">
                <a:cs typeface="Calibri"/>
              </a:rPr>
              <a:t> Thus, </a:t>
            </a:r>
            <a:r>
              <a:rPr lang="en-US" sz="2800" spc="-484" dirty="0">
                <a:cs typeface="Calibri"/>
              </a:rPr>
              <a:t> </a:t>
            </a:r>
            <a:r>
              <a:rPr lang="en-US" sz="2800" spc="-10" dirty="0">
                <a:cs typeface="Calibri"/>
              </a:rPr>
              <a:t>computing</a:t>
            </a:r>
            <a:r>
              <a:rPr lang="en-US" sz="2800" spc="-5" dirty="0">
                <a:cs typeface="Calibri"/>
              </a:rPr>
              <a:t> </a:t>
            </a:r>
            <a:r>
              <a:rPr lang="en-US" sz="2800" spc="-10" dirty="0">
                <a:cs typeface="Calibri"/>
              </a:rPr>
              <a:t>includes</a:t>
            </a:r>
            <a:r>
              <a:rPr lang="en-US" sz="2800" spc="-5" dirty="0">
                <a:cs typeface="Calibri"/>
              </a:rPr>
              <a:t> designing</a:t>
            </a:r>
            <a:r>
              <a:rPr lang="en-US" sz="2800" dirty="0">
                <a:cs typeface="Calibri"/>
              </a:rPr>
              <a:t> </a:t>
            </a:r>
            <a:r>
              <a:rPr lang="en-US" sz="2800" spc="-5" dirty="0">
                <a:cs typeface="Calibri"/>
              </a:rPr>
              <a:t>and</a:t>
            </a:r>
            <a:r>
              <a:rPr lang="en-US" sz="2800" dirty="0">
                <a:cs typeface="Calibri"/>
              </a:rPr>
              <a:t> </a:t>
            </a:r>
            <a:r>
              <a:rPr lang="en-US" sz="2800" spc="-10" dirty="0">
                <a:cs typeface="Calibri"/>
              </a:rPr>
              <a:t>building</a:t>
            </a:r>
            <a:r>
              <a:rPr lang="en-US" sz="2800" spc="-5" dirty="0">
                <a:cs typeface="Calibri"/>
              </a:rPr>
              <a:t> </a:t>
            </a:r>
            <a:r>
              <a:rPr lang="en-US" sz="2800" spc="-15" dirty="0">
                <a:cs typeface="Calibri"/>
              </a:rPr>
              <a:t>hardware</a:t>
            </a:r>
            <a:r>
              <a:rPr lang="en-US" sz="2800" spc="-10" dirty="0">
                <a:cs typeface="Calibri"/>
              </a:rPr>
              <a:t> </a:t>
            </a:r>
            <a:r>
              <a:rPr lang="en-US" sz="2800" spc="-5" dirty="0">
                <a:cs typeface="Calibri"/>
              </a:rPr>
              <a:t>and</a:t>
            </a:r>
            <a:r>
              <a:rPr lang="en-US" sz="2800" dirty="0">
                <a:cs typeface="Calibri"/>
              </a:rPr>
              <a:t> </a:t>
            </a:r>
            <a:r>
              <a:rPr lang="en-US" sz="2800" spc="-10" dirty="0">
                <a:cs typeface="Calibri"/>
              </a:rPr>
              <a:t>software </a:t>
            </a:r>
            <a:r>
              <a:rPr lang="en-US" sz="2800" spc="-5" dirty="0">
                <a:cs typeface="Calibri"/>
              </a:rPr>
              <a:t> </a:t>
            </a:r>
            <a:r>
              <a:rPr lang="en-US" sz="2800" spc="-20" dirty="0">
                <a:cs typeface="Calibri"/>
              </a:rPr>
              <a:t>systems</a:t>
            </a:r>
            <a:r>
              <a:rPr lang="en-US" sz="2800" spc="-15" dirty="0">
                <a:cs typeface="Calibri"/>
              </a:rPr>
              <a:t> </a:t>
            </a:r>
            <a:r>
              <a:rPr lang="en-US" sz="2800" spc="-20" dirty="0">
                <a:cs typeface="Calibri"/>
              </a:rPr>
              <a:t>for</a:t>
            </a:r>
            <a:r>
              <a:rPr lang="en-US" sz="2800" spc="-15" dirty="0">
                <a:cs typeface="Calibri"/>
              </a:rPr>
              <a:t> </a:t>
            </a:r>
            <a:r>
              <a:rPr lang="en-US" sz="2800" spc="-5" dirty="0">
                <a:cs typeface="Calibri"/>
              </a:rPr>
              <a:t>a</a:t>
            </a:r>
            <a:r>
              <a:rPr lang="en-US" sz="2800" dirty="0">
                <a:cs typeface="Calibri"/>
              </a:rPr>
              <a:t> </a:t>
            </a:r>
            <a:r>
              <a:rPr lang="en-US" sz="2800" spc="-5" dirty="0">
                <a:cs typeface="Calibri"/>
              </a:rPr>
              <a:t>wide</a:t>
            </a:r>
            <a:r>
              <a:rPr lang="en-US" sz="2800" dirty="0">
                <a:cs typeface="Calibri"/>
              </a:rPr>
              <a:t> </a:t>
            </a:r>
            <a:r>
              <a:rPr lang="en-US" sz="2800" spc="-15" dirty="0">
                <a:cs typeface="Calibri"/>
              </a:rPr>
              <a:t>range</a:t>
            </a:r>
            <a:r>
              <a:rPr lang="en-US" sz="2800" spc="-10" dirty="0">
                <a:cs typeface="Calibri"/>
              </a:rPr>
              <a:t> </a:t>
            </a:r>
            <a:r>
              <a:rPr lang="en-US" sz="2800" dirty="0">
                <a:cs typeface="Calibri"/>
              </a:rPr>
              <a:t>of</a:t>
            </a:r>
            <a:r>
              <a:rPr lang="en-US" sz="2800" spc="5" dirty="0">
                <a:cs typeface="Calibri"/>
              </a:rPr>
              <a:t> </a:t>
            </a:r>
            <a:r>
              <a:rPr lang="en-US" sz="2800" spc="-5" dirty="0">
                <a:cs typeface="Calibri"/>
              </a:rPr>
              <a:t>purposes;</a:t>
            </a:r>
            <a:r>
              <a:rPr lang="en-US" sz="2800" dirty="0">
                <a:cs typeface="Calibri"/>
              </a:rPr>
              <a:t> </a:t>
            </a:r>
            <a:r>
              <a:rPr lang="en-US" sz="2800" spc="-5" dirty="0">
                <a:cs typeface="Calibri"/>
              </a:rPr>
              <a:t>processing,</a:t>
            </a:r>
            <a:r>
              <a:rPr lang="en-US" sz="2800" dirty="0">
                <a:cs typeface="Calibri"/>
              </a:rPr>
              <a:t> </a:t>
            </a:r>
            <a:r>
              <a:rPr lang="en-US" sz="2800" spc="-5" dirty="0">
                <a:cs typeface="Calibri"/>
              </a:rPr>
              <a:t>structuring,</a:t>
            </a:r>
            <a:r>
              <a:rPr lang="en-US" sz="2800" dirty="0">
                <a:cs typeface="Calibri"/>
              </a:rPr>
              <a:t> </a:t>
            </a:r>
            <a:r>
              <a:rPr lang="en-US" sz="2800" spc="-5" dirty="0">
                <a:cs typeface="Calibri"/>
              </a:rPr>
              <a:t>and </a:t>
            </a:r>
            <a:r>
              <a:rPr lang="en-US" sz="2800" spc="-484" dirty="0">
                <a:cs typeface="Calibri"/>
              </a:rPr>
              <a:t> </a:t>
            </a:r>
            <a:r>
              <a:rPr lang="en-US" sz="2800" spc="-5" dirty="0">
                <a:cs typeface="Calibri"/>
              </a:rPr>
              <a:t>managing </a:t>
            </a:r>
            <a:r>
              <a:rPr lang="en-US" sz="2800" spc="-10" dirty="0">
                <a:cs typeface="Calibri"/>
              </a:rPr>
              <a:t>various </a:t>
            </a:r>
            <a:r>
              <a:rPr lang="en-US" sz="2800" spc="-5" dirty="0">
                <a:cs typeface="Calibri"/>
              </a:rPr>
              <a:t>kinds </a:t>
            </a:r>
            <a:r>
              <a:rPr lang="en-US" sz="2800" spc="-10" dirty="0">
                <a:cs typeface="Calibri"/>
              </a:rPr>
              <a:t>of information; </a:t>
            </a:r>
            <a:r>
              <a:rPr lang="en-US" sz="2800" spc="-5" dirty="0">
                <a:cs typeface="Calibri"/>
              </a:rPr>
              <a:t>doing scientific </a:t>
            </a:r>
            <a:r>
              <a:rPr lang="en-US" sz="2800" spc="-10" dirty="0">
                <a:cs typeface="Calibri"/>
              </a:rPr>
              <a:t>studies using </a:t>
            </a:r>
            <a:r>
              <a:rPr lang="en-US" sz="2800" spc="-5" dirty="0">
                <a:cs typeface="Calibri"/>
              </a:rPr>
              <a:t> </a:t>
            </a:r>
            <a:r>
              <a:rPr lang="en-US" sz="2800" spc="-10" dirty="0">
                <a:cs typeface="Calibri"/>
              </a:rPr>
              <a:t>computers;</a:t>
            </a:r>
            <a:r>
              <a:rPr lang="en-US" sz="2800" spc="-5" dirty="0">
                <a:cs typeface="Calibri"/>
              </a:rPr>
              <a:t> making</a:t>
            </a:r>
            <a:r>
              <a:rPr lang="en-US" sz="2800" dirty="0">
                <a:cs typeface="Calibri"/>
              </a:rPr>
              <a:t> </a:t>
            </a:r>
            <a:r>
              <a:rPr lang="en-US" sz="2800" spc="-15" dirty="0">
                <a:cs typeface="Calibri"/>
              </a:rPr>
              <a:t>computer</a:t>
            </a:r>
            <a:r>
              <a:rPr lang="en-US" sz="2800" spc="-10" dirty="0">
                <a:cs typeface="Calibri"/>
              </a:rPr>
              <a:t> </a:t>
            </a:r>
            <a:r>
              <a:rPr lang="en-US" sz="2800" spc="-15" dirty="0">
                <a:cs typeface="Calibri"/>
              </a:rPr>
              <a:t>systems</a:t>
            </a:r>
            <a:r>
              <a:rPr lang="en-US" sz="2800" spc="-10" dirty="0">
                <a:cs typeface="Calibri"/>
              </a:rPr>
              <a:t> </a:t>
            </a:r>
            <a:r>
              <a:rPr lang="en-US" sz="2800" spc="-15" dirty="0">
                <a:cs typeface="Calibri"/>
              </a:rPr>
              <a:t>behave</a:t>
            </a:r>
            <a:r>
              <a:rPr lang="en-US" sz="2800" spc="-10" dirty="0">
                <a:cs typeface="Calibri"/>
              </a:rPr>
              <a:t> intelligently;</a:t>
            </a:r>
            <a:r>
              <a:rPr lang="en-US" sz="2800" spc="475" dirty="0">
                <a:cs typeface="Calibri"/>
              </a:rPr>
              <a:t> </a:t>
            </a:r>
            <a:r>
              <a:rPr lang="en-US" sz="2800" spc="-10" dirty="0">
                <a:cs typeface="Calibri"/>
              </a:rPr>
              <a:t>creating </a:t>
            </a:r>
            <a:r>
              <a:rPr lang="en-US" sz="2800" spc="-5" dirty="0">
                <a:cs typeface="Calibri"/>
              </a:rPr>
              <a:t> and</a:t>
            </a:r>
            <a:r>
              <a:rPr lang="en-US" sz="2800" dirty="0">
                <a:cs typeface="Calibri"/>
              </a:rPr>
              <a:t> </a:t>
            </a:r>
            <a:r>
              <a:rPr lang="en-US" sz="2800" spc="-5" dirty="0">
                <a:cs typeface="Calibri"/>
              </a:rPr>
              <a:t>using</a:t>
            </a:r>
            <a:r>
              <a:rPr lang="en-US" sz="2800" dirty="0">
                <a:cs typeface="Calibri"/>
              </a:rPr>
              <a:t> </a:t>
            </a:r>
            <a:r>
              <a:rPr lang="en-US" sz="2800" spc="-10" dirty="0">
                <a:cs typeface="Calibri"/>
              </a:rPr>
              <a:t>communications</a:t>
            </a:r>
            <a:r>
              <a:rPr lang="en-US" sz="2800" spc="-5" dirty="0">
                <a:cs typeface="Calibri"/>
              </a:rPr>
              <a:t> and</a:t>
            </a:r>
            <a:r>
              <a:rPr lang="en-US" sz="2800" dirty="0">
                <a:cs typeface="Calibri"/>
              </a:rPr>
              <a:t> </a:t>
            </a:r>
            <a:r>
              <a:rPr lang="en-US" sz="2800" spc="-15" dirty="0">
                <a:cs typeface="Calibri"/>
              </a:rPr>
              <a:t>entertainment</a:t>
            </a:r>
            <a:r>
              <a:rPr lang="en-US" sz="2800" spc="-10" dirty="0">
                <a:cs typeface="Calibri"/>
              </a:rPr>
              <a:t> </a:t>
            </a:r>
            <a:r>
              <a:rPr lang="en-US" sz="2800" spc="-5" dirty="0">
                <a:cs typeface="Calibri"/>
              </a:rPr>
              <a:t>media;</a:t>
            </a:r>
            <a:r>
              <a:rPr lang="en-US" sz="2800" dirty="0">
                <a:cs typeface="Calibri"/>
              </a:rPr>
              <a:t> </a:t>
            </a:r>
            <a:r>
              <a:rPr lang="en-US" sz="2800" spc="-5" dirty="0">
                <a:cs typeface="Calibri"/>
              </a:rPr>
              <a:t>finding</a:t>
            </a:r>
            <a:r>
              <a:rPr lang="en-US" sz="2800" dirty="0">
                <a:cs typeface="Calibri"/>
              </a:rPr>
              <a:t> </a:t>
            </a:r>
            <a:r>
              <a:rPr lang="en-US" sz="2800" spc="-5" dirty="0">
                <a:cs typeface="Calibri"/>
              </a:rPr>
              <a:t>and </a:t>
            </a:r>
            <a:r>
              <a:rPr lang="en-US" sz="2800" dirty="0">
                <a:cs typeface="Calibri"/>
              </a:rPr>
              <a:t> </a:t>
            </a:r>
            <a:r>
              <a:rPr lang="en-US" sz="2800" spc="-10" dirty="0">
                <a:cs typeface="Calibri"/>
              </a:rPr>
              <a:t>gathering information </a:t>
            </a:r>
            <a:r>
              <a:rPr lang="en-US" sz="2800" spc="-15" dirty="0">
                <a:cs typeface="Calibri"/>
              </a:rPr>
              <a:t>relevant </a:t>
            </a:r>
            <a:r>
              <a:rPr lang="en-US" sz="2800" spc="-20" dirty="0">
                <a:cs typeface="Calibri"/>
              </a:rPr>
              <a:t>to </a:t>
            </a:r>
            <a:r>
              <a:rPr lang="en-US" sz="2800" spc="-15" dirty="0">
                <a:cs typeface="Calibri"/>
              </a:rPr>
              <a:t>any </a:t>
            </a:r>
            <a:r>
              <a:rPr lang="en-US" sz="2800" spc="-10" dirty="0">
                <a:cs typeface="Calibri"/>
              </a:rPr>
              <a:t>particular </a:t>
            </a:r>
            <a:r>
              <a:rPr lang="en-US" sz="2800" spc="-5" dirty="0">
                <a:cs typeface="Calibri"/>
              </a:rPr>
              <a:t>purpose, and </a:t>
            </a:r>
            <a:r>
              <a:rPr lang="en-US" sz="2800" dirty="0">
                <a:cs typeface="Calibri"/>
              </a:rPr>
              <a:t>so </a:t>
            </a:r>
            <a:r>
              <a:rPr lang="en-US" sz="2800" spc="-5" dirty="0">
                <a:cs typeface="Calibri"/>
              </a:rPr>
              <a:t>on. </a:t>
            </a:r>
            <a:r>
              <a:rPr lang="en-US" sz="2800" dirty="0">
                <a:cs typeface="Calibri"/>
              </a:rPr>
              <a:t> </a:t>
            </a:r>
            <a:r>
              <a:rPr lang="en-US" sz="2800" spc="-10" dirty="0">
                <a:cs typeface="Calibri"/>
              </a:rPr>
              <a:t>The</a:t>
            </a:r>
            <a:r>
              <a:rPr lang="en-US" sz="2800" spc="15" dirty="0">
                <a:cs typeface="Calibri"/>
              </a:rPr>
              <a:t> </a:t>
            </a:r>
            <a:r>
              <a:rPr lang="en-US" sz="2800" spc="-10" dirty="0">
                <a:cs typeface="Calibri"/>
              </a:rPr>
              <a:t>list </a:t>
            </a:r>
            <a:r>
              <a:rPr lang="en-US" sz="2800" spc="-5" dirty="0">
                <a:cs typeface="Calibri"/>
              </a:rPr>
              <a:t>is</a:t>
            </a:r>
            <a:r>
              <a:rPr lang="en-US" sz="2800" dirty="0">
                <a:cs typeface="Calibri"/>
              </a:rPr>
              <a:t> </a:t>
            </a:r>
            <a:r>
              <a:rPr lang="en-US" sz="2800" spc="-5" dirty="0">
                <a:cs typeface="Calibri"/>
              </a:rPr>
              <a:t>virtually</a:t>
            </a:r>
            <a:r>
              <a:rPr lang="en-US" sz="2800" spc="-15" dirty="0">
                <a:cs typeface="Calibri"/>
              </a:rPr>
              <a:t> </a:t>
            </a:r>
            <a:r>
              <a:rPr lang="en-US" sz="2800" spc="-5" dirty="0">
                <a:cs typeface="Calibri"/>
              </a:rPr>
              <a:t>endless,</a:t>
            </a:r>
            <a:r>
              <a:rPr lang="en-US" sz="2800" spc="20" dirty="0">
                <a:cs typeface="Calibri"/>
              </a:rPr>
              <a:t> </a:t>
            </a:r>
            <a:r>
              <a:rPr lang="en-US" sz="2800" spc="-5" dirty="0">
                <a:cs typeface="Calibri"/>
              </a:rPr>
              <a:t>and the</a:t>
            </a:r>
            <a:r>
              <a:rPr lang="en-US" sz="2800" dirty="0">
                <a:cs typeface="Calibri"/>
              </a:rPr>
              <a:t> </a:t>
            </a:r>
            <a:r>
              <a:rPr lang="en-US" sz="2800" spc="-5" dirty="0">
                <a:cs typeface="Calibri"/>
              </a:rPr>
              <a:t>possibilities </a:t>
            </a:r>
            <a:r>
              <a:rPr lang="en-US" sz="2800" spc="-10" dirty="0">
                <a:cs typeface="Calibri"/>
              </a:rPr>
              <a:t>are</a:t>
            </a:r>
            <a:r>
              <a:rPr lang="en-US" sz="2800" spc="-5" dirty="0">
                <a:cs typeface="Calibri"/>
              </a:rPr>
              <a:t> </a:t>
            </a:r>
            <a:r>
              <a:rPr lang="en-US" sz="2800" spc="-15" dirty="0">
                <a:cs typeface="Calibri"/>
              </a:rPr>
              <a:t>vast."</a:t>
            </a:r>
            <a:endParaRPr lang="en-US" sz="2800" dirty="0">
              <a:cs typeface="Calibri"/>
            </a:endParaRPr>
          </a:p>
          <a:p>
            <a:endParaRPr lang="en-IN" sz="18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9494" y="337510"/>
            <a:ext cx="3528695" cy="381515"/>
          </a:xfrm>
          <a:prstGeom prst="rect">
            <a:avLst/>
          </a:prstGeom>
        </p:spPr>
        <p:txBody>
          <a:bodyPr vert="horz" wrap="square" lIns="0" tIns="12065" rIns="0" bIns="0" rtlCol="0">
            <a:spAutoFit/>
          </a:bodyPr>
          <a:lstStyle/>
          <a:p>
            <a:pPr marL="12700" algn="ctr">
              <a:lnSpc>
                <a:spcPct val="100000"/>
              </a:lnSpc>
              <a:spcBef>
                <a:spcPts val="95"/>
              </a:spcBef>
            </a:pPr>
            <a:r>
              <a:rPr sz="2400" b="1" spc="-5" dirty="0">
                <a:solidFill>
                  <a:srgbClr val="000000"/>
                </a:solidFill>
                <a:cs typeface="Calibri"/>
              </a:rPr>
              <a:t>Grid</a:t>
            </a:r>
            <a:r>
              <a:rPr sz="2400" b="1" spc="-50" dirty="0">
                <a:solidFill>
                  <a:srgbClr val="000000"/>
                </a:solidFill>
                <a:cs typeface="Calibri"/>
              </a:rPr>
              <a:t> </a:t>
            </a:r>
            <a:r>
              <a:rPr sz="2400" b="1" spc="-5" dirty="0">
                <a:solidFill>
                  <a:srgbClr val="000000"/>
                </a:solidFill>
                <a:cs typeface="Calibri"/>
              </a:rPr>
              <a:t>Computing?</a:t>
            </a:r>
            <a:endParaRPr sz="2400" b="1" dirty="0">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7</a:t>
            </a:r>
          </a:p>
        </p:txBody>
      </p:sp>
      <p:sp>
        <p:nvSpPr>
          <p:cNvPr id="3" name="object 3"/>
          <p:cNvSpPr txBox="1"/>
          <p:nvPr/>
        </p:nvSpPr>
        <p:spPr>
          <a:xfrm>
            <a:off x="383540" y="943813"/>
            <a:ext cx="8343265" cy="3116580"/>
          </a:xfrm>
          <a:prstGeom prst="rect">
            <a:avLst/>
          </a:prstGeom>
        </p:spPr>
        <p:txBody>
          <a:bodyPr vert="horz" wrap="square" lIns="0" tIns="13335" rIns="0" bIns="0" rtlCol="0">
            <a:spAutoFit/>
          </a:bodyPr>
          <a:lstStyle/>
          <a:p>
            <a:pPr marL="355600" indent="-342900">
              <a:lnSpc>
                <a:spcPct val="100000"/>
              </a:lnSpc>
              <a:spcBef>
                <a:spcPts val="105"/>
              </a:spcBef>
              <a:buFont typeface="Arial MT"/>
              <a:buChar char="•"/>
              <a:tabLst>
                <a:tab pos="354965" algn="l"/>
                <a:tab pos="355600" algn="l"/>
              </a:tabLst>
            </a:pPr>
            <a:r>
              <a:rPr sz="1700" spc="-5" dirty="0">
                <a:latin typeface="Calibri"/>
                <a:cs typeface="Calibri"/>
              </a:rPr>
              <a:t>Pcwebopedia.com</a:t>
            </a:r>
            <a:endParaRPr sz="1700" dirty="0">
              <a:latin typeface="Calibri"/>
              <a:cs typeface="Calibri"/>
            </a:endParaRPr>
          </a:p>
          <a:p>
            <a:pPr marL="756285" marR="8255" lvl="1" indent="-287020">
              <a:lnSpc>
                <a:spcPct val="80000"/>
              </a:lnSpc>
              <a:spcBef>
                <a:spcPts val="409"/>
              </a:spcBef>
              <a:buFont typeface="Arial MT"/>
              <a:buChar char="–"/>
              <a:tabLst>
                <a:tab pos="756285" algn="l"/>
                <a:tab pos="756920" algn="l"/>
              </a:tabLst>
            </a:pPr>
            <a:r>
              <a:rPr sz="1700" dirty="0">
                <a:latin typeface="Calibri"/>
                <a:cs typeface="Calibri"/>
              </a:rPr>
              <a:t>A </a:t>
            </a:r>
            <a:r>
              <a:rPr sz="1700" spc="-10" dirty="0">
                <a:latin typeface="Calibri"/>
                <a:cs typeface="Calibri"/>
              </a:rPr>
              <a:t>form </a:t>
            </a:r>
            <a:r>
              <a:rPr sz="1700" spc="-5" dirty="0">
                <a:latin typeface="Calibri"/>
                <a:cs typeface="Calibri"/>
              </a:rPr>
              <a:t>of networking. </a:t>
            </a:r>
            <a:r>
              <a:rPr sz="1700" spc="-10" dirty="0">
                <a:latin typeface="Calibri"/>
                <a:cs typeface="Calibri"/>
              </a:rPr>
              <a:t>unlike conventional networks </a:t>
            </a:r>
            <a:r>
              <a:rPr sz="1700" spc="-5" dirty="0">
                <a:latin typeface="Calibri"/>
                <a:cs typeface="Calibri"/>
              </a:rPr>
              <a:t>that </a:t>
            </a:r>
            <a:r>
              <a:rPr sz="1700" spc="-10" dirty="0">
                <a:latin typeface="Calibri"/>
                <a:cs typeface="Calibri"/>
              </a:rPr>
              <a:t>focus </a:t>
            </a:r>
            <a:r>
              <a:rPr sz="1700" spc="-5" dirty="0">
                <a:latin typeface="Calibri"/>
                <a:cs typeface="Calibri"/>
              </a:rPr>
              <a:t>on communication </a:t>
            </a:r>
            <a:r>
              <a:rPr sz="1700" dirty="0">
                <a:latin typeface="Calibri"/>
                <a:cs typeface="Calibri"/>
              </a:rPr>
              <a:t> </a:t>
            </a:r>
            <a:r>
              <a:rPr sz="1700" spc="-5" dirty="0">
                <a:latin typeface="Calibri"/>
                <a:cs typeface="Calibri"/>
              </a:rPr>
              <a:t>among </a:t>
            </a:r>
            <a:r>
              <a:rPr sz="1700" dirty="0">
                <a:latin typeface="Calibri"/>
                <a:cs typeface="Calibri"/>
              </a:rPr>
              <a:t>devices, grid </a:t>
            </a:r>
            <a:r>
              <a:rPr sz="1700" spc="-5" dirty="0">
                <a:latin typeface="Calibri"/>
                <a:cs typeface="Calibri"/>
              </a:rPr>
              <a:t>computing </a:t>
            </a:r>
            <a:r>
              <a:rPr sz="1700" dirty="0">
                <a:latin typeface="Calibri"/>
                <a:cs typeface="Calibri"/>
              </a:rPr>
              <a:t>harnesses unused </a:t>
            </a:r>
            <a:r>
              <a:rPr sz="1700" spc="-10" dirty="0">
                <a:latin typeface="Calibri"/>
                <a:cs typeface="Calibri"/>
              </a:rPr>
              <a:t>processing </a:t>
            </a:r>
            <a:r>
              <a:rPr sz="1700" spc="-5" dirty="0">
                <a:latin typeface="Calibri"/>
                <a:cs typeface="Calibri"/>
              </a:rPr>
              <a:t>cycles of </a:t>
            </a:r>
            <a:r>
              <a:rPr sz="1700" dirty="0">
                <a:latin typeface="Calibri"/>
                <a:cs typeface="Calibri"/>
              </a:rPr>
              <a:t>all </a:t>
            </a:r>
            <a:r>
              <a:rPr sz="1700" spc="-10" dirty="0">
                <a:latin typeface="Calibri"/>
                <a:cs typeface="Calibri"/>
              </a:rPr>
              <a:t>computers </a:t>
            </a:r>
            <a:r>
              <a:rPr sz="1700" spc="-5" dirty="0">
                <a:latin typeface="Calibri"/>
                <a:cs typeface="Calibri"/>
              </a:rPr>
              <a:t>in </a:t>
            </a:r>
            <a:r>
              <a:rPr sz="1700" spc="-370" dirty="0">
                <a:latin typeface="Calibri"/>
                <a:cs typeface="Calibri"/>
              </a:rPr>
              <a:t> </a:t>
            </a:r>
            <a:r>
              <a:rPr sz="1700" dirty="0">
                <a:latin typeface="Calibri"/>
                <a:cs typeface="Calibri"/>
              </a:rPr>
              <a:t>a </a:t>
            </a:r>
            <a:r>
              <a:rPr sz="1700" spc="-5" dirty="0">
                <a:latin typeface="Calibri"/>
                <a:cs typeface="Calibri"/>
              </a:rPr>
              <a:t>network</a:t>
            </a:r>
            <a:r>
              <a:rPr sz="1700" spc="-45" dirty="0">
                <a:latin typeface="Calibri"/>
                <a:cs typeface="Calibri"/>
              </a:rPr>
              <a:t> </a:t>
            </a:r>
            <a:r>
              <a:rPr sz="1700" spc="-15" dirty="0">
                <a:latin typeface="Calibri"/>
                <a:cs typeface="Calibri"/>
              </a:rPr>
              <a:t>for</a:t>
            </a:r>
            <a:r>
              <a:rPr sz="1700" spc="10" dirty="0">
                <a:latin typeface="Calibri"/>
                <a:cs typeface="Calibri"/>
              </a:rPr>
              <a:t> </a:t>
            </a:r>
            <a:r>
              <a:rPr sz="1700" dirty="0">
                <a:latin typeface="Calibri"/>
                <a:cs typeface="Calibri"/>
              </a:rPr>
              <a:t>solving</a:t>
            </a:r>
            <a:r>
              <a:rPr sz="1700" spc="-40" dirty="0">
                <a:latin typeface="Calibri"/>
                <a:cs typeface="Calibri"/>
              </a:rPr>
              <a:t> </a:t>
            </a:r>
            <a:r>
              <a:rPr sz="1700" spc="-5" dirty="0">
                <a:latin typeface="Calibri"/>
                <a:cs typeface="Calibri"/>
              </a:rPr>
              <a:t>problems</a:t>
            </a:r>
            <a:r>
              <a:rPr sz="1700" spc="-10" dirty="0">
                <a:latin typeface="Calibri"/>
                <a:cs typeface="Calibri"/>
              </a:rPr>
              <a:t> </a:t>
            </a:r>
            <a:r>
              <a:rPr sz="1700" spc="-5" dirty="0">
                <a:latin typeface="Calibri"/>
                <a:cs typeface="Calibri"/>
              </a:rPr>
              <a:t>too</a:t>
            </a:r>
            <a:r>
              <a:rPr sz="1700" spc="-35" dirty="0">
                <a:latin typeface="Calibri"/>
                <a:cs typeface="Calibri"/>
              </a:rPr>
              <a:t> </a:t>
            </a:r>
            <a:r>
              <a:rPr sz="1700" spc="-5" dirty="0">
                <a:latin typeface="Calibri"/>
                <a:cs typeface="Calibri"/>
              </a:rPr>
              <a:t>intensive</a:t>
            </a:r>
            <a:r>
              <a:rPr sz="1700" spc="-35" dirty="0">
                <a:latin typeface="Calibri"/>
                <a:cs typeface="Calibri"/>
              </a:rPr>
              <a:t> </a:t>
            </a:r>
            <a:r>
              <a:rPr sz="1700" spc="-15" dirty="0">
                <a:latin typeface="Calibri"/>
                <a:cs typeface="Calibri"/>
              </a:rPr>
              <a:t>for</a:t>
            </a:r>
            <a:r>
              <a:rPr sz="1700" spc="5" dirty="0">
                <a:latin typeface="Calibri"/>
                <a:cs typeface="Calibri"/>
              </a:rPr>
              <a:t> </a:t>
            </a:r>
            <a:r>
              <a:rPr sz="1700" spc="-10" dirty="0">
                <a:latin typeface="Calibri"/>
                <a:cs typeface="Calibri"/>
              </a:rPr>
              <a:t>any</a:t>
            </a:r>
            <a:r>
              <a:rPr sz="1700" dirty="0">
                <a:latin typeface="Calibri"/>
                <a:cs typeface="Calibri"/>
              </a:rPr>
              <a:t> </a:t>
            </a:r>
            <a:r>
              <a:rPr sz="1700" spc="-5" dirty="0">
                <a:latin typeface="Calibri"/>
                <a:cs typeface="Calibri"/>
              </a:rPr>
              <a:t>stand-alone</a:t>
            </a:r>
            <a:r>
              <a:rPr sz="1700" spc="-35" dirty="0">
                <a:latin typeface="Calibri"/>
                <a:cs typeface="Calibri"/>
              </a:rPr>
              <a:t> </a:t>
            </a:r>
            <a:r>
              <a:rPr sz="1700" dirty="0">
                <a:latin typeface="Calibri"/>
                <a:cs typeface="Calibri"/>
              </a:rPr>
              <a:t>machine.</a:t>
            </a:r>
          </a:p>
          <a:p>
            <a:pPr marL="355600" indent="-342900">
              <a:lnSpc>
                <a:spcPct val="100000"/>
              </a:lnSpc>
              <a:buFont typeface="Arial MT"/>
              <a:buChar char="•"/>
              <a:tabLst>
                <a:tab pos="354965" algn="l"/>
                <a:tab pos="355600" algn="l"/>
              </a:tabLst>
            </a:pPr>
            <a:r>
              <a:rPr sz="1700" dirty="0">
                <a:latin typeface="Calibri"/>
                <a:cs typeface="Calibri"/>
              </a:rPr>
              <a:t>IBM</a:t>
            </a:r>
          </a:p>
          <a:p>
            <a:pPr marL="756285" marR="5080" lvl="1" indent="-287020">
              <a:lnSpc>
                <a:spcPct val="80000"/>
              </a:lnSpc>
              <a:spcBef>
                <a:spcPts val="409"/>
              </a:spcBef>
              <a:buFont typeface="Arial MT"/>
              <a:buChar char="–"/>
              <a:tabLst>
                <a:tab pos="756285" algn="l"/>
                <a:tab pos="756920" algn="l"/>
              </a:tabLst>
            </a:pPr>
            <a:r>
              <a:rPr sz="1700" dirty="0">
                <a:latin typeface="Calibri"/>
                <a:cs typeface="Calibri"/>
              </a:rPr>
              <a:t>Grid </a:t>
            </a:r>
            <a:r>
              <a:rPr sz="1700" spc="-5" dirty="0">
                <a:latin typeface="Calibri"/>
                <a:cs typeface="Calibri"/>
              </a:rPr>
              <a:t>computing </a:t>
            </a:r>
            <a:r>
              <a:rPr sz="1700" dirty="0">
                <a:latin typeface="Calibri"/>
                <a:cs typeface="Calibri"/>
              </a:rPr>
              <a:t>enables the </a:t>
            </a:r>
            <a:r>
              <a:rPr sz="1700" spc="-5" dirty="0">
                <a:latin typeface="Calibri"/>
                <a:cs typeface="Calibri"/>
              </a:rPr>
              <a:t>virtualization </a:t>
            </a:r>
            <a:r>
              <a:rPr sz="1700" dirty="0">
                <a:latin typeface="Calibri"/>
                <a:cs typeface="Calibri"/>
              </a:rPr>
              <a:t>of </a:t>
            </a:r>
            <a:r>
              <a:rPr sz="1700" spc="-5" dirty="0">
                <a:latin typeface="Calibri"/>
                <a:cs typeface="Calibri"/>
              </a:rPr>
              <a:t>distributed computing </a:t>
            </a:r>
            <a:r>
              <a:rPr sz="1700" dirty="0">
                <a:latin typeface="Calibri"/>
                <a:cs typeface="Calibri"/>
              </a:rPr>
              <a:t>and </a:t>
            </a:r>
            <a:r>
              <a:rPr sz="1700" spc="-10" dirty="0">
                <a:latin typeface="Calibri"/>
                <a:cs typeface="Calibri"/>
              </a:rPr>
              <a:t>data </a:t>
            </a:r>
            <a:r>
              <a:rPr sz="1700" spc="-5" dirty="0">
                <a:latin typeface="Calibri"/>
                <a:cs typeface="Calibri"/>
              </a:rPr>
              <a:t>resources </a:t>
            </a:r>
            <a:r>
              <a:rPr sz="1700" spc="-370" dirty="0">
                <a:latin typeface="Calibri"/>
                <a:cs typeface="Calibri"/>
              </a:rPr>
              <a:t> </a:t>
            </a:r>
            <a:r>
              <a:rPr sz="1700" dirty="0">
                <a:latin typeface="Calibri"/>
                <a:cs typeface="Calibri"/>
              </a:rPr>
              <a:t>such as </a:t>
            </a:r>
            <a:r>
              <a:rPr sz="1700" spc="-5" dirty="0">
                <a:latin typeface="Calibri"/>
                <a:cs typeface="Calibri"/>
              </a:rPr>
              <a:t>processing, network bandwidth </a:t>
            </a:r>
            <a:r>
              <a:rPr sz="1700" dirty="0">
                <a:latin typeface="Calibri"/>
                <a:cs typeface="Calibri"/>
              </a:rPr>
              <a:t>and </a:t>
            </a:r>
            <a:r>
              <a:rPr sz="1700" spc="-10" dirty="0">
                <a:latin typeface="Calibri"/>
                <a:cs typeface="Calibri"/>
              </a:rPr>
              <a:t>storage </a:t>
            </a:r>
            <a:r>
              <a:rPr sz="1700" dirty="0">
                <a:latin typeface="Calibri"/>
                <a:cs typeface="Calibri"/>
              </a:rPr>
              <a:t>capacity </a:t>
            </a:r>
            <a:r>
              <a:rPr sz="1700" spc="-5" dirty="0">
                <a:latin typeface="Calibri"/>
                <a:cs typeface="Calibri"/>
              </a:rPr>
              <a:t>to </a:t>
            </a:r>
            <a:r>
              <a:rPr sz="1700" spc="-10" dirty="0">
                <a:latin typeface="Calibri"/>
                <a:cs typeface="Calibri"/>
              </a:rPr>
              <a:t>create </a:t>
            </a:r>
            <a:r>
              <a:rPr sz="1700" dirty="0">
                <a:latin typeface="Calibri"/>
                <a:cs typeface="Calibri"/>
              </a:rPr>
              <a:t>a single </a:t>
            </a:r>
            <a:r>
              <a:rPr sz="1700" spc="-15" dirty="0">
                <a:latin typeface="Calibri"/>
                <a:cs typeface="Calibri"/>
              </a:rPr>
              <a:t>system </a:t>
            </a:r>
            <a:r>
              <a:rPr sz="1700" spc="-10" dirty="0">
                <a:latin typeface="Calibri"/>
                <a:cs typeface="Calibri"/>
              </a:rPr>
              <a:t> </a:t>
            </a:r>
            <a:r>
              <a:rPr sz="1700" spc="-5" dirty="0">
                <a:latin typeface="Calibri"/>
                <a:cs typeface="Calibri"/>
              </a:rPr>
              <a:t>image,</a:t>
            </a:r>
            <a:r>
              <a:rPr sz="1700" spc="30" dirty="0">
                <a:latin typeface="Calibri"/>
                <a:cs typeface="Calibri"/>
              </a:rPr>
              <a:t> </a:t>
            </a:r>
            <a:r>
              <a:rPr sz="1700" spc="-10" dirty="0">
                <a:latin typeface="Calibri"/>
                <a:cs typeface="Calibri"/>
              </a:rPr>
              <a:t>granting</a:t>
            </a:r>
            <a:r>
              <a:rPr sz="1700" spc="25" dirty="0">
                <a:latin typeface="Calibri"/>
                <a:cs typeface="Calibri"/>
              </a:rPr>
              <a:t> </a:t>
            </a:r>
            <a:r>
              <a:rPr sz="1700" spc="-10" dirty="0">
                <a:latin typeface="Calibri"/>
                <a:cs typeface="Calibri"/>
              </a:rPr>
              <a:t>users</a:t>
            </a:r>
            <a:r>
              <a:rPr sz="1700" spc="-5" dirty="0">
                <a:latin typeface="Calibri"/>
                <a:cs typeface="Calibri"/>
              </a:rPr>
              <a:t> </a:t>
            </a:r>
            <a:r>
              <a:rPr sz="1700" dirty="0">
                <a:latin typeface="Calibri"/>
                <a:cs typeface="Calibri"/>
              </a:rPr>
              <a:t>and</a:t>
            </a:r>
            <a:r>
              <a:rPr sz="1700" spc="5" dirty="0">
                <a:latin typeface="Calibri"/>
                <a:cs typeface="Calibri"/>
              </a:rPr>
              <a:t> </a:t>
            </a:r>
            <a:r>
              <a:rPr sz="1700" spc="-5" dirty="0">
                <a:latin typeface="Calibri"/>
                <a:cs typeface="Calibri"/>
              </a:rPr>
              <a:t>applications</a:t>
            </a:r>
            <a:r>
              <a:rPr sz="1700" spc="-10" dirty="0">
                <a:latin typeface="Calibri"/>
                <a:cs typeface="Calibri"/>
              </a:rPr>
              <a:t> </a:t>
            </a:r>
            <a:r>
              <a:rPr sz="1700" dirty="0">
                <a:latin typeface="Calibri"/>
                <a:cs typeface="Calibri"/>
              </a:rPr>
              <a:t>seamless</a:t>
            </a:r>
            <a:r>
              <a:rPr sz="1700" spc="-5" dirty="0">
                <a:latin typeface="Calibri"/>
                <a:cs typeface="Calibri"/>
              </a:rPr>
              <a:t> </a:t>
            </a:r>
            <a:r>
              <a:rPr sz="1700" dirty="0">
                <a:latin typeface="Calibri"/>
                <a:cs typeface="Calibri"/>
              </a:rPr>
              <a:t>access</a:t>
            </a:r>
            <a:r>
              <a:rPr sz="1700" spc="20" dirty="0">
                <a:latin typeface="Calibri"/>
                <a:cs typeface="Calibri"/>
              </a:rPr>
              <a:t> </a:t>
            </a:r>
            <a:r>
              <a:rPr sz="1700" spc="-5" dirty="0">
                <a:latin typeface="Calibri"/>
                <a:cs typeface="Calibri"/>
              </a:rPr>
              <a:t>to</a:t>
            </a:r>
            <a:r>
              <a:rPr sz="1700" spc="25" dirty="0">
                <a:latin typeface="Calibri"/>
                <a:cs typeface="Calibri"/>
              </a:rPr>
              <a:t> </a:t>
            </a:r>
            <a:r>
              <a:rPr sz="1700" spc="-10" dirty="0">
                <a:latin typeface="Calibri"/>
                <a:cs typeface="Calibri"/>
              </a:rPr>
              <a:t>vast</a:t>
            </a:r>
            <a:r>
              <a:rPr sz="1700" spc="25" dirty="0">
                <a:latin typeface="Calibri"/>
                <a:cs typeface="Calibri"/>
              </a:rPr>
              <a:t> </a:t>
            </a:r>
            <a:r>
              <a:rPr sz="1700" dirty="0">
                <a:latin typeface="Calibri"/>
                <a:cs typeface="Calibri"/>
              </a:rPr>
              <a:t>IT</a:t>
            </a:r>
            <a:r>
              <a:rPr sz="1700" spc="30" dirty="0">
                <a:latin typeface="Calibri"/>
                <a:cs typeface="Calibri"/>
              </a:rPr>
              <a:t> </a:t>
            </a:r>
            <a:r>
              <a:rPr sz="1700" spc="-5" dirty="0">
                <a:latin typeface="Calibri"/>
                <a:cs typeface="Calibri"/>
              </a:rPr>
              <a:t>capabilities. </a:t>
            </a:r>
            <a:r>
              <a:rPr sz="1700" spc="-10" dirty="0">
                <a:latin typeface="Calibri"/>
                <a:cs typeface="Calibri"/>
              </a:rPr>
              <a:t>Just</a:t>
            </a:r>
            <a:r>
              <a:rPr sz="1700" spc="20" dirty="0">
                <a:latin typeface="Calibri"/>
                <a:cs typeface="Calibri"/>
              </a:rPr>
              <a:t> </a:t>
            </a:r>
            <a:r>
              <a:rPr sz="1700" dirty="0">
                <a:latin typeface="Calibri"/>
                <a:cs typeface="Calibri"/>
              </a:rPr>
              <a:t>as </a:t>
            </a:r>
            <a:r>
              <a:rPr sz="1700" spc="5" dirty="0">
                <a:latin typeface="Calibri"/>
                <a:cs typeface="Calibri"/>
              </a:rPr>
              <a:t> </a:t>
            </a:r>
            <a:r>
              <a:rPr sz="1700" dirty="0">
                <a:latin typeface="Calibri"/>
                <a:cs typeface="Calibri"/>
              </a:rPr>
              <a:t>an</a:t>
            </a:r>
            <a:r>
              <a:rPr sz="1700" spc="-10" dirty="0">
                <a:latin typeface="Calibri"/>
                <a:cs typeface="Calibri"/>
              </a:rPr>
              <a:t> </a:t>
            </a:r>
            <a:r>
              <a:rPr sz="1700" spc="-5" dirty="0">
                <a:latin typeface="Calibri"/>
                <a:cs typeface="Calibri"/>
              </a:rPr>
              <a:t>Internet</a:t>
            </a:r>
            <a:r>
              <a:rPr sz="1700" spc="-30" dirty="0">
                <a:latin typeface="Calibri"/>
                <a:cs typeface="Calibri"/>
              </a:rPr>
              <a:t> </a:t>
            </a:r>
            <a:r>
              <a:rPr sz="1700" dirty="0">
                <a:latin typeface="Calibri"/>
                <a:cs typeface="Calibri"/>
              </a:rPr>
              <a:t>user</a:t>
            </a:r>
            <a:r>
              <a:rPr sz="1700" spc="-15" dirty="0">
                <a:latin typeface="Calibri"/>
                <a:cs typeface="Calibri"/>
              </a:rPr>
              <a:t> </a:t>
            </a:r>
            <a:r>
              <a:rPr sz="1700" spc="-5" dirty="0">
                <a:latin typeface="Calibri"/>
                <a:cs typeface="Calibri"/>
              </a:rPr>
              <a:t>views</a:t>
            </a:r>
            <a:r>
              <a:rPr sz="1700" spc="-30" dirty="0">
                <a:latin typeface="Calibri"/>
                <a:cs typeface="Calibri"/>
              </a:rPr>
              <a:t> </a:t>
            </a:r>
            <a:r>
              <a:rPr sz="1700" dirty="0">
                <a:latin typeface="Calibri"/>
                <a:cs typeface="Calibri"/>
              </a:rPr>
              <a:t>a</a:t>
            </a:r>
            <a:r>
              <a:rPr sz="1700" spc="10" dirty="0">
                <a:latin typeface="Calibri"/>
                <a:cs typeface="Calibri"/>
              </a:rPr>
              <a:t> </a:t>
            </a:r>
            <a:r>
              <a:rPr sz="1700" dirty="0">
                <a:latin typeface="Calibri"/>
                <a:cs typeface="Calibri"/>
              </a:rPr>
              <a:t>unified</a:t>
            </a:r>
            <a:r>
              <a:rPr sz="1700" spc="-40" dirty="0">
                <a:latin typeface="Calibri"/>
                <a:cs typeface="Calibri"/>
              </a:rPr>
              <a:t> </a:t>
            </a:r>
            <a:r>
              <a:rPr sz="1700" spc="-5" dirty="0">
                <a:latin typeface="Calibri"/>
                <a:cs typeface="Calibri"/>
              </a:rPr>
              <a:t>instance</a:t>
            </a:r>
            <a:r>
              <a:rPr sz="1700" spc="-20" dirty="0">
                <a:latin typeface="Calibri"/>
                <a:cs typeface="Calibri"/>
              </a:rPr>
              <a:t> </a:t>
            </a:r>
            <a:r>
              <a:rPr sz="1700" spc="-5" dirty="0">
                <a:latin typeface="Calibri"/>
                <a:cs typeface="Calibri"/>
              </a:rPr>
              <a:t>of</a:t>
            </a:r>
            <a:r>
              <a:rPr sz="1700" spc="15" dirty="0">
                <a:latin typeface="Calibri"/>
                <a:cs typeface="Calibri"/>
              </a:rPr>
              <a:t> </a:t>
            </a:r>
            <a:r>
              <a:rPr sz="1700" spc="-10" dirty="0">
                <a:latin typeface="Calibri"/>
                <a:cs typeface="Calibri"/>
              </a:rPr>
              <a:t>content</a:t>
            </a:r>
            <a:r>
              <a:rPr sz="1700" spc="-30" dirty="0">
                <a:latin typeface="Calibri"/>
                <a:cs typeface="Calibri"/>
              </a:rPr>
              <a:t> </a:t>
            </a:r>
            <a:r>
              <a:rPr sz="1700" dirty="0">
                <a:latin typeface="Calibri"/>
                <a:cs typeface="Calibri"/>
              </a:rPr>
              <a:t>via</a:t>
            </a:r>
            <a:r>
              <a:rPr sz="1700" spc="-10" dirty="0">
                <a:latin typeface="Calibri"/>
                <a:cs typeface="Calibri"/>
              </a:rPr>
              <a:t> </a:t>
            </a:r>
            <a:r>
              <a:rPr sz="1700" dirty="0">
                <a:latin typeface="Calibri"/>
                <a:cs typeface="Calibri"/>
              </a:rPr>
              <a:t>the</a:t>
            </a:r>
            <a:r>
              <a:rPr sz="1700" spc="-5" dirty="0">
                <a:latin typeface="Calibri"/>
                <a:cs typeface="Calibri"/>
              </a:rPr>
              <a:t> </a:t>
            </a:r>
            <a:r>
              <a:rPr sz="1700" spc="-15" dirty="0">
                <a:latin typeface="Calibri"/>
                <a:cs typeface="Calibri"/>
              </a:rPr>
              <a:t>Web,</a:t>
            </a:r>
            <a:r>
              <a:rPr sz="1700" dirty="0">
                <a:latin typeface="Calibri"/>
                <a:cs typeface="Calibri"/>
              </a:rPr>
              <a:t> a</a:t>
            </a:r>
            <a:r>
              <a:rPr sz="1700" spc="5" dirty="0">
                <a:latin typeface="Calibri"/>
                <a:cs typeface="Calibri"/>
              </a:rPr>
              <a:t> </a:t>
            </a:r>
            <a:r>
              <a:rPr sz="1700" dirty="0">
                <a:latin typeface="Calibri"/>
                <a:cs typeface="Calibri"/>
              </a:rPr>
              <a:t>grid</a:t>
            </a:r>
            <a:r>
              <a:rPr sz="1700" spc="-30" dirty="0">
                <a:latin typeface="Calibri"/>
                <a:cs typeface="Calibri"/>
              </a:rPr>
              <a:t> </a:t>
            </a:r>
            <a:r>
              <a:rPr sz="1700" dirty="0">
                <a:latin typeface="Calibri"/>
                <a:cs typeface="Calibri"/>
              </a:rPr>
              <a:t>user</a:t>
            </a:r>
            <a:r>
              <a:rPr sz="1700" spc="-25" dirty="0">
                <a:latin typeface="Calibri"/>
                <a:cs typeface="Calibri"/>
              </a:rPr>
              <a:t> </a:t>
            </a:r>
            <a:r>
              <a:rPr sz="1700" spc="-5" dirty="0">
                <a:latin typeface="Calibri"/>
                <a:cs typeface="Calibri"/>
              </a:rPr>
              <a:t>essentially </a:t>
            </a:r>
            <a:r>
              <a:rPr sz="1700" spc="-365" dirty="0">
                <a:latin typeface="Calibri"/>
                <a:cs typeface="Calibri"/>
              </a:rPr>
              <a:t> </a:t>
            </a:r>
            <a:r>
              <a:rPr sz="1700" dirty="0">
                <a:latin typeface="Calibri"/>
                <a:cs typeface="Calibri"/>
              </a:rPr>
              <a:t>sees</a:t>
            </a:r>
            <a:r>
              <a:rPr sz="1700" spc="-25" dirty="0">
                <a:latin typeface="Calibri"/>
                <a:cs typeface="Calibri"/>
              </a:rPr>
              <a:t> </a:t>
            </a:r>
            <a:r>
              <a:rPr sz="1700" dirty="0">
                <a:latin typeface="Calibri"/>
                <a:cs typeface="Calibri"/>
              </a:rPr>
              <a:t>a single,</a:t>
            </a:r>
            <a:r>
              <a:rPr sz="1700" spc="-40" dirty="0">
                <a:latin typeface="Calibri"/>
                <a:cs typeface="Calibri"/>
              </a:rPr>
              <a:t> </a:t>
            </a:r>
            <a:r>
              <a:rPr sz="1700" spc="-5" dirty="0">
                <a:latin typeface="Calibri"/>
                <a:cs typeface="Calibri"/>
              </a:rPr>
              <a:t>large</a:t>
            </a:r>
            <a:r>
              <a:rPr sz="1700" spc="-25" dirty="0">
                <a:latin typeface="Calibri"/>
                <a:cs typeface="Calibri"/>
              </a:rPr>
              <a:t> </a:t>
            </a:r>
            <a:r>
              <a:rPr sz="1700" dirty="0">
                <a:latin typeface="Calibri"/>
                <a:cs typeface="Calibri"/>
              </a:rPr>
              <a:t>virtual</a:t>
            </a:r>
            <a:r>
              <a:rPr sz="1700" spc="-35" dirty="0">
                <a:latin typeface="Calibri"/>
                <a:cs typeface="Calibri"/>
              </a:rPr>
              <a:t> </a:t>
            </a:r>
            <a:r>
              <a:rPr sz="1700" spc="-25" dirty="0">
                <a:latin typeface="Calibri"/>
                <a:cs typeface="Calibri"/>
              </a:rPr>
              <a:t>computer.</a:t>
            </a:r>
            <a:endParaRPr sz="1700" dirty="0">
              <a:latin typeface="Calibri"/>
              <a:cs typeface="Calibri"/>
            </a:endParaRPr>
          </a:p>
          <a:p>
            <a:pPr marL="355600" indent="-342900">
              <a:lnSpc>
                <a:spcPts val="2275"/>
              </a:lnSpc>
              <a:buFont typeface="Arial MT"/>
              <a:buChar char="•"/>
              <a:tabLst>
                <a:tab pos="354965" algn="l"/>
                <a:tab pos="355600" algn="l"/>
              </a:tabLst>
            </a:pPr>
            <a:r>
              <a:rPr sz="1900" spc="-5" dirty="0">
                <a:latin typeface="Calibri"/>
                <a:cs typeface="Calibri"/>
              </a:rPr>
              <a:t>Sun</a:t>
            </a:r>
            <a:r>
              <a:rPr sz="1900" spc="-35" dirty="0">
                <a:latin typeface="Calibri"/>
                <a:cs typeface="Calibri"/>
              </a:rPr>
              <a:t> </a:t>
            </a:r>
            <a:r>
              <a:rPr sz="1900" spc="-15" dirty="0">
                <a:latin typeface="Calibri"/>
                <a:cs typeface="Calibri"/>
              </a:rPr>
              <a:t>Microsystems</a:t>
            </a:r>
            <a:endParaRPr sz="1900" dirty="0">
              <a:latin typeface="Calibri"/>
              <a:cs typeface="Calibri"/>
            </a:endParaRPr>
          </a:p>
          <a:p>
            <a:pPr marL="756285" marR="326390" lvl="1" indent="-287020">
              <a:lnSpc>
                <a:spcPts val="1820"/>
              </a:lnSpc>
              <a:spcBef>
                <a:spcPts val="440"/>
              </a:spcBef>
              <a:buFont typeface="Arial MT"/>
              <a:buChar char="–"/>
              <a:tabLst>
                <a:tab pos="756285" algn="l"/>
                <a:tab pos="756920" algn="l"/>
              </a:tabLst>
            </a:pPr>
            <a:r>
              <a:rPr sz="1900" spc="-5" dirty="0">
                <a:latin typeface="Calibri"/>
                <a:cs typeface="Calibri"/>
              </a:rPr>
              <a:t>Grid </a:t>
            </a:r>
            <a:r>
              <a:rPr sz="1900" spc="-10" dirty="0">
                <a:latin typeface="Calibri"/>
                <a:cs typeface="Calibri"/>
              </a:rPr>
              <a:t>Computing</a:t>
            </a:r>
            <a:r>
              <a:rPr sz="1900" spc="30" dirty="0">
                <a:latin typeface="Calibri"/>
                <a:cs typeface="Calibri"/>
              </a:rPr>
              <a:t> </a:t>
            </a:r>
            <a:r>
              <a:rPr sz="1900" spc="-5" dirty="0">
                <a:latin typeface="Calibri"/>
                <a:cs typeface="Calibri"/>
              </a:rPr>
              <a:t>is</a:t>
            </a:r>
            <a:r>
              <a:rPr sz="1900" dirty="0">
                <a:latin typeface="Calibri"/>
                <a:cs typeface="Calibri"/>
              </a:rPr>
              <a:t> </a:t>
            </a:r>
            <a:r>
              <a:rPr sz="1900" spc="-5" dirty="0">
                <a:latin typeface="Calibri"/>
                <a:cs typeface="Calibri"/>
              </a:rPr>
              <a:t>a</a:t>
            </a:r>
            <a:r>
              <a:rPr sz="1900" spc="-10" dirty="0">
                <a:latin typeface="Calibri"/>
                <a:cs typeface="Calibri"/>
              </a:rPr>
              <a:t> computing</a:t>
            </a:r>
            <a:r>
              <a:rPr sz="1900" spc="15" dirty="0">
                <a:latin typeface="Calibri"/>
                <a:cs typeface="Calibri"/>
              </a:rPr>
              <a:t> </a:t>
            </a:r>
            <a:r>
              <a:rPr sz="1900" spc="-10" dirty="0">
                <a:latin typeface="Calibri"/>
                <a:cs typeface="Calibri"/>
              </a:rPr>
              <a:t>infrastructure</a:t>
            </a:r>
            <a:r>
              <a:rPr sz="1900" spc="20" dirty="0">
                <a:latin typeface="Calibri"/>
                <a:cs typeface="Calibri"/>
              </a:rPr>
              <a:t> </a:t>
            </a:r>
            <a:r>
              <a:rPr sz="1900" spc="-5" dirty="0">
                <a:latin typeface="Calibri"/>
                <a:cs typeface="Calibri"/>
              </a:rPr>
              <a:t>that</a:t>
            </a:r>
            <a:r>
              <a:rPr sz="1900" spc="-10" dirty="0">
                <a:latin typeface="Calibri"/>
                <a:cs typeface="Calibri"/>
              </a:rPr>
              <a:t> </a:t>
            </a:r>
            <a:r>
              <a:rPr sz="1900" spc="-15" dirty="0">
                <a:latin typeface="Calibri"/>
                <a:cs typeface="Calibri"/>
              </a:rPr>
              <a:t>provides</a:t>
            </a:r>
            <a:r>
              <a:rPr sz="1900" spc="40" dirty="0">
                <a:latin typeface="Calibri"/>
                <a:cs typeface="Calibri"/>
              </a:rPr>
              <a:t> </a:t>
            </a:r>
            <a:r>
              <a:rPr sz="1900" spc="-5" dirty="0">
                <a:latin typeface="Calibri"/>
                <a:cs typeface="Calibri"/>
              </a:rPr>
              <a:t>dependable, </a:t>
            </a:r>
            <a:r>
              <a:rPr sz="1900" dirty="0">
                <a:latin typeface="Calibri"/>
                <a:cs typeface="Calibri"/>
              </a:rPr>
              <a:t> </a:t>
            </a:r>
            <a:r>
              <a:rPr sz="1900" spc="-10" dirty="0">
                <a:latin typeface="Calibri"/>
                <a:cs typeface="Calibri"/>
              </a:rPr>
              <a:t>consistent, pervasive</a:t>
            </a:r>
            <a:r>
              <a:rPr sz="1900" spc="35" dirty="0">
                <a:latin typeface="Calibri"/>
                <a:cs typeface="Calibri"/>
              </a:rPr>
              <a:t> </a:t>
            </a:r>
            <a:r>
              <a:rPr sz="1900" spc="-5" dirty="0">
                <a:latin typeface="Calibri"/>
                <a:cs typeface="Calibri"/>
              </a:rPr>
              <a:t>and</a:t>
            </a:r>
            <a:r>
              <a:rPr sz="1900" dirty="0">
                <a:latin typeface="Calibri"/>
                <a:cs typeface="Calibri"/>
              </a:rPr>
              <a:t> </a:t>
            </a:r>
            <a:r>
              <a:rPr sz="1900" spc="-10" dirty="0">
                <a:latin typeface="Calibri"/>
                <a:cs typeface="Calibri"/>
              </a:rPr>
              <a:t>inexpensive</a:t>
            </a:r>
            <a:r>
              <a:rPr sz="1900" spc="35" dirty="0">
                <a:latin typeface="Calibri"/>
                <a:cs typeface="Calibri"/>
              </a:rPr>
              <a:t> </a:t>
            </a:r>
            <a:r>
              <a:rPr sz="1900" spc="-5" dirty="0">
                <a:latin typeface="Calibri"/>
                <a:cs typeface="Calibri"/>
              </a:rPr>
              <a:t>access</a:t>
            </a:r>
            <a:r>
              <a:rPr sz="1900" spc="-20" dirty="0">
                <a:latin typeface="Calibri"/>
                <a:cs typeface="Calibri"/>
              </a:rPr>
              <a:t> </a:t>
            </a:r>
            <a:r>
              <a:rPr sz="1900" spc="-15" dirty="0">
                <a:latin typeface="Calibri"/>
                <a:cs typeface="Calibri"/>
              </a:rPr>
              <a:t>to</a:t>
            </a:r>
            <a:r>
              <a:rPr sz="1900" spc="-10" dirty="0">
                <a:latin typeface="Calibri"/>
                <a:cs typeface="Calibri"/>
              </a:rPr>
              <a:t> computational</a:t>
            </a:r>
            <a:r>
              <a:rPr sz="1900" spc="5" dirty="0">
                <a:latin typeface="Calibri"/>
                <a:cs typeface="Calibri"/>
              </a:rPr>
              <a:t> </a:t>
            </a:r>
            <a:r>
              <a:rPr sz="1900" spc="-5" dirty="0">
                <a:latin typeface="Calibri"/>
                <a:cs typeface="Calibri"/>
              </a:rPr>
              <a:t>capabilities</a:t>
            </a:r>
            <a:endParaRPr sz="1900" dirty="0">
              <a:latin typeface="Calibri"/>
              <a:cs typeface="Calibri"/>
            </a:endParaRPr>
          </a:p>
        </p:txBody>
      </p:sp>
      <p:sp>
        <p:nvSpPr>
          <p:cNvPr id="5" name="Footer Placeholder 4">
            <a:extLst>
              <a:ext uri="{FF2B5EF4-FFF2-40B4-BE49-F238E27FC236}">
                <a16:creationId xmlns:a16="http://schemas.microsoft.com/office/drawing/2014/main" id="{A74C3B1B-8066-FE32-4BDC-B2F4FD3FE627}"/>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599" y="357831"/>
            <a:ext cx="5485511" cy="381515"/>
          </a:xfrm>
          <a:prstGeom prst="rect">
            <a:avLst/>
          </a:prstGeom>
        </p:spPr>
        <p:txBody>
          <a:bodyPr vert="horz" wrap="square" lIns="0" tIns="12065" rIns="0" bIns="0" rtlCol="0">
            <a:spAutoFit/>
          </a:bodyPr>
          <a:lstStyle/>
          <a:p>
            <a:pPr marL="12700" algn="ctr">
              <a:lnSpc>
                <a:spcPct val="100000"/>
              </a:lnSpc>
              <a:spcBef>
                <a:spcPts val="95"/>
              </a:spcBef>
            </a:pPr>
            <a:r>
              <a:rPr sz="2400" spc="-10" dirty="0">
                <a:solidFill>
                  <a:srgbClr val="000000"/>
                </a:solidFill>
                <a:latin typeface="Calibri"/>
                <a:cs typeface="Calibri"/>
              </a:rPr>
              <a:t>Electrical</a:t>
            </a:r>
            <a:r>
              <a:rPr sz="2400" spc="-35" dirty="0">
                <a:solidFill>
                  <a:srgbClr val="000000"/>
                </a:solidFill>
                <a:latin typeface="Calibri"/>
                <a:cs typeface="Calibri"/>
              </a:rPr>
              <a:t> </a:t>
            </a:r>
            <a:r>
              <a:rPr sz="2400" spc="-30" dirty="0">
                <a:solidFill>
                  <a:srgbClr val="000000"/>
                </a:solidFill>
                <a:latin typeface="Calibri"/>
                <a:cs typeface="Calibri"/>
              </a:rPr>
              <a:t>Power</a:t>
            </a:r>
            <a:r>
              <a:rPr sz="2400" spc="-5" dirty="0">
                <a:solidFill>
                  <a:srgbClr val="000000"/>
                </a:solidFill>
                <a:latin typeface="Calibri"/>
                <a:cs typeface="Calibri"/>
              </a:rPr>
              <a:t> Grid</a:t>
            </a:r>
            <a:r>
              <a:rPr sz="2400" spc="-10" dirty="0">
                <a:solidFill>
                  <a:srgbClr val="000000"/>
                </a:solidFill>
                <a:latin typeface="Calibri"/>
                <a:cs typeface="Calibri"/>
              </a:rPr>
              <a:t> </a:t>
            </a:r>
            <a:r>
              <a:rPr sz="2400" spc="-5" dirty="0">
                <a:solidFill>
                  <a:srgbClr val="000000"/>
                </a:solidFill>
                <a:latin typeface="Calibri"/>
                <a:cs typeface="Calibri"/>
              </a:rPr>
              <a:t>Analogy</a:t>
            </a:r>
            <a:endParaRPr sz="2400" dirty="0">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r>
              <a:rPr dirty="0"/>
              <a:t>8</a:t>
            </a:r>
          </a:p>
        </p:txBody>
      </p:sp>
      <p:sp>
        <p:nvSpPr>
          <p:cNvPr id="3" name="object 3"/>
          <p:cNvSpPr txBox="1"/>
          <p:nvPr/>
        </p:nvSpPr>
        <p:spPr>
          <a:xfrm>
            <a:off x="307340" y="1210084"/>
            <a:ext cx="4110990" cy="2150745"/>
          </a:xfrm>
          <a:prstGeom prst="rect">
            <a:avLst/>
          </a:prstGeom>
        </p:spPr>
        <p:txBody>
          <a:bodyPr vert="horz" wrap="square" lIns="0" tIns="153670" rIns="0" bIns="0" rtlCol="0">
            <a:spAutoFit/>
          </a:bodyPr>
          <a:lstStyle/>
          <a:p>
            <a:pPr marL="169545" algn="just">
              <a:lnSpc>
                <a:spcPct val="100000"/>
              </a:lnSpc>
              <a:spcBef>
                <a:spcPts val="1210"/>
              </a:spcBef>
            </a:pPr>
            <a:r>
              <a:rPr sz="1800" b="1" spc="-5" dirty="0">
                <a:latin typeface="Calibri"/>
                <a:cs typeface="Calibri"/>
              </a:rPr>
              <a:t>Electrical</a:t>
            </a:r>
            <a:r>
              <a:rPr sz="1800" b="1" spc="-50" dirty="0">
                <a:latin typeface="Calibri"/>
                <a:cs typeface="Calibri"/>
              </a:rPr>
              <a:t> </a:t>
            </a:r>
            <a:r>
              <a:rPr sz="1800" b="1" spc="-10" dirty="0">
                <a:latin typeface="Calibri"/>
                <a:cs typeface="Calibri"/>
              </a:rPr>
              <a:t>Power</a:t>
            </a:r>
            <a:r>
              <a:rPr sz="1800" b="1" spc="-40" dirty="0">
                <a:latin typeface="Calibri"/>
                <a:cs typeface="Calibri"/>
              </a:rPr>
              <a:t> </a:t>
            </a:r>
            <a:r>
              <a:rPr sz="1800" b="1" spc="-5" dirty="0">
                <a:latin typeface="Calibri"/>
                <a:cs typeface="Calibri"/>
              </a:rPr>
              <a:t>Grid</a:t>
            </a:r>
            <a:endParaRPr sz="1800" dirty="0">
              <a:latin typeface="Calibri"/>
              <a:cs typeface="Calibri"/>
            </a:endParaRPr>
          </a:p>
          <a:p>
            <a:pPr marL="194945" marR="5080" indent="-182880" algn="just">
              <a:lnSpc>
                <a:spcPct val="100000"/>
              </a:lnSpc>
              <a:spcBef>
                <a:spcPts val="980"/>
              </a:spcBef>
              <a:buClr>
                <a:srgbClr val="4F80BC"/>
              </a:buClr>
              <a:buSzPct val="84375"/>
              <a:buFont typeface="Arial MT"/>
              <a:buChar char="•"/>
              <a:tabLst>
                <a:tab pos="195580" algn="l"/>
              </a:tabLst>
            </a:pPr>
            <a:r>
              <a:rPr sz="1600" spc="-10" dirty="0">
                <a:latin typeface="Calibri"/>
                <a:cs typeface="Calibri"/>
              </a:rPr>
              <a:t>Users</a:t>
            </a:r>
            <a:r>
              <a:rPr sz="1600" spc="-5" dirty="0">
                <a:latin typeface="Calibri"/>
                <a:cs typeface="Calibri"/>
              </a:rPr>
              <a:t> </a:t>
            </a:r>
            <a:r>
              <a:rPr sz="1600" dirty="0">
                <a:latin typeface="Calibri"/>
                <a:cs typeface="Calibri"/>
              </a:rPr>
              <a:t>(or</a:t>
            </a:r>
            <a:r>
              <a:rPr sz="1600" spc="5" dirty="0">
                <a:latin typeface="Calibri"/>
                <a:cs typeface="Calibri"/>
              </a:rPr>
              <a:t> </a:t>
            </a:r>
            <a:r>
              <a:rPr sz="1600" spc="-5" dirty="0">
                <a:latin typeface="Calibri"/>
                <a:cs typeface="Calibri"/>
              </a:rPr>
              <a:t>electrical</a:t>
            </a:r>
            <a:r>
              <a:rPr sz="1600" dirty="0">
                <a:latin typeface="Calibri"/>
                <a:cs typeface="Calibri"/>
              </a:rPr>
              <a:t> </a:t>
            </a:r>
            <a:r>
              <a:rPr sz="1600" spc="-10" dirty="0">
                <a:latin typeface="Calibri"/>
                <a:cs typeface="Calibri"/>
              </a:rPr>
              <a:t>appliances)</a:t>
            </a:r>
            <a:r>
              <a:rPr sz="1600" spc="-5" dirty="0">
                <a:latin typeface="Calibri"/>
                <a:cs typeface="Calibri"/>
              </a:rPr>
              <a:t> </a:t>
            </a:r>
            <a:r>
              <a:rPr sz="1600" spc="-10" dirty="0">
                <a:latin typeface="Calibri"/>
                <a:cs typeface="Calibri"/>
              </a:rPr>
              <a:t>get</a:t>
            </a:r>
            <a:r>
              <a:rPr sz="1600" spc="-5" dirty="0">
                <a:latin typeface="Calibri"/>
                <a:cs typeface="Calibri"/>
              </a:rPr>
              <a:t> access</a:t>
            </a:r>
            <a:r>
              <a:rPr sz="1600" dirty="0">
                <a:latin typeface="Calibri"/>
                <a:cs typeface="Calibri"/>
              </a:rPr>
              <a:t> </a:t>
            </a:r>
            <a:r>
              <a:rPr sz="1600" spc="-15" dirty="0">
                <a:latin typeface="Calibri"/>
                <a:cs typeface="Calibri"/>
              </a:rPr>
              <a:t>to </a:t>
            </a:r>
            <a:r>
              <a:rPr sz="1600" spc="-350" dirty="0">
                <a:latin typeface="Calibri"/>
                <a:cs typeface="Calibri"/>
              </a:rPr>
              <a:t> </a:t>
            </a:r>
            <a:r>
              <a:rPr sz="1600" spc="-5" dirty="0">
                <a:latin typeface="Calibri"/>
                <a:cs typeface="Calibri"/>
              </a:rPr>
              <a:t>electricity </a:t>
            </a:r>
            <a:r>
              <a:rPr sz="1600" spc="-10" dirty="0">
                <a:latin typeface="Calibri"/>
                <a:cs typeface="Calibri"/>
              </a:rPr>
              <a:t>through </a:t>
            </a:r>
            <a:r>
              <a:rPr sz="1600" spc="-5" dirty="0">
                <a:latin typeface="Calibri"/>
                <a:cs typeface="Calibri"/>
              </a:rPr>
              <a:t>wall </a:t>
            </a:r>
            <a:r>
              <a:rPr sz="1600" spc="-15" dirty="0">
                <a:latin typeface="Calibri"/>
                <a:cs typeface="Calibri"/>
              </a:rPr>
              <a:t>sockets </a:t>
            </a:r>
            <a:r>
              <a:rPr sz="1600" spc="-5" dirty="0">
                <a:latin typeface="Calibri"/>
                <a:cs typeface="Calibri"/>
              </a:rPr>
              <a:t>with no </a:t>
            </a:r>
            <a:r>
              <a:rPr sz="1600" spc="-15" dirty="0">
                <a:latin typeface="Calibri"/>
                <a:cs typeface="Calibri"/>
              </a:rPr>
              <a:t>care </a:t>
            </a:r>
            <a:r>
              <a:rPr sz="1600" spc="5" dirty="0">
                <a:latin typeface="Calibri"/>
                <a:cs typeface="Calibri"/>
              </a:rPr>
              <a:t>or </a:t>
            </a:r>
            <a:r>
              <a:rPr sz="1600" spc="10" dirty="0">
                <a:latin typeface="Calibri"/>
                <a:cs typeface="Calibri"/>
              </a:rPr>
              <a:t> </a:t>
            </a:r>
            <a:r>
              <a:rPr sz="1600" spc="-10" dirty="0">
                <a:latin typeface="Calibri"/>
                <a:cs typeface="Calibri"/>
              </a:rPr>
              <a:t>consideration</a:t>
            </a:r>
            <a:r>
              <a:rPr sz="1600" spc="150" dirty="0">
                <a:latin typeface="Calibri"/>
                <a:cs typeface="Calibri"/>
              </a:rPr>
              <a:t> </a:t>
            </a:r>
            <a:r>
              <a:rPr sz="1600" spc="-15" dirty="0">
                <a:latin typeface="Calibri"/>
                <a:cs typeface="Calibri"/>
              </a:rPr>
              <a:t>for</a:t>
            </a:r>
            <a:r>
              <a:rPr sz="1600" spc="150" dirty="0">
                <a:latin typeface="Calibri"/>
                <a:cs typeface="Calibri"/>
              </a:rPr>
              <a:t> </a:t>
            </a:r>
            <a:r>
              <a:rPr sz="1600" spc="-10" dirty="0">
                <a:latin typeface="Calibri"/>
                <a:cs typeface="Calibri"/>
              </a:rPr>
              <a:t>where</a:t>
            </a:r>
            <a:r>
              <a:rPr sz="1600" spc="160" dirty="0">
                <a:latin typeface="Calibri"/>
                <a:cs typeface="Calibri"/>
              </a:rPr>
              <a:t> </a:t>
            </a:r>
            <a:r>
              <a:rPr sz="1600" dirty="0">
                <a:latin typeface="Calibri"/>
                <a:cs typeface="Calibri"/>
              </a:rPr>
              <a:t>or</a:t>
            </a:r>
            <a:r>
              <a:rPr sz="1600" spc="150" dirty="0">
                <a:latin typeface="Calibri"/>
                <a:cs typeface="Calibri"/>
              </a:rPr>
              <a:t> </a:t>
            </a:r>
            <a:r>
              <a:rPr sz="1600" spc="-5" dirty="0">
                <a:latin typeface="Calibri"/>
                <a:cs typeface="Calibri"/>
              </a:rPr>
              <a:t>how</a:t>
            </a:r>
            <a:r>
              <a:rPr sz="1600" spc="145" dirty="0">
                <a:latin typeface="Calibri"/>
                <a:cs typeface="Calibri"/>
              </a:rPr>
              <a:t> </a:t>
            </a:r>
            <a:r>
              <a:rPr sz="1600" spc="-5" dirty="0">
                <a:latin typeface="Calibri"/>
                <a:cs typeface="Calibri"/>
              </a:rPr>
              <a:t>the</a:t>
            </a:r>
            <a:r>
              <a:rPr sz="1600" spc="155" dirty="0">
                <a:latin typeface="Calibri"/>
                <a:cs typeface="Calibri"/>
              </a:rPr>
              <a:t> </a:t>
            </a:r>
            <a:r>
              <a:rPr sz="1600" spc="-5" dirty="0">
                <a:latin typeface="Calibri"/>
                <a:cs typeface="Calibri"/>
              </a:rPr>
              <a:t>electricity </a:t>
            </a:r>
            <a:r>
              <a:rPr sz="1600" spc="-350" dirty="0">
                <a:latin typeface="Calibri"/>
                <a:cs typeface="Calibri"/>
              </a:rPr>
              <a:t> </a:t>
            </a:r>
            <a:r>
              <a:rPr sz="1600" dirty="0">
                <a:latin typeface="Calibri"/>
                <a:cs typeface="Calibri"/>
              </a:rPr>
              <a:t>is</a:t>
            </a:r>
            <a:r>
              <a:rPr sz="1600" spc="-20" dirty="0">
                <a:latin typeface="Calibri"/>
                <a:cs typeface="Calibri"/>
              </a:rPr>
              <a:t> </a:t>
            </a:r>
            <a:r>
              <a:rPr sz="1600" spc="-5" dirty="0">
                <a:latin typeface="Calibri"/>
                <a:cs typeface="Calibri"/>
              </a:rPr>
              <a:t>actually</a:t>
            </a:r>
            <a:r>
              <a:rPr sz="1600" spc="-25" dirty="0">
                <a:latin typeface="Calibri"/>
                <a:cs typeface="Calibri"/>
              </a:rPr>
              <a:t> </a:t>
            </a:r>
            <a:r>
              <a:rPr sz="1600" spc="-10" dirty="0">
                <a:latin typeface="Calibri"/>
                <a:cs typeface="Calibri"/>
              </a:rPr>
              <a:t>generated.</a:t>
            </a:r>
            <a:endParaRPr sz="1600" dirty="0">
              <a:latin typeface="Calibri"/>
              <a:cs typeface="Calibri"/>
            </a:endParaRPr>
          </a:p>
          <a:p>
            <a:pPr marL="195580" marR="6350" indent="-182880" algn="just">
              <a:lnSpc>
                <a:spcPct val="100000"/>
              </a:lnSpc>
              <a:spcBef>
                <a:spcPts val="960"/>
              </a:spcBef>
              <a:buClr>
                <a:srgbClr val="4F80BC"/>
              </a:buClr>
              <a:buSzPct val="84375"/>
              <a:buFont typeface="Arial MT"/>
              <a:buChar char="•"/>
              <a:tabLst>
                <a:tab pos="195580" algn="l"/>
              </a:tabLst>
            </a:pPr>
            <a:r>
              <a:rPr sz="1600" b="1" spc="10" dirty="0">
                <a:latin typeface="Calibri"/>
                <a:cs typeface="Calibri"/>
              </a:rPr>
              <a:t>“The</a:t>
            </a:r>
            <a:r>
              <a:rPr sz="1600" b="1" spc="185" dirty="0">
                <a:latin typeface="Calibri"/>
                <a:cs typeface="Calibri"/>
              </a:rPr>
              <a:t> </a:t>
            </a:r>
            <a:r>
              <a:rPr sz="1600" b="1" spc="-10" dirty="0">
                <a:latin typeface="Calibri"/>
                <a:cs typeface="Calibri"/>
              </a:rPr>
              <a:t>power</a:t>
            </a:r>
            <a:r>
              <a:rPr sz="1600" b="1" spc="185" dirty="0">
                <a:latin typeface="Calibri"/>
                <a:cs typeface="Calibri"/>
              </a:rPr>
              <a:t> </a:t>
            </a:r>
            <a:r>
              <a:rPr sz="1600" b="1" spc="-5" dirty="0">
                <a:latin typeface="Calibri"/>
                <a:cs typeface="Calibri"/>
              </a:rPr>
              <a:t>grid”</a:t>
            </a:r>
            <a:r>
              <a:rPr sz="1600" b="1" spc="185" dirty="0">
                <a:latin typeface="Calibri"/>
                <a:cs typeface="Calibri"/>
              </a:rPr>
              <a:t> </a:t>
            </a:r>
            <a:r>
              <a:rPr sz="1600" spc="-10" dirty="0">
                <a:latin typeface="Calibri"/>
                <a:cs typeface="Calibri"/>
              </a:rPr>
              <a:t>links</a:t>
            </a:r>
            <a:r>
              <a:rPr sz="1600" spc="175" dirty="0">
                <a:latin typeface="Calibri"/>
                <a:cs typeface="Calibri"/>
              </a:rPr>
              <a:t> </a:t>
            </a:r>
            <a:r>
              <a:rPr sz="1600" spc="-10" dirty="0">
                <a:latin typeface="Calibri"/>
                <a:cs typeface="Calibri"/>
              </a:rPr>
              <a:t>together</a:t>
            </a:r>
            <a:r>
              <a:rPr sz="1600" spc="185" dirty="0">
                <a:latin typeface="Calibri"/>
                <a:cs typeface="Calibri"/>
              </a:rPr>
              <a:t> </a:t>
            </a:r>
            <a:r>
              <a:rPr sz="1600" spc="-5" dirty="0">
                <a:latin typeface="Calibri"/>
                <a:cs typeface="Calibri"/>
              </a:rPr>
              <a:t>power</a:t>
            </a:r>
            <a:r>
              <a:rPr sz="1600" spc="180" dirty="0">
                <a:latin typeface="Calibri"/>
                <a:cs typeface="Calibri"/>
              </a:rPr>
              <a:t> </a:t>
            </a:r>
            <a:r>
              <a:rPr sz="1600" spc="-5" dirty="0">
                <a:latin typeface="Calibri"/>
                <a:cs typeface="Calibri"/>
              </a:rPr>
              <a:t>plants </a:t>
            </a:r>
            <a:r>
              <a:rPr sz="1600" spc="-350" dirty="0">
                <a:latin typeface="Calibri"/>
                <a:cs typeface="Calibri"/>
              </a:rPr>
              <a:t> </a:t>
            </a:r>
            <a:r>
              <a:rPr sz="1600" spc="-5" dirty="0">
                <a:latin typeface="Calibri"/>
                <a:cs typeface="Calibri"/>
              </a:rPr>
              <a:t>of</a:t>
            </a:r>
            <a:r>
              <a:rPr sz="1600" spc="10" dirty="0">
                <a:latin typeface="Calibri"/>
                <a:cs typeface="Calibri"/>
              </a:rPr>
              <a:t> </a:t>
            </a:r>
            <a:r>
              <a:rPr sz="1600" spc="-10" dirty="0">
                <a:latin typeface="Calibri"/>
                <a:cs typeface="Calibri"/>
              </a:rPr>
              <a:t>many</a:t>
            </a:r>
            <a:r>
              <a:rPr sz="1600" spc="-20" dirty="0">
                <a:latin typeface="Calibri"/>
                <a:cs typeface="Calibri"/>
              </a:rPr>
              <a:t> </a:t>
            </a:r>
            <a:r>
              <a:rPr sz="1600" spc="-15" dirty="0">
                <a:latin typeface="Calibri"/>
                <a:cs typeface="Calibri"/>
              </a:rPr>
              <a:t>different</a:t>
            </a:r>
            <a:r>
              <a:rPr sz="1600" spc="5" dirty="0">
                <a:latin typeface="Calibri"/>
                <a:cs typeface="Calibri"/>
              </a:rPr>
              <a:t> </a:t>
            </a:r>
            <a:r>
              <a:rPr sz="1600" spc="-10" dirty="0">
                <a:latin typeface="Calibri"/>
                <a:cs typeface="Calibri"/>
              </a:rPr>
              <a:t>kinds</a:t>
            </a:r>
            <a:endParaRPr sz="1600" dirty="0">
              <a:latin typeface="Calibri"/>
              <a:cs typeface="Calibri"/>
            </a:endParaRPr>
          </a:p>
        </p:txBody>
      </p:sp>
      <p:sp>
        <p:nvSpPr>
          <p:cNvPr id="4" name="object 4"/>
          <p:cNvSpPr txBox="1"/>
          <p:nvPr/>
        </p:nvSpPr>
        <p:spPr>
          <a:xfrm>
            <a:off x="4651628" y="1352973"/>
            <a:ext cx="4264025" cy="2225675"/>
          </a:xfrm>
          <a:prstGeom prst="rect">
            <a:avLst/>
          </a:prstGeom>
        </p:spPr>
        <p:txBody>
          <a:bodyPr vert="horz" wrap="square" lIns="0" tIns="86995" rIns="0" bIns="0" rtlCol="0">
            <a:spAutoFit/>
          </a:bodyPr>
          <a:lstStyle/>
          <a:p>
            <a:pPr marL="93345">
              <a:lnSpc>
                <a:spcPct val="100000"/>
              </a:lnSpc>
              <a:spcBef>
                <a:spcPts val="685"/>
              </a:spcBef>
            </a:pPr>
            <a:r>
              <a:rPr sz="1800" b="1" spc="-5" dirty="0">
                <a:latin typeface="Calibri"/>
                <a:cs typeface="Calibri"/>
              </a:rPr>
              <a:t>Grid</a:t>
            </a:r>
            <a:endParaRPr sz="1800" dirty="0">
              <a:latin typeface="Calibri"/>
              <a:cs typeface="Calibri"/>
            </a:endParaRPr>
          </a:p>
          <a:p>
            <a:pPr marL="194945" marR="5080" indent="-182880" algn="just">
              <a:lnSpc>
                <a:spcPct val="90000"/>
              </a:lnSpc>
              <a:spcBef>
                <a:spcPts val="625"/>
              </a:spcBef>
              <a:buClr>
                <a:srgbClr val="4F80BC"/>
              </a:buClr>
              <a:buSzPct val="82142"/>
              <a:buFont typeface="Arial MT"/>
              <a:buChar char="•"/>
              <a:tabLst>
                <a:tab pos="195580" algn="l"/>
              </a:tabLst>
            </a:pPr>
            <a:r>
              <a:rPr sz="1400" spc="-10" dirty="0">
                <a:latin typeface="Calibri"/>
                <a:cs typeface="Calibri"/>
              </a:rPr>
              <a:t>Users </a:t>
            </a:r>
            <a:r>
              <a:rPr sz="1400" spc="-5" dirty="0">
                <a:latin typeface="Calibri"/>
                <a:cs typeface="Calibri"/>
              </a:rPr>
              <a:t>(or client applications) gain access </a:t>
            </a:r>
            <a:r>
              <a:rPr sz="1400" spc="-10" dirty="0">
                <a:latin typeface="Calibri"/>
                <a:cs typeface="Calibri"/>
              </a:rPr>
              <a:t>to </a:t>
            </a:r>
            <a:r>
              <a:rPr sz="1400" spc="-5" dirty="0">
                <a:latin typeface="Calibri"/>
                <a:cs typeface="Calibri"/>
              </a:rPr>
              <a:t>computing </a:t>
            </a:r>
            <a:r>
              <a:rPr sz="1400" dirty="0">
                <a:latin typeface="Calibri"/>
                <a:cs typeface="Calibri"/>
              </a:rPr>
              <a:t> </a:t>
            </a:r>
            <a:r>
              <a:rPr sz="1400" spc="-5" dirty="0">
                <a:latin typeface="Calibri"/>
                <a:cs typeface="Calibri"/>
              </a:rPr>
              <a:t>resources </a:t>
            </a:r>
            <a:r>
              <a:rPr sz="1400" spc="-10" dirty="0">
                <a:latin typeface="Calibri"/>
                <a:cs typeface="Calibri"/>
              </a:rPr>
              <a:t>(processors,</a:t>
            </a:r>
            <a:r>
              <a:rPr sz="1400" spc="295" dirty="0">
                <a:latin typeface="Calibri"/>
                <a:cs typeface="Calibri"/>
              </a:rPr>
              <a:t> </a:t>
            </a:r>
            <a:r>
              <a:rPr sz="1400" spc="-10" dirty="0">
                <a:latin typeface="Calibri"/>
                <a:cs typeface="Calibri"/>
              </a:rPr>
              <a:t>storage, data, </a:t>
            </a:r>
            <a:r>
              <a:rPr sz="1400" spc="-5" dirty="0">
                <a:latin typeface="Calibri"/>
                <a:cs typeface="Calibri"/>
              </a:rPr>
              <a:t>applications, </a:t>
            </a:r>
            <a:r>
              <a:rPr sz="1400" dirty="0">
                <a:latin typeface="Calibri"/>
                <a:cs typeface="Calibri"/>
              </a:rPr>
              <a:t>and </a:t>
            </a:r>
            <a:r>
              <a:rPr sz="1400" spc="5" dirty="0">
                <a:latin typeface="Calibri"/>
                <a:cs typeface="Calibri"/>
              </a:rPr>
              <a:t> </a:t>
            </a:r>
            <a:r>
              <a:rPr sz="1400" dirty="0">
                <a:latin typeface="Calibri"/>
                <a:cs typeface="Calibri"/>
              </a:rPr>
              <a:t>so </a:t>
            </a:r>
            <a:r>
              <a:rPr sz="1400" spc="-5" dirty="0">
                <a:latin typeface="Calibri"/>
                <a:cs typeface="Calibri"/>
              </a:rPr>
              <a:t>on) </a:t>
            </a:r>
            <a:r>
              <a:rPr sz="1400" dirty="0">
                <a:latin typeface="Calibri"/>
                <a:cs typeface="Calibri"/>
              </a:rPr>
              <a:t>as needed with </a:t>
            </a:r>
            <a:r>
              <a:rPr sz="1400" spc="-5" dirty="0">
                <a:latin typeface="Calibri"/>
                <a:cs typeface="Calibri"/>
              </a:rPr>
              <a:t>little </a:t>
            </a:r>
            <a:r>
              <a:rPr sz="1400" dirty="0">
                <a:latin typeface="Calibri"/>
                <a:cs typeface="Calibri"/>
              </a:rPr>
              <a:t>or </a:t>
            </a:r>
            <a:r>
              <a:rPr sz="1400" spc="-5" dirty="0">
                <a:latin typeface="Calibri"/>
                <a:cs typeface="Calibri"/>
              </a:rPr>
              <a:t>no knowledge </a:t>
            </a:r>
            <a:r>
              <a:rPr sz="1400" dirty="0">
                <a:latin typeface="Calibri"/>
                <a:cs typeface="Calibri"/>
              </a:rPr>
              <a:t>of </a:t>
            </a:r>
            <a:r>
              <a:rPr sz="1400" spc="-5" dirty="0">
                <a:latin typeface="Calibri"/>
                <a:cs typeface="Calibri"/>
              </a:rPr>
              <a:t>where </a:t>
            </a:r>
            <a:r>
              <a:rPr sz="1400" dirty="0">
                <a:latin typeface="Calibri"/>
                <a:cs typeface="Calibri"/>
              </a:rPr>
              <a:t> </a:t>
            </a:r>
            <a:r>
              <a:rPr sz="1400" spc="-5" dirty="0">
                <a:latin typeface="Calibri"/>
                <a:cs typeface="Calibri"/>
              </a:rPr>
              <a:t>those</a:t>
            </a:r>
            <a:r>
              <a:rPr sz="1400" dirty="0">
                <a:latin typeface="Calibri"/>
                <a:cs typeface="Calibri"/>
              </a:rPr>
              <a:t> </a:t>
            </a:r>
            <a:r>
              <a:rPr sz="1400" spc="-5" dirty="0">
                <a:latin typeface="Calibri"/>
                <a:cs typeface="Calibri"/>
              </a:rPr>
              <a:t>resources</a:t>
            </a:r>
            <a:r>
              <a:rPr sz="1400" dirty="0">
                <a:latin typeface="Calibri"/>
                <a:cs typeface="Calibri"/>
              </a:rPr>
              <a:t> </a:t>
            </a:r>
            <a:r>
              <a:rPr sz="1400" spc="-10" dirty="0">
                <a:latin typeface="Calibri"/>
                <a:cs typeface="Calibri"/>
              </a:rPr>
              <a:t>are</a:t>
            </a:r>
            <a:r>
              <a:rPr sz="1400" spc="-5" dirty="0">
                <a:latin typeface="Calibri"/>
                <a:cs typeface="Calibri"/>
              </a:rPr>
              <a:t> </a:t>
            </a:r>
            <a:r>
              <a:rPr sz="1400" spc="-10" dirty="0">
                <a:latin typeface="Calibri"/>
                <a:cs typeface="Calibri"/>
              </a:rPr>
              <a:t>located</a:t>
            </a:r>
            <a:r>
              <a:rPr sz="1400" spc="-5" dirty="0">
                <a:latin typeface="Calibri"/>
                <a:cs typeface="Calibri"/>
              </a:rPr>
              <a:t> </a:t>
            </a:r>
            <a:r>
              <a:rPr sz="1400" dirty="0">
                <a:latin typeface="Calibri"/>
                <a:cs typeface="Calibri"/>
              </a:rPr>
              <a:t>or</a:t>
            </a:r>
            <a:r>
              <a:rPr sz="1400" spc="5" dirty="0">
                <a:latin typeface="Calibri"/>
                <a:cs typeface="Calibri"/>
              </a:rPr>
              <a:t> </a:t>
            </a:r>
            <a:r>
              <a:rPr sz="1400" spc="-5" dirty="0">
                <a:latin typeface="Calibri"/>
                <a:cs typeface="Calibri"/>
              </a:rPr>
              <a:t>what</a:t>
            </a:r>
            <a:r>
              <a:rPr sz="1400" dirty="0">
                <a:latin typeface="Calibri"/>
                <a:cs typeface="Calibri"/>
              </a:rPr>
              <a:t> the</a:t>
            </a:r>
            <a:r>
              <a:rPr sz="1400" spc="5" dirty="0">
                <a:latin typeface="Calibri"/>
                <a:cs typeface="Calibri"/>
              </a:rPr>
              <a:t> </a:t>
            </a:r>
            <a:r>
              <a:rPr sz="1400" dirty="0">
                <a:latin typeface="Calibri"/>
                <a:cs typeface="Calibri"/>
              </a:rPr>
              <a:t>underlying </a:t>
            </a:r>
            <a:r>
              <a:rPr sz="1400" spc="5" dirty="0">
                <a:latin typeface="Calibri"/>
                <a:cs typeface="Calibri"/>
              </a:rPr>
              <a:t> </a:t>
            </a:r>
            <a:r>
              <a:rPr sz="1400" spc="-5" dirty="0">
                <a:latin typeface="Calibri"/>
                <a:cs typeface="Calibri"/>
              </a:rPr>
              <a:t>technologies,</a:t>
            </a:r>
            <a:r>
              <a:rPr sz="1400" dirty="0">
                <a:latin typeface="Calibri"/>
                <a:cs typeface="Calibri"/>
              </a:rPr>
              <a:t> </a:t>
            </a:r>
            <a:r>
              <a:rPr sz="1400" spc="-10" dirty="0">
                <a:latin typeface="Calibri"/>
                <a:cs typeface="Calibri"/>
              </a:rPr>
              <a:t>hardware,</a:t>
            </a:r>
            <a:r>
              <a:rPr sz="1400" spc="-5" dirty="0">
                <a:latin typeface="Calibri"/>
                <a:cs typeface="Calibri"/>
              </a:rPr>
              <a:t> </a:t>
            </a:r>
            <a:r>
              <a:rPr sz="1400" spc="-10" dirty="0">
                <a:latin typeface="Calibri"/>
                <a:cs typeface="Calibri"/>
              </a:rPr>
              <a:t>operating</a:t>
            </a:r>
            <a:r>
              <a:rPr sz="1400" spc="-5" dirty="0">
                <a:latin typeface="Calibri"/>
                <a:cs typeface="Calibri"/>
              </a:rPr>
              <a:t> </a:t>
            </a:r>
            <a:r>
              <a:rPr sz="1400" spc="-10" dirty="0">
                <a:latin typeface="Calibri"/>
                <a:cs typeface="Calibri"/>
              </a:rPr>
              <a:t>system,</a:t>
            </a:r>
            <a:r>
              <a:rPr sz="1400" spc="-5" dirty="0">
                <a:latin typeface="Calibri"/>
                <a:cs typeface="Calibri"/>
              </a:rPr>
              <a:t> and</a:t>
            </a:r>
            <a:r>
              <a:rPr sz="1400" spc="305" dirty="0">
                <a:latin typeface="Calibri"/>
                <a:cs typeface="Calibri"/>
              </a:rPr>
              <a:t> </a:t>
            </a:r>
            <a:r>
              <a:rPr sz="1400" dirty="0">
                <a:latin typeface="Calibri"/>
                <a:cs typeface="Calibri"/>
              </a:rPr>
              <a:t>so</a:t>
            </a:r>
            <a:r>
              <a:rPr sz="1400" spc="315" dirty="0">
                <a:latin typeface="Calibri"/>
                <a:cs typeface="Calibri"/>
              </a:rPr>
              <a:t> </a:t>
            </a:r>
            <a:r>
              <a:rPr sz="1400" dirty="0">
                <a:latin typeface="Calibri"/>
                <a:cs typeface="Calibri"/>
              </a:rPr>
              <a:t>on </a:t>
            </a:r>
            <a:r>
              <a:rPr sz="1400" spc="-305" dirty="0">
                <a:latin typeface="Calibri"/>
                <a:cs typeface="Calibri"/>
              </a:rPr>
              <a:t> </a:t>
            </a:r>
            <a:r>
              <a:rPr sz="1400" spc="-10" dirty="0">
                <a:latin typeface="Calibri"/>
                <a:cs typeface="Calibri"/>
              </a:rPr>
              <a:t>are</a:t>
            </a:r>
            <a:endParaRPr sz="1400" dirty="0">
              <a:latin typeface="Calibri"/>
              <a:cs typeface="Calibri"/>
            </a:endParaRPr>
          </a:p>
          <a:p>
            <a:pPr marL="195580" marR="10160" indent="-182880" algn="just">
              <a:lnSpc>
                <a:spcPts val="1510"/>
              </a:lnSpc>
              <a:spcBef>
                <a:spcPts val="360"/>
              </a:spcBef>
              <a:buClr>
                <a:srgbClr val="4F80BC"/>
              </a:buClr>
              <a:buSzPct val="82142"/>
              <a:buFont typeface="Arial MT"/>
              <a:buChar char="•"/>
              <a:tabLst>
                <a:tab pos="195580" algn="l"/>
              </a:tabLst>
            </a:pPr>
            <a:r>
              <a:rPr sz="1400" b="1" spc="5" dirty="0">
                <a:latin typeface="Calibri"/>
                <a:cs typeface="Calibri"/>
              </a:rPr>
              <a:t>“The</a:t>
            </a:r>
            <a:r>
              <a:rPr sz="1400" b="1" spc="10" dirty="0">
                <a:latin typeface="Calibri"/>
                <a:cs typeface="Calibri"/>
              </a:rPr>
              <a:t> </a:t>
            </a:r>
            <a:r>
              <a:rPr sz="1400" b="1" dirty="0">
                <a:latin typeface="Calibri"/>
                <a:cs typeface="Calibri"/>
              </a:rPr>
              <a:t>Grid"</a:t>
            </a:r>
            <a:r>
              <a:rPr sz="1400" b="1" spc="5" dirty="0">
                <a:latin typeface="Calibri"/>
                <a:cs typeface="Calibri"/>
              </a:rPr>
              <a:t> </a:t>
            </a:r>
            <a:r>
              <a:rPr sz="1400" spc="-5" dirty="0">
                <a:latin typeface="Calibri"/>
                <a:cs typeface="Calibri"/>
              </a:rPr>
              <a:t>links</a:t>
            </a:r>
            <a:r>
              <a:rPr sz="1400" dirty="0">
                <a:latin typeface="Calibri"/>
                <a:cs typeface="Calibri"/>
              </a:rPr>
              <a:t> </a:t>
            </a:r>
            <a:r>
              <a:rPr sz="1400" spc="-10" dirty="0">
                <a:latin typeface="Calibri"/>
                <a:cs typeface="Calibri"/>
              </a:rPr>
              <a:t>together</a:t>
            </a:r>
            <a:r>
              <a:rPr sz="1400" spc="-5" dirty="0">
                <a:latin typeface="Calibri"/>
                <a:cs typeface="Calibri"/>
              </a:rPr>
              <a:t> computing</a:t>
            </a:r>
            <a:r>
              <a:rPr sz="1400" dirty="0">
                <a:latin typeface="Calibri"/>
                <a:cs typeface="Calibri"/>
              </a:rPr>
              <a:t> </a:t>
            </a:r>
            <a:r>
              <a:rPr sz="1400" spc="-5" dirty="0">
                <a:latin typeface="Calibri"/>
                <a:cs typeface="Calibri"/>
              </a:rPr>
              <a:t>resources</a:t>
            </a:r>
            <a:r>
              <a:rPr sz="1400" dirty="0">
                <a:latin typeface="Calibri"/>
                <a:cs typeface="Calibri"/>
              </a:rPr>
              <a:t> </a:t>
            </a:r>
            <a:r>
              <a:rPr sz="1400" spc="-10" dirty="0">
                <a:latin typeface="Calibri"/>
                <a:cs typeface="Calibri"/>
              </a:rPr>
              <a:t>(PCs, </a:t>
            </a:r>
            <a:r>
              <a:rPr sz="1400" spc="-5" dirty="0">
                <a:latin typeface="Calibri"/>
                <a:cs typeface="Calibri"/>
              </a:rPr>
              <a:t> </a:t>
            </a:r>
            <a:r>
              <a:rPr sz="1400" spc="-10" dirty="0">
                <a:latin typeface="Calibri"/>
                <a:cs typeface="Calibri"/>
              </a:rPr>
              <a:t>workstations, </a:t>
            </a:r>
            <a:r>
              <a:rPr sz="1400" spc="-5" dirty="0">
                <a:latin typeface="Calibri"/>
                <a:cs typeface="Calibri"/>
              </a:rPr>
              <a:t>servers, </a:t>
            </a:r>
            <a:r>
              <a:rPr sz="1400" spc="-10" dirty="0">
                <a:latin typeface="Calibri"/>
                <a:cs typeface="Calibri"/>
              </a:rPr>
              <a:t>storage </a:t>
            </a:r>
            <a:r>
              <a:rPr sz="1400" spc="-5" dirty="0">
                <a:latin typeface="Calibri"/>
                <a:cs typeface="Calibri"/>
              </a:rPr>
              <a:t>elements) </a:t>
            </a:r>
            <a:r>
              <a:rPr sz="1400" dirty="0">
                <a:latin typeface="Calibri"/>
                <a:cs typeface="Calibri"/>
              </a:rPr>
              <a:t>and </a:t>
            </a:r>
            <a:r>
              <a:rPr sz="1400" spc="-10" dirty="0">
                <a:latin typeface="Calibri"/>
                <a:cs typeface="Calibri"/>
              </a:rPr>
              <a:t>provides </a:t>
            </a:r>
            <a:r>
              <a:rPr sz="1400" spc="-5" dirty="0">
                <a:latin typeface="Calibri"/>
                <a:cs typeface="Calibri"/>
              </a:rPr>
              <a:t> the</a:t>
            </a:r>
            <a:r>
              <a:rPr sz="1400" dirty="0">
                <a:latin typeface="Calibri"/>
                <a:cs typeface="Calibri"/>
              </a:rPr>
              <a:t> </a:t>
            </a:r>
            <a:r>
              <a:rPr sz="1400" spc="-5" dirty="0">
                <a:latin typeface="Calibri"/>
                <a:cs typeface="Calibri"/>
              </a:rPr>
              <a:t>mechanism</a:t>
            </a:r>
            <a:r>
              <a:rPr sz="1400" spc="5" dirty="0">
                <a:latin typeface="Calibri"/>
                <a:cs typeface="Calibri"/>
              </a:rPr>
              <a:t> </a:t>
            </a:r>
            <a:r>
              <a:rPr sz="1400" spc="-5" dirty="0">
                <a:latin typeface="Calibri"/>
                <a:cs typeface="Calibri"/>
              </a:rPr>
              <a:t>needed</a:t>
            </a:r>
            <a:r>
              <a:rPr sz="1400" spc="20" dirty="0">
                <a:latin typeface="Calibri"/>
                <a:cs typeface="Calibri"/>
              </a:rPr>
              <a:t> </a:t>
            </a:r>
            <a:r>
              <a:rPr sz="1400" spc="-10" dirty="0">
                <a:latin typeface="Calibri"/>
                <a:cs typeface="Calibri"/>
              </a:rPr>
              <a:t>to</a:t>
            </a:r>
            <a:r>
              <a:rPr sz="1400" dirty="0">
                <a:latin typeface="Calibri"/>
                <a:cs typeface="Calibri"/>
              </a:rPr>
              <a:t> </a:t>
            </a:r>
            <a:r>
              <a:rPr sz="1400" spc="-5" dirty="0">
                <a:latin typeface="Calibri"/>
                <a:cs typeface="Calibri"/>
              </a:rPr>
              <a:t>access</a:t>
            </a:r>
            <a:r>
              <a:rPr sz="1400" dirty="0">
                <a:latin typeface="Calibri"/>
                <a:cs typeface="Calibri"/>
              </a:rPr>
              <a:t> </a:t>
            </a:r>
            <a:r>
              <a:rPr sz="1400" spc="-5" dirty="0">
                <a:latin typeface="Calibri"/>
                <a:cs typeface="Calibri"/>
              </a:rPr>
              <a:t>them.</a:t>
            </a:r>
            <a:endParaRPr sz="1400" dirty="0">
              <a:latin typeface="Calibri"/>
              <a:cs typeface="Calibri"/>
            </a:endParaRPr>
          </a:p>
        </p:txBody>
      </p:sp>
      <p:sp>
        <p:nvSpPr>
          <p:cNvPr id="6" name="Footer Placeholder 5">
            <a:extLst>
              <a:ext uri="{FF2B5EF4-FFF2-40B4-BE49-F238E27FC236}">
                <a16:creationId xmlns:a16="http://schemas.microsoft.com/office/drawing/2014/main" id="{9EF65567-EA59-204B-9442-759FC19EEAA1}"/>
              </a:ext>
            </a:extLst>
          </p:cNvPr>
          <p:cNvSpPr>
            <a:spLocks noGrp="1"/>
          </p:cNvSpPr>
          <p:nvPr>
            <p:ph type="ftr" sz="quarter" idx="5"/>
          </p:nvPr>
        </p:nvSpPr>
        <p:spPr/>
        <p:txBody>
          <a:bodyPr/>
          <a:lstStyle/>
          <a:p>
            <a:r>
              <a:rPr lang="en-US"/>
              <a:t>Department of Computer Application</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8742" y="337512"/>
            <a:ext cx="3293745" cy="381515"/>
          </a:xfrm>
          <a:prstGeom prst="rect">
            <a:avLst/>
          </a:prstGeom>
        </p:spPr>
        <p:txBody>
          <a:bodyPr vert="horz" wrap="square" lIns="0" tIns="12065" rIns="0" bIns="0" rtlCol="0">
            <a:spAutoFit/>
          </a:bodyPr>
          <a:lstStyle/>
          <a:p>
            <a:pPr marL="12700" algn="ctr">
              <a:lnSpc>
                <a:spcPct val="100000"/>
              </a:lnSpc>
              <a:spcBef>
                <a:spcPts val="95"/>
              </a:spcBef>
            </a:pPr>
            <a:r>
              <a:rPr sz="2400" b="1" spc="-5" dirty="0">
                <a:solidFill>
                  <a:srgbClr val="000000"/>
                </a:solidFill>
                <a:latin typeface="Calibri"/>
                <a:cs typeface="Calibri"/>
              </a:rPr>
              <a:t>Grid</a:t>
            </a:r>
            <a:r>
              <a:rPr sz="2400" b="1" spc="-50" dirty="0">
                <a:solidFill>
                  <a:srgbClr val="000000"/>
                </a:solidFill>
                <a:latin typeface="Calibri"/>
                <a:cs typeface="Calibri"/>
              </a:rPr>
              <a:t> </a:t>
            </a:r>
            <a:r>
              <a:rPr sz="2400" b="1" spc="-5" dirty="0">
                <a:solidFill>
                  <a:srgbClr val="000000"/>
                </a:solidFill>
                <a:latin typeface="Calibri"/>
                <a:cs typeface="Calibri"/>
              </a:rPr>
              <a:t>Computing</a:t>
            </a:r>
            <a:endParaRPr sz="24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9</a:t>
            </a:r>
          </a:p>
        </p:txBody>
      </p:sp>
      <p:sp>
        <p:nvSpPr>
          <p:cNvPr id="3" name="object 3"/>
          <p:cNvSpPr txBox="1"/>
          <p:nvPr/>
        </p:nvSpPr>
        <p:spPr>
          <a:xfrm>
            <a:off x="609600" y="1352550"/>
            <a:ext cx="8067040" cy="2265364"/>
          </a:xfrm>
          <a:prstGeom prst="rect">
            <a:avLst/>
          </a:prstGeom>
        </p:spPr>
        <p:txBody>
          <a:bodyPr vert="horz" wrap="square" lIns="0" tIns="71755" rIns="0" bIns="0" rtlCol="0">
            <a:spAutoFit/>
          </a:bodyPr>
          <a:lstStyle/>
          <a:p>
            <a:pPr marL="321310" marR="598805" indent="-321310">
              <a:lnSpc>
                <a:spcPts val="1989"/>
              </a:lnSpc>
              <a:spcBef>
                <a:spcPts val="1035"/>
              </a:spcBef>
              <a:buAutoNum type="arabicPeriod"/>
              <a:tabLst>
                <a:tab pos="321310" algn="l"/>
              </a:tabLst>
            </a:pPr>
            <a:r>
              <a:rPr sz="2000" spc="-10" dirty="0">
                <a:latin typeface="Calibri"/>
                <a:cs typeface="Calibri"/>
              </a:rPr>
              <a:t>Share more</a:t>
            </a:r>
            <a:r>
              <a:rPr sz="2000" dirty="0">
                <a:latin typeface="Calibri"/>
                <a:cs typeface="Calibri"/>
              </a:rPr>
              <a:t> than</a:t>
            </a:r>
            <a:r>
              <a:rPr sz="2000" spc="5" dirty="0">
                <a:latin typeface="Calibri"/>
                <a:cs typeface="Calibri"/>
              </a:rPr>
              <a:t> </a:t>
            </a:r>
            <a:r>
              <a:rPr sz="2000" spc="-10" dirty="0">
                <a:latin typeface="Calibri"/>
                <a:cs typeface="Calibri"/>
              </a:rPr>
              <a:t>information:</a:t>
            </a:r>
            <a:r>
              <a:rPr sz="2000" spc="-5" dirty="0">
                <a:latin typeface="Calibri"/>
                <a:cs typeface="Calibri"/>
              </a:rPr>
              <a:t> </a:t>
            </a:r>
            <a:r>
              <a:rPr sz="2000" spc="-10" dirty="0">
                <a:latin typeface="Calibri"/>
                <a:cs typeface="Calibri"/>
              </a:rPr>
              <a:t>Data,</a:t>
            </a:r>
            <a:r>
              <a:rPr sz="2000" spc="5" dirty="0">
                <a:latin typeface="Calibri"/>
                <a:cs typeface="Calibri"/>
              </a:rPr>
              <a:t> </a:t>
            </a:r>
            <a:r>
              <a:rPr sz="2000" spc="-5" dirty="0">
                <a:latin typeface="Calibri"/>
                <a:cs typeface="Calibri"/>
              </a:rPr>
              <a:t>computing</a:t>
            </a:r>
            <a:r>
              <a:rPr sz="2000" spc="-15" dirty="0">
                <a:latin typeface="Calibri"/>
                <a:cs typeface="Calibri"/>
              </a:rPr>
              <a:t> </a:t>
            </a:r>
            <a:r>
              <a:rPr sz="2000" spc="-35" dirty="0">
                <a:latin typeface="Calibri"/>
                <a:cs typeface="Calibri"/>
              </a:rPr>
              <a:t>power,</a:t>
            </a:r>
            <a:r>
              <a:rPr sz="2000" spc="-10" dirty="0">
                <a:latin typeface="Calibri"/>
                <a:cs typeface="Calibri"/>
              </a:rPr>
              <a:t> </a:t>
            </a:r>
            <a:r>
              <a:rPr sz="2000" spc="-5" dirty="0">
                <a:latin typeface="Calibri"/>
                <a:cs typeface="Calibri"/>
              </a:rPr>
              <a:t>applications</a:t>
            </a:r>
            <a:r>
              <a:rPr sz="2000" dirty="0">
                <a:latin typeface="Calibri"/>
                <a:cs typeface="Calibri"/>
              </a:rPr>
              <a:t> in </a:t>
            </a:r>
            <a:r>
              <a:rPr sz="2000" spc="-434" dirty="0">
                <a:latin typeface="Calibri"/>
                <a:cs typeface="Calibri"/>
              </a:rPr>
              <a:t> </a:t>
            </a:r>
            <a:r>
              <a:rPr sz="2000" spc="-5" dirty="0">
                <a:latin typeface="Calibri"/>
                <a:cs typeface="Calibri"/>
              </a:rPr>
              <a:t>dynamic</a:t>
            </a:r>
            <a:r>
              <a:rPr sz="2000" spc="-20" dirty="0">
                <a:latin typeface="Calibri"/>
                <a:cs typeface="Calibri"/>
              </a:rPr>
              <a:t> </a:t>
            </a:r>
            <a:r>
              <a:rPr sz="2000" spc="-10" dirty="0">
                <a:latin typeface="Calibri"/>
                <a:cs typeface="Calibri"/>
              </a:rPr>
              <a:t>environment,</a:t>
            </a:r>
            <a:r>
              <a:rPr sz="2000" spc="15" dirty="0">
                <a:latin typeface="Calibri"/>
                <a:cs typeface="Calibri"/>
              </a:rPr>
              <a:t> </a:t>
            </a:r>
            <a:r>
              <a:rPr sz="2000" spc="-5" dirty="0">
                <a:latin typeface="Calibri"/>
                <a:cs typeface="Calibri"/>
              </a:rPr>
              <a:t>multi-institutional,</a:t>
            </a:r>
            <a:r>
              <a:rPr sz="2000" spc="25" dirty="0">
                <a:latin typeface="Calibri"/>
                <a:cs typeface="Calibri"/>
              </a:rPr>
              <a:t> </a:t>
            </a:r>
            <a:r>
              <a:rPr sz="2000" dirty="0">
                <a:latin typeface="Calibri"/>
                <a:cs typeface="Calibri"/>
              </a:rPr>
              <a:t>virtual</a:t>
            </a:r>
            <a:r>
              <a:rPr sz="2000" spc="10" dirty="0">
                <a:latin typeface="Calibri"/>
                <a:cs typeface="Calibri"/>
              </a:rPr>
              <a:t> </a:t>
            </a:r>
            <a:r>
              <a:rPr sz="2000" spc="-10" dirty="0">
                <a:latin typeface="Calibri"/>
                <a:cs typeface="Calibri"/>
              </a:rPr>
              <a:t>organizations</a:t>
            </a:r>
            <a:endParaRPr sz="2000" dirty="0">
              <a:latin typeface="Calibri"/>
              <a:cs typeface="Calibri"/>
            </a:endParaRPr>
          </a:p>
          <a:p>
            <a:pPr marL="263525" indent="-251460">
              <a:lnSpc>
                <a:spcPts val="2365"/>
              </a:lnSpc>
              <a:spcBef>
                <a:spcPts val="375"/>
              </a:spcBef>
              <a:buAutoNum type="arabicPeriod"/>
              <a:tabLst>
                <a:tab pos="264160" algn="l"/>
              </a:tabLst>
            </a:pPr>
            <a:r>
              <a:rPr sz="2000" spc="-15" dirty="0">
                <a:latin typeface="Calibri"/>
                <a:cs typeface="Calibri"/>
              </a:rPr>
              <a:t>Efficient</a:t>
            </a:r>
            <a:r>
              <a:rPr sz="2000" spc="-5" dirty="0">
                <a:latin typeface="Calibri"/>
                <a:cs typeface="Calibri"/>
              </a:rPr>
              <a:t> </a:t>
            </a:r>
            <a:r>
              <a:rPr sz="2000" dirty="0">
                <a:latin typeface="Calibri"/>
                <a:cs typeface="Calibri"/>
              </a:rPr>
              <a:t>use </a:t>
            </a:r>
            <a:r>
              <a:rPr sz="2000" spc="-5" dirty="0">
                <a:latin typeface="Calibri"/>
                <a:cs typeface="Calibri"/>
              </a:rPr>
              <a:t>of</a:t>
            </a:r>
            <a:r>
              <a:rPr sz="2000" spc="-10" dirty="0">
                <a:latin typeface="Calibri"/>
                <a:cs typeface="Calibri"/>
              </a:rPr>
              <a:t> </a:t>
            </a:r>
            <a:r>
              <a:rPr sz="2000" spc="-5" dirty="0">
                <a:latin typeface="Calibri"/>
                <a:cs typeface="Calibri"/>
              </a:rPr>
              <a:t>resources </a:t>
            </a:r>
            <a:r>
              <a:rPr sz="2000" spc="-15" dirty="0">
                <a:latin typeface="Calibri"/>
                <a:cs typeface="Calibri"/>
              </a:rPr>
              <a:t>at</a:t>
            </a:r>
            <a:r>
              <a:rPr sz="2000" spc="15" dirty="0">
                <a:latin typeface="Calibri"/>
                <a:cs typeface="Calibri"/>
              </a:rPr>
              <a:t> </a:t>
            </a:r>
            <a:r>
              <a:rPr sz="2000" spc="-10" dirty="0">
                <a:latin typeface="Calibri"/>
                <a:cs typeface="Calibri"/>
              </a:rPr>
              <a:t>many</a:t>
            </a:r>
            <a:r>
              <a:rPr sz="2000" spc="-15" dirty="0">
                <a:latin typeface="Calibri"/>
                <a:cs typeface="Calibri"/>
              </a:rPr>
              <a:t> </a:t>
            </a:r>
            <a:r>
              <a:rPr sz="2000" spc="-5" dirty="0">
                <a:latin typeface="Calibri"/>
                <a:cs typeface="Calibri"/>
              </a:rPr>
              <a:t>institutes.</a:t>
            </a:r>
            <a:r>
              <a:rPr sz="2000" spc="15" dirty="0">
                <a:latin typeface="Calibri"/>
                <a:cs typeface="Calibri"/>
              </a:rPr>
              <a:t> </a:t>
            </a:r>
            <a:r>
              <a:rPr sz="2000" spc="-5" dirty="0">
                <a:latin typeface="Calibri"/>
                <a:cs typeface="Calibri"/>
              </a:rPr>
              <a:t>People</a:t>
            </a:r>
            <a:r>
              <a:rPr sz="2000" dirty="0">
                <a:latin typeface="Calibri"/>
                <a:cs typeface="Calibri"/>
              </a:rPr>
              <a:t> </a:t>
            </a:r>
            <a:r>
              <a:rPr sz="2000" spc="-15" dirty="0">
                <a:latin typeface="Calibri"/>
                <a:cs typeface="Calibri"/>
              </a:rPr>
              <a:t>from</a:t>
            </a:r>
            <a:r>
              <a:rPr sz="2000" dirty="0">
                <a:latin typeface="Calibri"/>
                <a:cs typeface="Calibri"/>
              </a:rPr>
              <a:t> </a:t>
            </a:r>
            <a:r>
              <a:rPr sz="2000" spc="-10" dirty="0">
                <a:latin typeface="Calibri"/>
                <a:cs typeface="Calibri"/>
              </a:rPr>
              <a:t>many</a:t>
            </a:r>
            <a:r>
              <a:rPr sz="2000" spc="-15" dirty="0">
                <a:latin typeface="Calibri"/>
                <a:cs typeface="Calibri"/>
              </a:rPr>
              <a:t> </a:t>
            </a:r>
            <a:r>
              <a:rPr sz="2000" spc="-5" dirty="0">
                <a:latin typeface="Calibri"/>
                <a:cs typeface="Calibri"/>
              </a:rPr>
              <a:t>institutions</a:t>
            </a:r>
            <a:endParaRPr sz="2000" dirty="0">
              <a:latin typeface="Calibri"/>
              <a:cs typeface="Calibri"/>
            </a:endParaRPr>
          </a:p>
          <a:p>
            <a:pPr marL="355600">
              <a:lnSpc>
                <a:spcPts val="2365"/>
              </a:lnSpc>
            </a:pPr>
            <a:r>
              <a:rPr sz="2000" spc="-5" dirty="0">
                <a:latin typeface="Calibri"/>
                <a:cs typeface="Calibri"/>
              </a:rPr>
              <a:t>working</a:t>
            </a:r>
            <a:r>
              <a:rPr sz="2000" spc="-10" dirty="0">
                <a:latin typeface="Calibri"/>
                <a:cs typeface="Calibri"/>
              </a:rPr>
              <a:t> to</a:t>
            </a:r>
            <a:r>
              <a:rPr sz="2000" spc="-5" dirty="0">
                <a:latin typeface="Calibri"/>
                <a:cs typeface="Calibri"/>
              </a:rPr>
              <a:t> </a:t>
            </a:r>
            <a:r>
              <a:rPr sz="2000" spc="-10" dirty="0">
                <a:latin typeface="Calibri"/>
                <a:cs typeface="Calibri"/>
              </a:rPr>
              <a:t>solve</a:t>
            </a:r>
            <a:r>
              <a:rPr sz="2000" spc="15" dirty="0">
                <a:latin typeface="Calibri"/>
                <a:cs typeface="Calibri"/>
              </a:rPr>
              <a:t> </a:t>
            </a:r>
            <a:r>
              <a:rPr sz="2000" dirty="0">
                <a:latin typeface="Calibri"/>
                <a:cs typeface="Calibri"/>
              </a:rPr>
              <a:t>a</a:t>
            </a:r>
            <a:r>
              <a:rPr sz="2000" spc="5" dirty="0">
                <a:latin typeface="Calibri"/>
                <a:cs typeface="Calibri"/>
              </a:rPr>
              <a:t> </a:t>
            </a:r>
            <a:r>
              <a:rPr sz="2000" spc="-5" dirty="0">
                <a:latin typeface="Calibri"/>
                <a:cs typeface="Calibri"/>
              </a:rPr>
              <a:t>common</a:t>
            </a:r>
            <a:r>
              <a:rPr sz="2000" spc="-20" dirty="0">
                <a:latin typeface="Calibri"/>
                <a:cs typeface="Calibri"/>
              </a:rPr>
              <a:t> </a:t>
            </a:r>
            <a:r>
              <a:rPr sz="2000" spc="-10" dirty="0">
                <a:latin typeface="Calibri"/>
                <a:cs typeface="Calibri"/>
              </a:rPr>
              <a:t>problem</a:t>
            </a:r>
            <a:r>
              <a:rPr sz="2000" dirty="0">
                <a:latin typeface="Calibri"/>
                <a:cs typeface="Calibri"/>
              </a:rPr>
              <a:t> </a:t>
            </a:r>
            <a:r>
              <a:rPr sz="2000" spc="-5" dirty="0">
                <a:latin typeface="Calibri"/>
                <a:cs typeface="Calibri"/>
              </a:rPr>
              <a:t>(virtual</a:t>
            </a:r>
            <a:r>
              <a:rPr sz="2000" spc="15" dirty="0">
                <a:latin typeface="Calibri"/>
                <a:cs typeface="Calibri"/>
              </a:rPr>
              <a:t> </a:t>
            </a:r>
            <a:r>
              <a:rPr sz="2000" spc="-10" dirty="0">
                <a:latin typeface="Calibri"/>
                <a:cs typeface="Calibri"/>
              </a:rPr>
              <a:t>organisation).</a:t>
            </a:r>
            <a:endParaRPr sz="2000" dirty="0">
              <a:latin typeface="Calibri"/>
              <a:cs typeface="Calibri"/>
            </a:endParaRPr>
          </a:p>
          <a:p>
            <a:pPr marL="263525" indent="-251460">
              <a:lnSpc>
                <a:spcPct val="100000"/>
              </a:lnSpc>
              <a:spcBef>
                <a:spcPts val="405"/>
              </a:spcBef>
              <a:buAutoNum type="arabicPeriod" startAt="3"/>
              <a:tabLst>
                <a:tab pos="264160" algn="l"/>
              </a:tabLst>
            </a:pPr>
            <a:r>
              <a:rPr sz="2000" spc="-5" dirty="0">
                <a:latin typeface="Calibri"/>
                <a:cs typeface="Calibri"/>
              </a:rPr>
              <a:t>Join</a:t>
            </a:r>
            <a:r>
              <a:rPr sz="2000" spc="-25" dirty="0">
                <a:latin typeface="Calibri"/>
                <a:cs typeface="Calibri"/>
              </a:rPr>
              <a:t> </a:t>
            </a:r>
            <a:r>
              <a:rPr sz="2000" spc="-5" dirty="0">
                <a:latin typeface="Calibri"/>
                <a:cs typeface="Calibri"/>
              </a:rPr>
              <a:t>local</a:t>
            </a:r>
            <a:r>
              <a:rPr sz="2000" spc="-25" dirty="0">
                <a:latin typeface="Calibri"/>
                <a:cs typeface="Calibri"/>
              </a:rPr>
              <a:t> </a:t>
            </a:r>
            <a:r>
              <a:rPr sz="2000" spc="-5" dirty="0">
                <a:latin typeface="Calibri"/>
                <a:cs typeface="Calibri"/>
              </a:rPr>
              <a:t>communities.</a:t>
            </a:r>
            <a:endParaRPr sz="2000" dirty="0">
              <a:latin typeface="Calibri"/>
              <a:cs typeface="Calibri"/>
            </a:endParaRPr>
          </a:p>
          <a:p>
            <a:pPr marL="264160" marR="5080" indent="-264160">
              <a:lnSpc>
                <a:spcPts val="2330"/>
              </a:lnSpc>
              <a:spcBef>
                <a:spcPts val="545"/>
              </a:spcBef>
              <a:buAutoNum type="arabicPeriod" startAt="3"/>
              <a:tabLst>
                <a:tab pos="264160" algn="l"/>
              </a:tabLst>
            </a:pPr>
            <a:r>
              <a:rPr sz="2000" spc="-10" dirty="0">
                <a:latin typeface="Calibri"/>
                <a:cs typeface="Calibri"/>
              </a:rPr>
              <a:t>Interactions</a:t>
            </a:r>
            <a:r>
              <a:rPr sz="2000" dirty="0">
                <a:latin typeface="Calibri"/>
                <a:cs typeface="Calibri"/>
              </a:rPr>
              <a:t> with the </a:t>
            </a:r>
            <a:r>
              <a:rPr sz="2000" spc="-5" dirty="0">
                <a:latin typeface="Calibri"/>
                <a:cs typeface="Calibri"/>
              </a:rPr>
              <a:t>underneath</a:t>
            </a:r>
            <a:r>
              <a:rPr sz="2000" spc="5" dirty="0">
                <a:latin typeface="Calibri"/>
                <a:cs typeface="Calibri"/>
              </a:rPr>
              <a:t> </a:t>
            </a:r>
            <a:r>
              <a:rPr sz="2000" spc="-20" dirty="0">
                <a:latin typeface="Calibri"/>
                <a:cs typeface="Calibri"/>
              </a:rPr>
              <a:t>layers</a:t>
            </a:r>
            <a:r>
              <a:rPr sz="2000" dirty="0">
                <a:latin typeface="Calibri"/>
                <a:cs typeface="Calibri"/>
              </a:rPr>
              <a:t> </a:t>
            </a:r>
            <a:r>
              <a:rPr sz="2000" spc="-10" dirty="0">
                <a:latin typeface="Calibri"/>
                <a:cs typeface="Calibri"/>
              </a:rPr>
              <a:t>must</a:t>
            </a:r>
            <a:r>
              <a:rPr sz="2000" spc="15" dirty="0">
                <a:latin typeface="Calibri"/>
                <a:cs typeface="Calibri"/>
              </a:rPr>
              <a:t> </a:t>
            </a:r>
            <a:r>
              <a:rPr sz="2000" spc="-5" dirty="0">
                <a:latin typeface="Calibri"/>
                <a:cs typeface="Calibri"/>
              </a:rPr>
              <a:t>be</a:t>
            </a:r>
            <a:r>
              <a:rPr sz="2000" dirty="0">
                <a:latin typeface="Calibri"/>
                <a:cs typeface="Calibri"/>
              </a:rPr>
              <a:t> </a:t>
            </a:r>
            <a:r>
              <a:rPr sz="2000" spc="-10" dirty="0">
                <a:latin typeface="Calibri"/>
                <a:cs typeface="Calibri"/>
              </a:rPr>
              <a:t>transparent</a:t>
            </a:r>
            <a:r>
              <a:rPr sz="2000" spc="25" dirty="0">
                <a:latin typeface="Calibri"/>
                <a:cs typeface="Calibri"/>
              </a:rPr>
              <a:t> </a:t>
            </a:r>
            <a:r>
              <a:rPr sz="2000" dirty="0">
                <a:latin typeface="Calibri"/>
                <a:cs typeface="Calibri"/>
              </a:rPr>
              <a:t>and</a:t>
            </a:r>
            <a:r>
              <a:rPr sz="2000" spc="25" dirty="0">
                <a:latin typeface="Calibri"/>
                <a:cs typeface="Calibri"/>
              </a:rPr>
              <a:t> </a:t>
            </a:r>
            <a:r>
              <a:rPr sz="2000" spc="-5" dirty="0">
                <a:latin typeface="Calibri"/>
                <a:cs typeface="Calibri"/>
              </a:rPr>
              <a:t>seamless </a:t>
            </a:r>
            <a:r>
              <a:rPr sz="2000" spc="-440" dirty="0">
                <a:latin typeface="Calibri"/>
                <a:cs typeface="Calibri"/>
              </a:rPr>
              <a:t> </a:t>
            </a:r>
            <a:r>
              <a:rPr sz="2000" spc="-15" dirty="0">
                <a:latin typeface="Calibri"/>
                <a:cs typeface="Calibri"/>
              </a:rPr>
              <a:t>to</a:t>
            </a:r>
            <a:r>
              <a:rPr sz="2000" spc="-5" dirty="0">
                <a:latin typeface="Calibri"/>
                <a:cs typeface="Calibri"/>
              </a:rPr>
              <a:t> </a:t>
            </a:r>
            <a:r>
              <a:rPr sz="2000" dirty="0">
                <a:latin typeface="Calibri"/>
                <a:cs typeface="Calibri"/>
              </a:rPr>
              <a:t>the</a:t>
            </a:r>
            <a:r>
              <a:rPr sz="2000" spc="-15" dirty="0">
                <a:latin typeface="Calibri"/>
                <a:cs typeface="Calibri"/>
              </a:rPr>
              <a:t> </a:t>
            </a:r>
            <a:r>
              <a:rPr sz="2000" spc="-45" dirty="0">
                <a:latin typeface="Calibri"/>
                <a:cs typeface="Calibri"/>
              </a:rPr>
              <a:t>user.</a:t>
            </a:r>
            <a:endParaRPr sz="2000" dirty="0">
              <a:latin typeface="Calibri"/>
              <a:cs typeface="Calibri"/>
            </a:endParaRPr>
          </a:p>
        </p:txBody>
      </p:sp>
      <p:sp>
        <p:nvSpPr>
          <p:cNvPr id="5" name="Footer Placeholder 4">
            <a:extLst>
              <a:ext uri="{FF2B5EF4-FFF2-40B4-BE49-F238E27FC236}">
                <a16:creationId xmlns:a16="http://schemas.microsoft.com/office/drawing/2014/main" id="{FFE8EBD2-62C8-530E-BA79-3949CFD9F063}"/>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799" y="361241"/>
            <a:ext cx="5271643" cy="382797"/>
          </a:xfrm>
          <a:prstGeom prst="rect">
            <a:avLst/>
          </a:prstGeom>
        </p:spPr>
        <p:txBody>
          <a:bodyPr vert="horz" wrap="square" lIns="0" tIns="13335" rIns="0" bIns="0" rtlCol="0">
            <a:spAutoFit/>
          </a:bodyPr>
          <a:lstStyle/>
          <a:p>
            <a:pPr marL="12700" algn="ctr">
              <a:lnSpc>
                <a:spcPct val="100000"/>
              </a:lnSpc>
              <a:spcBef>
                <a:spcPts val="105"/>
              </a:spcBef>
            </a:pPr>
            <a:r>
              <a:rPr sz="2400" b="1" dirty="0">
                <a:solidFill>
                  <a:srgbClr val="000000"/>
                </a:solidFill>
                <a:latin typeface="Calibri"/>
                <a:cs typeface="Calibri"/>
              </a:rPr>
              <a:t>Need</a:t>
            </a:r>
            <a:r>
              <a:rPr sz="2400" b="1" spc="-25" dirty="0">
                <a:solidFill>
                  <a:srgbClr val="000000"/>
                </a:solidFill>
                <a:latin typeface="Calibri"/>
                <a:cs typeface="Calibri"/>
              </a:rPr>
              <a:t> </a:t>
            </a:r>
            <a:r>
              <a:rPr sz="2400" b="1" spc="-5" dirty="0">
                <a:solidFill>
                  <a:srgbClr val="000000"/>
                </a:solidFill>
                <a:latin typeface="Calibri"/>
                <a:cs typeface="Calibri"/>
              </a:rPr>
              <a:t>of</a:t>
            </a:r>
            <a:r>
              <a:rPr sz="2400" b="1" spc="-20" dirty="0">
                <a:solidFill>
                  <a:srgbClr val="000000"/>
                </a:solidFill>
                <a:latin typeface="Calibri"/>
                <a:cs typeface="Calibri"/>
              </a:rPr>
              <a:t> </a:t>
            </a:r>
            <a:r>
              <a:rPr sz="2400" b="1" spc="5" dirty="0">
                <a:solidFill>
                  <a:srgbClr val="000000"/>
                </a:solidFill>
                <a:latin typeface="Calibri"/>
                <a:cs typeface="Calibri"/>
              </a:rPr>
              <a:t>Grid</a:t>
            </a:r>
            <a:r>
              <a:rPr sz="2400" b="1" spc="-35" dirty="0">
                <a:solidFill>
                  <a:srgbClr val="000000"/>
                </a:solidFill>
                <a:latin typeface="Calibri"/>
                <a:cs typeface="Calibri"/>
              </a:rPr>
              <a:t> </a:t>
            </a:r>
            <a:r>
              <a:rPr sz="2400" b="1" dirty="0">
                <a:solidFill>
                  <a:srgbClr val="000000"/>
                </a:solidFill>
                <a:latin typeface="Calibri"/>
                <a:cs typeface="Calibri"/>
              </a:rPr>
              <a:t>Computing?</a:t>
            </a:r>
            <a:endParaRPr sz="2400" b="1" dirty="0">
              <a:latin typeface="Calibri"/>
              <a:cs typeface="Calibri"/>
            </a:endParaRP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3" name="object 3"/>
          <p:cNvSpPr txBox="1"/>
          <p:nvPr/>
        </p:nvSpPr>
        <p:spPr>
          <a:xfrm>
            <a:off x="535940" y="1216913"/>
            <a:ext cx="8072755" cy="635635"/>
          </a:xfrm>
          <a:prstGeom prst="rect">
            <a:avLst/>
          </a:prstGeom>
        </p:spPr>
        <p:txBody>
          <a:bodyPr vert="horz" wrap="square" lIns="0" tIns="13335" rIns="0" bIns="0" rtlCol="0">
            <a:spAutoFit/>
          </a:bodyPr>
          <a:lstStyle/>
          <a:p>
            <a:pPr marL="194945" marR="5080" indent="-182880">
              <a:lnSpc>
                <a:spcPct val="100000"/>
              </a:lnSpc>
              <a:spcBef>
                <a:spcPts val="105"/>
              </a:spcBef>
              <a:buClr>
                <a:srgbClr val="4F80BC"/>
              </a:buClr>
              <a:buSzPct val="85000"/>
              <a:buFont typeface="Arial MT"/>
              <a:buChar char="•"/>
              <a:tabLst>
                <a:tab pos="195580" algn="l"/>
              </a:tabLst>
            </a:pPr>
            <a:r>
              <a:rPr sz="2000" spc="-45" dirty="0">
                <a:latin typeface="Calibri"/>
                <a:cs typeface="Calibri"/>
              </a:rPr>
              <a:t>Today’s</a:t>
            </a:r>
            <a:r>
              <a:rPr sz="2000" spc="114" dirty="0">
                <a:latin typeface="Calibri"/>
                <a:cs typeface="Calibri"/>
              </a:rPr>
              <a:t> </a:t>
            </a:r>
            <a:r>
              <a:rPr sz="2000" spc="-5" dirty="0">
                <a:latin typeface="Calibri"/>
                <a:cs typeface="Calibri"/>
              </a:rPr>
              <a:t>Science/Research</a:t>
            </a:r>
            <a:r>
              <a:rPr sz="2000" spc="95" dirty="0">
                <a:latin typeface="Calibri"/>
                <a:cs typeface="Calibri"/>
              </a:rPr>
              <a:t> </a:t>
            </a:r>
            <a:r>
              <a:rPr sz="2000" spc="-5" dirty="0">
                <a:latin typeface="Calibri"/>
                <a:cs typeface="Calibri"/>
              </a:rPr>
              <a:t>is</a:t>
            </a:r>
            <a:r>
              <a:rPr sz="2000" spc="85" dirty="0">
                <a:latin typeface="Calibri"/>
                <a:cs typeface="Calibri"/>
              </a:rPr>
              <a:t> </a:t>
            </a:r>
            <a:r>
              <a:rPr sz="2000" spc="-5" dirty="0">
                <a:latin typeface="Calibri"/>
                <a:cs typeface="Calibri"/>
              </a:rPr>
              <a:t>based</a:t>
            </a:r>
            <a:r>
              <a:rPr sz="2000" spc="70" dirty="0">
                <a:latin typeface="Calibri"/>
                <a:cs typeface="Calibri"/>
              </a:rPr>
              <a:t> </a:t>
            </a:r>
            <a:r>
              <a:rPr sz="2000" spc="-5" dirty="0">
                <a:latin typeface="Calibri"/>
                <a:cs typeface="Calibri"/>
              </a:rPr>
              <a:t>on</a:t>
            </a:r>
            <a:r>
              <a:rPr sz="2000" spc="55" dirty="0">
                <a:latin typeface="Calibri"/>
                <a:cs typeface="Calibri"/>
              </a:rPr>
              <a:t> </a:t>
            </a:r>
            <a:r>
              <a:rPr sz="2000" spc="-5" dirty="0">
                <a:latin typeface="Calibri"/>
                <a:cs typeface="Calibri"/>
              </a:rPr>
              <a:t>computations,</a:t>
            </a:r>
            <a:r>
              <a:rPr sz="2000" spc="75" dirty="0">
                <a:latin typeface="Calibri"/>
                <a:cs typeface="Calibri"/>
              </a:rPr>
              <a:t> </a:t>
            </a:r>
            <a:r>
              <a:rPr sz="2000" spc="-15" dirty="0">
                <a:latin typeface="Calibri"/>
                <a:cs typeface="Calibri"/>
              </a:rPr>
              <a:t>data</a:t>
            </a:r>
            <a:r>
              <a:rPr sz="2000" spc="85" dirty="0">
                <a:latin typeface="Calibri"/>
                <a:cs typeface="Calibri"/>
              </a:rPr>
              <a:t> </a:t>
            </a:r>
            <a:r>
              <a:rPr sz="2000" spc="-5" dirty="0">
                <a:latin typeface="Calibri"/>
                <a:cs typeface="Calibri"/>
              </a:rPr>
              <a:t>analysis,</a:t>
            </a:r>
            <a:r>
              <a:rPr sz="2000" spc="80" dirty="0">
                <a:latin typeface="Calibri"/>
                <a:cs typeface="Calibri"/>
              </a:rPr>
              <a:t> </a:t>
            </a:r>
            <a:r>
              <a:rPr sz="2000" spc="-15" dirty="0">
                <a:latin typeface="Calibri"/>
                <a:cs typeface="Calibri"/>
              </a:rPr>
              <a:t>data </a:t>
            </a:r>
            <a:r>
              <a:rPr sz="2000" spc="-440" dirty="0">
                <a:latin typeface="Calibri"/>
                <a:cs typeface="Calibri"/>
              </a:rPr>
              <a:t> </a:t>
            </a:r>
            <a:r>
              <a:rPr sz="2000" spc="-10" dirty="0">
                <a:latin typeface="Calibri"/>
                <a:cs typeface="Calibri"/>
              </a:rPr>
              <a:t>visualization</a:t>
            </a:r>
            <a:r>
              <a:rPr sz="2000" spc="25" dirty="0">
                <a:latin typeface="Calibri"/>
                <a:cs typeface="Calibri"/>
              </a:rPr>
              <a:t> </a:t>
            </a:r>
            <a:r>
              <a:rPr sz="2000" dirty="0">
                <a:latin typeface="Calibri"/>
                <a:cs typeface="Calibri"/>
              </a:rPr>
              <a:t>&amp;</a:t>
            </a:r>
            <a:r>
              <a:rPr sz="2000" spc="-5" dirty="0">
                <a:latin typeface="Calibri"/>
                <a:cs typeface="Calibri"/>
              </a:rPr>
              <a:t> </a:t>
            </a:r>
            <a:r>
              <a:rPr sz="2000" spc="-10" dirty="0">
                <a:latin typeface="Calibri"/>
                <a:cs typeface="Calibri"/>
              </a:rPr>
              <a:t>collaborations</a:t>
            </a:r>
            <a:endParaRPr sz="2000">
              <a:latin typeface="Calibri"/>
              <a:cs typeface="Calibri"/>
            </a:endParaRPr>
          </a:p>
        </p:txBody>
      </p:sp>
      <p:sp>
        <p:nvSpPr>
          <p:cNvPr id="4" name="object 4"/>
          <p:cNvSpPr txBox="1"/>
          <p:nvPr/>
        </p:nvSpPr>
        <p:spPr>
          <a:xfrm>
            <a:off x="535940" y="1887474"/>
            <a:ext cx="8073390" cy="636270"/>
          </a:xfrm>
          <a:prstGeom prst="rect">
            <a:avLst/>
          </a:prstGeom>
        </p:spPr>
        <p:txBody>
          <a:bodyPr vert="horz" wrap="square" lIns="0" tIns="12700" rIns="0" bIns="0" rtlCol="0">
            <a:spAutoFit/>
          </a:bodyPr>
          <a:lstStyle/>
          <a:p>
            <a:pPr marL="195580" indent="-182880">
              <a:lnSpc>
                <a:spcPct val="100000"/>
              </a:lnSpc>
              <a:spcBef>
                <a:spcPts val="100"/>
              </a:spcBef>
              <a:buClr>
                <a:srgbClr val="4F80BC"/>
              </a:buClr>
              <a:buSzPct val="85000"/>
              <a:buFont typeface="Arial MT"/>
              <a:buChar char="•"/>
              <a:tabLst>
                <a:tab pos="195580" algn="l"/>
                <a:tab pos="1449705" algn="l"/>
                <a:tab pos="2870835" algn="l"/>
                <a:tab pos="3261995" algn="l"/>
                <a:tab pos="4519295" algn="l"/>
                <a:tab pos="5071110" algn="l"/>
                <a:tab pos="5838190" algn="l"/>
                <a:tab pos="6477000" algn="l"/>
                <a:tab pos="7585075" algn="l"/>
              </a:tabLst>
            </a:pPr>
            <a:r>
              <a:rPr sz="2000" spc="-5" dirty="0">
                <a:latin typeface="Calibri"/>
                <a:cs typeface="Calibri"/>
              </a:rPr>
              <a:t>Com</a:t>
            </a:r>
            <a:r>
              <a:rPr sz="2000" spc="-15" dirty="0">
                <a:uFill>
                  <a:solidFill>
                    <a:srgbClr val="FF0000"/>
                  </a:solidFill>
                </a:uFill>
                <a:latin typeface="Calibri"/>
                <a:cs typeface="Calibri"/>
              </a:rPr>
              <a:t>p</a:t>
            </a:r>
            <a:r>
              <a:rPr sz="2000" spc="-5" dirty="0">
                <a:uFill>
                  <a:solidFill>
                    <a:srgbClr val="FF0000"/>
                  </a:solidFill>
                </a:uFill>
                <a:latin typeface="Calibri"/>
                <a:cs typeface="Calibri"/>
              </a:rPr>
              <a:t>u</a:t>
            </a:r>
            <a:r>
              <a:rPr sz="2000" spc="-25" dirty="0">
                <a:uFill>
                  <a:solidFill>
                    <a:srgbClr val="FF0000"/>
                  </a:solidFill>
                </a:uFill>
                <a:latin typeface="Calibri"/>
                <a:cs typeface="Calibri"/>
              </a:rPr>
              <a:t>t</a:t>
            </a:r>
            <a:r>
              <a:rPr sz="2000" dirty="0">
                <a:uFill>
                  <a:solidFill>
                    <a:srgbClr val="FF0000"/>
                  </a:solidFill>
                </a:uFill>
                <a:latin typeface="Calibri"/>
                <a:cs typeface="Calibri"/>
              </a:rPr>
              <a:t>er</a:t>
            </a:r>
            <a:r>
              <a:rPr sz="2000" dirty="0">
                <a:latin typeface="Times New Roman"/>
                <a:cs typeface="Times New Roman"/>
              </a:rPr>
              <a:t>	</a:t>
            </a:r>
            <a:r>
              <a:rPr sz="2000" spc="-5" dirty="0">
                <a:uFill>
                  <a:solidFill>
                    <a:srgbClr val="FF0000"/>
                  </a:solidFill>
                </a:uFill>
                <a:latin typeface="Calibri"/>
                <a:cs typeface="Calibri"/>
              </a:rPr>
              <a:t>S</a:t>
            </a:r>
            <a:r>
              <a:rPr sz="2000" spc="10" dirty="0">
                <a:uFill>
                  <a:solidFill>
                    <a:srgbClr val="FF0000"/>
                  </a:solidFill>
                </a:uFill>
                <a:latin typeface="Calibri"/>
                <a:cs typeface="Calibri"/>
              </a:rPr>
              <a:t>i</a:t>
            </a:r>
            <a:r>
              <a:rPr sz="2000" dirty="0">
                <a:uFill>
                  <a:solidFill>
                    <a:srgbClr val="FF0000"/>
                  </a:solidFill>
                </a:uFill>
                <a:latin typeface="Calibri"/>
                <a:cs typeface="Calibri"/>
              </a:rPr>
              <a:t>mu</a:t>
            </a:r>
            <a:r>
              <a:rPr sz="2000" spc="-5" dirty="0">
                <a:uFill>
                  <a:solidFill>
                    <a:srgbClr val="FF0000"/>
                  </a:solidFill>
                </a:uFill>
                <a:latin typeface="Calibri"/>
                <a:cs typeface="Calibri"/>
              </a:rPr>
              <a:t>l</a:t>
            </a:r>
            <a:r>
              <a:rPr sz="2000" spc="-25" dirty="0">
                <a:latin typeface="Calibri"/>
                <a:cs typeface="Calibri"/>
              </a:rPr>
              <a:t>a</a:t>
            </a:r>
            <a:r>
              <a:rPr sz="2000" spc="10" dirty="0">
                <a:latin typeface="Calibri"/>
                <a:cs typeface="Calibri"/>
              </a:rPr>
              <a:t>t</a:t>
            </a:r>
            <a:r>
              <a:rPr sz="2000" dirty="0">
                <a:latin typeface="Calibri"/>
                <a:cs typeface="Calibri"/>
              </a:rPr>
              <a:t>i</a:t>
            </a:r>
            <a:r>
              <a:rPr sz="2000" spc="-5" dirty="0">
                <a:latin typeface="Calibri"/>
                <a:cs typeface="Calibri"/>
              </a:rPr>
              <a:t>on</a:t>
            </a:r>
            <a:r>
              <a:rPr sz="2000" dirty="0">
                <a:latin typeface="Calibri"/>
                <a:cs typeface="Calibri"/>
              </a:rPr>
              <a:t>s</a:t>
            </a:r>
            <a:r>
              <a:rPr sz="2000" dirty="0">
                <a:latin typeface="Times New Roman"/>
                <a:cs typeface="Times New Roman"/>
              </a:rPr>
              <a:t>	</a:t>
            </a:r>
            <a:r>
              <a:rPr sz="2000" dirty="0">
                <a:latin typeface="Calibri"/>
                <a:cs typeface="Calibri"/>
              </a:rPr>
              <a:t>&amp;</a:t>
            </a:r>
            <a:r>
              <a:rPr sz="2000" dirty="0">
                <a:latin typeface="Times New Roman"/>
                <a:cs typeface="Times New Roman"/>
              </a:rPr>
              <a:t>	</a:t>
            </a:r>
            <a:r>
              <a:rPr sz="2000" dirty="0">
                <a:latin typeface="Calibri"/>
                <a:cs typeface="Calibri"/>
              </a:rPr>
              <a:t>M</a:t>
            </a:r>
            <a:r>
              <a:rPr sz="2000" spc="-10" dirty="0">
                <a:latin typeface="Calibri"/>
                <a:cs typeface="Calibri"/>
              </a:rPr>
              <a:t>o</a:t>
            </a:r>
            <a:r>
              <a:rPr sz="2000" spc="-5" dirty="0">
                <a:latin typeface="Calibri"/>
                <a:cs typeface="Calibri"/>
              </a:rPr>
              <a:t>de</a:t>
            </a:r>
            <a:r>
              <a:rPr sz="2000" dirty="0">
                <a:latin typeface="Calibri"/>
                <a:cs typeface="Calibri"/>
              </a:rPr>
              <a:t>l</a:t>
            </a:r>
            <a:r>
              <a:rPr sz="2000" spc="-10" dirty="0">
                <a:latin typeface="Calibri"/>
                <a:cs typeface="Calibri"/>
              </a:rPr>
              <a:t>l</a:t>
            </a:r>
            <a:r>
              <a:rPr sz="2000" dirty="0">
                <a:latin typeface="Calibri"/>
                <a:cs typeface="Calibri"/>
              </a:rPr>
              <a:t>i</a:t>
            </a:r>
            <a:r>
              <a:rPr sz="2000" spc="-5" dirty="0">
                <a:latin typeface="Calibri"/>
                <a:cs typeface="Calibri"/>
              </a:rPr>
              <a:t>n</a:t>
            </a:r>
            <a:r>
              <a:rPr sz="2000" dirty="0">
                <a:latin typeface="Calibri"/>
                <a:cs typeface="Calibri"/>
              </a:rPr>
              <a:t>g</a:t>
            </a:r>
            <a:r>
              <a:rPr sz="2000" dirty="0">
                <a:latin typeface="Times New Roman"/>
                <a:cs typeface="Times New Roman"/>
              </a:rPr>
              <a:t>	</a:t>
            </a:r>
            <a:r>
              <a:rPr sz="2000" dirty="0">
                <a:latin typeface="Calibri"/>
                <a:cs typeface="Calibri"/>
              </a:rPr>
              <a:t>a</a:t>
            </a:r>
            <a:r>
              <a:rPr sz="2000" spc="-30" dirty="0">
                <a:latin typeface="Calibri"/>
                <a:cs typeface="Calibri"/>
              </a:rPr>
              <a:t>r</a:t>
            </a:r>
            <a:r>
              <a:rPr sz="2000" dirty="0">
                <a:latin typeface="Calibri"/>
                <a:cs typeface="Calibri"/>
              </a:rPr>
              <a:t>e</a:t>
            </a:r>
            <a:r>
              <a:rPr sz="2000" dirty="0">
                <a:latin typeface="Times New Roman"/>
                <a:cs typeface="Times New Roman"/>
              </a:rPr>
              <a:t>	</a:t>
            </a:r>
            <a:r>
              <a:rPr sz="2000" dirty="0">
                <a:latin typeface="Calibri"/>
                <a:cs typeface="Calibri"/>
              </a:rPr>
              <a:t>mo</a:t>
            </a:r>
            <a:r>
              <a:rPr sz="2000" spc="-35" dirty="0">
                <a:latin typeface="Calibri"/>
                <a:cs typeface="Calibri"/>
              </a:rPr>
              <a:t>r</a:t>
            </a:r>
            <a:r>
              <a:rPr sz="2000" dirty="0">
                <a:latin typeface="Calibri"/>
                <a:cs typeface="Calibri"/>
              </a:rPr>
              <a:t>e</a:t>
            </a:r>
            <a:r>
              <a:rPr sz="2000" dirty="0">
                <a:latin typeface="Times New Roman"/>
                <a:cs typeface="Times New Roman"/>
              </a:rPr>
              <a:t>	</a:t>
            </a:r>
            <a:r>
              <a:rPr sz="2000" spc="-10" dirty="0">
                <a:latin typeface="Calibri"/>
                <a:cs typeface="Calibri"/>
              </a:rPr>
              <a:t>c</a:t>
            </a:r>
            <a:r>
              <a:rPr sz="2000" spc="-15" dirty="0">
                <a:latin typeface="Calibri"/>
                <a:cs typeface="Calibri"/>
              </a:rPr>
              <a:t>o</a:t>
            </a:r>
            <a:r>
              <a:rPr sz="2000" spc="-30" dirty="0">
                <a:latin typeface="Calibri"/>
                <a:cs typeface="Calibri"/>
              </a:rPr>
              <a:t>s</a:t>
            </a:r>
            <a:r>
              <a:rPr sz="2000" dirty="0">
                <a:latin typeface="Calibri"/>
                <a:cs typeface="Calibri"/>
              </a:rPr>
              <a:t>t</a:t>
            </a:r>
            <a:r>
              <a:rPr sz="2000" dirty="0">
                <a:latin typeface="Times New Roman"/>
                <a:cs typeface="Times New Roman"/>
              </a:rPr>
              <a:t>	</a:t>
            </a:r>
            <a:r>
              <a:rPr sz="2000" spc="-15" dirty="0">
                <a:latin typeface="Calibri"/>
                <a:cs typeface="Calibri"/>
              </a:rPr>
              <a:t>e</a:t>
            </a:r>
            <a:r>
              <a:rPr sz="2000" spc="-25" dirty="0">
                <a:latin typeface="Calibri"/>
                <a:cs typeface="Calibri"/>
              </a:rPr>
              <a:t>f</a:t>
            </a:r>
            <a:r>
              <a:rPr sz="2000" spc="-50" dirty="0">
                <a:latin typeface="Calibri"/>
                <a:cs typeface="Calibri"/>
              </a:rPr>
              <a:t>f</a:t>
            </a:r>
            <a:r>
              <a:rPr sz="2000" dirty="0">
                <a:latin typeface="Calibri"/>
                <a:cs typeface="Calibri"/>
              </a:rPr>
              <a:t>ec</a:t>
            </a:r>
            <a:r>
              <a:rPr sz="2000" spc="10" dirty="0">
                <a:latin typeface="Calibri"/>
                <a:cs typeface="Calibri"/>
              </a:rPr>
              <a:t>t</a:t>
            </a:r>
            <a:r>
              <a:rPr sz="2000" dirty="0">
                <a:latin typeface="Calibri"/>
                <a:cs typeface="Calibri"/>
              </a:rPr>
              <a:t>i</a:t>
            </a:r>
            <a:r>
              <a:rPr sz="2000" spc="-35" dirty="0">
                <a:latin typeface="Calibri"/>
                <a:cs typeface="Calibri"/>
              </a:rPr>
              <a:t>v</a:t>
            </a:r>
            <a:r>
              <a:rPr sz="2000" dirty="0">
                <a:latin typeface="Calibri"/>
                <a:cs typeface="Calibri"/>
              </a:rPr>
              <a:t>e</a:t>
            </a:r>
            <a:r>
              <a:rPr sz="2000" dirty="0">
                <a:latin typeface="Times New Roman"/>
                <a:cs typeface="Times New Roman"/>
              </a:rPr>
              <a:t>	</a:t>
            </a:r>
            <a:r>
              <a:rPr sz="2000" dirty="0">
                <a:latin typeface="Calibri"/>
                <a:cs typeface="Calibri"/>
              </a:rPr>
              <a:t>than</a:t>
            </a:r>
          </a:p>
          <a:p>
            <a:pPr marL="194945">
              <a:lnSpc>
                <a:spcPct val="100000"/>
              </a:lnSpc>
              <a:spcBef>
                <a:spcPts val="5"/>
              </a:spcBef>
            </a:pPr>
            <a:r>
              <a:rPr sz="2000" spc="-10" dirty="0">
                <a:latin typeface="Calibri"/>
                <a:cs typeface="Calibri"/>
              </a:rPr>
              <a:t>experimental</a:t>
            </a:r>
            <a:r>
              <a:rPr sz="2000" dirty="0">
                <a:latin typeface="Calibri"/>
                <a:cs typeface="Calibri"/>
              </a:rPr>
              <a:t> </a:t>
            </a:r>
            <a:r>
              <a:rPr sz="2000" spc="-5" dirty="0">
                <a:latin typeface="Calibri"/>
                <a:cs typeface="Calibri"/>
              </a:rPr>
              <a:t>methods</a:t>
            </a:r>
            <a:endParaRPr sz="2000" dirty="0">
              <a:latin typeface="Calibri"/>
              <a:cs typeface="Calibri"/>
            </a:endParaRPr>
          </a:p>
        </p:txBody>
      </p:sp>
      <p:sp>
        <p:nvSpPr>
          <p:cNvPr id="5" name="object 5"/>
          <p:cNvSpPr txBox="1"/>
          <p:nvPr/>
        </p:nvSpPr>
        <p:spPr>
          <a:xfrm>
            <a:off x="535940" y="2558288"/>
            <a:ext cx="8070215" cy="1672589"/>
          </a:xfrm>
          <a:prstGeom prst="rect">
            <a:avLst/>
          </a:prstGeom>
        </p:spPr>
        <p:txBody>
          <a:bodyPr vert="horz" wrap="square" lIns="0" tIns="12700" rIns="0" bIns="0" rtlCol="0">
            <a:spAutoFit/>
          </a:bodyPr>
          <a:lstStyle/>
          <a:p>
            <a:pPr marL="194945" marR="5080" indent="-182880" algn="just">
              <a:lnSpc>
                <a:spcPct val="100000"/>
              </a:lnSpc>
              <a:spcBef>
                <a:spcPts val="100"/>
              </a:spcBef>
              <a:buClr>
                <a:srgbClr val="4F80BC"/>
              </a:buClr>
              <a:buSzPct val="85000"/>
              <a:buFont typeface="Arial MT"/>
              <a:buChar char="•"/>
              <a:tabLst>
                <a:tab pos="195580" algn="l"/>
              </a:tabLst>
            </a:pPr>
            <a:r>
              <a:rPr sz="2000" spc="-5" dirty="0">
                <a:latin typeface="Calibri"/>
                <a:cs typeface="Calibri"/>
              </a:rPr>
              <a:t>Scientific </a:t>
            </a:r>
            <a:r>
              <a:rPr sz="2000" dirty="0">
                <a:latin typeface="Calibri"/>
                <a:cs typeface="Calibri"/>
              </a:rPr>
              <a:t>and </a:t>
            </a:r>
            <a:r>
              <a:rPr sz="2000" spc="-5" dirty="0">
                <a:latin typeface="Calibri"/>
                <a:cs typeface="Calibri"/>
              </a:rPr>
              <a:t>Engineering </a:t>
            </a:r>
            <a:r>
              <a:rPr sz="2000" spc="-10" dirty="0">
                <a:latin typeface="Calibri"/>
                <a:cs typeface="Calibri"/>
              </a:rPr>
              <a:t>problems are </a:t>
            </a:r>
            <a:r>
              <a:rPr sz="2000" spc="-5" dirty="0">
                <a:latin typeface="Calibri"/>
                <a:cs typeface="Calibri"/>
              </a:rPr>
              <a:t>becoming </a:t>
            </a:r>
            <a:r>
              <a:rPr sz="2000" spc="-10" dirty="0">
                <a:latin typeface="Calibri"/>
                <a:cs typeface="Calibri"/>
              </a:rPr>
              <a:t>more complex </a:t>
            </a:r>
            <a:r>
              <a:rPr sz="2000" dirty="0">
                <a:latin typeface="Calibri"/>
                <a:cs typeface="Calibri"/>
              </a:rPr>
              <a:t>&amp; </a:t>
            </a:r>
            <a:r>
              <a:rPr sz="2000" spc="-15" dirty="0">
                <a:latin typeface="Calibri"/>
                <a:cs typeface="Calibri"/>
              </a:rPr>
              <a:t>users </a:t>
            </a:r>
            <a:r>
              <a:rPr sz="2000" spc="-10" dirty="0">
                <a:latin typeface="Calibri"/>
                <a:cs typeface="Calibri"/>
              </a:rPr>
              <a:t> </a:t>
            </a:r>
            <a:r>
              <a:rPr sz="2000" spc="-5" dirty="0">
                <a:latin typeface="Calibri"/>
                <a:cs typeface="Calibri"/>
              </a:rPr>
              <a:t>need </a:t>
            </a:r>
            <a:r>
              <a:rPr sz="2000" spc="-10" dirty="0">
                <a:latin typeface="Calibri"/>
                <a:cs typeface="Calibri"/>
              </a:rPr>
              <a:t>more accurate, </a:t>
            </a:r>
            <a:r>
              <a:rPr sz="2000" spc="-5" dirty="0">
                <a:latin typeface="Calibri"/>
                <a:cs typeface="Calibri"/>
              </a:rPr>
              <a:t>precise solutions </a:t>
            </a:r>
            <a:r>
              <a:rPr sz="2000" spc="-15" dirty="0">
                <a:latin typeface="Calibri"/>
                <a:cs typeface="Calibri"/>
              </a:rPr>
              <a:t>to </a:t>
            </a:r>
            <a:r>
              <a:rPr sz="2000" spc="-5" dirty="0">
                <a:latin typeface="Calibri"/>
                <a:cs typeface="Calibri"/>
              </a:rPr>
              <a:t>their </a:t>
            </a:r>
            <a:r>
              <a:rPr sz="2000" spc="-10" dirty="0">
                <a:latin typeface="Calibri"/>
                <a:cs typeface="Calibri"/>
              </a:rPr>
              <a:t>problems </a:t>
            </a:r>
            <a:r>
              <a:rPr sz="2000" dirty="0">
                <a:latin typeface="Calibri"/>
                <a:cs typeface="Calibri"/>
              </a:rPr>
              <a:t>in </a:t>
            </a:r>
            <a:r>
              <a:rPr sz="2000" spc="-10" dirty="0">
                <a:latin typeface="Calibri"/>
                <a:cs typeface="Calibri"/>
              </a:rPr>
              <a:t>shortest </a:t>
            </a:r>
            <a:r>
              <a:rPr sz="2000" spc="-5" dirty="0">
                <a:latin typeface="Calibri"/>
                <a:cs typeface="Calibri"/>
              </a:rPr>
              <a:t>possible </a:t>
            </a:r>
            <a:r>
              <a:rPr sz="2000" dirty="0">
                <a:latin typeface="Calibri"/>
                <a:cs typeface="Calibri"/>
              </a:rPr>
              <a:t> </a:t>
            </a:r>
            <a:r>
              <a:rPr sz="2000" spc="-5" dirty="0">
                <a:latin typeface="Calibri"/>
                <a:cs typeface="Calibri"/>
              </a:rPr>
              <a:t>time</a:t>
            </a:r>
            <a:endParaRPr sz="2000" dirty="0">
              <a:latin typeface="Calibri"/>
              <a:cs typeface="Calibri"/>
            </a:endParaRPr>
          </a:p>
          <a:p>
            <a:pPr marL="195580" indent="-182880" algn="just">
              <a:lnSpc>
                <a:spcPct val="100000"/>
              </a:lnSpc>
              <a:spcBef>
                <a:spcPts val="484"/>
              </a:spcBef>
              <a:buClr>
                <a:srgbClr val="4F80BC"/>
              </a:buClr>
              <a:buSzPct val="85000"/>
              <a:buFont typeface="Arial MT"/>
              <a:buChar char="•"/>
              <a:tabLst>
                <a:tab pos="195580" algn="l"/>
              </a:tabLst>
            </a:pPr>
            <a:r>
              <a:rPr sz="2000" spc="-15" dirty="0">
                <a:latin typeface="Calibri"/>
                <a:cs typeface="Calibri"/>
              </a:rPr>
              <a:t>Data</a:t>
            </a:r>
            <a:r>
              <a:rPr sz="2000" spc="5" dirty="0">
                <a:latin typeface="Calibri"/>
                <a:cs typeface="Calibri"/>
              </a:rPr>
              <a:t> </a:t>
            </a:r>
            <a:r>
              <a:rPr sz="2000" spc="-10" dirty="0">
                <a:latin typeface="Calibri"/>
                <a:cs typeface="Calibri"/>
              </a:rPr>
              <a:t>Visualization</a:t>
            </a:r>
            <a:r>
              <a:rPr sz="2000" spc="15" dirty="0">
                <a:latin typeface="Calibri"/>
                <a:cs typeface="Calibri"/>
              </a:rPr>
              <a:t> </a:t>
            </a:r>
            <a:r>
              <a:rPr sz="2000" spc="-5" dirty="0">
                <a:latin typeface="Calibri"/>
                <a:cs typeface="Calibri"/>
              </a:rPr>
              <a:t>is</a:t>
            </a:r>
            <a:r>
              <a:rPr sz="2000" spc="20" dirty="0">
                <a:latin typeface="Calibri"/>
                <a:cs typeface="Calibri"/>
              </a:rPr>
              <a:t> </a:t>
            </a:r>
            <a:r>
              <a:rPr sz="2000" spc="-5" dirty="0">
                <a:latin typeface="Calibri"/>
                <a:cs typeface="Calibri"/>
              </a:rPr>
              <a:t>becoming</a:t>
            </a:r>
            <a:r>
              <a:rPr sz="2000" spc="-10" dirty="0">
                <a:latin typeface="Calibri"/>
                <a:cs typeface="Calibri"/>
              </a:rPr>
              <a:t> very</a:t>
            </a:r>
            <a:r>
              <a:rPr sz="2000" spc="5" dirty="0">
                <a:latin typeface="Calibri"/>
                <a:cs typeface="Calibri"/>
              </a:rPr>
              <a:t> </a:t>
            </a:r>
            <a:r>
              <a:rPr sz="2000" spc="-10" dirty="0">
                <a:latin typeface="Calibri"/>
                <a:cs typeface="Calibri"/>
              </a:rPr>
              <a:t>important</a:t>
            </a:r>
            <a:endParaRPr sz="2000" dirty="0">
              <a:latin typeface="Calibri"/>
              <a:cs typeface="Calibri"/>
            </a:endParaRPr>
          </a:p>
          <a:p>
            <a:pPr marL="195580" indent="-182880" algn="just">
              <a:lnSpc>
                <a:spcPct val="100000"/>
              </a:lnSpc>
              <a:spcBef>
                <a:spcPts val="480"/>
              </a:spcBef>
              <a:buClr>
                <a:srgbClr val="4F80BC"/>
              </a:buClr>
              <a:buSzPct val="85000"/>
              <a:buFont typeface="Arial MT"/>
              <a:buChar char="•"/>
              <a:tabLst>
                <a:tab pos="195580" algn="l"/>
              </a:tabLst>
            </a:pPr>
            <a:r>
              <a:rPr sz="2000" spc="-5" dirty="0">
                <a:latin typeface="Calibri"/>
                <a:cs typeface="Calibri"/>
              </a:rPr>
              <a:t>Exploiting</a:t>
            </a:r>
            <a:r>
              <a:rPr sz="2000" spc="-25" dirty="0">
                <a:latin typeface="Calibri"/>
                <a:cs typeface="Calibri"/>
              </a:rPr>
              <a:t> </a:t>
            </a:r>
            <a:r>
              <a:rPr sz="2000" spc="-5" dirty="0">
                <a:latin typeface="Calibri"/>
                <a:cs typeface="Calibri"/>
              </a:rPr>
              <a:t>under</a:t>
            </a:r>
            <a:r>
              <a:rPr sz="2000" spc="-15" dirty="0">
                <a:latin typeface="Calibri"/>
                <a:cs typeface="Calibri"/>
              </a:rPr>
              <a:t> </a:t>
            </a:r>
            <a:r>
              <a:rPr sz="2000" spc="-10" dirty="0">
                <a:latin typeface="Calibri"/>
                <a:cs typeface="Calibri"/>
              </a:rPr>
              <a:t>utilized</a:t>
            </a:r>
            <a:r>
              <a:rPr sz="2000" spc="5" dirty="0">
                <a:latin typeface="Calibri"/>
                <a:cs typeface="Calibri"/>
              </a:rPr>
              <a:t> </a:t>
            </a:r>
            <a:r>
              <a:rPr sz="2000" spc="-5" dirty="0">
                <a:latin typeface="Calibri"/>
                <a:cs typeface="Calibri"/>
              </a:rPr>
              <a:t>resources</a:t>
            </a:r>
            <a:endParaRPr sz="2000" dirty="0">
              <a:latin typeface="Calibri"/>
              <a:cs typeface="Calibri"/>
            </a:endParaRPr>
          </a:p>
        </p:txBody>
      </p:sp>
      <p:sp>
        <p:nvSpPr>
          <p:cNvPr id="8" name="Footer Placeholder 7">
            <a:extLst>
              <a:ext uri="{FF2B5EF4-FFF2-40B4-BE49-F238E27FC236}">
                <a16:creationId xmlns:a16="http://schemas.microsoft.com/office/drawing/2014/main" id="{B5193DD6-ADEB-282F-9949-D6463F2EC4AA}"/>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361241"/>
            <a:ext cx="5318251" cy="382797"/>
          </a:xfrm>
          <a:prstGeom prst="rect">
            <a:avLst/>
          </a:prstGeom>
        </p:spPr>
        <p:txBody>
          <a:bodyPr vert="horz" wrap="square" lIns="0" tIns="13335" rIns="0" bIns="0" rtlCol="0">
            <a:spAutoFit/>
          </a:bodyPr>
          <a:lstStyle/>
          <a:p>
            <a:pPr marL="12700" algn="ctr">
              <a:lnSpc>
                <a:spcPct val="100000"/>
              </a:lnSpc>
              <a:spcBef>
                <a:spcPts val="105"/>
              </a:spcBef>
            </a:pPr>
            <a:r>
              <a:rPr sz="2400" b="1" dirty="0">
                <a:solidFill>
                  <a:srgbClr val="000000"/>
                </a:solidFill>
                <a:latin typeface="Calibri"/>
                <a:cs typeface="Calibri"/>
              </a:rPr>
              <a:t>Who</a:t>
            </a:r>
            <a:r>
              <a:rPr sz="2400" b="1" spc="5" dirty="0">
                <a:solidFill>
                  <a:srgbClr val="000000"/>
                </a:solidFill>
                <a:latin typeface="Calibri"/>
                <a:cs typeface="Calibri"/>
              </a:rPr>
              <a:t> </a:t>
            </a:r>
            <a:r>
              <a:rPr sz="2400" b="1" spc="-5" dirty="0">
                <a:solidFill>
                  <a:srgbClr val="000000"/>
                </a:solidFill>
                <a:latin typeface="Calibri"/>
                <a:cs typeface="Calibri"/>
              </a:rPr>
              <a:t>uses</a:t>
            </a:r>
            <a:r>
              <a:rPr sz="2400" b="1" spc="5" dirty="0">
                <a:solidFill>
                  <a:srgbClr val="000000"/>
                </a:solidFill>
                <a:latin typeface="Calibri"/>
                <a:cs typeface="Calibri"/>
              </a:rPr>
              <a:t> </a:t>
            </a:r>
            <a:r>
              <a:rPr sz="2400" b="1" dirty="0">
                <a:solidFill>
                  <a:srgbClr val="000000"/>
                </a:solidFill>
                <a:latin typeface="Calibri"/>
                <a:cs typeface="Calibri"/>
              </a:rPr>
              <a:t>Grid</a:t>
            </a:r>
            <a:r>
              <a:rPr sz="2400" b="1" spc="-10" dirty="0">
                <a:solidFill>
                  <a:srgbClr val="000000"/>
                </a:solidFill>
                <a:latin typeface="Calibri"/>
                <a:cs typeface="Calibri"/>
              </a:rPr>
              <a:t> </a:t>
            </a:r>
            <a:r>
              <a:rPr sz="2400" b="1" spc="-5" dirty="0">
                <a:solidFill>
                  <a:srgbClr val="000000"/>
                </a:solidFill>
                <a:latin typeface="Calibri"/>
                <a:cs typeface="Calibri"/>
              </a:rPr>
              <a:t>Computing</a:t>
            </a:r>
            <a:r>
              <a:rPr sz="2400" b="1" spc="5" dirty="0">
                <a:solidFill>
                  <a:srgbClr val="000000"/>
                </a:solidFill>
                <a:latin typeface="Calibri"/>
                <a:cs typeface="Calibri"/>
              </a:rPr>
              <a:t> </a:t>
            </a:r>
            <a:r>
              <a:rPr sz="2400" b="1" dirty="0">
                <a:solidFill>
                  <a:srgbClr val="000000"/>
                </a:solidFill>
                <a:latin typeface="Calibri"/>
                <a:cs typeface="Calibri"/>
              </a:rPr>
              <a:t>?</a:t>
            </a:r>
            <a:endParaRPr sz="24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11</a:t>
            </a:r>
          </a:p>
        </p:txBody>
      </p:sp>
      <p:pic>
        <p:nvPicPr>
          <p:cNvPr id="3" name="object 3"/>
          <p:cNvPicPr/>
          <p:nvPr/>
        </p:nvPicPr>
        <p:blipFill>
          <a:blip r:embed="rId2" cstate="print"/>
          <a:stretch>
            <a:fillRect/>
          </a:stretch>
        </p:blipFill>
        <p:spPr>
          <a:xfrm>
            <a:off x="0" y="895350"/>
            <a:ext cx="9143999" cy="3581400"/>
          </a:xfrm>
          <a:prstGeom prst="rect">
            <a:avLst/>
          </a:prstGeom>
        </p:spPr>
      </p:pic>
      <p:sp>
        <p:nvSpPr>
          <p:cNvPr id="5" name="Footer Placeholder 4">
            <a:extLst>
              <a:ext uri="{FF2B5EF4-FFF2-40B4-BE49-F238E27FC236}">
                <a16:creationId xmlns:a16="http://schemas.microsoft.com/office/drawing/2014/main" id="{047BC097-630E-D63D-0D95-BC83782D070B}"/>
              </a:ext>
            </a:extLst>
          </p:cNvPr>
          <p:cNvSpPr>
            <a:spLocks noGrp="1"/>
          </p:cNvSpPr>
          <p:nvPr>
            <p:ph type="ftr" sz="quarter" idx="11"/>
          </p:nvPr>
        </p:nvSpPr>
        <p:spPr/>
        <p:txBody>
          <a:bodyPr/>
          <a:lstStyle/>
          <a:p>
            <a:r>
              <a:rPr lang="en-US"/>
              <a:t>Department of Computer Application</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361241"/>
            <a:ext cx="3009900" cy="382797"/>
          </a:xfrm>
          <a:prstGeom prst="rect">
            <a:avLst/>
          </a:prstGeom>
        </p:spPr>
        <p:txBody>
          <a:bodyPr vert="horz" wrap="square" lIns="0" tIns="13335" rIns="0" bIns="0" rtlCol="0">
            <a:spAutoFit/>
          </a:bodyPr>
          <a:lstStyle/>
          <a:p>
            <a:pPr marL="12700" algn="ctr">
              <a:lnSpc>
                <a:spcPct val="100000"/>
              </a:lnSpc>
              <a:spcBef>
                <a:spcPts val="105"/>
              </a:spcBef>
            </a:pPr>
            <a:r>
              <a:rPr sz="2400" b="1" spc="-50" dirty="0">
                <a:solidFill>
                  <a:srgbClr val="000000"/>
                </a:solidFill>
                <a:latin typeface="Calibri"/>
                <a:cs typeface="Calibri"/>
              </a:rPr>
              <a:t>Type</a:t>
            </a:r>
            <a:r>
              <a:rPr sz="2400" b="1" spc="-30" dirty="0">
                <a:solidFill>
                  <a:srgbClr val="000000"/>
                </a:solidFill>
                <a:latin typeface="Calibri"/>
                <a:cs typeface="Calibri"/>
              </a:rPr>
              <a:t> </a:t>
            </a:r>
            <a:r>
              <a:rPr sz="2400" b="1" spc="-5" dirty="0">
                <a:solidFill>
                  <a:srgbClr val="000000"/>
                </a:solidFill>
                <a:latin typeface="Calibri"/>
                <a:cs typeface="Calibri"/>
              </a:rPr>
              <a:t>of</a:t>
            </a:r>
            <a:r>
              <a:rPr sz="2400" b="1" spc="-25" dirty="0">
                <a:solidFill>
                  <a:srgbClr val="000000"/>
                </a:solidFill>
                <a:latin typeface="Calibri"/>
                <a:cs typeface="Calibri"/>
              </a:rPr>
              <a:t> </a:t>
            </a:r>
            <a:r>
              <a:rPr sz="2400" b="1" dirty="0">
                <a:solidFill>
                  <a:srgbClr val="000000"/>
                </a:solidFill>
                <a:latin typeface="Calibri"/>
                <a:cs typeface="Calibri"/>
              </a:rPr>
              <a:t>Grids</a:t>
            </a:r>
            <a:endParaRPr sz="24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12</a:t>
            </a:r>
          </a:p>
        </p:txBody>
      </p:sp>
      <p:sp>
        <p:nvSpPr>
          <p:cNvPr id="3" name="object 3"/>
          <p:cNvSpPr txBox="1"/>
          <p:nvPr/>
        </p:nvSpPr>
        <p:spPr>
          <a:xfrm>
            <a:off x="459740" y="1107183"/>
            <a:ext cx="8070215" cy="2854325"/>
          </a:xfrm>
          <a:prstGeom prst="rect">
            <a:avLst/>
          </a:prstGeom>
        </p:spPr>
        <p:txBody>
          <a:bodyPr vert="horz" wrap="square" lIns="0" tIns="12065" rIns="0" bIns="0" rtlCol="0">
            <a:spAutoFit/>
          </a:bodyPr>
          <a:lstStyle/>
          <a:p>
            <a:pPr marL="355600" marR="344170" indent="-342900">
              <a:lnSpc>
                <a:spcPct val="100000"/>
              </a:lnSpc>
              <a:spcBef>
                <a:spcPts val="95"/>
              </a:spcBef>
              <a:buFont typeface="Arial MT"/>
              <a:buChar char="•"/>
              <a:tabLst>
                <a:tab pos="354965" algn="l"/>
                <a:tab pos="355600" algn="l"/>
              </a:tabLst>
            </a:pPr>
            <a:r>
              <a:rPr sz="1600" b="1" spc="-10" dirty="0">
                <a:latin typeface="Calibri"/>
                <a:cs typeface="Calibri"/>
              </a:rPr>
              <a:t>Computational</a:t>
            </a:r>
            <a:r>
              <a:rPr sz="1600" b="1" spc="20" dirty="0">
                <a:latin typeface="Calibri"/>
                <a:cs typeface="Calibri"/>
              </a:rPr>
              <a:t> </a:t>
            </a:r>
            <a:r>
              <a:rPr sz="1600" b="1" spc="-10" dirty="0">
                <a:latin typeface="Calibri"/>
                <a:cs typeface="Calibri"/>
              </a:rPr>
              <a:t>Grid:</a:t>
            </a:r>
            <a:r>
              <a:rPr sz="1600" b="1" spc="30" dirty="0">
                <a:latin typeface="Calibri"/>
                <a:cs typeface="Calibri"/>
              </a:rPr>
              <a:t> </a:t>
            </a:r>
            <a:r>
              <a:rPr sz="1600" spc="-5" dirty="0">
                <a:latin typeface="Calibri"/>
                <a:cs typeface="Calibri"/>
              </a:rPr>
              <a:t>These</a:t>
            </a:r>
            <a:r>
              <a:rPr sz="1600" spc="10" dirty="0">
                <a:latin typeface="Calibri"/>
                <a:cs typeface="Calibri"/>
              </a:rPr>
              <a:t> </a:t>
            </a:r>
            <a:r>
              <a:rPr sz="1600" spc="-5" dirty="0">
                <a:latin typeface="Calibri"/>
                <a:cs typeface="Calibri"/>
              </a:rPr>
              <a:t>grids</a:t>
            </a:r>
            <a:r>
              <a:rPr sz="1600" spc="5" dirty="0">
                <a:latin typeface="Calibri"/>
                <a:cs typeface="Calibri"/>
              </a:rPr>
              <a:t> </a:t>
            </a:r>
            <a:r>
              <a:rPr sz="1600" spc="-10" dirty="0">
                <a:latin typeface="Calibri"/>
                <a:cs typeface="Calibri"/>
              </a:rPr>
              <a:t>provide</a:t>
            </a:r>
            <a:r>
              <a:rPr sz="1600" spc="25" dirty="0">
                <a:latin typeface="Calibri"/>
                <a:cs typeface="Calibri"/>
              </a:rPr>
              <a:t> </a:t>
            </a:r>
            <a:r>
              <a:rPr sz="1600" spc="-15" dirty="0">
                <a:latin typeface="Calibri"/>
                <a:cs typeface="Calibri"/>
              </a:rPr>
              <a:t>secure</a:t>
            </a:r>
            <a:r>
              <a:rPr sz="1600" spc="30" dirty="0">
                <a:latin typeface="Calibri"/>
                <a:cs typeface="Calibri"/>
              </a:rPr>
              <a:t> </a:t>
            </a:r>
            <a:r>
              <a:rPr sz="1600" spc="-5" dirty="0">
                <a:latin typeface="Calibri"/>
                <a:cs typeface="Calibri"/>
              </a:rPr>
              <a:t>access</a:t>
            </a:r>
            <a:r>
              <a:rPr sz="1600" spc="10" dirty="0">
                <a:latin typeface="Calibri"/>
                <a:cs typeface="Calibri"/>
              </a:rPr>
              <a:t> </a:t>
            </a:r>
            <a:r>
              <a:rPr sz="1600" spc="-10" dirty="0">
                <a:latin typeface="Calibri"/>
                <a:cs typeface="Calibri"/>
              </a:rPr>
              <a:t>to</a:t>
            </a:r>
            <a:r>
              <a:rPr sz="1600" spc="10" dirty="0">
                <a:latin typeface="Calibri"/>
                <a:cs typeface="Calibri"/>
              </a:rPr>
              <a:t> </a:t>
            </a:r>
            <a:r>
              <a:rPr sz="1600" spc="-10" dirty="0">
                <a:latin typeface="Calibri"/>
                <a:cs typeface="Calibri"/>
              </a:rPr>
              <a:t>huge</a:t>
            </a:r>
            <a:r>
              <a:rPr sz="1600" spc="-5" dirty="0">
                <a:latin typeface="Calibri"/>
                <a:cs typeface="Calibri"/>
              </a:rPr>
              <a:t> </a:t>
            </a:r>
            <a:r>
              <a:rPr sz="1600" spc="-10" dirty="0">
                <a:latin typeface="Calibri"/>
                <a:cs typeface="Calibri"/>
              </a:rPr>
              <a:t>pool</a:t>
            </a:r>
            <a:r>
              <a:rPr sz="1600" spc="25" dirty="0">
                <a:latin typeface="Calibri"/>
                <a:cs typeface="Calibri"/>
              </a:rPr>
              <a:t> </a:t>
            </a:r>
            <a:r>
              <a:rPr sz="1600" spc="-5" dirty="0">
                <a:latin typeface="Calibri"/>
                <a:cs typeface="Calibri"/>
              </a:rPr>
              <a:t>of</a:t>
            </a:r>
            <a:r>
              <a:rPr sz="1600" dirty="0">
                <a:latin typeface="Calibri"/>
                <a:cs typeface="Calibri"/>
              </a:rPr>
              <a:t> </a:t>
            </a:r>
            <a:r>
              <a:rPr sz="1600" spc="-10" dirty="0">
                <a:latin typeface="Calibri"/>
                <a:cs typeface="Calibri"/>
              </a:rPr>
              <a:t>shared</a:t>
            </a:r>
            <a:r>
              <a:rPr sz="1600" spc="25" dirty="0">
                <a:latin typeface="Calibri"/>
                <a:cs typeface="Calibri"/>
              </a:rPr>
              <a:t> </a:t>
            </a:r>
            <a:r>
              <a:rPr sz="1600" spc="-10" dirty="0">
                <a:latin typeface="Calibri"/>
                <a:cs typeface="Calibri"/>
              </a:rPr>
              <a:t>processing </a:t>
            </a:r>
            <a:r>
              <a:rPr sz="1600" spc="-345" dirty="0">
                <a:latin typeface="Calibri"/>
                <a:cs typeface="Calibri"/>
              </a:rPr>
              <a:t> </a:t>
            </a:r>
            <a:r>
              <a:rPr sz="1600" spc="-10" dirty="0">
                <a:latin typeface="Calibri"/>
                <a:cs typeface="Calibri"/>
              </a:rPr>
              <a:t>power</a:t>
            </a:r>
            <a:r>
              <a:rPr sz="1600" spc="30" dirty="0">
                <a:latin typeface="Calibri"/>
                <a:cs typeface="Calibri"/>
              </a:rPr>
              <a:t> </a:t>
            </a:r>
            <a:r>
              <a:rPr sz="1600" spc="-5" dirty="0">
                <a:latin typeface="Calibri"/>
                <a:cs typeface="Calibri"/>
              </a:rPr>
              <a:t>suitable</a:t>
            </a:r>
            <a:r>
              <a:rPr sz="1600" spc="-10" dirty="0">
                <a:latin typeface="Calibri"/>
                <a:cs typeface="Calibri"/>
              </a:rPr>
              <a:t> </a:t>
            </a:r>
            <a:r>
              <a:rPr sz="1600" spc="-15" dirty="0">
                <a:latin typeface="Calibri"/>
                <a:cs typeface="Calibri"/>
              </a:rPr>
              <a:t>for</a:t>
            </a:r>
            <a:r>
              <a:rPr sz="1600" spc="20" dirty="0">
                <a:latin typeface="Calibri"/>
                <a:cs typeface="Calibri"/>
              </a:rPr>
              <a:t> </a:t>
            </a:r>
            <a:r>
              <a:rPr sz="1600" spc="-5" dirty="0">
                <a:latin typeface="Calibri"/>
                <a:cs typeface="Calibri"/>
              </a:rPr>
              <a:t>high</a:t>
            </a:r>
            <a:r>
              <a:rPr sz="1600" spc="-10" dirty="0">
                <a:latin typeface="Calibri"/>
                <a:cs typeface="Calibri"/>
              </a:rPr>
              <a:t> throughput</a:t>
            </a:r>
            <a:r>
              <a:rPr sz="1600" spc="5" dirty="0">
                <a:latin typeface="Calibri"/>
                <a:cs typeface="Calibri"/>
              </a:rPr>
              <a:t> </a:t>
            </a:r>
            <a:r>
              <a:rPr sz="1600" spc="-10" dirty="0">
                <a:latin typeface="Calibri"/>
                <a:cs typeface="Calibri"/>
              </a:rPr>
              <a:t>applications</a:t>
            </a:r>
            <a:r>
              <a:rPr sz="1600" spc="-20" dirty="0">
                <a:latin typeface="Calibri"/>
                <a:cs typeface="Calibri"/>
              </a:rPr>
              <a:t> </a:t>
            </a:r>
            <a:r>
              <a:rPr sz="1600" spc="-5" dirty="0">
                <a:latin typeface="Calibri"/>
                <a:cs typeface="Calibri"/>
              </a:rPr>
              <a:t>and</a:t>
            </a:r>
            <a:r>
              <a:rPr sz="1600" spc="-10" dirty="0">
                <a:latin typeface="Calibri"/>
                <a:cs typeface="Calibri"/>
              </a:rPr>
              <a:t> computation</a:t>
            </a:r>
            <a:r>
              <a:rPr sz="1600" spc="15" dirty="0">
                <a:latin typeface="Calibri"/>
                <a:cs typeface="Calibri"/>
              </a:rPr>
              <a:t> </a:t>
            </a:r>
            <a:r>
              <a:rPr sz="1600" spc="-10" dirty="0">
                <a:latin typeface="Calibri"/>
                <a:cs typeface="Calibri"/>
              </a:rPr>
              <a:t>intensive</a:t>
            </a:r>
            <a:r>
              <a:rPr sz="1600" spc="-15" dirty="0">
                <a:latin typeface="Calibri"/>
                <a:cs typeface="Calibri"/>
              </a:rPr>
              <a:t> </a:t>
            </a:r>
            <a:r>
              <a:rPr sz="1600" spc="-5" dirty="0">
                <a:latin typeface="Calibri"/>
                <a:cs typeface="Calibri"/>
              </a:rPr>
              <a:t>computing.</a:t>
            </a:r>
            <a:endParaRPr sz="1600" dirty="0">
              <a:latin typeface="Calibri"/>
              <a:cs typeface="Calibri"/>
            </a:endParaRPr>
          </a:p>
          <a:p>
            <a:pPr>
              <a:lnSpc>
                <a:spcPct val="100000"/>
              </a:lnSpc>
              <a:buFont typeface="Arial MT"/>
              <a:buChar char="•"/>
            </a:pPr>
            <a:endParaRPr sz="2200" dirty="0">
              <a:latin typeface="Calibri"/>
              <a:cs typeface="Calibri"/>
            </a:endParaRPr>
          </a:p>
          <a:p>
            <a:pPr marL="355600" marR="125095" indent="-342900" algn="just">
              <a:lnSpc>
                <a:spcPct val="100000"/>
              </a:lnSpc>
              <a:buFont typeface="Arial MT"/>
              <a:buChar char="•"/>
              <a:tabLst>
                <a:tab pos="355600" algn="l"/>
              </a:tabLst>
            </a:pPr>
            <a:r>
              <a:rPr sz="1600" b="1" spc="-10" dirty="0">
                <a:latin typeface="Calibri"/>
                <a:cs typeface="Calibri"/>
              </a:rPr>
              <a:t>Data Grid: </a:t>
            </a:r>
            <a:r>
              <a:rPr sz="1600" spc="-15" dirty="0">
                <a:latin typeface="Calibri"/>
                <a:cs typeface="Calibri"/>
              </a:rPr>
              <a:t>Data </a:t>
            </a:r>
            <a:r>
              <a:rPr sz="1600" spc="-5" dirty="0">
                <a:latin typeface="Calibri"/>
                <a:cs typeface="Calibri"/>
              </a:rPr>
              <a:t>grids </a:t>
            </a:r>
            <a:r>
              <a:rPr sz="1600" spc="-10" dirty="0">
                <a:latin typeface="Calibri"/>
                <a:cs typeface="Calibri"/>
              </a:rPr>
              <a:t>provide </a:t>
            </a:r>
            <a:r>
              <a:rPr sz="1600" spc="-5" dirty="0">
                <a:latin typeface="Calibri"/>
                <a:cs typeface="Calibri"/>
              </a:rPr>
              <a:t>an </a:t>
            </a:r>
            <a:r>
              <a:rPr sz="1600" spc="-15" dirty="0">
                <a:latin typeface="Calibri"/>
                <a:cs typeface="Calibri"/>
              </a:rPr>
              <a:t>infrastructure </a:t>
            </a:r>
            <a:r>
              <a:rPr sz="1600" spc="-10" dirty="0">
                <a:latin typeface="Calibri"/>
                <a:cs typeface="Calibri"/>
              </a:rPr>
              <a:t>to support </a:t>
            </a:r>
            <a:r>
              <a:rPr sz="1600" spc="-15" dirty="0">
                <a:latin typeface="Calibri"/>
                <a:cs typeface="Calibri"/>
              </a:rPr>
              <a:t>data storage, data </a:t>
            </a:r>
            <a:r>
              <a:rPr sz="1600" spc="-20" dirty="0">
                <a:latin typeface="Calibri"/>
                <a:cs typeface="Calibri"/>
              </a:rPr>
              <a:t>discovery, </a:t>
            </a:r>
            <a:r>
              <a:rPr sz="1600" spc="-15" dirty="0">
                <a:latin typeface="Calibri"/>
                <a:cs typeface="Calibri"/>
              </a:rPr>
              <a:t>data </a:t>
            </a:r>
            <a:r>
              <a:rPr sz="1600" spc="-10" dirty="0">
                <a:latin typeface="Calibri"/>
                <a:cs typeface="Calibri"/>
              </a:rPr>
              <a:t> </a:t>
            </a:r>
            <a:r>
              <a:rPr sz="1600" spc="-5" dirty="0">
                <a:latin typeface="Calibri"/>
                <a:cs typeface="Calibri"/>
              </a:rPr>
              <a:t>handling, </a:t>
            </a:r>
            <a:r>
              <a:rPr sz="1600" spc="-15" dirty="0">
                <a:latin typeface="Calibri"/>
                <a:cs typeface="Calibri"/>
              </a:rPr>
              <a:t>data </a:t>
            </a:r>
            <a:r>
              <a:rPr sz="1600" spc="-5" dirty="0">
                <a:latin typeface="Calibri"/>
                <a:cs typeface="Calibri"/>
              </a:rPr>
              <a:t>publication, and </a:t>
            </a:r>
            <a:r>
              <a:rPr sz="1600" spc="-15" dirty="0">
                <a:latin typeface="Calibri"/>
                <a:cs typeface="Calibri"/>
              </a:rPr>
              <a:t>data </a:t>
            </a:r>
            <a:r>
              <a:rPr sz="1600" spc="-5" dirty="0">
                <a:latin typeface="Calibri"/>
                <a:cs typeface="Calibri"/>
              </a:rPr>
              <a:t>manipulation of </a:t>
            </a:r>
            <a:r>
              <a:rPr sz="1600" spc="-10" dirty="0">
                <a:latin typeface="Calibri"/>
                <a:cs typeface="Calibri"/>
              </a:rPr>
              <a:t>large volumes </a:t>
            </a:r>
            <a:r>
              <a:rPr sz="1600" spc="-5" dirty="0">
                <a:latin typeface="Calibri"/>
                <a:cs typeface="Calibri"/>
              </a:rPr>
              <a:t>of </a:t>
            </a:r>
            <a:r>
              <a:rPr sz="1600" spc="-15" dirty="0">
                <a:latin typeface="Calibri"/>
                <a:cs typeface="Calibri"/>
              </a:rPr>
              <a:t>data </a:t>
            </a:r>
            <a:r>
              <a:rPr sz="1600" dirty="0">
                <a:latin typeface="Calibri"/>
                <a:cs typeface="Calibri"/>
              </a:rPr>
              <a:t>actually </a:t>
            </a:r>
            <a:r>
              <a:rPr sz="1600" spc="-15" dirty="0">
                <a:latin typeface="Calibri"/>
                <a:cs typeface="Calibri"/>
              </a:rPr>
              <a:t>stored </a:t>
            </a:r>
            <a:r>
              <a:rPr sz="1600" spc="-5" dirty="0">
                <a:latin typeface="Calibri"/>
                <a:cs typeface="Calibri"/>
              </a:rPr>
              <a:t>in </a:t>
            </a:r>
            <a:r>
              <a:rPr sz="1600" spc="-350" dirty="0">
                <a:latin typeface="Calibri"/>
                <a:cs typeface="Calibri"/>
              </a:rPr>
              <a:t> </a:t>
            </a:r>
            <a:r>
              <a:rPr sz="1600" spc="-10" dirty="0">
                <a:latin typeface="Calibri"/>
                <a:cs typeface="Calibri"/>
              </a:rPr>
              <a:t>various</a:t>
            </a:r>
            <a:r>
              <a:rPr sz="1600" spc="5" dirty="0">
                <a:latin typeface="Calibri"/>
                <a:cs typeface="Calibri"/>
              </a:rPr>
              <a:t> </a:t>
            </a:r>
            <a:r>
              <a:rPr sz="1600" spc="-10" dirty="0">
                <a:latin typeface="Calibri"/>
                <a:cs typeface="Calibri"/>
              </a:rPr>
              <a:t>heterogeneous</a:t>
            </a:r>
            <a:r>
              <a:rPr sz="1600" spc="45" dirty="0">
                <a:latin typeface="Calibri"/>
                <a:cs typeface="Calibri"/>
              </a:rPr>
              <a:t> </a:t>
            </a:r>
            <a:r>
              <a:rPr sz="1600" spc="-10" dirty="0">
                <a:latin typeface="Calibri"/>
                <a:cs typeface="Calibri"/>
              </a:rPr>
              <a:t>databases</a:t>
            </a:r>
            <a:r>
              <a:rPr sz="1600" spc="-15" dirty="0">
                <a:latin typeface="Calibri"/>
                <a:cs typeface="Calibri"/>
              </a:rPr>
              <a:t> </a:t>
            </a:r>
            <a:r>
              <a:rPr sz="1600" spc="-5" dirty="0">
                <a:latin typeface="Calibri"/>
                <a:cs typeface="Calibri"/>
              </a:rPr>
              <a:t>and</a:t>
            </a:r>
            <a:r>
              <a:rPr sz="1600" spc="-20" dirty="0">
                <a:latin typeface="Calibri"/>
                <a:cs typeface="Calibri"/>
              </a:rPr>
              <a:t> </a:t>
            </a:r>
            <a:r>
              <a:rPr sz="1600" spc="-5" dirty="0">
                <a:latin typeface="Calibri"/>
                <a:cs typeface="Calibri"/>
              </a:rPr>
              <a:t>file</a:t>
            </a:r>
            <a:r>
              <a:rPr sz="1600" spc="-15" dirty="0">
                <a:latin typeface="Calibri"/>
                <a:cs typeface="Calibri"/>
              </a:rPr>
              <a:t> systems.</a:t>
            </a:r>
            <a:endParaRPr sz="1600" dirty="0">
              <a:latin typeface="Calibri"/>
              <a:cs typeface="Calibri"/>
            </a:endParaRPr>
          </a:p>
          <a:p>
            <a:pPr>
              <a:lnSpc>
                <a:spcPct val="100000"/>
              </a:lnSpc>
              <a:spcBef>
                <a:spcPts val="50"/>
              </a:spcBef>
              <a:buFont typeface="Arial MT"/>
              <a:buChar char="•"/>
            </a:pPr>
            <a:endParaRPr sz="1850" dirty="0">
              <a:latin typeface="Calibri"/>
              <a:cs typeface="Calibri"/>
            </a:endParaRPr>
          </a:p>
          <a:p>
            <a:pPr marL="355600" marR="5080" indent="-342900">
              <a:lnSpc>
                <a:spcPct val="100000"/>
              </a:lnSpc>
              <a:buFont typeface="Arial MT"/>
              <a:buChar char="•"/>
              <a:tabLst>
                <a:tab pos="354965" algn="l"/>
                <a:tab pos="355600" algn="l"/>
              </a:tabLst>
            </a:pPr>
            <a:r>
              <a:rPr sz="1600" b="1" spc="-10" dirty="0">
                <a:latin typeface="Calibri"/>
                <a:cs typeface="Calibri"/>
              </a:rPr>
              <a:t>Collaboration</a:t>
            </a:r>
            <a:r>
              <a:rPr sz="1600" b="1" spc="-5" dirty="0">
                <a:latin typeface="Calibri"/>
                <a:cs typeface="Calibri"/>
              </a:rPr>
              <a:t> </a:t>
            </a:r>
            <a:r>
              <a:rPr sz="1600" b="1" spc="-10" dirty="0">
                <a:latin typeface="Calibri"/>
                <a:cs typeface="Calibri"/>
              </a:rPr>
              <a:t>Grid:</a:t>
            </a:r>
            <a:r>
              <a:rPr sz="1600" b="1" spc="25" dirty="0">
                <a:latin typeface="Calibri"/>
                <a:cs typeface="Calibri"/>
              </a:rPr>
              <a:t> </a:t>
            </a:r>
            <a:r>
              <a:rPr sz="1600" spc="-5" dirty="0">
                <a:latin typeface="Calibri"/>
                <a:cs typeface="Calibri"/>
              </a:rPr>
              <a:t>With</a:t>
            </a:r>
            <a:r>
              <a:rPr sz="1600" dirty="0">
                <a:latin typeface="Calibri"/>
                <a:cs typeface="Calibri"/>
              </a:rPr>
              <a:t> </a:t>
            </a:r>
            <a:r>
              <a:rPr sz="1600" spc="-5" dirty="0">
                <a:latin typeface="Calibri"/>
                <a:cs typeface="Calibri"/>
              </a:rPr>
              <a:t>the</a:t>
            </a:r>
            <a:r>
              <a:rPr sz="1600" spc="10" dirty="0">
                <a:latin typeface="Calibri"/>
                <a:cs typeface="Calibri"/>
              </a:rPr>
              <a:t> </a:t>
            </a:r>
            <a:r>
              <a:rPr sz="1600" spc="-10" dirty="0">
                <a:latin typeface="Calibri"/>
                <a:cs typeface="Calibri"/>
              </a:rPr>
              <a:t>advent</a:t>
            </a:r>
            <a:r>
              <a:rPr sz="1600" spc="-5" dirty="0">
                <a:latin typeface="Calibri"/>
                <a:cs typeface="Calibri"/>
              </a:rPr>
              <a:t> of</a:t>
            </a:r>
            <a:r>
              <a:rPr sz="1600" spc="15" dirty="0">
                <a:latin typeface="Calibri"/>
                <a:cs typeface="Calibri"/>
              </a:rPr>
              <a:t> </a:t>
            </a:r>
            <a:r>
              <a:rPr sz="1600" spc="-10" dirty="0">
                <a:latin typeface="Calibri"/>
                <a:cs typeface="Calibri"/>
              </a:rPr>
              <a:t>Internet,</a:t>
            </a:r>
            <a:r>
              <a:rPr sz="1600" spc="10" dirty="0">
                <a:latin typeface="Calibri"/>
                <a:cs typeface="Calibri"/>
              </a:rPr>
              <a:t> </a:t>
            </a:r>
            <a:r>
              <a:rPr sz="1600" spc="-15" dirty="0">
                <a:latin typeface="Calibri"/>
                <a:cs typeface="Calibri"/>
              </a:rPr>
              <a:t>there</a:t>
            </a:r>
            <a:r>
              <a:rPr sz="1600" spc="25" dirty="0">
                <a:latin typeface="Calibri"/>
                <a:cs typeface="Calibri"/>
              </a:rPr>
              <a:t> </a:t>
            </a:r>
            <a:r>
              <a:rPr sz="1600" spc="-5" dirty="0">
                <a:latin typeface="Calibri"/>
                <a:cs typeface="Calibri"/>
              </a:rPr>
              <a:t>has</a:t>
            </a:r>
            <a:r>
              <a:rPr sz="1600" spc="5" dirty="0">
                <a:latin typeface="Calibri"/>
                <a:cs typeface="Calibri"/>
              </a:rPr>
              <a:t> </a:t>
            </a:r>
            <a:r>
              <a:rPr sz="1600" spc="-10" dirty="0">
                <a:latin typeface="Calibri"/>
                <a:cs typeface="Calibri"/>
              </a:rPr>
              <a:t>been</a:t>
            </a:r>
            <a:r>
              <a:rPr sz="1600" spc="10" dirty="0">
                <a:latin typeface="Calibri"/>
                <a:cs typeface="Calibri"/>
              </a:rPr>
              <a:t> </a:t>
            </a:r>
            <a:r>
              <a:rPr sz="1600" spc="-5" dirty="0">
                <a:latin typeface="Calibri"/>
                <a:cs typeface="Calibri"/>
              </a:rPr>
              <a:t>an </a:t>
            </a:r>
            <a:r>
              <a:rPr sz="1600" spc="-10" dirty="0">
                <a:latin typeface="Calibri"/>
                <a:cs typeface="Calibri"/>
              </a:rPr>
              <a:t>increased</a:t>
            </a:r>
            <a:r>
              <a:rPr sz="1600" spc="25" dirty="0">
                <a:latin typeface="Calibri"/>
                <a:cs typeface="Calibri"/>
              </a:rPr>
              <a:t> </a:t>
            </a:r>
            <a:r>
              <a:rPr sz="1600" spc="-10" dirty="0">
                <a:latin typeface="Calibri"/>
                <a:cs typeface="Calibri"/>
              </a:rPr>
              <a:t>demand</a:t>
            </a:r>
            <a:r>
              <a:rPr sz="1600" dirty="0">
                <a:latin typeface="Calibri"/>
                <a:cs typeface="Calibri"/>
              </a:rPr>
              <a:t> </a:t>
            </a:r>
            <a:r>
              <a:rPr sz="1600" spc="-15" dirty="0">
                <a:latin typeface="Calibri"/>
                <a:cs typeface="Calibri"/>
              </a:rPr>
              <a:t>for </a:t>
            </a:r>
            <a:r>
              <a:rPr sz="1600" spc="-10" dirty="0">
                <a:latin typeface="Calibri"/>
                <a:cs typeface="Calibri"/>
              </a:rPr>
              <a:t> better</a:t>
            </a:r>
            <a:r>
              <a:rPr sz="1600" spc="15" dirty="0">
                <a:latin typeface="Calibri"/>
                <a:cs typeface="Calibri"/>
              </a:rPr>
              <a:t> </a:t>
            </a:r>
            <a:r>
              <a:rPr sz="1600" spc="-10" dirty="0">
                <a:latin typeface="Calibri"/>
                <a:cs typeface="Calibri"/>
              </a:rPr>
              <a:t>collaboration.</a:t>
            </a:r>
            <a:r>
              <a:rPr sz="1600" spc="-5" dirty="0">
                <a:latin typeface="Calibri"/>
                <a:cs typeface="Calibri"/>
              </a:rPr>
              <a:t> </a:t>
            </a:r>
            <a:r>
              <a:rPr sz="1600" spc="-10" dirty="0">
                <a:latin typeface="Calibri"/>
                <a:cs typeface="Calibri"/>
              </a:rPr>
              <a:t>Such</a:t>
            </a:r>
            <a:r>
              <a:rPr sz="1600" spc="-5" dirty="0">
                <a:latin typeface="Calibri"/>
                <a:cs typeface="Calibri"/>
              </a:rPr>
              <a:t> </a:t>
            </a:r>
            <a:r>
              <a:rPr sz="1600" spc="-10" dirty="0">
                <a:latin typeface="Calibri"/>
                <a:cs typeface="Calibri"/>
              </a:rPr>
              <a:t>advanced</a:t>
            </a:r>
            <a:r>
              <a:rPr sz="1600" spc="-5" dirty="0">
                <a:latin typeface="Calibri"/>
                <a:cs typeface="Calibri"/>
              </a:rPr>
              <a:t> </a:t>
            </a:r>
            <a:r>
              <a:rPr sz="1600" spc="-10" dirty="0">
                <a:latin typeface="Calibri"/>
                <a:cs typeface="Calibri"/>
              </a:rPr>
              <a:t>collaboration</a:t>
            </a:r>
            <a:r>
              <a:rPr sz="1600" dirty="0">
                <a:latin typeface="Calibri"/>
                <a:cs typeface="Calibri"/>
              </a:rPr>
              <a:t> </a:t>
            </a:r>
            <a:r>
              <a:rPr sz="1600" spc="-5" dirty="0">
                <a:latin typeface="Calibri"/>
                <a:cs typeface="Calibri"/>
              </a:rPr>
              <a:t>is</a:t>
            </a:r>
            <a:r>
              <a:rPr sz="1600" dirty="0">
                <a:latin typeface="Calibri"/>
                <a:cs typeface="Calibri"/>
              </a:rPr>
              <a:t> </a:t>
            </a:r>
            <a:r>
              <a:rPr sz="1600" spc="-5" dirty="0">
                <a:latin typeface="Calibri"/>
                <a:cs typeface="Calibri"/>
              </a:rPr>
              <a:t>possible</a:t>
            </a:r>
            <a:r>
              <a:rPr sz="1600" spc="5" dirty="0">
                <a:latin typeface="Calibri"/>
                <a:cs typeface="Calibri"/>
              </a:rPr>
              <a:t> </a:t>
            </a:r>
            <a:r>
              <a:rPr sz="1600" spc="-5" dirty="0">
                <a:latin typeface="Calibri"/>
                <a:cs typeface="Calibri"/>
              </a:rPr>
              <a:t>using</a:t>
            </a:r>
            <a:r>
              <a:rPr sz="1600" spc="-20" dirty="0">
                <a:latin typeface="Calibri"/>
                <a:cs typeface="Calibri"/>
              </a:rPr>
              <a:t> </a:t>
            </a:r>
            <a:r>
              <a:rPr sz="1600" spc="-5" dirty="0">
                <a:latin typeface="Calibri"/>
                <a:cs typeface="Calibri"/>
              </a:rPr>
              <a:t>the</a:t>
            </a:r>
            <a:r>
              <a:rPr sz="1600" spc="10" dirty="0">
                <a:latin typeface="Calibri"/>
                <a:cs typeface="Calibri"/>
              </a:rPr>
              <a:t> </a:t>
            </a:r>
            <a:r>
              <a:rPr sz="1600" spc="-5" dirty="0">
                <a:latin typeface="Calibri"/>
                <a:cs typeface="Calibri"/>
              </a:rPr>
              <a:t>grid.</a:t>
            </a:r>
            <a:r>
              <a:rPr sz="1600" spc="-10" dirty="0">
                <a:latin typeface="Calibri"/>
                <a:cs typeface="Calibri"/>
              </a:rPr>
              <a:t> </a:t>
            </a:r>
            <a:r>
              <a:rPr sz="1600" spc="-15" dirty="0">
                <a:latin typeface="Calibri"/>
                <a:cs typeface="Calibri"/>
              </a:rPr>
              <a:t>For</a:t>
            </a:r>
            <a:r>
              <a:rPr sz="1600" spc="20" dirty="0">
                <a:latin typeface="Calibri"/>
                <a:cs typeface="Calibri"/>
              </a:rPr>
              <a:t> </a:t>
            </a:r>
            <a:r>
              <a:rPr sz="1600" spc="-10" dirty="0">
                <a:latin typeface="Calibri"/>
                <a:cs typeface="Calibri"/>
              </a:rPr>
              <a:t>instance, </a:t>
            </a:r>
            <a:r>
              <a:rPr sz="1600" spc="-5" dirty="0">
                <a:latin typeface="Calibri"/>
                <a:cs typeface="Calibri"/>
              </a:rPr>
              <a:t> </a:t>
            </a:r>
            <a:r>
              <a:rPr sz="1600" spc="-15" dirty="0">
                <a:latin typeface="Calibri"/>
                <a:cs typeface="Calibri"/>
              </a:rPr>
              <a:t>persons</a:t>
            </a:r>
            <a:r>
              <a:rPr sz="1600" spc="25" dirty="0">
                <a:latin typeface="Calibri"/>
                <a:cs typeface="Calibri"/>
              </a:rPr>
              <a:t> </a:t>
            </a:r>
            <a:r>
              <a:rPr sz="1600" spc="-15" dirty="0">
                <a:latin typeface="Calibri"/>
                <a:cs typeface="Calibri"/>
              </a:rPr>
              <a:t>from</a:t>
            </a:r>
            <a:r>
              <a:rPr sz="1600" spc="25" dirty="0">
                <a:latin typeface="Calibri"/>
                <a:cs typeface="Calibri"/>
              </a:rPr>
              <a:t> </a:t>
            </a:r>
            <a:r>
              <a:rPr sz="1600" spc="-15" dirty="0">
                <a:latin typeface="Calibri"/>
                <a:cs typeface="Calibri"/>
              </a:rPr>
              <a:t>different</a:t>
            </a:r>
            <a:r>
              <a:rPr sz="1600" spc="-5" dirty="0">
                <a:latin typeface="Calibri"/>
                <a:cs typeface="Calibri"/>
              </a:rPr>
              <a:t> </a:t>
            </a:r>
            <a:r>
              <a:rPr sz="1600" spc="-10" dirty="0">
                <a:latin typeface="Calibri"/>
                <a:cs typeface="Calibri"/>
              </a:rPr>
              <a:t>companies</a:t>
            </a:r>
            <a:r>
              <a:rPr sz="1600" spc="15" dirty="0">
                <a:latin typeface="Calibri"/>
                <a:cs typeface="Calibri"/>
              </a:rPr>
              <a:t> </a:t>
            </a:r>
            <a:r>
              <a:rPr sz="1600" spc="-5" dirty="0">
                <a:latin typeface="Calibri"/>
                <a:cs typeface="Calibri"/>
              </a:rPr>
              <a:t>in a</a:t>
            </a:r>
            <a:r>
              <a:rPr sz="1600" spc="5" dirty="0">
                <a:latin typeface="Calibri"/>
                <a:cs typeface="Calibri"/>
              </a:rPr>
              <a:t> </a:t>
            </a:r>
            <a:r>
              <a:rPr sz="1600" spc="-5" dirty="0">
                <a:latin typeface="Calibri"/>
                <a:cs typeface="Calibri"/>
              </a:rPr>
              <a:t>virtual</a:t>
            </a:r>
            <a:r>
              <a:rPr sz="1600" dirty="0">
                <a:latin typeface="Calibri"/>
                <a:cs typeface="Calibri"/>
              </a:rPr>
              <a:t> </a:t>
            </a:r>
            <a:r>
              <a:rPr sz="1600" spc="-10" dirty="0">
                <a:latin typeface="Calibri"/>
                <a:cs typeface="Calibri"/>
              </a:rPr>
              <a:t>enterprise</a:t>
            </a:r>
            <a:r>
              <a:rPr sz="1600" spc="25" dirty="0">
                <a:latin typeface="Calibri"/>
                <a:cs typeface="Calibri"/>
              </a:rPr>
              <a:t> </a:t>
            </a:r>
            <a:r>
              <a:rPr sz="1600" spc="-10" dirty="0">
                <a:latin typeface="Calibri"/>
                <a:cs typeface="Calibri"/>
              </a:rPr>
              <a:t>can</a:t>
            </a:r>
            <a:r>
              <a:rPr sz="1600" dirty="0">
                <a:latin typeface="Calibri"/>
                <a:cs typeface="Calibri"/>
              </a:rPr>
              <a:t> </a:t>
            </a:r>
            <a:r>
              <a:rPr sz="1600" spc="-10" dirty="0">
                <a:latin typeface="Calibri"/>
                <a:cs typeface="Calibri"/>
              </a:rPr>
              <a:t>work</a:t>
            </a:r>
            <a:r>
              <a:rPr sz="1600" spc="35" dirty="0">
                <a:latin typeface="Calibri"/>
                <a:cs typeface="Calibri"/>
              </a:rPr>
              <a:t> </a:t>
            </a:r>
            <a:r>
              <a:rPr sz="1600" spc="-5" dirty="0">
                <a:latin typeface="Calibri"/>
                <a:cs typeface="Calibri"/>
              </a:rPr>
              <a:t>on</a:t>
            </a:r>
            <a:r>
              <a:rPr sz="1600" spc="15" dirty="0">
                <a:latin typeface="Calibri"/>
                <a:cs typeface="Calibri"/>
              </a:rPr>
              <a:t> </a:t>
            </a:r>
            <a:r>
              <a:rPr sz="1600" spc="-15" dirty="0">
                <a:latin typeface="Calibri"/>
                <a:cs typeface="Calibri"/>
              </a:rPr>
              <a:t>different</a:t>
            </a:r>
            <a:r>
              <a:rPr sz="1600" spc="10" dirty="0">
                <a:latin typeface="Calibri"/>
                <a:cs typeface="Calibri"/>
              </a:rPr>
              <a:t> </a:t>
            </a:r>
            <a:r>
              <a:rPr sz="1600" spc="-10" dirty="0">
                <a:latin typeface="Calibri"/>
                <a:cs typeface="Calibri"/>
              </a:rPr>
              <a:t>components</a:t>
            </a:r>
            <a:r>
              <a:rPr sz="1600" spc="30" dirty="0">
                <a:latin typeface="Calibri"/>
                <a:cs typeface="Calibri"/>
              </a:rPr>
              <a:t> </a:t>
            </a:r>
            <a:r>
              <a:rPr sz="1600" spc="-10" dirty="0">
                <a:latin typeface="Calibri"/>
                <a:cs typeface="Calibri"/>
              </a:rPr>
              <a:t>of </a:t>
            </a:r>
            <a:r>
              <a:rPr sz="1600" spc="-350" dirty="0">
                <a:latin typeface="Calibri"/>
                <a:cs typeface="Calibri"/>
              </a:rPr>
              <a:t> </a:t>
            </a:r>
            <a:r>
              <a:rPr sz="1600" spc="-5" dirty="0">
                <a:latin typeface="Calibri"/>
                <a:cs typeface="Calibri"/>
              </a:rPr>
              <a:t>a </a:t>
            </a:r>
            <a:r>
              <a:rPr sz="1600" spc="-10" dirty="0">
                <a:latin typeface="Calibri"/>
                <a:cs typeface="Calibri"/>
              </a:rPr>
              <a:t>CAD</a:t>
            </a:r>
            <a:r>
              <a:rPr sz="1600" spc="5" dirty="0">
                <a:latin typeface="Calibri"/>
                <a:cs typeface="Calibri"/>
              </a:rPr>
              <a:t> </a:t>
            </a:r>
            <a:r>
              <a:rPr sz="1600" spc="-10" dirty="0">
                <a:latin typeface="Calibri"/>
                <a:cs typeface="Calibri"/>
              </a:rPr>
              <a:t>project</a:t>
            </a:r>
            <a:r>
              <a:rPr sz="1600" spc="25" dirty="0">
                <a:latin typeface="Calibri"/>
                <a:cs typeface="Calibri"/>
              </a:rPr>
              <a:t> </a:t>
            </a:r>
            <a:r>
              <a:rPr sz="1600" spc="-5" dirty="0">
                <a:latin typeface="Calibri"/>
                <a:cs typeface="Calibri"/>
              </a:rPr>
              <a:t>without</a:t>
            </a:r>
            <a:r>
              <a:rPr sz="1600" spc="5" dirty="0">
                <a:latin typeface="Calibri"/>
                <a:cs typeface="Calibri"/>
              </a:rPr>
              <a:t> </a:t>
            </a:r>
            <a:r>
              <a:rPr sz="1600" spc="-15" dirty="0">
                <a:latin typeface="Calibri"/>
                <a:cs typeface="Calibri"/>
              </a:rPr>
              <a:t>even</a:t>
            </a:r>
            <a:r>
              <a:rPr sz="1600" spc="20" dirty="0">
                <a:latin typeface="Calibri"/>
                <a:cs typeface="Calibri"/>
              </a:rPr>
              <a:t> </a:t>
            </a:r>
            <a:r>
              <a:rPr sz="1600" spc="-5" dirty="0">
                <a:latin typeface="Calibri"/>
                <a:cs typeface="Calibri"/>
              </a:rPr>
              <a:t>disclosing</a:t>
            </a:r>
            <a:r>
              <a:rPr sz="1600" spc="-25" dirty="0">
                <a:latin typeface="Calibri"/>
                <a:cs typeface="Calibri"/>
              </a:rPr>
              <a:t> </a:t>
            </a:r>
            <a:r>
              <a:rPr sz="1600" spc="-5" dirty="0">
                <a:latin typeface="Calibri"/>
                <a:cs typeface="Calibri"/>
              </a:rPr>
              <a:t>their</a:t>
            </a:r>
            <a:r>
              <a:rPr sz="1600" dirty="0">
                <a:latin typeface="Calibri"/>
                <a:cs typeface="Calibri"/>
              </a:rPr>
              <a:t> </a:t>
            </a:r>
            <a:r>
              <a:rPr sz="1600" spc="-10" dirty="0">
                <a:latin typeface="Calibri"/>
                <a:cs typeface="Calibri"/>
              </a:rPr>
              <a:t>proprietary</a:t>
            </a:r>
            <a:r>
              <a:rPr sz="1600" spc="35" dirty="0">
                <a:latin typeface="Calibri"/>
                <a:cs typeface="Calibri"/>
              </a:rPr>
              <a:t> </a:t>
            </a:r>
            <a:r>
              <a:rPr sz="1600" spc="-5" dirty="0">
                <a:latin typeface="Calibri"/>
                <a:cs typeface="Calibri"/>
              </a:rPr>
              <a:t>technologies.</a:t>
            </a:r>
            <a:endParaRPr sz="1600" dirty="0">
              <a:latin typeface="Calibri"/>
              <a:cs typeface="Calibri"/>
            </a:endParaRPr>
          </a:p>
        </p:txBody>
      </p:sp>
      <p:sp>
        <p:nvSpPr>
          <p:cNvPr id="5" name="Footer Placeholder 4">
            <a:extLst>
              <a:ext uri="{FF2B5EF4-FFF2-40B4-BE49-F238E27FC236}">
                <a16:creationId xmlns:a16="http://schemas.microsoft.com/office/drawing/2014/main" id="{942E2581-DD1F-3E3B-B692-F34C7976927D}"/>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407228"/>
            <a:ext cx="3009900" cy="382797"/>
          </a:xfrm>
          <a:prstGeom prst="rect">
            <a:avLst/>
          </a:prstGeom>
        </p:spPr>
        <p:txBody>
          <a:bodyPr vert="horz" wrap="square" lIns="0" tIns="13335" rIns="0" bIns="0" rtlCol="0">
            <a:spAutoFit/>
          </a:bodyPr>
          <a:lstStyle/>
          <a:p>
            <a:pPr marL="12700">
              <a:lnSpc>
                <a:spcPct val="100000"/>
              </a:lnSpc>
              <a:spcBef>
                <a:spcPts val="105"/>
              </a:spcBef>
            </a:pPr>
            <a:r>
              <a:rPr sz="2400" b="1" spc="-50" dirty="0">
                <a:solidFill>
                  <a:srgbClr val="000000"/>
                </a:solidFill>
                <a:latin typeface="Calibri"/>
                <a:cs typeface="Calibri"/>
              </a:rPr>
              <a:t>Type</a:t>
            </a:r>
            <a:r>
              <a:rPr sz="2400" b="1" spc="-35" dirty="0">
                <a:solidFill>
                  <a:srgbClr val="000000"/>
                </a:solidFill>
                <a:latin typeface="Calibri"/>
                <a:cs typeface="Calibri"/>
              </a:rPr>
              <a:t> </a:t>
            </a:r>
            <a:r>
              <a:rPr sz="2400" b="1" dirty="0">
                <a:solidFill>
                  <a:srgbClr val="000000"/>
                </a:solidFill>
                <a:latin typeface="Calibri"/>
                <a:cs typeface="Calibri"/>
              </a:rPr>
              <a:t>of</a:t>
            </a:r>
            <a:r>
              <a:rPr sz="2400" b="1" spc="-35" dirty="0">
                <a:solidFill>
                  <a:srgbClr val="000000"/>
                </a:solidFill>
                <a:latin typeface="Calibri"/>
                <a:cs typeface="Calibri"/>
              </a:rPr>
              <a:t> </a:t>
            </a:r>
            <a:r>
              <a:rPr sz="2400" b="1" dirty="0">
                <a:solidFill>
                  <a:srgbClr val="000000"/>
                </a:solidFill>
                <a:latin typeface="Calibri"/>
                <a:cs typeface="Calibri"/>
              </a:rPr>
              <a:t>Grids</a:t>
            </a:r>
            <a:endParaRPr sz="24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13</a:t>
            </a:r>
          </a:p>
        </p:txBody>
      </p:sp>
      <p:sp>
        <p:nvSpPr>
          <p:cNvPr id="3" name="object 3"/>
          <p:cNvSpPr txBox="1"/>
          <p:nvPr/>
        </p:nvSpPr>
        <p:spPr>
          <a:xfrm>
            <a:off x="535940" y="1221483"/>
            <a:ext cx="8011159" cy="2562860"/>
          </a:xfrm>
          <a:prstGeom prst="rect">
            <a:avLst/>
          </a:prstGeom>
        </p:spPr>
        <p:txBody>
          <a:bodyPr vert="horz" wrap="square" lIns="0" tIns="12065" rIns="0" bIns="0" rtlCol="0">
            <a:spAutoFit/>
          </a:bodyPr>
          <a:lstStyle/>
          <a:p>
            <a:pPr marL="355600" marR="16510" indent="-343535">
              <a:lnSpc>
                <a:spcPct val="100000"/>
              </a:lnSpc>
              <a:spcBef>
                <a:spcPts val="95"/>
              </a:spcBef>
              <a:buFont typeface="Arial MT"/>
              <a:buChar char="•"/>
              <a:tabLst>
                <a:tab pos="355600" algn="l"/>
                <a:tab pos="356235" algn="l"/>
              </a:tabLst>
            </a:pPr>
            <a:r>
              <a:rPr sz="1600" b="1" spc="-10" dirty="0">
                <a:latin typeface="Calibri"/>
                <a:cs typeface="Calibri"/>
              </a:rPr>
              <a:t>Network</a:t>
            </a:r>
            <a:r>
              <a:rPr sz="1600" b="1" spc="-5" dirty="0">
                <a:latin typeface="Calibri"/>
                <a:cs typeface="Calibri"/>
              </a:rPr>
              <a:t> </a:t>
            </a:r>
            <a:r>
              <a:rPr sz="1600" b="1" spc="-10" dirty="0">
                <a:latin typeface="Calibri"/>
                <a:cs typeface="Calibri"/>
              </a:rPr>
              <a:t>Grid:</a:t>
            </a:r>
            <a:r>
              <a:rPr sz="1600" b="1" spc="35" dirty="0">
                <a:latin typeface="Calibri"/>
                <a:cs typeface="Calibri"/>
              </a:rPr>
              <a:t> </a:t>
            </a:r>
            <a:r>
              <a:rPr sz="1600" spc="-5" dirty="0">
                <a:latin typeface="Calibri"/>
                <a:cs typeface="Calibri"/>
              </a:rPr>
              <a:t>A</a:t>
            </a:r>
            <a:r>
              <a:rPr sz="1600" spc="15" dirty="0">
                <a:latin typeface="Calibri"/>
                <a:cs typeface="Calibri"/>
              </a:rPr>
              <a:t> </a:t>
            </a:r>
            <a:r>
              <a:rPr sz="1600" spc="-10" dirty="0">
                <a:latin typeface="Calibri"/>
                <a:cs typeface="Calibri"/>
              </a:rPr>
              <a:t>Network</a:t>
            </a:r>
            <a:r>
              <a:rPr sz="1600" spc="50" dirty="0">
                <a:latin typeface="Calibri"/>
                <a:cs typeface="Calibri"/>
              </a:rPr>
              <a:t> </a:t>
            </a:r>
            <a:r>
              <a:rPr sz="1600" spc="-5" dirty="0">
                <a:latin typeface="Calibri"/>
                <a:cs typeface="Calibri"/>
              </a:rPr>
              <a:t>Grid</a:t>
            </a:r>
            <a:r>
              <a:rPr sz="1600" spc="25" dirty="0">
                <a:latin typeface="Calibri"/>
                <a:cs typeface="Calibri"/>
              </a:rPr>
              <a:t> </a:t>
            </a:r>
            <a:r>
              <a:rPr sz="1600" spc="-10" dirty="0">
                <a:latin typeface="Calibri"/>
                <a:cs typeface="Calibri"/>
              </a:rPr>
              <a:t>provides</a:t>
            </a:r>
            <a:r>
              <a:rPr sz="1600" spc="30" dirty="0">
                <a:latin typeface="Calibri"/>
                <a:cs typeface="Calibri"/>
              </a:rPr>
              <a:t> </a:t>
            </a:r>
            <a:r>
              <a:rPr sz="1600" spc="-10" dirty="0">
                <a:latin typeface="Calibri"/>
                <a:cs typeface="Calibri"/>
              </a:rPr>
              <a:t>fault-tolerant </a:t>
            </a:r>
            <a:r>
              <a:rPr sz="1600" spc="-5" dirty="0">
                <a:latin typeface="Calibri"/>
                <a:cs typeface="Calibri"/>
              </a:rPr>
              <a:t>and</a:t>
            </a:r>
            <a:r>
              <a:rPr sz="1600" dirty="0">
                <a:latin typeface="Calibri"/>
                <a:cs typeface="Calibri"/>
              </a:rPr>
              <a:t> </a:t>
            </a:r>
            <a:r>
              <a:rPr sz="1600" spc="-10" dirty="0">
                <a:latin typeface="Calibri"/>
                <a:cs typeface="Calibri"/>
              </a:rPr>
              <a:t>high-performance</a:t>
            </a:r>
            <a:r>
              <a:rPr sz="1600" spc="25" dirty="0">
                <a:latin typeface="Calibri"/>
                <a:cs typeface="Calibri"/>
              </a:rPr>
              <a:t> </a:t>
            </a:r>
            <a:r>
              <a:rPr sz="1600" spc="-10" dirty="0">
                <a:latin typeface="Calibri"/>
                <a:cs typeface="Calibri"/>
              </a:rPr>
              <a:t>communication </a:t>
            </a:r>
            <a:r>
              <a:rPr sz="1600" spc="-345" dirty="0">
                <a:latin typeface="Calibri"/>
                <a:cs typeface="Calibri"/>
              </a:rPr>
              <a:t> </a:t>
            </a:r>
            <a:r>
              <a:rPr sz="1600" spc="-5" dirty="0">
                <a:latin typeface="Calibri"/>
                <a:cs typeface="Calibri"/>
              </a:rPr>
              <a:t>services.</a:t>
            </a:r>
            <a:r>
              <a:rPr sz="1600" spc="25" dirty="0">
                <a:latin typeface="Calibri"/>
                <a:cs typeface="Calibri"/>
              </a:rPr>
              <a:t> </a:t>
            </a:r>
            <a:r>
              <a:rPr sz="1600" spc="-10" dirty="0">
                <a:latin typeface="Calibri"/>
                <a:cs typeface="Calibri"/>
              </a:rPr>
              <a:t>Each</a:t>
            </a:r>
            <a:r>
              <a:rPr sz="1600" dirty="0">
                <a:latin typeface="Calibri"/>
                <a:cs typeface="Calibri"/>
              </a:rPr>
              <a:t> </a:t>
            </a:r>
            <a:r>
              <a:rPr sz="1600" spc="-5" dirty="0">
                <a:latin typeface="Calibri"/>
                <a:cs typeface="Calibri"/>
              </a:rPr>
              <a:t>grid</a:t>
            </a:r>
            <a:r>
              <a:rPr sz="1600" dirty="0">
                <a:latin typeface="Calibri"/>
                <a:cs typeface="Calibri"/>
              </a:rPr>
              <a:t> </a:t>
            </a:r>
            <a:r>
              <a:rPr sz="1600" spc="-10" dirty="0">
                <a:latin typeface="Calibri"/>
                <a:cs typeface="Calibri"/>
              </a:rPr>
              <a:t>node</a:t>
            </a:r>
            <a:r>
              <a:rPr sz="1600" spc="10" dirty="0">
                <a:latin typeface="Calibri"/>
                <a:cs typeface="Calibri"/>
              </a:rPr>
              <a:t> </a:t>
            </a:r>
            <a:r>
              <a:rPr sz="1600" spc="-15" dirty="0">
                <a:latin typeface="Calibri"/>
                <a:cs typeface="Calibri"/>
              </a:rPr>
              <a:t>works</a:t>
            </a:r>
            <a:r>
              <a:rPr sz="1600" spc="30" dirty="0">
                <a:latin typeface="Calibri"/>
                <a:cs typeface="Calibri"/>
              </a:rPr>
              <a:t> </a:t>
            </a:r>
            <a:r>
              <a:rPr sz="1600" spc="-5" dirty="0">
                <a:latin typeface="Calibri"/>
                <a:cs typeface="Calibri"/>
              </a:rPr>
              <a:t>as</a:t>
            </a:r>
            <a:r>
              <a:rPr sz="1600" spc="5" dirty="0">
                <a:latin typeface="Calibri"/>
                <a:cs typeface="Calibri"/>
              </a:rPr>
              <a:t> </a:t>
            </a:r>
            <a:r>
              <a:rPr sz="1600" spc="-5" dirty="0">
                <a:latin typeface="Calibri"/>
                <a:cs typeface="Calibri"/>
              </a:rPr>
              <a:t>a</a:t>
            </a:r>
            <a:r>
              <a:rPr sz="1600" spc="-10" dirty="0">
                <a:latin typeface="Calibri"/>
                <a:cs typeface="Calibri"/>
              </a:rPr>
              <a:t> </a:t>
            </a:r>
            <a:r>
              <a:rPr sz="1600" spc="-15" dirty="0">
                <a:latin typeface="Calibri"/>
                <a:cs typeface="Calibri"/>
              </a:rPr>
              <a:t>data</a:t>
            </a:r>
            <a:r>
              <a:rPr sz="1600" spc="-10" dirty="0">
                <a:latin typeface="Calibri"/>
                <a:cs typeface="Calibri"/>
              </a:rPr>
              <a:t> </a:t>
            </a:r>
            <a:r>
              <a:rPr sz="1600" spc="-15" dirty="0">
                <a:latin typeface="Calibri"/>
                <a:cs typeface="Calibri"/>
              </a:rPr>
              <a:t>router</a:t>
            </a:r>
            <a:r>
              <a:rPr sz="1600" spc="30" dirty="0">
                <a:latin typeface="Calibri"/>
                <a:cs typeface="Calibri"/>
              </a:rPr>
              <a:t> </a:t>
            </a:r>
            <a:r>
              <a:rPr sz="1600" spc="-10" dirty="0">
                <a:latin typeface="Calibri"/>
                <a:cs typeface="Calibri"/>
              </a:rPr>
              <a:t>between</a:t>
            </a:r>
            <a:r>
              <a:rPr sz="1600" spc="20" dirty="0">
                <a:latin typeface="Calibri"/>
                <a:cs typeface="Calibri"/>
              </a:rPr>
              <a:t> </a:t>
            </a:r>
            <a:r>
              <a:rPr sz="1600" spc="-10" dirty="0">
                <a:latin typeface="Calibri"/>
                <a:cs typeface="Calibri"/>
              </a:rPr>
              <a:t>two</a:t>
            </a:r>
            <a:r>
              <a:rPr sz="1600" spc="20" dirty="0">
                <a:latin typeface="Calibri"/>
                <a:cs typeface="Calibri"/>
              </a:rPr>
              <a:t> </a:t>
            </a:r>
            <a:r>
              <a:rPr sz="1600" spc="-10" dirty="0">
                <a:latin typeface="Calibri"/>
                <a:cs typeface="Calibri"/>
              </a:rPr>
              <a:t>communication points, </a:t>
            </a:r>
            <a:r>
              <a:rPr sz="1600" spc="-5" dirty="0">
                <a:latin typeface="Calibri"/>
                <a:cs typeface="Calibri"/>
              </a:rPr>
              <a:t> </a:t>
            </a:r>
            <a:r>
              <a:rPr sz="1600" spc="-10" dirty="0">
                <a:latin typeface="Calibri"/>
                <a:cs typeface="Calibri"/>
              </a:rPr>
              <a:t>providing</a:t>
            </a:r>
            <a:r>
              <a:rPr sz="1600" dirty="0">
                <a:latin typeface="Calibri"/>
                <a:cs typeface="Calibri"/>
              </a:rPr>
              <a:t> </a:t>
            </a:r>
            <a:r>
              <a:rPr sz="1600" spc="-10" dirty="0">
                <a:latin typeface="Calibri"/>
                <a:cs typeface="Calibri"/>
              </a:rPr>
              <a:t>data-caching</a:t>
            </a:r>
            <a:r>
              <a:rPr sz="1600" spc="-30" dirty="0">
                <a:latin typeface="Calibri"/>
                <a:cs typeface="Calibri"/>
              </a:rPr>
              <a:t> </a:t>
            </a:r>
            <a:r>
              <a:rPr sz="1600" spc="-5" dirty="0">
                <a:latin typeface="Calibri"/>
                <a:cs typeface="Calibri"/>
              </a:rPr>
              <a:t>and</a:t>
            </a:r>
            <a:r>
              <a:rPr sz="1600" spc="-15" dirty="0">
                <a:latin typeface="Calibri"/>
                <a:cs typeface="Calibri"/>
              </a:rPr>
              <a:t> </a:t>
            </a:r>
            <a:r>
              <a:rPr sz="1600" spc="-5" dirty="0">
                <a:latin typeface="Calibri"/>
                <a:cs typeface="Calibri"/>
              </a:rPr>
              <a:t>other</a:t>
            </a:r>
            <a:r>
              <a:rPr sz="1600" spc="20" dirty="0">
                <a:latin typeface="Calibri"/>
                <a:cs typeface="Calibri"/>
              </a:rPr>
              <a:t> </a:t>
            </a:r>
            <a:r>
              <a:rPr sz="1600" spc="-5" dirty="0">
                <a:latin typeface="Calibri"/>
                <a:cs typeface="Calibri"/>
              </a:rPr>
              <a:t>facilities</a:t>
            </a:r>
            <a:r>
              <a:rPr sz="1600" spc="-20" dirty="0">
                <a:latin typeface="Calibri"/>
                <a:cs typeface="Calibri"/>
              </a:rPr>
              <a:t> </a:t>
            </a:r>
            <a:r>
              <a:rPr sz="1600" spc="-10" dirty="0">
                <a:latin typeface="Calibri"/>
                <a:cs typeface="Calibri"/>
              </a:rPr>
              <a:t>to</a:t>
            </a:r>
            <a:r>
              <a:rPr sz="1600" dirty="0">
                <a:latin typeface="Calibri"/>
                <a:cs typeface="Calibri"/>
              </a:rPr>
              <a:t> </a:t>
            </a:r>
            <a:r>
              <a:rPr sz="1600" spc="-10" dirty="0">
                <a:latin typeface="Calibri"/>
                <a:cs typeface="Calibri"/>
              </a:rPr>
              <a:t>speed</a:t>
            </a:r>
            <a:r>
              <a:rPr sz="1600" spc="10" dirty="0">
                <a:latin typeface="Calibri"/>
                <a:cs typeface="Calibri"/>
              </a:rPr>
              <a:t> </a:t>
            </a:r>
            <a:r>
              <a:rPr sz="1600" spc="-5" dirty="0">
                <a:latin typeface="Calibri"/>
                <a:cs typeface="Calibri"/>
              </a:rPr>
              <a:t>up</a:t>
            </a:r>
            <a:r>
              <a:rPr sz="1600" dirty="0">
                <a:latin typeface="Calibri"/>
                <a:cs typeface="Calibri"/>
              </a:rPr>
              <a:t> </a:t>
            </a:r>
            <a:r>
              <a:rPr sz="1600" spc="-5" dirty="0">
                <a:latin typeface="Calibri"/>
                <a:cs typeface="Calibri"/>
              </a:rPr>
              <a:t>the</a:t>
            </a:r>
            <a:r>
              <a:rPr sz="1600" spc="10" dirty="0">
                <a:latin typeface="Calibri"/>
                <a:cs typeface="Calibri"/>
              </a:rPr>
              <a:t> </a:t>
            </a:r>
            <a:r>
              <a:rPr sz="1600" spc="-10" dirty="0">
                <a:latin typeface="Calibri"/>
                <a:cs typeface="Calibri"/>
              </a:rPr>
              <a:t>communications</a:t>
            </a:r>
            <a:r>
              <a:rPr sz="1600" spc="-15" dirty="0">
                <a:latin typeface="Calibri"/>
                <a:cs typeface="Calibri"/>
              </a:rPr>
              <a:t> </a:t>
            </a:r>
            <a:r>
              <a:rPr sz="1600" spc="-10" dirty="0">
                <a:latin typeface="Calibri"/>
                <a:cs typeface="Calibri"/>
              </a:rPr>
              <a:t>between</a:t>
            </a:r>
            <a:r>
              <a:rPr sz="1600" spc="35" dirty="0">
                <a:latin typeface="Calibri"/>
                <a:cs typeface="Calibri"/>
              </a:rPr>
              <a:t> </a:t>
            </a:r>
            <a:r>
              <a:rPr sz="1600" spc="-10" dirty="0">
                <a:latin typeface="Calibri"/>
                <a:cs typeface="Calibri"/>
              </a:rPr>
              <a:t>such </a:t>
            </a:r>
            <a:r>
              <a:rPr sz="1600" spc="-5" dirty="0">
                <a:latin typeface="Calibri"/>
                <a:cs typeface="Calibri"/>
              </a:rPr>
              <a:t> points.</a:t>
            </a:r>
            <a:endParaRPr sz="1600" dirty="0">
              <a:latin typeface="Calibri"/>
              <a:cs typeface="Calibri"/>
            </a:endParaRPr>
          </a:p>
          <a:p>
            <a:pPr>
              <a:lnSpc>
                <a:spcPct val="100000"/>
              </a:lnSpc>
              <a:buFont typeface="Arial MT"/>
              <a:buChar char="•"/>
            </a:pPr>
            <a:endParaRPr sz="2200" dirty="0">
              <a:latin typeface="Calibri"/>
              <a:cs typeface="Calibri"/>
            </a:endParaRPr>
          </a:p>
          <a:p>
            <a:pPr marL="355600" marR="5080" indent="-343535">
              <a:lnSpc>
                <a:spcPct val="100200"/>
              </a:lnSpc>
              <a:buFont typeface="Arial MT"/>
              <a:buChar char="•"/>
              <a:tabLst>
                <a:tab pos="355600" algn="l"/>
                <a:tab pos="356235" algn="l"/>
              </a:tabLst>
            </a:pPr>
            <a:r>
              <a:rPr sz="1600" b="1" spc="-5" dirty="0">
                <a:latin typeface="Calibri"/>
                <a:cs typeface="Calibri"/>
              </a:rPr>
              <a:t>Utility</a:t>
            </a:r>
            <a:r>
              <a:rPr sz="1600" b="1" spc="-10" dirty="0">
                <a:latin typeface="Calibri"/>
                <a:cs typeface="Calibri"/>
              </a:rPr>
              <a:t> Grid:</a:t>
            </a:r>
            <a:r>
              <a:rPr sz="1600" b="1" spc="15" dirty="0">
                <a:latin typeface="Calibri"/>
                <a:cs typeface="Calibri"/>
              </a:rPr>
              <a:t> </a:t>
            </a:r>
            <a:r>
              <a:rPr sz="1600" spc="-5" dirty="0">
                <a:latin typeface="Calibri"/>
                <a:cs typeface="Calibri"/>
              </a:rPr>
              <a:t>This</a:t>
            </a:r>
            <a:r>
              <a:rPr sz="1600" spc="-10" dirty="0">
                <a:latin typeface="Calibri"/>
                <a:cs typeface="Calibri"/>
              </a:rPr>
              <a:t> </a:t>
            </a:r>
            <a:r>
              <a:rPr sz="1600" spc="-5" dirty="0">
                <a:latin typeface="Calibri"/>
                <a:cs typeface="Calibri"/>
              </a:rPr>
              <a:t>is</a:t>
            </a:r>
            <a:r>
              <a:rPr sz="1600" spc="-15" dirty="0">
                <a:latin typeface="Calibri"/>
                <a:cs typeface="Calibri"/>
              </a:rPr>
              <a:t> </a:t>
            </a:r>
            <a:r>
              <a:rPr sz="1600" spc="-5" dirty="0">
                <a:latin typeface="Calibri"/>
                <a:cs typeface="Calibri"/>
              </a:rPr>
              <a:t>the</a:t>
            </a:r>
            <a:r>
              <a:rPr sz="1600" spc="10" dirty="0">
                <a:latin typeface="Calibri"/>
                <a:cs typeface="Calibri"/>
              </a:rPr>
              <a:t> </a:t>
            </a:r>
            <a:r>
              <a:rPr sz="1600" spc="-5" dirty="0">
                <a:latin typeface="Calibri"/>
                <a:cs typeface="Calibri"/>
              </a:rPr>
              <a:t>ultimate</a:t>
            </a:r>
            <a:r>
              <a:rPr sz="1600" spc="-25" dirty="0">
                <a:latin typeface="Calibri"/>
                <a:cs typeface="Calibri"/>
              </a:rPr>
              <a:t> </a:t>
            </a:r>
            <a:r>
              <a:rPr sz="1600" spc="-15" dirty="0">
                <a:latin typeface="Calibri"/>
                <a:cs typeface="Calibri"/>
              </a:rPr>
              <a:t>form</a:t>
            </a:r>
            <a:r>
              <a:rPr sz="1600" spc="20" dirty="0">
                <a:latin typeface="Calibri"/>
                <a:cs typeface="Calibri"/>
              </a:rPr>
              <a:t> </a:t>
            </a:r>
            <a:r>
              <a:rPr sz="1600" spc="-5" dirty="0">
                <a:latin typeface="Calibri"/>
                <a:cs typeface="Calibri"/>
              </a:rPr>
              <a:t>of</a:t>
            </a:r>
            <a:r>
              <a:rPr sz="1600" dirty="0">
                <a:latin typeface="Calibri"/>
                <a:cs typeface="Calibri"/>
              </a:rPr>
              <a:t> </a:t>
            </a:r>
            <a:r>
              <a:rPr sz="1600" spc="-5" dirty="0">
                <a:latin typeface="Calibri"/>
                <a:cs typeface="Calibri"/>
              </a:rPr>
              <a:t>the</a:t>
            </a:r>
            <a:r>
              <a:rPr sz="1600" spc="5" dirty="0">
                <a:latin typeface="Calibri"/>
                <a:cs typeface="Calibri"/>
              </a:rPr>
              <a:t> </a:t>
            </a:r>
            <a:r>
              <a:rPr sz="1600" spc="-5" dirty="0">
                <a:latin typeface="Calibri"/>
                <a:cs typeface="Calibri"/>
              </a:rPr>
              <a:t>Grid,</a:t>
            </a:r>
            <a:r>
              <a:rPr sz="1600" spc="10" dirty="0">
                <a:latin typeface="Calibri"/>
                <a:cs typeface="Calibri"/>
              </a:rPr>
              <a:t> </a:t>
            </a:r>
            <a:r>
              <a:rPr sz="1600" spc="-5" dirty="0">
                <a:latin typeface="Calibri"/>
                <a:cs typeface="Calibri"/>
              </a:rPr>
              <a:t>in</a:t>
            </a:r>
            <a:r>
              <a:rPr sz="1600" spc="-15" dirty="0">
                <a:latin typeface="Calibri"/>
                <a:cs typeface="Calibri"/>
              </a:rPr>
              <a:t> </a:t>
            </a:r>
            <a:r>
              <a:rPr sz="1600" spc="-5" dirty="0">
                <a:latin typeface="Calibri"/>
                <a:cs typeface="Calibri"/>
              </a:rPr>
              <a:t>which</a:t>
            </a:r>
            <a:r>
              <a:rPr sz="1600" spc="5" dirty="0">
                <a:latin typeface="Calibri"/>
                <a:cs typeface="Calibri"/>
              </a:rPr>
              <a:t> </a:t>
            </a:r>
            <a:r>
              <a:rPr sz="1600" spc="-10" dirty="0">
                <a:latin typeface="Calibri"/>
                <a:cs typeface="Calibri"/>
              </a:rPr>
              <a:t>not</a:t>
            </a:r>
            <a:r>
              <a:rPr sz="1600" spc="-5" dirty="0">
                <a:latin typeface="Calibri"/>
                <a:cs typeface="Calibri"/>
              </a:rPr>
              <a:t> only</a:t>
            </a:r>
            <a:r>
              <a:rPr sz="1600" spc="10" dirty="0">
                <a:latin typeface="Calibri"/>
                <a:cs typeface="Calibri"/>
              </a:rPr>
              <a:t> </a:t>
            </a:r>
            <a:r>
              <a:rPr sz="1600" spc="-15" dirty="0">
                <a:latin typeface="Calibri"/>
                <a:cs typeface="Calibri"/>
              </a:rPr>
              <a:t>data</a:t>
            </a:r>
            <a:r>
              <a:rPr sz="1600" spc="-10" dirty="0">
                <a:latin typeface="Calibri"/>
                <a:cs typeface="Calibri"/>
              </a:rPr>
              <a:t> </a:t>
            </a:r>
            <a:r>
              <a:rPr sz="1600" spc="-5" dirty="0">
                <a:latin typeface="Calibri"/>
                <a:cs typeface="Calibri"/>
              </a:rPr>
              <a:t>and</a:t>
            </a:r>
            <a:r>
              <a:rPr sz="1600" spc="-15" dirty="0">
                <a:latin typeface="Calibri"/>
                <a:cs typeface="Calibri"/>
              </a:rPr>
              <a:t> </a:t>
            </a:r>
            <a:r>
              <a:rPr sz="1600" spc="-10" dirty="0">
                <a:latin typeface="Calibri"/>
                <a:cs typeface="Calibri"/>
              </a:rPr>
              <a:t>computation </a:t>
            </a:r>
            <a:r>
              <a:rPr sz="1600" spc="-5" dirty="0">
                <a:latin typeface="Calibri"/>
                <a:cs typeface="Calibri"/>
              </a:rPr>
              <a:t> </a:t>
            </a:r>
            <a:r>
              <a:rPr sz="1600" spc="-10" dirty="0">
                <a:latin typeface="Calibri"/>
                <a:cs typeface="Calibri"/>
              </a:rPr>
              <a:t>cycles</a:t>
            </a:r>
            <a:r>
              <a:rPr sz="1600" spc="5" dirty="0">
                <a:latin typeface="Calibri"/>
                <a:cs typeface="Calibri"/>
              </a:rPr>
              <a:t> </a:t>
            </a:r>
            <a:r>
              <a:rPr sz="1600" spc="-15" dirty="0">
                <a:latin typeface="Calibri"/>
                <a:cs typeface="Calibri"/>
              </a:rPr>
              <a:t>are</a:t>
            </a:r>
            <a:r>
              <a:rPr sz="1600" spc="20" dirty="0">
                <a:latin typeface="Calibri"/>
                <a:cs typeface="Calibri"/>
              </a:rPr>
              <a:t> </a:t>
            </a:r>
            <a:r>
              <a:rPr sz="1600" spc="-10" dirty="0">
                <a:latin typeface="Calibri"/>
                <a:cs typeface="Calibri"/>
              </a:rPr>
              <a:t>shared</a:t>
            </a:r>
            <a:r>
              <a:rPr sz="1600" spc="10" dirty="0">
                <a:latin typeface="Calibri"/>
                <a:cs typeface="Calibri"/>
              </a:rPr>
              <a:t> </a:t>
            </a:r>
            <a:r>
              <a:rPr sz="1600" spc="-10" dirty="0">
                <a:latin typeface="Calibri"/>
                <a:cs typeface="Calibri"/>
              </a:rPr>
              <a:t>but</a:t>
            </a:r>
            <a:r>
              <a:rPr sz="1600" spc="5" dirty="0">
                <a:latin typeface="Calibri"/>
                <a:cs typeface="Calibri"/>
              </a:rPr>
              <a:t> </a:t>
            </a:r>
            <a:r>
              <a:rPr sz="1600" spc="-10" dirty="0">
                <a:latin typeface="Calibri"/>
                <a:cs typeface="Calibri"/>
              </a:rPr>
              <a:t>software</a:t>
            </a:r>
            <a:r>
              <a:rPr sz="1600" spc="20" dirty="0">
                <a:latin typeface="Calibri"/>
                <a:cs typeface="Calibri"/>
              </a:rPr>
              <a:t> </a:t>
            </a:r>
            <a:r>
              <a:rPr sz="1600" spc="-5" dirty="0">
                <a:latin typeface="Calibri"/>
                <a:cs typeface="Calibri"/>
              </a:rPr>
              <a:t>or</a:t>
            </a:r>
            <a:r>
              <a:rPr sz="1600" spc="10" dirty="0">
                <a:latin typeface="Calibri"/>
                <a:cs typeface="Calibri"/>
              </a:rPr>
              <a:t> </a:t>
            </a:r>
            <a:r>
              <a:rPr sz="1600" spc="-10" dirty="0">
                <a:latin typeface="Calibri"/>
                <a:cs typeface="Calibri"/>
              </a:rPr>
              <a:t>just</a:t>
            </a:r>
            <a:r>
              <a:rPr sz="1600" dirty="0">
                <a:latin typeface="Calibri"/>
                <a:cs typeface="Calibri"/>
              </a:rPr>
              <a:t> </a:t>
            </a:r>
            <a:r>
              <a:rPr sz="1600" spc="-5" dirty="0">
                <a:latin typeface="Calibri"/>
                <a:cs typeface="Calibri"/>
              </a:rPr>
              <a:t>about</a:t>
            </a:r>
            <a:r>
              <a:rPr sz="1600" spc="-10" dirty="0">
                <a:latin typeface="Calibri"/>
                <a:cs typeface="Calibri"/>
              </a:rPr>
              <a:t> any</a:t>
            </a:r>
            <a:r>
              <a:rPr sz="1600" dirty="0">
                <a:latin typeface="Calibri"/>
                <a:cs typeface="Calibri"/>
              </a:rPr>
              <a:t> </a:t>
            </a:r>
            <a:r>
              <a:rPr sz="1600" spc="-10" dirty="0">
                <a:latin typeface="Calibri"/>
                <a:cs typeface="Calibri"/>
              </a:rPr>
              <a:t>resource</a:t>
            </a:r>
            <a:r>
              <a:rPr sz="1600" spc="50" dirty="0">
                <a:latin typeface="Calibri"/>
                <a:cs typeface="Calibri"/>
              </a:rPr>
              <a:t> </a:t>
            </a:r>
            <a:r>
              <a:rPr sz="1600" spc="-5" dirty="0">
                <a:latin typeface="Calibri"/>
                <a:cs typeface="Calibri"/>
              </a:rPr>
              <a:t>is</a:t>
            </a:r>
            <a:r>
              <a:rPr sz="1600" spc="-15" dirty="0">
                <a:latin typeface="Calibri"/>
                <a:cs typeface="Calibri"/>
              </a:rPr>
              <a:t> </a:t>
            </a:r>
            <a:r>
              <a:rPr sz="1600" spc="-10" dirty="0">
                <a:latin typeface="Calibri"/>
                <a:cs typeface="Calibri"/>
              </a:rPr>
              <a:t>shared.</a:t>
            </a:r>
            <a:r>
              <a:rPr sz="1600" spc="5" dirty="0">
                <a:latin typeface="Calibri"/>
                <a:cs typeface="Calibri"/>
              </a:rPr>
              <a:t> </a:t>
            </a:r>
            <a:r>
              <a:rPr sz="1600" spc="-5" dirty="0">
                <a:latin typeface="Calibri"/>
                <a:cs typeface="Calibri"/>
              </a:rPr>
              <a:t>The</a:t>
            </a:r>
            <a:r>
              <a:rPr sz="1600" dirty="0">
                <a:latin typeface="Calibri"/>
                <a:cs typeface="Calibri"/>
              </a:rPr>
              <a:t> </a:t>
            </a:r>
            <a:r>
              <a:rPr sz="1600" spc="-5" dirty="0">
                <a:latin typeface="Calibri"/>
                <a:cs typeface="Calibri"/>
              </a:rPr>
              <a:t>main</a:t>
            </a:r>
            <a:r>
              <a:rPr sz="1600" spc="-15" dirty="0">
                <a:latin typeface="Calibri"/>
                <a:cs typeface="Calibri"/>
              </a:rPr>
              <a:t> </a:t>
            </a:r>
            <a:r>
              <a:rPr sz="1600" spc="-5" dirty="0">
                <a:latin typeface="Calibri"/>
                <a:cs typeface="Calibri"/>
              </a:rPr>
              <a:t>services </a:t>
            </a:r>
            <a:r>
              <a:rPr sz="1600" dirty="0">
                <a:latin typeface="Calibri"/>
                <a:cs typeface="Calibri"/>
              </a:rPr>
              <a:t> </a:t>
            </a:r>
            <a:r>
              <a:rPr sz="1600" spc="-10" dirty="0">
                <a:latin typeface="Calibri"/>
                <a:cs typeface="Calibri"/>
              </a:rPr>
              <a:t>provided</a:t>
            </a:r>
            <a:r>
              <a:rPr sz="1600" spc="20" dirty="0">
                <a:latin typeface="Calibri"/>
                <a:cs typeface="Calibri"/>
              </a:rPr>
              <a:t> </a:t>
            </a:r>
            <a:r>
              <a:rPr sz="1600" spc="-10" dirty="0">
                <a:latin typeface="Calibri"/>
                <a:cs typeface="Calibri"/>
              </a:rPr>
              <a:t>through</a:t>
            </a:r>
            <a:r>
              <a:rPr sz="1600" spc="-5" dirty="0">
                <a:latin typeface="Calibri"/>
                <a:cs typeface="Calibri"/>
              </a:rPr>
              <a:t> utility</a:t>
            </a:r>
            <a:r>
              <a:rPr sz="1600" spc="-30" dirty="0">
                <a:latin typeface="Calibri"/>
                <a:cs typeface="Calibri"/>
              </a:rPr>
              <a:t> </a:t>
            </a:r>
            <a:r>
              <a:rPr sz="1600" spc="-5" dirty="0">
                <a:latin typeface="Calibri"/>
                <a:cs typeface="Calibri"/>
              </a:rPr>
              <a:t>grids</a:t>
            </a:r>
            <a:r>
              <a:rPr sz="1600" dirty="0">
                <a:latin typeface="Calibri"/>
                <a:cs typeface="Calibri"/>
              </a:rPr>
              <a:t> </a:t>
            </a:r>
            <a:r>
              <a:rPr sz="1600" spc="-15" dirty="0">
                <a:latin typeface="Calibri"/>
                <a:cs typeface="Calibri"/>
              </a:rPr>
              <a:t>are</a:t>
            </a:r>
            <a:r>
              <a:rPr sz="1600" spc="5" dirty="0">
                <a:latin typeface="Calibri"/>
                <a:cs typeface="Calibri"/>
              </a:rPr>
              <a:t> </a:t>
            </a:r>
            <a:r>
              <a:rPr sz="1600" spc="-10" dirty="0">
                <a:latin typeface="Calibri"/>
                <a:cs typeface="Calibri"/>
              </a:rPr>
              <a:t>software</a:t>
            </a:r>
            <a:r>
              <a:rPr sz="1600" spc="20" dirty="0">
                <a:latin typeface="Calibri"/>
                <a:cs typeface="Calibri"/>
              </a:rPr>
              <a:t> </a:t>
            </a:r>
            <a:r>
              <a:rPr sz="1600" spc="-5" dirty="0">
                <a:latin typeface="Calibri"/>
                <a:cs typeface="Calibri"/>
              </a:rPr>
              <a:t>and special</a:t>
            </a:r>
            <a:r>
              <a:rPr sz="1600" spc="20" dirty="0">
                <a:latin typeface="Calibri"/>
                <a:cs typeface="Calibri"/>
              </a:rPr>
              <a:t> </a:t>
            </a:r>
            <a:r>
              <a:rPr sz="1600" spc="-5" dirty="0">
                <a:latin typeface="Calibri"/>
                <a:cs typeface="Calibri"/>
              </a:rPr>
              <a:t>equipment.</a:t>
            </a:r>
            <a:r>
              <a:rPr sz="1600" dirty="0">
                <a:latin typeface="Calibri"/>
                <a:cs typeface="Calibri"/>
              </a:rPr>
              <a:t> </a:t>
            </a:r>
            <a:r>
              <a:rPr sz="1600" spc="-15" dirty="0">
                <a:latin typeface="Calibri"/>
                <a:cs typeface="Calibri"/>
              </a:rPr>
              <a:t>For</a:t>
            </a:r>
            <a:r>
              <a:rPr sz="1600" spc="15" dirty="0">
                <a:latin typeface="Calibri"/>
                <a:cs typeface="Calibri"/>
              </a:rPr>
              <a:t> </a:t>
            </a:r>
            <a:r>
              <a:rPr sz="1600" spc="-10" dirty="0">
                <a:latin typeface="Calibri"/>
                <a:cs typeface="Calibri"/>
              </a:rPr>
              <a:t>instance,</a:t>
            </a:r>
            <a:r>
              <a:rPr sz="1600" dirty="0">
                <a:latin typeface="Calibri"/>
                <a:cs typeface="Calibri"/>
              </a:rPr>
              <a:t> </a:t>
            </a:r>
            <a:r>
              <a:rPr sz="1600" spc="-5" dirty="0">
                <a:latin typeface="Calibri"/>
                <a:cs typeface="Calibri"/>
              </a:rPr>
              <a:t>the </a:t>
            </a:r>
            <a:r>
              <a:rPr sz="1600" dirty="0">
                <a:latin typeface="Calibri"/>
                <a:cs typeface="Calibri"/>
              </a:rPr>
              <a:t> </a:t>
            </a:r>
            <a:r>
              <a:rPr sz="1600" spc="-10" dirty="0">
                <a:latin typeface="Calibri"/>
                <a:cs typeface="Calibri"/>
              </a:rPr>
              <a:t>applications</a:t>
            </a:r>
            <a:r>
              <a:rPr sz="1600" spc="-20" dirty="0">
                <a:latin typeface="Calibri"/>
                <a:cs typeface="Calibri"/>
              </a:rPr>
              <a:t> </a:t>
            </a:r>
            <a:r>
              <a:rPr sz="1600" spc="-10" dirty="0">
                <a:latin typeface="Calibri"/>
                <a:cs typeface="Calibri"/>
              </a:rPr>
              <a:t>can</a:t>
            </a:r>
            <a:r>
              <a:rPr sz="1600" spc="10" dirty="0">
                <a:latin typeface="Calibri"/>
                <a:cs typeface="Calibri"/>
              </a:rPr>
              <a:t> </a:t>
            </a:r>
            <a:r>
              <a:rPr sz="1600" spc="-5" dirty="0">
                <a:latin typeface="Calibri"/>
                <a:cs typeface="Calibri"/>
              </a:rPr>
              <a:t>be</a:t>
            </a:r>
            <a:r>
              <a:rPr sz="1600" dirty="0">
                <a:latin typeface="Calibri"/>
                <a:cs typeface="Calibri"/>
              </a:rPr>
              <a:t> </a:t>
            </a:r>
            <a:r>
              <a:rPr sz="1600" spc="-10" dirty="0">
                <a:latin typeface="Calibri"/>
                <a:cs typeface="Calibri"/>
              </a:rPr>
              <a:t>run</a:t>
            </a:r>
            <a:r>
              <a:rPr sz="1600" spc="20" dirty="0">
                <a:latin typeface="Calibri"/>
                <a:cs typeface="Calibri"/>
              </a:rPr>
              <a:t> </a:t>
            </a:r>
            <a:r>
              <a:rPr sz="1600" spc="-5" dirty="0">
                <a:latin typeface="Calibri"/>
                <a:cs typeface="Calibri"/>
              </a:rPr>
              <a:t>on</a:t>
            </a:r>
            <a:r>
              <a:rPr sz="1600" spc="15" dirty="0">
                <a:latin typeface="Calibri"/>
                <a:cs typeface="Calibri"/>
              </a:rPr>
              <a:t> </a:t>
            </a:r>
            <a:r>
              <a:rPr sz="1600" spc="-10" dirty="0">
                <a:latin typeface="Calibri"/>
                <a:cs typeface="Calibri"/>
              </a:rPr>
              <a:t>one</a:t>
            </a:r>
            <a:r>
              <a:rPr sz="1600" spc="10" dirty="0">
                <a:latin typeface="Calibri"/>
                <a:cs typeface="Calibri"/>
              </a:rPr>
              <a:t> </a:t>
            </a:r>
            <a:r>
              <a:rPr sz="1600" spc="-5" dirty="0">
                <a:latin typeface="Calibri"/>
                <a:cs typeface="Calibri"/>
              </a:rPr>
              <a:t>machine</a:t>
            </a:r>
            <a:r>
              <a:rPr sz="1600" spc="10" dirty="0">
                <a:latin typeface="Calibri"/>
                <a:cs typeface="Calibri"/>
              </a:rPr>
              <a:t> </a:t>
            </a:r>
            <a:r>
              <a:rPr sz="1600" spc="-5" dirty="0">
                <a:latin typeface="Calibri"/>
                <a:cs typeface="Calibri"/>
              </a:rPr>
              <a:t>and </a:t>
            </a:r>
            <a:r>
              <a:rPr sz="1600" dirty="0">
                <a:latin typeface="Calibri"/>
                <a:cs typeface="Calibri"/>
              </a:rPr>
              <a:t>all</a:t>
            </a:r>
            <a:r>
              <a:rPr sz="1600" spc="-15" dirty="0">
                <a:latin typeface="Calibri"/>
                <a:cs typeface="Calibri"/>
              </a:rPr>
              <a:t> </a:t>
            </a:r>
            <a:r>
              <a:rPr sz="1600" spc="-5" dirty="0">
                <a:latin typeface="Calibri"/>
                <a:cs typeface="Calibri"/>
              </a:rPr>
              <a:t>the</a:t>
            </a:r>
            <a:r>
              <a:rPr sz="1600" spc="10" dirty="0">
                <a:latin typeface="Calibri"/>
                <a:cs typeface="Calibri"/>
              </a:rPr>
              <a:t> </a:t>
            </a:r>
            <a:r>
              <a:rPr sz="1600" spc="-15" dirty="0">
                <a:latin typeface="Calibri"/>
                <a:cs typeface="Calibri"/>
              </a:rPr>
              <a:t>users</a:t>
            </a:r>
            <a:r>
              <a:rPr sz="1600" spc="15" dirty="0">
                <a:latin typeface="Calibri"/>
                <a:cs typeface="Calibri"/>
              </a:rPr>
              <a:t> </a:t>
            </a:r>
            <a:r>
              <a:rPr sz="1600" spc="-10" dirty="0">
                <a:latin typeface="Calibri"/>
                <a:cs typeface="Calibri"/>
              </a:rPr>
              <a:t>can</a:t>
            </a:r>
            <a:r>
              <a:rPr sz="1600" spc="10" dirty="0">
                <a:latin typeface="Calibri"/>
                <a:cs typeface="Calibri"/>
              </a:rPr>
              <a:t> </a:t>
            </a:r>
            <a:r>
              <a:rPr sz="1600" spc="-10" dirty="0">
                <a:latin typeface="Calibri"/>
                <a:cs typeface="Calibri"/>
              </a:rPr>
              <a:t>send</a:t>
            </a:r>
            <a:r>
              <a:rPr sz="1600" spc="10" dirty="0">
                <a:latin typeface="Calibri"/>
                <a:cs typeface="Calibri"/>
              </a:rPr>
              <a:t> </a:t>
            </a:r>
            <a:r>
              <a:rPr sz="1600" spc="-5" dirty="0">
                <a:latin typeface="Calibri"/>
                <a:cs typeface="Calibri"/>
              </a:rPr>
              <a:t>their</a:t>
            </a:r>
            <a:r>
              <a:rPr sz="1600" spc="10" dirty="0">
                <a:latin typeface="Calibri"/>
                <a:cs typeface="Calibri"/>
              </a:rPr>
              <a:t> </a:t>
            </a:r>
            <a:r>
              <a:rPr sz="1600" spc="-15" dirty="0">
                <a:latin typeface="Calibri"/>
                <a:cs typeface="Calibri"/>
              </a:rPr>
              <a:t>data</a:t>
            </a:r>
            <a:r>
              <a:rPr sz="1600" spc="-5" dirty="0">
                <a:latin typeface="Calibri"/>
                <a:cs typeface="Calibri"/>
              </a:rPr>
              <a:t> </a:t>
            </a:r>
            <a:r>
              <a:rPr sz="1600" spc="-10" dirty="0">
                <a:latin typeface="Calibri"/>
                <a:cs typeface="Calibri"/>
              </a:rPr>
              <a:t>to</a:t>
            </a:r>
            <a:r>
              <a:rPr sz="1600" spc="10" dirty="0">
                <a:latin typeface="Calibri"/>
                <a:cs typeface="Calibri"/>
              </a:rPr>
              <a:t> </a:t>
            </a:r>
            <a:r>
              <a:rPr sz="1600" spc="-5" dirty="0">
                <a:latin typeface="Calibri"/>
                <a:cs typeface="Calibri"/>
              </a:rPr>
              <a:t>be</a:t>
            </a:r>
            <a:r>
              <a:rPr sz="1600" dirty="0">
                <a:latin typeface="Calibri"/>
                <a:cs typeface="Calibri"/>
              </a:rPr>
              <a:t> </a:t>
            </a:r>
            <a:r>
              <a:rPr sz="1600" spc="-15" dirty="0">
                <a:latin typeface="Calibri"/>
                <a:cs typeface="Calibri"/>
              </a:rPr>
              <a:t>processed </a:t>
            </a:r>
            <a:r>
              <a:rPr sz="1600" spc="-345" dirty="0">
                <a:latin typeface="Calibri"/>
                <a:cs typeface="Calibri"/>
              </a:rPr>
              <a:t> </a:t>
            </a:r>
            <a:r>
              <a:rPr sz="1600" spc="-10" dirty="0">
                <a:latin typeface="Calibri"/>
                <a:cs typeface="Calibri"/>
              </a:rPr>
              <a:t>to</a:t>
            </a:r>
            <a:r>
              <a:rPr sz="1600" dirty="0">
                <a:latin typeface="Calibri"/>
                <a:cs typeface="Calibri"/>
              </a:rPr>
              <a:t> </a:t>
            </a:r>
            <a:r>
              <a:rPr sz="1600" spc="-10" dirty="0">
                <a:latin typeface="Calibri"/>
                <a:cs typeface="Calibri"/>
              </a:rPr>
              <a:t>that</a:t>
            </a:r>
            <a:r>
              <a:rPr sz="1600" spc="-20" dirty="0">
                <a:latin typeface="Calibri"/>
                <a:cs typeface="Calibri"/>
              </a:rPr>
              <a:t> </a:t>
            </a:r>
            <a:r>
              <a:rPr sz="1600" spc="-5" dirty="0">
                <a:latin typeface="Calibri"/>
                <a:cs typeface="Calibri"/>
              </a:rPr>
              <a:t>machine and</a:t>
            </a:r>
            <a:r>
              <a:rPr sz="1600" spc="-10" dirty="0">
                <a:latin typeface="Calibri"/>
                <a:cs typeface="Calibri"/>
              </a:rPr>
              <a:t> receive</a:t>
            </a:r>
            <a:r>
              <a:rPr sz="1600" spc="30" dirty="0">
                <a:latin typeface="Calibri"/>
                <a:cs typeface="Calibri"/>
              </a:rPr>
              <a:t> </a:t>
            </a:r>
            <a:r>
              <a:rPr sz="1600" spc="-5" dirty="0">
                <a:latin typeface="Calibri"/>
                <a:cs typeface="Calibri"/>
              </a:rPr>
              <a:t>the</a:t>
            </a:r>
            <a:r>
              <a:rPr sz="1600" dirty="0">
                <a:latin typeface="Calibri"/>
                <a:cs typeface="Calibri"/>
              </a:rPr>
              <a:t> </a:t>
            </a:r>
            <a:r>
              <a:rPr sz="1600" spc="-10" dirty="0">
                <a:latin typeface="Calibri"/>
                <a:cs typeface="Calibri"/>
              </a:rPr>
              <a:t>result</a:t>
            </a:r>
            <a:r>
              <a:rPr sz="1600" spc="15" dirty="0">
                <a:latin typeface="Calibri"/>
                <a:cs typeface="Calibri"/>
              </a:rPr>
              <a:t> </a:t>
            </a:r>
            <a:r>
              <a:rPr sz="1600" spc="-5" dirty="0">
                <a:latin typeface="Calibri"/>
                <a:cs typeface="Calibri"/>
              </a:rPr>
              <a:t>back.</a:t>
            </a:r>
            <a:endParaRPr sz="1600" dirty="0">
              <a:latin typeface="Calibri"/>
              <a:cs typeface="Calibri"/>
            </a:endParaRPr>
          </a:p>
        </p:txBody>
      </p:sp>
      <p:sp>
        <p:nvSpPr>
          <p:cNvPr id="5" name="Footer Placeholder 4">
            <a:extLst>
              <a:ext uri="{FF2B5EF4-FFF2-40B4-BE49-F238E27FC236}">
                <a16:creationId xmlns:a16="http://schemas.microsoft.com/office/drawing/2014/main" id="{DA1765B4-9A94-8E52-1BA3-E1A1B93B7A70}"/>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80714" y="299395"/>
            <a:ext cx="3677286" cy="382797"/>
          </a:xfrm>
          <a:prstGeom prst="rect">
            <a:avLst/>
          </a:prstGeom>
        </p:spPr>
        <p:txBody>
          <a:bodyPr vert="horz" wrap="square" lIns="0" tIns="13335" rIns="0" bIns="0" rtlCol="0">
            <a:spAutoFit/>
          </a:bodyPr>
          <a:lstStyle/>
          <a:p>
            <a:pPr marL="12700">
              <a:lnSpc>
                <a:spcPct val="100000"/>
              </a:lnSpc>
              <a:spcBef>
                <a:spcPts val="105"/>
              </a:spcBef>
            </a:pPr>
            <a:r>
              <a:rPr sz="2400" b="1" spc="-5" dirty="0">
                <a:solidFill>
                  <a:srgbClr val="000000"/>
                </a:solidFill>
                <a:latin typeface="Calibri"/>
                <a:cs typeface="Calibri"/>
              </a:rPr>
              <a:t>Grid</a:t>
            </a:r>
            <a:r>
              <a:rPr sz="2400" b="1" spc="-60" dirty="0">
                <a:solidFill>
                  <a:srgbClr val="000000"/>
                </a:solidFill>
                <a:latin typeface="Calibri"/>
                <a:cs typeface="Calibri"/>
              </a:rPr>
              <a:t> </a:t>
            </a:r>
            <a:r>
              <a:rPr sz="2400" b="1" spc="-5" dirty="0">
                <a:solidFill>
                  <a:srgbClr val="000000"/>
                </a:solidFill>
                <a:latin typeface="Calibri"/>
                <a:cs typeface="Calibri"/>
              </a:rPr>
              <a:t>Components</a:t>
            </a: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14</a:t>
            </a:r>
          </a:p>
        </p:txBody>
      </p:sp>
      <p:pic>
        <p:nvPicPr>
          <p:cNvPr id="3" name="object 3"/>
          <p:cNvPicPr/>
          <p:nvPr/>
        </p:nvPicPr>
        <p:blipFill>
          <a:blip r:embed="rId2" cstate="print"/>
          <a:stretch>
            <a:fillRect/>
          </a:stretch>
        </p:blipFill>
        <p:spPr>
          <a:xfrm>
            <a:off x="568553" y="895350"/>
            <a:ext cx="8303006" cy="3390900"/>
          </a:xfrm>
          <a:prstGeom prst="rect">
            <a:avLst/>
          </a:prstGeom>
        </p:spPr>
      </p:pic>
      <p:sp>
        <p:nvSpPr>
          <p:cNvPr id="5" name="object 5"/>
          <p:cNvSpPr txBox="1"/>
          <p:nvPr/>
        </p:nvSpPr>
        <p:spPr>
          <a:xfrm>
            <a:off x="914400" y="4466414"/>
            <a:ext cx="6901815" cy="182038"/>
          </a:xfrm>
          <a:prstGeom prst="rect">
            <a:avLst/>
          </a:prstGeom>
        </p:spPr>
        <p:txBody>
          <a:bodyPr vert="horz" wrap="square" lIns="0" tIns="0" rIns="0" bIns="0" rtlCol="0">
            <a:spAutoFit/>
          </a:bodyPr>
          <a:lstStyle/>
          <a:p>
            <a:pPr marL="12700" algn="ctr">
              <a:lnSpc>
                <a:spcPts val="1435"/>
              </a:lnSpc>
            </a:pPr>
            <a:r>
              <a:rPr sz="1400" spc="-80" dirty="0">
                <a:latin typeface="Calibri"/>
                <a:cs typeface="Calibri"/>
              </a:rPr>
              <a:t>Source:KajariMazumdar</a:t>
            </a:r>
            <a:r>
              <a:rPr sz="1400" dirty="0">
                <a:latin typeface="Calibri"/>
                <a:cs typeface="Calibri"/>
              </a:rPr>
              <a:t> </a:t>
            </a:r>
            <a:r>
              <a:rPr sz="1400" spc="-85" dirty="0">
                <a:latin typeface="Calibri"/>
                <a:cs typeface="Calibri"/>
              </a:rPr>
              <a:t>“GRID:</a:t>
            </a:r>
            <a:r>
              <a:rPr sz="1400" spc="-225" dirty="0">
                <a:latin typeface="Calibri"/>
                <a:cs typeface="Calibri"/>
              </a:rPr>
              <a:t> </a:t>
            </a:r>
            <a:r>
              <a:rPr sz="1400" spc="-90" dirty="0">
                <a:latin typeface="Calibri"/>
                <a:cs typeface="Calibri"/>
              </a:rPr>
              <a:t>Computing</a:t>
            </a:r>
            <a:r>
              <a:rPr sz="1400" spc="-220" dirty="0">
                <a:latin typeface="Calibri"/>
                <a:cs typeface="Calibri"/>
              </a:rPr>
              <a:t> </a:t>
            </a:r>
            <a:r>
              <a:rPr sz="1400" spc="-85" dirty="0">
                <a:latin typeface="Calibri"/>
                <a:cs typeface="Calibri"/>
              </a:rPr>
              <a:t>Without</a:t>
            </a:r>
            <a:r>
              <a:rPr sz="1400" spc="-210" dirty="0">
                <a:latin typeface="Calibri"/>
                <a:cs typeface="Calibri"/>
              </a:rPr>
              <a:t> </a:t>
            </a:r>
            <a:r>
              <a:rPr sz="1400" spc="-90" dirty="0">
                <a:latin typeface="Calibri"/>
                <a:cs typeface="Calibri"/>
              </a:rPr>
              <a:t>Borders”</a:t>
            </a:r>
            <a:r>
              <a:rPr sz="1400" spc="-15" dirty="0">
                <a:latin typeface="Calibri"/>
                <a:cs typeface="Calibri"/>
              </a:rPr>
              <a:t> </a:t>
            </a:r>
            <a:r>
              <a:rPr sz="1400" spc="-90" dirty="0">
                <a:latin typeface="Calibri"/>
                <a:cs typeface="Calibri"/>
              </a:rPr>
              <a:t>Department</a:t>
            </a:r>
            <a:r>
              <a:rPr sz="1400" spc="-220" dirty="0">
                <a:latin typeface="Calibri"/>
                <a:cs typeface="Calibri"/>
              </a:rPr>
              <a:t> </a:t>
            </a:r>
            <a:r>
              <a:rPr sz="1400" spc="-50" dirty="0">
                <a:latin typeface="Calibri"/>
                <a:cs typeface="Calibri"/>
              </a:rPr>
              <a:t>of</a:t>
            </a:r>
            <a:r>
              <a:rPr sz="1400" spc="-220" dirty="0">
                <a:latin typeface="Calibri"/>
                <a:cs typeface="Calibri"/>
              </a:rPr>
              <a:t> </a:t>
            </a:r>
            <a:r>
              <a:rPr sz="1400" spc="-75" dirty="0">
                <a:latin typeface="Calibri"/>
                <a:cs typeface="Calibri"/>
              </a:rPr>
              <a:t>High</a:t>
            </a:r>
            <a:r>
              <a:rPr sz="1400" spc="-215" dirty="0">
                <a:latin typeface="Calibri"/>
                <a:cs typeface="Calibri"/>
              </a:rPr>
              <a:t> </a:t>
            </a:r>
            <a:r>
              <a:rPr sz="1400" spc="-90" dirty="0">
                <a:latin typeface="Calibri"/>
                <a:cs typeface="Calibri"/>
              </a:rPr>
              <a:t>Energy</a:t>
            </a:r>
            <a:r>
              <a:rPr sz="1400" spc="-210" dirty="0">
                <a:latin typeface="Calibri"/>
                <a:cs typeface="Calibri"/>
              </a:rPr>
              <a:t> </a:t>
            </a:r>
            <a:r>
              <a:rPr sz="1400" spc="-90" dirty="0">
                <a:latin typeface="Calibri"/>
                <a:cs typeface="Calibri"/>
              </a:rPr>
              <a:t>Physics</a:t>
            </a:r>
            <a:r>
              <a:rPr sz="1400" spc="-220" dirty="0">
                <a:latin typeface="Calibri"/>
                <a:cs typeface="Calibri"/>
              </a:rPr>
              <a:t> </a:t>
            </a:r>
            <a:r>
              <a:rPr sz="1400" spc="-75" dirty="0">
                <a:latin typeface="Calibri"/>
                <a:cs typeface="Calibri"/>
              </a:rPr>
              <a:t>TIFR,Mumbai.</a:t>
            </a:r>
            <a:endParaRPr sz="1400" dirty="0">
              <a:latin typeface="Calibri"/>
              <a:cs typeface="Calibri"/>
            </a:endParaRPr>
          </a:p>
        </p:txBody>
      </p:sp>
      <p:sp>
        <p:nvSpPr>
          <p:cNvPr id="6" name="Footer Placeholder 5">
            <a:extLst>
              <a:ext uri="{FF2B5EF4-FFF2-40B4-BE49-F238E27FC236}">
                <a16:creationId xmlns:a16="http://schemas.microsoft.com/office/drawing/2014/main" id="{ED42D926-1AF4-957D-50E7-C9DFBCEC464F}"/>
              </a:ext>
            </a:extLst>
          </p:cNvPr>
          <p:cNvSpPr>
            <a:spLocks noGrp="1"/>
          </p:cNvSpPr>
          <p:nvPr>
            <p:ph type="ftr" sz="quarter" idx="11"/>
          </p:nvPr>
        </p:nvSpPr>
        <p:spPr/>
        <p:txBody>
          <a:bodyPr/>
          <a:lstStyle/>
          <a:p>
            <a:r>
              <a:rPr lang="en-US"/>
              <a:t>Department of Computer Application</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3638879" cy="530631"/>
          </a:xfrm>
        </p:spPr>
        <p:txBody>
          <a:bodyPr>
            <a:normAutofit/>
          </a:bodyPr>
          <a:lstStyle/>
          <a:p>
            <a:pPr algn="ctr"/>
            <a:r>
              <a:rPr lang="en-IN" sz="2400" b="1" kern="0" dirty="0"/>
              <a:t>Summary</a:t>
            </a:r>
            <a:endParaRPr lang="en-IN" sz="2400" dirty="0"/>
          </a:p>
        </p:txBody>
      </p:sp>
      <p:sp>
        <p:nvSpPr>
          <p:cNvPr id="7" name="Content Placeholder 6">
            <a:extLst>
              <a:ext uri="{FF2B5EF4-FFF2-40B4-BE49-F238E27FC236}">
                <a16:creationId xmlns:a16="http://schemas.microsoft.com/office/drawing/2014/main" id="{F920D1DA-5B3D-714D-DF00-E9D6B1E6A284}"/>
              </a:ext>
            </a:extLst>
          </p:cNvPr>
          <p:cNvSpPr>
            <a:spLocks noGrp="1"/>
          </p:cNvSpPr>
          <p:nvPr>
            <p:ph idx="1"/>
          </p:nvPr>
        </p:nvSpPr>
        <p:spPr>
          <a:xfrm>
            <a:off x="457200" y="1082842"/>
            <a:ext cx="8229600" cy="3404937"/>
          </a:xfrm>
        </p:spPr>
        <p:txBody>
          <a:bodyPr>
            <a:noAutofit/>
          </a:bodyPr>
          <a:lstStyle/>
          <a:p>
            <a:pPr>
              <a:lnSpc>
                <a:spcPct val="150000"/>
              </a:lnSpc>
              <a:buBlip>
                <a:blip r:embed="rId2"/>
              </a:buBlip>
            </a:pPr>
            <a:r>
              <a:rPr lang="en-US" sz="1350" b="1" dirty="0"/>
              <a:t>Resource Sharing</a:t>
            </a:r>
            <a:r>
              <a:rPr lang="en-US" sz="1350" dirty="0"/>
              <a:t>: Grid computing enables the pooling and sharing of computing resources (like processors, storage, and networks) across multiple organizations or locations to solve large-scale problems.</a:t>
            </a:r>
          </a:p>
          <a:p>
            <a:pPr>
              <a:lnSpc>
                <a:spcPct val="150000"/>
              </a:lnSpc>
              <a:buBlip>
                <a:blip r:embed="rId2"/>
              </a:buBlip>
            </a:pPr>
            <a:r>
              <a:rPr lang="en-US" sz="1350" b="1" dirty="0"/>
              <a:t>Distributed Architecture</a:t>
            </a:r>
            <a:r>
              <a:rPr lang="en-US" sz="1350" dirty="0"/>
              <a:t>: It connects diverse, geographically distributed systems, creating a virtual supercomputer that allows for parallel processing, better resource utilization, and increased computational power.</a:t>
            </a:r>
          </a:p>
          <a:p>
            <a:pPr>
              <a:lnSpc>
                <a:spcPct val="150000"/>
              </a:lnSpc>
              <a:buBlip>
                <a:blip r:embed="rId2"/>
              </a:buBlip>
            </a:pPr>
            <a:r>
              <a:rPr lang="en-US" sz="1350" b="1" dirty="0"/>
              <a:t>Scalability</a:t>
            </a:r>
            <a:r>
              <a:rPr lang="en-US" sz="1350" dirty="0"/>
              <a:t>: Grid computing allows for flexible scaling, as additional resources (hardware or software) can be easily integrated into the grid to meet growing computational demands.</a:t>
            </a:r>
          </a:p>
          <a:p>
            <a:pPr>
              <a:lnSpc>
                <a:spcPct val="150000"/>
              </a:lnSpc>
              <a:buBlip>
                <a:blip r:embed="rId2"/>
              </a:buBlip>
            </a:pPr>
            <a:r>
              <a:rPr lang="en-US" sz="1350" b="1" dirty="0"/>
              <a:t>Collaboration and Efficiency</a:t>
            </a:r>
            <a:r>
              <a:rPr lang="en-US" sz="1350" dirty="0"/>
              <a:t>: It facilitates collaboration between organizations and enhances computational efficiency, often used in research, scientific simulations, data analysis, and tasks requiring high-performance computing (HPC).</a:t>
            </a:r>
            <a:endParaRPr lang="en-IN" sz="1350" dirty="0"/>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18</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4"/>
          <a:stretch>
            <a:fillRect/>
          </a:stretch>
        </p:blipFill>
        <p:spPr>
          <a:xfrm>
            <a:off x="7290715" y="72947"/>
            <a:ext cx="1782539" cy="530631"/>
          </a:xfrm>
          <a:prstGeom prst="rect">
            <a:avLst/>
          </a:prstGeom>
        </p:spPr>
      </p:pic>
    </p:spTree>
    <p:extLst>
      <p:ext uri="{BB962C8B-B14F-4D97-AF65-F5344CB8AC3E}">
        <p14:creationId xmlns:p14="http://schemas.microsoft.com/office/powerpoint/2010/main" val="955887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r>
              <a:rPr lang="en-IN" sz="2400" b="1" kern="0" dirty="0"/>
              <a:t>References</a:t>
            </a:r>
            <a:endParaRPr lang="en-IN" sz="24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70000" lnSpcReduction="20000"/>
          </a:bodyPr>
          <a:lstStyle/>
          <a:p>
            <a:r>
              <a:rPr lang="en-US" sz="1800" dirty="0"/>
              <a:t>Books References</a:t>
            </a:r>
          </a:p>
          <a:p>
            <a:r>
              <a:rPr lang="en-US" sz="1650" dirty="0">
                <a:solidFill>
                  <a:srgbClr val="000000"/>
                </a:solidFill>
                <a:ea typeface="Calibri" panose="020F0502020204030204" pitchFamily="34" charset="0"/>
                <a:cs typeface="Calibri" panose="020F0502020204030204" pitchFamily="34" charset="0"/>
              </a:rPr>
              <a:t>Mastering Cloud Computing, Rajkumar </a:t>
            </a:r>
            <a:r>
              <a:rPr lang="en-US" sz="1650" dirty="0" err="1">
                <a:solidFill>
                  <a:srgbClr val="000000"/>
                </a:solidFill>
                <a:ea typeface="Calibri" panose="020F0502020204030204" pitchFamily="34" charset="0"/>
                <a:cs typeface="Calibri" panose="020F0502020204030204" pitchFamily="34" charset="0"/>
              </a:rPr>
              <a:t>Buyya</a:t>
            </a:r>
            <a:r>
              <a:rPr lang="en-US" sz="1650" dirty="0">
                <a:solidFill>
                  <a:srgbClr val="000000"/>
                </a:solidFill>
                <a:ea typeface="Calibri" panose="020F0502020204030204" pitchFamily="34" charset="0"/>
                <a:cs typeface="Calibri" panose="020F0502020204030204" pitchFamily="34" charset="0"/>
              </a:rPr>
              <a:t>, Christian </a:t>
            </a:r>
            <a:r>
              <a:rPr lang="en-US" sz="1650" dirty="0" err="1">
                <a:solidFill>
                  <a:srgbClr val="000000"/>
                </a:solidFill>
                <a:ea typeface="Calibri" panose="020F0502020204030204" pitchFamily="34" charset="0"/>
                <a:cs typeface="Calibri" panose="020F0502020204030204" pitchFamily="34" charset="0"/>
              </a:rPr>
              <a:t>Vecchiola</a:t>
            </a:r>
            <a:r>
              <a:rPr lang="en-US" sz="1650" dirty="0">
                <a:solidFill>
                  <a:srgbClr val="000000"/>
                </a:solidFill>
                <a:ea typeface="Calibri" panose="020F0502020204030204" pitchFamily="34" charset="0"/>
                <a:cs typeface="Calibri" panose="020F0502020204030204" pitchFamily="34" charset="0"/>
              </a:rPr>
              <a:t>, and </a:t>
            </a:r>
            <a:r>
              <a:rPr lang="en-US" sz="1650" dirty="0" err="1">
                <a:solidFill>
                  <a:srgbClr val="000000"/>
                </a:solidFill>
                <a:ea typeface="Calibri" panose="020F0502020204030204" pitchFamily="34" charset="0"/>
                <a:cs typeface="Calibri" panose="020F0502020204030204" pitchFamily="34" charset="0"/>
              </a:rPr>
              <a:t>ThamaraiSelvi</a:t>
            </a:r>
            <a:r>
              <a:rPr lang="en-US" sz="1650" dirty="0">
                <a:solidFill>
                  <a:srgbClr val="000000"/>
                </a:solidFill>
                <a:ea typeface="Calibri" panose="020F0502020204030204" pitchFamily="34" charset="0"/>
                <a:cs typeface="Calibri" panose="020F0502020204030204" pitchFamily="34" charset="0"/>
              </a:rPr>
              <a:t>, Tata McGraw Hill, ISBN-13: 978-1-25-902995-0, New Delhi, </a:t>
            </a:r>
            <a:r>
              <a:rPr lang="en-US" sz="1650" dirty="0" err="1">
                <a:solidFill>
                  <a:srgbClr val="000000"/>
                </a:solidFill>
                <a:ea typeface="Calibri" panose="020F0502020204030204" pitchFamily="34" charset="0"/>
                <a:cs typeface="Calibri" panose="020F0502020204030204" pitchFamily="34" charset="0"/>
              </a:rPr>
              <a:t>India,Feb</a:t>
            </a:r>
            <a:r>
              <a:rPr lang="en-US" sz="1650" dirty="0">
                <a:solidFill>
                  <a:srgbClr val="000000"/>
                </a:solidFill>
                <a:ea typeface="Calibri" panose="020F0502020204030204" pitchFamily="34" charset="0"/>
                <a:cs typeface="Calibri" panose="020F0502020204030204" pitchFamily="34" charset="0"/>
              </a:rPr>
              <a:t> 2013. </a:t>
            </a:r>
            <a:endParaRPr lang="en-US" sz="1650" dirty="0"/>
          </a:p>
          <a:p>
            <a:pPr marL="0" indent="0">
              <a:buNone/>
            </a:pPr>
            <a:endParaRPr lang="en-US" sz="1800" dirty="0"/>
          </a:p>
          <a:p>
            <a:r>
              <a:rPr lang="en-US" sz="1800" dirty="0"/>
              <a:t>E-book link</a:t>
            </a:r>
          </a:p>
          <a:p>
            <a:r>
              <a:rPr lang="en-US" sz="1800" dirty="0">
                <a:hlinkClick r:id="rId2"/>
              </a:rPr>
              <a:t>https://archive.org/details/cloudcomputingbi0000sosi</a:t>
            </a:r>
            <a:endParaRPr lang="en-US" sz="1800" dirty="0"/>
          </a:p>
          <a:p>
            <a:pPr marL="0" indent="0">
              <a:buNone/>
            </a:pPr>
            <a:endParaRPr lang="en-US" sz="1800" dirty="0"/>
          </a:p>
          <a:p>
            <a:r>
              <a:rPr lang="en-US" sz="1800" dirty="0"/>
              <a:t>YouTube link</a:t>
            </a:r>
          </a:p>
          <a:p>
            <a:r>
              <a:rPr lang="en-US" sz="1800" dirty="0">
                <a:hlinkClick r:id="rId3"/>
              </a:rPr>
              <a:t>https://www.youtube.com/@cloudcomputing351/videos</a:t>
            </a:r>
            <a:endParaRPr lang="en-US" sz="1800" dirty="0"/>
          </a:p>
          <a:p>
            <a:pPr marL="0" indent="0">
              <a:buNone/>
            </a:pPr>
            <a:endParaRPr lang="en-US" sz="1800" dirty="0"/>
          </a:p>
          <a:p>
            <a:pPr>
              <a:buFont typeface="Wingdings" pitchFamily="2" charset="2"/>
              <a:buChar char="Ø"/>
            </a:pPr>
            <a:r>
              <a:rPr lang="en-US" sz="1800" dirty="0">
                <a:hlinkClick r:id="rId4"/>
              </a:rPr>
              <a:t>https://www.geeksforgeeks.org/cloud-computing/</a:t>
            </a:r>
            <a:endParaRPr lang="en-US" sz="1800" dirty="0"/>
          </a:p>
          <a:p>
            <a:pPr>
              <a:buFont typeface="Wingdings" pitchFamily="2" charset="2"/>
              <a:buChar char="Ø"/>
            </a:pPr>
            <a:r>
              <a:rPr lang="en-IN" sz="1800" dirty="0">
                <a:hlinkClick r:id="rId5"/>
              </a:rPr>
              <a:t>https://www.tutorialspoint.com/cloud_computing/index.htm</a:t>
            </a:r>
            <a:endParaRPr lang="en-US" sz="1800" dirty="0"/>
          </a:p>
          <a:p>
            <a:pPr>
              <a:buFont typeface="Wingdings" pitchFamily="2" charset="2"/>
              <a:buChar char="Ø"/>
            </a:pPr>
            <a:r>
              <a:rPr lang="en-IN" sz="1800" dirty="0">
                <a:hlinkClick r:id="rId6"/>
              </a:rPr>
              <a:t>https://nptel.ac.in/courses/106105167</a:t>
            </a:r>
            <a:endParaRPr lang="en-US" sz="1800" dirty="0"/>
          </a:p>
          <a:p>
            <a:pPr>
              <a:buFont typeface="Wingdings" pitchFamily="2" charset="2"/>
              <a:buChar char="Ø"/>
            </a:pPr>
            <a:r>
              <a:rPr lang="en-IN" sz="1800" dirty="0">
                <a:hlinkClick r:id="rId7"/>
              </a:rPr>
              <a:t>https://www.edx.org/learn/cloud-computing</a:t>
            </a:r>
            <a:endParaRPr lang="en-US" sz="18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19</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20</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118</TotalTime>
  <Words>1688</Words>
  <Application>Microsoft Office PowerPoint</Application>
  <PresentationFormat>On-screen Show (16:9)</PresentationFormat>
  <Paragraphs>165</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Arial MT</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Grid Computing?</vt:lpstr>
      <vt:lpstr>Electrical Power Grid Analogy</vt:lpstr>
      <vt:lpstr>Grid Computing</vt:lpstr>
      <vt:lpstr>Need of Grid Computing?</vt:lpstr>
      <vt:lpstr>Who uses Grid Computing ?</vt:lpstr>
      <vt:lpstr>Type of Grids</vt:lpstr>
      <vt:lpstr>Type of Grids</vt:lpstr>
      <vt:lpstr>Grid Components</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8</cp:revision>
  <dcterms:created xsi:type="dcterms:W3CDTF">2024-12-06T17:10:37Z</dcterms:created>
  <dcterms:modified xsi:type="dcterms:W3CDTF">2024-12-08T15:05:06Z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