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3.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390" r:id="rId2"/>
    <p:sldId id="413" r:id="rId3"/>
    <p:sldId id="414" r:id="rId4"/>
    <p:sldId id="420" r:id="rId5"/>
    <p:sldId id="415" r:id="rId6"/>
    <p:sldId id="416" r:id="rId7"/>
    <p:sldId id="417" r:id="rId8"/>
    <p:sldId id="418" r:id="rId9"/>
    <p:sldId id="419" r:id="rId10"/>
    <p:sldId id="284" r:id="rId11"/>
    <p:sldId id="285" r:id="rId12"/>
    <p:sldId id="286" r:id="rId13"/>
    <p:sldId id="287" r:id="rId14"/>
    <p:sldId id="288" r:id="rId15"/>
    <p:sldId id="421" r:id="rId16"/>
    <p:sldId id="422" r:id="rId17"/>
    <p:sldId id="352" r:id="rId1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12/8/2024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12/8/2024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12/8/2024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12/8/2024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12/8/2024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12/8/2024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12/8/2024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12/8/2024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12/8/2024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12/8/2024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2700" b="1" dirty="0"/>
              <a:t>Chandigarh School of Business, Jhanjeri</a:t>
            </a:r>
          </a:p>
          <a:p>
            <a:pPr marL="0" indent="0" algn="ctr">
              <a:buNone/>
            </a:pPr>
            <a:r>
              <a:rPr lang="en-US" b="1" dirty="0"/>
              <a:t>Department of Computer Application </a:t>
            </a:r>
          </a:p>
          <a:p>
            <a:pPr marL="0" indent="0" algn="ctr">
              <a:buNone/>
            </a:pPr>
            <a:r>
              <a:rPr lang="en-US" sz="1800" b="1" dirty="0"/>
              <a:t>Program </a:t>
            </a:r>
            <a:r>
              <a:rPr lang="en-US" sz="1800" b="1" dirty="0" err="1"/>
              <a:t>Code:NA</a:t>
            </a:r>
            <a:endParaRPr lang="en-US" sz="1800" b="1" dirty="0"/>
          </a:p>
          <a:p>
            <a:pPr marL="0" indent="0" algn="ctr">
              <a:buNone/>
            </a:pPr>
            <a:r>
              <a:rPr lang="en-US" sz="1800" b="1" dirty="0"/>
              <a:t>Program Name: MCA</a:t>
            </a:r>
          </a:p>
          <a:p>
            <a:pPr marL="0" indent="0" algn="ctr">
              <a:buNone/>
            </a:pPr>
            <a:r>
              <a:rPr lang="en-US" sz="1800" b="1" dirty="0"/>
              <a:t>Course Code: </a:t>
            </a:r>
            <a:r>
              <a:rPr lang="en-US" sz="1800" b="1" i="0" u="none" strike="noStrike" baseline="0" dirty="0">
                <a:solidFill>
                  <a:srgbClr val="000000"/>
                </a:solidFill>
              </a:rPr>
              <a:t>PGCA1937</a:t>
            </a:r>
            <a:r>
              <a:rPr lang="en-US" sz="1800" b="1" i="0" u="none" strike="noStrike" baseline="0" dirty="0">
                <a:solidFill>
                  <a:srgbClr val="000000"/>
                </a:solidFill>
                <a:latin typeface="Times New Roman" panose="02020603050405020304" pitchFamily="18" charset="0"/>
              </a:rPr>
              <a:t> </a:t>
            </a:r>
            <a:r>
              <a:rPr lang="en-US" sz="1800" b="1" dirty="0">
                <a:solidFill>
                  <a:srgbClr val="000000"/>
                </a:solidFill>
              </a:rPr>
              <a:t> </a:t>
            </a:r>
            <a:endParaRPr lang="en-US" sz="1800" b="1" dirty="0"/>
          </a:p>
          <a:p>
            <a:pPr marL="0" indent="0" algn="ctr">
              <a:buNone/>
            </a:pPr>
            <a:r>
              <a:rPr lang="en-US" sz="1800" b="1" dirty="0"/>
              <a:t>Course Name: </a:t>
            </a:r>
            <a:r>
              <a:rPr lang="en-US" sz="1800" b="1" i="0" u="none" strike="noStrike" baseline="0" dirty="0">
                <a:solidFill>
                  <a:srgbClr val="000000"/>
                </a:solidFill>
              </a:rPr>
              <a:t>Cloud Computing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2400" b="1" dirty="0">
                <a:latin typeface="+mn-lt"/>
              </a:rPr>
              <a:t>Outlines</a:t>
            </a:r>
            <a:endParaRPr lang="en-IN" sz="24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a:bodyPr>
          <a:lstStyle/>
          <a:p>
            <a:r>
              <a:rPr lang="en-US" sz="1800" b="1" dirty="0"/>
              <a:t>PTU Syllabus of Unit-I</a:t>
            </a:r>
          </a:p>
          <a:p>
            <a:r>
              <a:rPr lang="en-US" sz="1800" b="1" dirty="0"/>
              <a:t>CO’s Introduction</a:t>
            </a:r>
          </a:p>
          <a:p>
            <a:r>
              <a:rPr lang="en-US" sz="1800" b="1" dirty="0"/>
              <a:t>Topic Overview</a:t>
            </a:r>
          </a:p>
          <a:p>
            <a:r>
              <a:rPr lang="en-US" sz="1800" b="1" dirty="0"/>
              <a:t>Brief description of what the presentation will cover</a:t>
            </a:r>
          </a:p>
          <a:p>
            <a:r>
              <a:rPr lang="en-US" sz="1800" b="1" dirty="0"/>
              <a:t>Importance or relevance of the topic</a:t>
            </a:r>
          </a:p>
          <a:p>
            <a:r>
              <a:rPr lang="en-US" sz="1800" b="1" dirty="0"/>
              <a:t>Key objectives or learning outcomes</a:t>
            </a:r>
          </a:p>
          <a:p>
            <a:r>
              <a:rPr lang="en-US" sz="1800" b="1" dirty="0"/>
              <a:t>Summary</a:t>
            </a:r>
          </a:p>
          <a:p>
            <a:r>
              <a:rPr lang="en-US" sz="18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lstStyle/>
          <a:p>
            <a:r>
              <a:rPr lang="en-US" sz="2400" b="1" dirty="0">
                <a:latin typeface="+mn-lt"/>
              </a:rPr>
              <a:t>PTU Syllabus of Unit-I</a:t>
            </a:r>
            <a:endParaRPr lang="en-IN" sz="24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23950"/>
            <a:ext cx="7886700" cy="3508773"/>
          </a:xfrm>
        </p:spPr>
        <p:txBody>
          <a:bodyPr>
            <a:normAutofit fontScale="40000" lnSpcReduction="20000"/>
          </a:bodyPr>
          <a:lstStyle/>
          <a:p>
            <a:pPr marL="0" indent="0" algn="ctr">
              <a:buNone/>
            </a:pPr>
            <a:r>
              <a:rPr lang="en-US" sz="3600" b="1" dirty="0">
                <a:solidFill>
                  <a:srgbClr val="000000"/>
                </a:solidFill>
              </a:rPr>
              <a:t>Part-A</a:t>
            </a:r>
            <a:endParaRPr lang="en-US" sz="3600" dirty="0">
              <a:solidFill>
                <a:srgbClr val="000000"/>
              </a:solidFill>
            </a:endParaRPr>
          </a:p>
          <a:p>
            <a:pPr algn="just">
              <a:lnSpc>
                <a:spcPct val="120000"/>
              </a:lnSpc>
            </a:pPr>
            <a:r>
              <a:rPr lang="en-US" sz="3600" b="1" i="0" u="none" strike="noStrike" baseline="0" dirty="0">
                <a:solidFill>
                  <a:srgbClr val="000000"/>
                </a:solidFill>
              </a:rPr>
              <a:t>Overview of Computing Paradigm: </a:t>
            </a:r>
            <a:r>
              <a:rPr lang="en-US" sz="36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600" b="1" i="0" u="none" strike="noStrike" baseline="0" dirty="0">
                <a:solidFill>
                  <a:srgbClr val="000000"/>
                </a:solidFill>
              </a:rPr>
              <a:t>Introduction to Cloud Computing: </a:t>
            </a:r>
            <a:r>
              <a:rPr lang="en-US" sz="36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600" b="1" i="0" u="none" strike="noStrike" baseline="0" dirty="0">
                <a:solidFill>
                  <a:srgbClr val="000000"/>
                </a:solidFill>
              </a:rPr>
              <a:t>Migrating into a Cloud: </a:t>
            </a:r>
            <a:r>
              <a:rPr lang="en-US" sz="36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600" b="1" i="0" u="none" strike="noStrike" baseline="0" dirty="0">
                <a:solidFill>
                  <a:srgbClr val="000000"/>
                </a:solidFill>
              </a:rPr>
              <a:t>Virtualization: </a:t>
            </a:r>
            <a:r>
              <a:rPr lang="en-US" sz="36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600" b="1" i="0" u="none" strike="noStrike" baseline="0" dirty="0">
                <a:solidFill>
                  <a:srgbClr val="000000"/>
                </a:solidFill>
              </a:rPr>
              <a:t>Capacity Planning: </a:t>
            </a:r>
            <a:r>
              <a:rPr lang="en-US" sz="36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2400" b="1" kern="0" dirty="0">
                <a:latin typeface="+mn-lt"/>
              </a:rPr>
              <a:t>Key objectives or learning outcomes</a:t>
            </a:r>
            <a:endParaRPr lang="en-IN" sz="24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dirty="0"/>
              <a:t>Cluster computing involves connecting multiple computers (nodes) to work together as a unified system to perform large-scale computational tasks. This configuration improves performance, reliability, and scalability by distributing workloads across several machines, which can work in parallel on complex problems.</a:t>
            </a:r>
          </a:p>
          <a:p>
            <a:pPr algn="just">
              <a:lnSpc>
                <a:spcPct val="150000"/>
              </a:lnSpc>
            </a:pPr>
            <a:r>
              <a:rPr lang="en-US" sz="1800" dirty="0"/>
              <a:t>The main benefits of cluster computing include enhanced processing power, high availability (through redundancy and fault tolerance), and scalability (easy addition of more nodes).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r>
              <a:rPr lang="en-US" altLang="en-US" sz="2400" b="1" kern="0" dirty="0"/>
              <a:t>Brief of what the presentation will</a:t>
            </a:r>
            <a:endParaRPr lang="en-IN" sz="24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spc="-25" dirty="0">
                <a:latin typeface="Calibri"/>
                <a:cs typeface="Calibri"/>
              </a:rPr>
              <a:t>Cluster </a:t>
            </a:r>
            <a:r>
              <a:rPr lang="en-US" sz="2400" b="1" spc="-5" dirty="0">
                <a:latin typeface="Calibri"/>
                <a:cs typeface="Calibri"/>
              </a:rPr>
              <a:t>Computing</a:t>
            </a:r>
          </a:p>
          <a:p>
            <a:pPr>
              <a:buFont typeface="+mj-lt"/>
              <a:buAutoNum type="arabicPeriod"/>
            </a:pPr>
            <a:r>
              <a:rPr lang="en-US" sz="2400" b="1" spc="-5" dirty="0">
                <a:latin typeface="Calibri"/>
                <a:cs typeface="Calibri"/>
              </a:rPr>
              <a:t>Types</a:t>
            </a:r>
          </a:p>
          <a:p>
            <a:pPr>
              <a:buFont typeface="+mj-lt"/>
              <a:buAutoNum type="arabicPeriod"/>
            </a:pPr>
            <a:r>
              <a:rPr lang="en-US" sz="2400" b="1" spc="-5" dirty="0">
                <a:latin typeface="Calibri"/>
                <a:cs typeface="Calibri"/>
              </a:rPr>
              <a:t>Components</a:t>
            </a:r>
          </a:p>
          <a:p>
            <a:pPr>
              <a:buFont typeface="+mj-lt"/>
              <a:buAutoNum type="arabicPeriod"/>
            </a:pPr>
            <a:r>
              <a:rPr lang="en-US" sz="2400" b="1" spc="-5" dirty="0">
                <a:latin typeface="Calibri"/>
                <a:cs typeface="Calibri"/>
              </a:rPr>
              <a:t>Benefits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2400" b="1" kern="0" dirty="0">
                <a:latin typeface="+mn-lt"/>
              </a:rPr>
              <a:t>Importance of the topic</a:t>
            </a:r>
            <a:endParaRPr lang="en-IN" sz="24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sz="2000" b="1" dirty="0"/>
              <a:t>Scalability and Flexibility</a:t>
            </a:r>
            <a:r>
              <a:rPr lang="en-US" sz="2000" dirty="0"/>
              <a:t>: Cloud computing provides on-demand access to a vast range of resources, enabling businesses to scale up or down based on their needs.</a:t>
            </a:r>
          </a:p>
          <a:p>
            <a:pPr algn="just"/>
            <a:r>
              <a:rPr lang="en-US" sz="2000" b="1" dirty="0"/>
              <a:t>Cost Efficiency</a:t>
            </a:r>
            <a:r>
              <a:rPr lang="en-US" sz="2000" dirty="0"/>
              <a:t>: By using cloud services, businesses can significantly reduce costs associated with maintaining and upgrading physical hardware.</a:t>
            </a:r>
          </a:p>
          <a:p>
            <a:pPr algn="just"/>
            <a:r>
              <a:rPr lang="en-US" sz="2000" b="1" dirty="0"/>
              <a:t>Accessibility and Collaboration</a:t>
            </a:r>
            <a:r>
              <a:rPr lang="en-US" sz="2000"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sz="20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2400" b="1" kern="0" dirty="0">
                <a:latin typeface="+mn-lt"/>
              </a:rPr>
              <a:t>Detail Topics</a:t>
            </a:r>
            <a:endParaRPr lang="en-IN" sz="24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306734"/>
            <a:ext cx="5181600" cy="443070"/>
          </a:xfrm>
          <a:prstGeom prst="rect">
            <a:avLst/>
          </a:prstGeom>
        </p:spPr>
        <p:txBody>
          <a:bodyPr vert="horz" wrap="square" lIns="0" tIns="12065" rIns="0" bIns="0" rtlCol="0">
            <a:spAutoFit/>
          </a:bodyPr>
          <a:lstStyle/>
          <a:p>
            <a:pPr marL="12700" algn="ctr">
              <a:lnSpc>
                <a:spcPct val="100000"/>
              </a:lnSpc>
              <a:spcBef>
                <a:spcPts val="95"/>
              </a:spcBef>
            </a:pPr>
            <a:r>
              <a:rPr sz="2800" b="1" spc="-10" dirty="0">
                <a:solidFill>
                  <a:srgbClr val="000000"/>
                </a:solidFill>
                <a:latin typeface="Calibri"/>
                <a:cs typeface="Calibri"/>
              </a:rPr>
              <a:t>What </a:t>
            </a:r>
            <a:r>
              <a:rPr sz="2800" b="1" spc="-5" dirty="0">
                <a:solidFill>
                  <a:srgbClr val="000000"/>
                </a:solidFill>
                <a:latin typeface="Calibri"/>
                <a:cs typeface="Calibri"/>
              </a:rPr>
              <a:t>is</a:t>
            </a:r>
            <a:r>
              <a:rPr sz="2800" b="1" spc="-30" dirty="0">
                <a:solidFill>
                  <a:srgbClr val="000000"/>
                </a:solidFill>
                <a:latin typeface="Calibri"/>
                <a:cs typeface="Calibri"/>
              </a:rPr>
              <a:t> </a:t>
            </a:r>
            <a:r>
              <a:rPr sz="2800" b="1" spc="-20" dirty="0">
                <a:solidFill>
                  <a:srgbClr val="000000"/>
                </a:solidFill>
                <a:latin typeface="Calibri"/>
                <a:cs typeface="Calibri"/>
              </a:rPr>
              <a:t>Cluster</a:t>
            </a:r>
            <a:r>
              <a:rPr sz="2800" b="1" spc="-10" dirty="0">
                <a:solidFill>
                  <a:srgbClr val="000000"/>
                </a:solidFill>
                <a:latin typeface="Calibri"/>
                <a:cs typeface="Calibri"/>
              </a:rPr>
              <a:t> </a:t>
            </a:r>
            <a:r>
              <a:rPr sz="2800" b="1" spc="-5" dirty="0">
                <a:solidFill>
                  <a:srgbClr val="000000"/>
                </a:solidFill>
                <a:latin typeface="Calibri"/>
                <a:cs typeface="Calibri"/>
              </a:rPr>
              <a:t>Computing?</a:t>
            </a:r>
            <a:endParaRPr sz="28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16</a:t>
            </a:r>
          </a:p>
        </p:txBody>
      </p:sp>
      <p:sp>
        <p:nvSpPr>
          <p:cNvPr id="3" name="object 3"/>
          <p:cNvSpPr txBox="1"/>
          <p:nvPr/>
        </p:nvSpPr>
        <p:spPr>
          <a:xfrm>
            <a:off x="612140" y="1099565"/>
            <a:ext cx="7896225" cy="3025775"/>
          </a:xfrm>
          <a:prstGeom prst="rect">
            <a:avLst/>
          </a:prstGeom>
        </p:spPr>
        <p:txBody>
          <a:bodyPr vert="horz" wrap="square" lIns="0" tIns="12700" rIns="0" bIns="0" rtlCol="0">
            <a:spAutoFit/>
          </a:bodyPr>
          <a:lstStyle/>
          <a:p>
            <a:pPr marL="355600" marR="100965" indent="-343535">
              <a:lnSpc>
                <a:spcPct val="100000"/>
              </a:lnSpc>
              <a:spcBef>
                <a:spcPts val="100"/>
              </a:spcBef>
              <a:buFont typeface="Arial MT"/>
              <a:buChar char="•"/>
              <a:tabLst>
                <a:tab pos="355600" algn="l"/>
                <a:tab pos="356235" algn="l"/>
                <a:tab pos="668655" algn="l"/>
                <a:tab pos="1427480" algn="l"/>
                <a:tab pos="1638300" algn="l"/>
                <a:tab pos="1769745" algn="l"/>
                <a:tab pos="1953895" algn="l"/>
                <a:tab pos="2244090" algn="l"/>
                <a:tab pos="2301240" algn="l"/>
                <a:tab pos="2932430" algn="l"/>
                <a:tab pos="3229610" algn="l"/>
                <a:tab pos="3323590" algn="l"/>
                <a:tab pos="3409315" algn="l"/>
                <a:tab pos="3799840" algn="l"/>
                <a:tab pos="4083685" algn="l"/>
                <a:tab pos="4375785" algn="l"/>
                <a:tab pos="4472940" algn="l"/>
                <a:tab pos="4777740" algn="l"/>
                <a:tab pos="5418455" algn="l"/>
                <a:tab pos="5678805" algn="l"/>
                <a:tab pos="5808980" algn="l"/>
                <a:tab pos="6082030" algn="l"/>
                <a:tab pos="6270625" algn="l"/>
                <a:tab pos="6363335" algn="l"/>
              </a:tabLst>
            </a:pPr>
            <a:r>
              <a:rPr sz="2400" dirty="0">
                <a:latin typeface="Calibri"/>
                <a:cs typeface="Calibri"/>
              </a:rPr>
              <a:t>A</a:t>
            </a:r>
            <a:r>
              <a:rPr sz="2400" dirty="0">
                <a:latin typeface="Times New Roman"/>
                <a:cs typeface="Times New Roman"/>
              </a:rPr>
              <a:t>	</a:t>
            </a:r>
            <a:r>
              <a:rPr sz="2400" spc="-10" dirty="0">
                <a:latin typeface="Calibri"/>
                <a:cs typeface="Calibri"/>
              </a:rPr>
              <a:t>cluster</a:t>
            </a:r>
            <a:r>
              <a:rPr sz="2400" spc="-10" dirty="0">
                <a:latin typeface="Times New Roman"/>
                <a:cs typeface="Times New Roman"/>
              </a:rPr>
              <a:t>	</a:t>
            </a:r>
            <a:r>
              <a:rPr sz="2400" dirty="0">
                <a:latin typeface="Calibri"/>
                <a:cs typeface="Calibri"/>
              </a:rPr>
              <a:t>is</a:t>
            </a:r>
            <a:r>
              <a:rPr sz="2400" dirty="0">
                <a:latin typeface="Times New Roman"/>
                <a:cs typeface="Times New Roman"/>
              </a:rPr>
              <a:t>	</a:t>
            </a:r>
            <a:r>
              <a:rPr sz="2400" dirty="0">
                <a:latin typeface="Calibri"/>
                <a:cs typeface="Calibri"/>
              </a:rPr>
              <a:t>a</a:t>
            </a:r>
            <a:r>
              <a:rPr sz="2400" dirty="0">
                <a:latin typeface="Times New Roman"/>
                <a:cs typeface="Times New Roman"/>
              </a:rPr>
              <a:t>	</a:t>
            </a:r>
            <a:r>
              <a:rPr sz="2400" dirty="0">
                <a:latin typeface="Calibri"/>
                <a:cs typeface="Calibri"/>
              </a:rPr>
              <a:t>type</a:t>
            </a:r>
            <a:r>
              <a:rPr sz="2400" dirty="0">
                <a:latin typeface="Times New Roman"/>
                <a:cs typeface="Times New Roman"/>
              </a:rPr>
              <a:t>	</a:t>
            </a:r>
            <a:r>
              <a:rPr sz="2400" spc="-5" dirty="0">
                <a:latin typeface="Calibri"/>
                <a:cs typeface="Calibri"/>
              </a:rPr>
              <a:t>of</a:t>
            </a:r>
            <a:r>
              <a:rPr sz="2400" spc="-5" dirty="0">
                <a:latin typeface="Times New Roman"/>
                <a:cs typeface="Times New Roman"/>
              </a:rPr>
              <a:t>		</a:t>
            </a:r>
            <a:r>
              <a:rPr sz="2400" spc="-10" dirty="0">
                <a:latin typeface="Calibri"/>
                <a:cs typeface="Calibri"/>
              </a:rPr>
              <a:t>parallel</a:t>
            </a:r>
            <a:r>
              <a:rPr sz="2400" spc="-10" dirty="0">
                <a:latin typeface="Times New Roman"/>
                <a:cs typeface="Times New Roman"/>
              </a:rPr>
              <a:t>	</a:t>
            </a:r>
            <a:r>
              <a:rPr sz="2400" spc="-5" dirty="0">
                <a:latin typeface="Calibri"/>
                <a:cs typeface="Calibri"/>
              </a:rPr>
              <a:t>or</a:t>
            </a:r>
            <a:r>
              <a:rPr sz="2400" spc="-5" dirty="0">
                <a:latin typeface="Times New Roman"/>
                <a:cs typeface="Times New Roman"/>
              </a:rPr>
              <a:t>	</a:t>
            </a:r>
            <a:r>
              <a:rPr sz="2400" spc="-10" dirty="0">
                <a:latin typeface="Calibri"/>
                <a:cs typeface="Calibri"/>
              </a:rPr>
              <a:t>distributed</a:t>
            </a:r>
            <a:r>
              <a:rPr sz="2400" spc="-10" dirty="0">
                <a:latin typeface="Times New Roman"/>
                <a:cs typeface="Times New Roman"/>
              </a:rPr>
              <a:t>	</a:t>
            </a:r>
            <a:r>
              <a:rPr sz="2400" spc="-10" dirty="0">
                <a:latin typeface="Calibri"/>
                <a:cs typeface="Calibri"/>
              </a:rPr>
              <a:t>computer </a:t>
            </a:r>
            <a:r>
              <a:rPr sz="2400" spc="-5" dirty="0">
                <a:latin typeface="Calibri"/>
                <a:cs typeface="Calibri"/>
              </a:rPr>
              <a:t> </a:t>
            </a:r>
            <a:r>
              <a:rPr sz="2400" spc="-55" dirty="0">
                <a:latin typeface="Calibri"/>
                <a:cs typeface="Calibri"/>
              </a:rPr>
              <a:t>s</a:t>
            </a:r>
            <a:r>
              <a:rPr sz="2400" spc="-20" dirty="0">
                <a:latin typeface="Calibri"/>
                <a:cs typeface="Calibri"/>
              </a:rPr>
              <a:t>y</a:t>
            </a:r>
            <a:r>
              <a:rPr sz="2400" spc="-30" dirty="0">
                <a:latin typeface="Calibri"/>
                <a:cs typeface="Calibri"/>
              </a:rPr>
              <a:t>s</a:t>
            </a:r>
            <a:r>
              <a:rPr sz="2400" spc="-25" dirty="0">
                <a:latin typeface="Calibri"/>
                <a:cs typeface="Calibri"/>
              </a:rPr>
              <a:t>t</a:t>
            </a:r>
            <a:r>
              <a:rPr sz="2400" dirty="0">
                <a:latin typeface="Calibri"/>
                <a:cs typeface="Calibri"/>
              </a:rPr>
              <a:t>e</a:t>
            </a:r>
            <a:r>
              <a:rPr sz="2400" spc="5" dirty="0">
                <a:latin typeface="Calibri"/>
                <a:cs typeface="Calibri"/>
              </a:rPr>
              <a:t>m</a:t>
            </a:r>
            <a:r>
              <a:rPr sz="2400" dirty="0">
                <a:latin typeface="Calibri"/>
                <a:cs typeface="Calibri"/>
              </a:rPr>
              <a:t>,</a:t>
            </a:r>
            <a:r>
              <a:rPr sz="2400" dirty="0">
                <a:latin typeface="Times New Roman"/>
                <a:cs typeface="Times New Roman"/>
              </a:rPr>
              <a:t>	</a:t>
            </a:r>
            <a:r>
              <a:rPr sz="2400" dirty="0">
                <a:latin typeface="Calibri"/>
                <a:cs typeface="Calibri"/>
              </a:rPr>
              <a:t>which</a:t>
            </a:r>
            <a:r>
              <a:rPr sz="2400" dirty="0">
                <a:latin typeface="Times New Roman"/>
                <a:cs typeface="Times New Roman"/>
              </a:rPr>
              <a:t>		</a:t>
            </a:r>
            <a:r>
              <a:rPr sz="2400" spc="-25" dirty="0">
                <a:latin typeface="Calibri"/>
                <a:cs typeface="Calibri"/>
              </a:rPr>
              <a:t>c</a:t>
            </a:r>
            <a:r>
              <a:rPr sz="2400" spc="-5" dirty="0">
                <a:latin typeface="Calibri"/>
                <a:cs typeface="Calibri"/>
              </a:rPr>
              <a:t>on</a:t>
            </a:r>
            <a:r>
              <a:rPr sz="2400" spc="-10" dirty="0">
                <a:latin typeface="Calibri"/>
                <a:cs typeface="Calibri"/>
              </a:rPr>
              <a:t>s</a:t>
            </a:r>
            <a:r>
              <a:rPr sz="2400" dirty="0">
                <a:latin typeface="Calibri"/>
                <a:cs typeface="Calibri"/>
              </a:rPr>
              <a:t>i</a:t>
            </a:r>
            <a:r>
              <a:rPr sz="2400" spc="-30" dirty="0">
                <a:latin typeface="Calibri"/>
                <a:cs typeface="Calibri"/>
              </a:rPr>
              <a:t>s</a:t>
            </a:r>
            <a:r>
              <a:rPr sz="2400" dirty="0">
                <a:latin typeface="Calibri"/>
                <a:cs typeface="Calibri"/>
              </a:rPr>
              <a:t>ts</a:t>
            </a:r>
            <a:r>
              <a:rPr sz="2400" dirty="0">
                <a:latin typeface="Times New Roman"/>
                <a:cs typeface="Times New Roman"/>
              </a:rPr>
              <a:t>		</a:t>
            </a:r>
            <a:r>
              <a:rPr sz="2400" spc="-10" dirty="0">
                <a:latin typeface="Calibri"/>
                <a:cs typeface="Calibri"/>
              </a:rPr>
              <a:t>o</a:t>
            </a:r>
            <a:r>
              <a:rPr sz="2400" dirty="0">
                <a:latin typeface="Calibri"/>
                <a:cs typeface="Calibri"/>
              </a:rPr>
              <a:t>f</a:t>
            </a:r>
            <a:r>
              <a:rPr sz="2400" dirty="0">
                <a:latin typeface="Times New Roman"/>
                <a:cs typeface="Times New Roman"/>
              </a:rPr>
              <a:t>	</a:t>
            </a:r>
            <a:r>
              <a:rPr sz="2400" dirty="0">
                <a:latin typeface="Calibri"/>
                <a:cs typeface="Calibri"/>
              </a:rPr>
              <a:t>a</a:t>
            </a:r>
            <a:r>
              <a:rPr sz="2400" dirty="0">
                <a:latin typeface="Times New Roman"/>
                <a:cs typeface="Times New Roman"/>
              </a:rPr>
              <a:t>	</a:t>
            </a:r>
            <a:r>
              <a:rPr sz="2400" spc="-30" dirty="0">
                <a:latin typeface="Calibri"/>
                <a:cs typeface="Calibri"/>
              </a:rPr>
              <a:t>c</a:t>
            </a:r>
            <a:r>
              <a:rPr sz="2400" spc="-5" dirty="0">
                <a:latin typeface="Calibri"/>
                <a:cs typeface="Calibri"/>
              </a:rPr>
              <a:t>o</a:t>
            </a:r>
            <a:r>
              <a:rPr sz="2400" dirty="0">
                <a:latin typeface="Calibri"/>
                <a:cs typeface="Calibri"/>
              </a:rPr>
              <a:t>llecti</a:t>
            </a:r>
            <a:r>
              <a:rPr sz="2400" spc="-5" dirty="0">
                <a:latin typeface="Calibri"/>
                <a:cs typeface="Calibri"/>
              </a:rPr>
              <a:t>o</a:t>
            </a:r>
            <a:r>
              <a:rPr sz="2400" dirty="0">
                <a:latin typeface="Calibri"/>
                <a:cs typeface="Calibri"/>
              </a:rPr>
              <a:t>n</a:t>
            </a:r>
            <a:r>
              <a:rPr sz="2400" dirty="0">
                <a:latin typeface="Times New Roman"/>
                <a:cs typeface="Times New Roman"/>
              </a:rPr>
              <a:t>	</a:t>
            </a:r>
            <a:r>
              <a:rPr sz="2400" spc="-10" dirty="0">
                <a:latin typeface="Calibri"/>
                <a:cs typeface="Calibri"/>
              </a:rPr>
              <a:t>o</a:t>
            </a:r>
            <a:r>
              <a:rPr sz="2400" dirty="0">
                <a:latin typeface="Calibri"/>
                <a:cs typeface="Calibri"/>
              </a:rPr>
              <a:t>f</a:t>
            </a:r>
            <a:r>
              <a:rPr sz="2400" dirty="0">
                <a:latin typeface="Times New Roman"/>
                <a:cs typeface="Times New Roman"/>
              </a:rPr>
              <a:t>		</a:t>
            </a:r>
            <a:r>
              <a:rPr sz="2400" dirty="0">
                <a:latin typeface="Calibri"/>
                <a:cs typeface="Calibri"/>
              </a:rPr>
              <a:t>i</a:t>
            </a:r>
            <a:r>
              <a:rPr sz="2400" spc="-25" dirty="0">
                <a:latin typeface="Calibri"/>
                <a:cs typeface="Calibri"/>
              </a:rPr>
              <a:t>nt</a:t>
            </a:r>
            <a:r>
              <a:rPr sz="2400" dirty="0">
                <a:latin typeface="Calibri"/>
                <a:cs typeface="Calibri"/>
              </a:rPr>
              <a:t>e</a:t>
            </a:r>
            <a:r>
              <a:rPr sz="2400" spc="5" dirty="0">
                <a:latin typeface="Calibri"/>
                <a:cs typeface="Calibri"/>
              </a:rPr>
              <a:t>r</a:t>
            </a:r>
            <a:r>
              <a:rPr sz="2400" spc="-5" dirty="0">
                <a:latin typeface="Calibri"/>
                <a:cs typeface="Calibri"/>
              </a:rPr>
              <a:t>-</a:t>
            </a:r>
            <a:r>
              <a:rPr sz="2400" spc="-20" dirty="0">
                <a:latin typeface="Calibri"/>
                <a:cs typeface="Calibri"/>
              </a:rPr>
              <a:t>c</a:t>
            </a:r>
            <a:r>
              <a:rPr sz="2400" spc="-5" dirty="0">
                <a:latin typeface="Calibri"/>
                <a:cs typeface="Calibri"/>
              </a:rPr>
              <a:t>onnec</a:t>
            </a:r>
            <a:r>
              <a:rPr sz="2400" spc="-20" dirty="0">
                <a:latin typeface="Calibri"/>
                <a:cs typeface="Calibri"/>
              </a:rPr>
              <a:t>t</a:t>
            </a:r>
            <a:r>
              <a:rPr sz="2400" dirty="0">
                <a:latin typeface="Calibri"/>
                <a:cs typeface="Calibri"/>
              </a:rPr>
              <a:t>ed </a:t>
            </a:r>
            <a:r>
              <a:rPr sz="2400" dirty="0">
                <a:latin typeface="Times New Roman"/>
                <a:cs typeface="Times New Roman"/>
              </a:rPr>
              <a:t> </a:t>
            </a:r>
            <a:r>
              <a:rPr sz="2400" spc="-10" dirty="0">
                <a:latin typeface="Calibri"/>
                <a:cs typeface="Calibri"/>
              </a:rPr>
              <a:t>stand-alone</a:t>
            </a:r>
            <a:r>
              <a:rPr sz="2400" spc="-10" dirty="0">
                <a:latin typeface="Times New Roman"/>
                <a:cs typeface="Times New Roman"/>
              </a:rPr>
              <a:t>	</a:t>
            </a:r>
            <a:r>
              <a:rPr sz="2400" spc="-15" dirty="0">
                <a:latin typeface="Calibri"/>
                <a:cs typeface="Calibri"/>
              </a:rPr>
              <a:t>computers</a:t>
            </a:r>
            <a:r>
              <a:rPr sz="2400" spc="20" dirty="0">
                <a:latin typeface="Calibri"/>
                <a:cs typeface="Calibri"/>
              </a:rPr>
              <a:t> </a:t>
            </a:r>
            <a:r>
              <a:rPr sz="2400" spc="-10" dirty="0">
                <a:latin typeface="Calibri"/>
                <a:cs typeface="Calibri"/>
              </a:rPr>
              <a:t>working</a:t>
            </a:r>
            <a:r>
              <a:rPr sz="2400" spc="-10" dirty="0">
                <a:latin typeface="Times New Roman"/>
                <a:cs typeface="Times New Roman"/>
              </a:rPr>
              <a:t>		</a:t>
            </a:r>
            <a:r>
              <a:rPr sz="2400" spc="-15" dirty="0">
                <a:latin typeface="Calibri"/>
                <a:cs typeface="Calibri"/>
              </a:rPr>
              <a:t>together</a:t>
            </a:r>
            <a:r>
              <a:rPr sz="2400" spc="-15" dirty="0">
                <a:latin typeface="Times New Roman"/>
                <a:cs typeface="Times New Roman"/>
              </a:rPr>
              <a:t>	</a:t>
            </a:r>
            <a:r>
              <a:rPr sz="2400" dirty="0">
                <a:latin typeface="Calibri"/>
                <a:cs typeface="Calibri"/>
              </a:rPr>
              <a:t>as</a:t>
            </a:r>
            <a:r>
              <a:rPr sz="2400" dirty="0">
                <a:latin typeface="Times New Roman"/>
                <a:cs typeface="Times New Roman"/>
              </a:rPr>
              <a:t>	</a:t>
            </a:r>
            <a:r>
              <a:rPr sz="2400" dirty="0">
                <a:latin typeface="Calibri"/>
                <a:cs typeface="Calibri"/>
              </a:rPr>
              <a:t>a</a:t>
            </a:r>
            <a:r>
              <a:rPr sz="2400" dirty="0">
                <a:latin typeface="Times New Roman"/>
                <a:cs typeface="Times New Roman"/>
              </a:rPr>
              <a:t>		</a:t>
            </a:r>
            <a:r>
              <a:rPr sz="2400" spc="-5" dirty="0">
                <a:latin typeface="Calibri"/>
                <a:cs typeface="Calibri"/>
              </a:rPr>
              <a:t>single </a:t>
            </a:r>
            <a:r>
              <a:rPr sz="2400" dirty="0">
                <a:latin typeface="Calibri"/>
                <a:cs typeface="Calibri"/>
              </a:rPr>
              <a:t> </a:t>
            </a:r>
            <a:r>
              <a:rPr sz="2400" spc="-15" dirty="0">
                <a:latin typeface="Calibri"/>
                <a:cs typeface="Calibri"/>
              </a:rPr>
              <a:t>integrated</a:t>
            </a:r>
            <a:r>
              <a:rPr sz="2400" spc="-15" dirty="0">
                <a:latin typeface="Times New Roman"/>
                <a:cs typeface="Times New Roman"/>
              </a:rPr>
              <a:t>		</a:t>
            </a:r>
            <a:r>
              <a:rPr sz="2400" spc="-10" dirty="0">
                <a:latin typeface="Calibri"/>
                <a:cs typeface="Calibri"/>
              </a:rPr>
              <a:t>computing</a:t>
            </a:r>
            <a:r>
              <a:rPr sz="2400" spc="-10" dirty="0">
                <a:latin typeface="Times New Roman"/>
                <a:cs typeface="Times New Roman"/>
              </a:rPr>
              <a:t>	</a:t>
            </a:r>
            <a:r>
              <a:rPr sz="2400" spc="-10" dirty="0">
                <a:latin typeface="Calibri"/>
                <a:cs typeface="Calibri"/>
              </a:rPr>
              <a:t>resource</a:t>
            </a:r>
            <a:r>
              <a:rPr sz="2400" dirty="0">
                <a:latin typeface="Calibri"/>
                <a:cs typeface="Calibri"/>
              </a:rPr>
              <a:t> .</a:t>
            </a:r>
          </a:p>
          <a:p>
            <a:pPr marL="355600" marR="5080" indent="-343535">
              <a:lnSpc>
                <a:spcPct val="100000"/>
              </a:lnSpc>
              <a:spcBef>
                <a:spcPts val="575"/>
              </a:spcBef>
              <a:buFont typeface="Arial MT"/>
              <a:buChar char="•"/>
              <a:tabLst>
                <a:tab pos="355600" algn="l"/>
                <a:tab pos="356235" algn="l"/>
                <a:tab pos="933450" algn="l"/>
                <a:tab pos="1812925" algn="l"/>
                <a:tab pos="2162810" algn="l"/>
                <a:tab pos="2720975" algn="l"/>
                <a:tab pos="2934335" algn="l"/>
                <a:tab pos="3216275" algn="l"/>
                <a:tab pos="4086860" algn="l"/>
                <a:tab pos="4184650" algn="l"/>
                <a:tab pos="4690745" algn="l"/>
                <a:tab pos="6236335" algn="l"/>
                <a:tab pos="6828155" algn="l"/>
              </a:tabLst>
            </a:pPr>
            <a:r>
              <a:rPr sz="2400" spc="-20" dirty="0">
                <a:latin typeface="Calibri"/>
                <a:cs typeface="Calibri"/>
              </a:rPr>
              <a:t>Key</a:t>
            </a:r>
            <a:r>
              <a:rPr sz="2400" spc="-20" dirty="0">
                <a:latin typeface="Times New Roman"/>
                <a:cs typeface="Times New Roman"/>
              </a:rPr>
              <a:t>	</a:t>
            </a:r>
            <a:r>
              <a:rPr sz="2400" spc="-10" dirty="0">
                <a:latin typeface="Calibri"/>
                <a:cs typeface="Calibri"/>
              </a:rPr>
              <a:t>components</a:t>
            </a:r>
            <a:r>
              <a:rPr sz="2400" spc="5" dirty="0">
                <a:latin typeface="Calibri"/>
                <a:cs typeface="Calibri"/>
              </a:rPr>
              <a:t> </a:t>
            </a:r>
            <a:r>
              <a:rPr sz="2400" spc="-10" dirty="0">
                <a:latin typeface="Calibri"/>
                <a:cs typeface="Calibri"/>
              </a:rPr>
              <a:t>of</a:t>
            </a:r>
            <a:r>
              <a:rPr sz="2400" spc="-10" dirty="0">
                <a:latin typeface="Times New Roman"/>
                <a:cs typeface="Times New Roman"/>
              </a:rPr>
              <a:t>	</a:t>
            </a:r>
            <a:r>
              <a:rPr sz="2400" dirty="0">
                <a:latin typeface="Calibri"/>
                <a:cs typeface="Calibri"/>
              </a:rPr>
              <a:t>a</a:t>
            </a:r>
            <a:r>
              <a:rPr sz="2400" dirty="0">
                <a:latin typeface="Times New Roman"/>
                <a:cs typeface="Times New Roman"/>
              </a:rPr>
              <a:t>	</a:t>
            </a:r>
            <a:r>
              <a:rPr sz="2400" spc="-10" dirty="0">
                <a:latin typeface="Calibri"/>
                <a:cs typeface="Calibri"/>
              </a:rPr>
              <a:t>cluster</a:t>
            </a:r>
            <a:r>
              <a:rPr sz="2400" spc="-10" dirty="0">
                <a:latin typeface="Times New Roman"/>
                <a:cs typeface="Times New Roman"/>
              </a:rPr>
              <a:t>		</a:t>
            </a:r>
            <a:r>
              <a:rPr sz="2400" spc="-5" dirty="0">
                <a:latin typeface="Calibri"/>
                <a:cs typeface="Calibri"/>
              </a:rPr>
              <a:t>include multiple </a:t>
            </a:r>
            <a:r>
              <a:rPr sz="2400" spc="-10" dirty="0">
                <a:latin typeface="Calibri"/>
                <a:cs typeface="Calibri"/>
              </a:rPr>
              <a:t>standalone </a:t>
            </a:r>
            <a:r>
              <a:rPr sz="2400" spc="-5" dirty="0">
                <a:latin typeface="Calibri"/>
                <a:cs typeface="Calibri"/>
              </a:rPr>
              <a:t> </a:t>
            </a:r>
            <a:r>
              <a:rPr sz="2400" spc="-20" dirty="0">
                <a:latin typeface="Calibri"/>
                <a:cs typeface="Calibri"/>
              </a:rPr>
              <a:t>c</a:t>
            </a:r>
            <a:r>
              <a:rPr sz="2400" spc="-5" dirty="0">
                <a:latin typeface="Calibri"/>
                <a:cs typeface="Calibri"/>
              </a:rPr>
              <a:t>ompu</a:t>
            </a:r>
            <a:r>
              <a:rPr sz="2400" spc="-25" dirty="0">
                <a:latin typeface="Calibri"/>
                <a:cs typeface="Calibri"/>
              </a:rPr>
              <a:t>t</a:t>
            </a:r>
            <a:r>
              <a:rPr sz="2400" dirty="0">
                <a:latin typeface="Calibri"/>
                <a:cs typeface="Calibri"/>
              </a:rPr>
              <a:t>e</a:t>
            </a:r>
            <a:r>
              <a:rPr sz="2400" spc="-30" dirty="0">
                <a:latin typeface="Calibri"/>
                <a:cs typeface="Calibri"/>
              </a:rPr>
              <a:t>r</a:t>
            </a:r>
            <a:r>
              <a:rPr sz="2400" dirty="0">
                <a:latin typeface="Calibri"/>
                <a:cs typeface="Calibri"/>
              </a:rPr>
              <a:t>s</a:t>
            </a:r>
            <a:r>
              <a:rPr sz="2400" dirty="0">
                <a:latin typeface="Times New Roman"/>
                <a:cs typeface="Times New Roman"/>
              </a:rPr>
              <a:t>	</a:t>
            </a:r>
            <a:r>
              <a:rPr sz="2400" spc="-5" dirty="0">
                <a:latin typeface="Calibri"/>
                <a:cs typeface="Calibri"/>
              </a:rPr>
              <a:t>(PCs</a:t>
            </a:r>
            <a:r>
              <a:rPr sz="2400" dirty="0">
                <a:latin typeface="Calibri"/>
                <a:cs typeface="Calibri"/>
              </a:rPr>
              <a:t>,</a:t>
            </a:r>
            <a:r>
              <a:rPr sz="2400" spc="-75" dirty="0">
                <a:latin typeface="Times New Roman"/>
                <a:cs typeface="Times New Roman"/>
              </a:rPr>
              <a:t> </a:t>
            </a:r>
            <a:r>
              <a:rPr sz="2400" spc="-95" dirty="0">
                <a:latin typeface="Calibri"/>
                <a:cs typeface="Calibri"/>
              </a:rPr>
              <a:t>W</a:t>
            </a:r>
            <a:r>
              <a:rPr sz="2400" spc="-5" dirty="0">
                <a:latin typeface="Calibri"/>
                <a:cs typeface="Calibri"/>
              </a:rPr>
              <a:t>or</a:t>
            </a:r>
            <a:r>
              <a:rPr sz="2400" spc="-30" dirty="0">
                <a:latin typeface="Calibri"/>
                <a:cs typeface="Calibri"/>
              </a:rPr>
              <a:t>ks</a:t>
            </a:r>
            <a:r>
              <a:rPr sz="2400" spc="-25" dirty="0">
                <a:latin typeface="Calibri"/>
                <a:cs typeface="Calibri"/>
              </a:rPr>
              <a:t>ta</a:t>
            </a:r>
            <a:r>
              <a:rPr sz="2400" dirty="0">
                <a:latin typeface="Calibri"/>
                <a:cs typeface="Calibri"/>
              </a:rPr>
              <a:t>ti</a:t>
            </a:r>
            <a:r>
              <a:rPr sz="2400" spc="-5" dirty="0">
                <a:latin typeface="Calibri"/>
                <a:cs typeface="Calibri"/>
              </a:rPr>
              <a:t>ons</a:t>
            </a:r>
            <a:r>
              <a:rPr sz="2400" dirty="0">
                <a:latin typeface="Calibri"/>
                <a:cs typeface="Calibri"/>
              </a:rPr>
              <a:t>,</a:t>
            </a:r>
            <a:r>
              <a:rPr sz="2400" spc="-95" dirty="0">
                <a:latin typeface="Times New Roman"/>
                <a:cs typeface="Times New Roman"/>
              </a:rPr>
              <a:t> </a:t>
            </a:r>
            <a:r>
              <a:rPr sz="2400" spc="-5" dirty="0">
                <a:latin typeface="Calibri"/>
                <a:cs typeface="Calibri"/>
              </a:rPr>
              <a:t>o</a:t>
            </a:r>
            <a:r>
              <a:rPr sz="2400" dirty="0">
                <a:latin typeface="Calibri"/>
                <a:cs typeface="Calibri"/>
              </a:rPr>
              <a:t>r</a:t>
            </a:r>
            <a:r>
              <a:rPr sz="2400" spc="-60" dirty="0">
                <a:latin typeface="Times New Roman"/>
                <a:cs typeface="Times New Roman"/>
              </a:rPr>
              <a:t> </a:t>
            </a:r>
            <a:r>
              <a:rPr sz="2400" spc="-5" dirty="0">
                <a:latin typeface="Calibri"/>
                <a:cs typeface="Calibri"/>
              </a:rPr>
              <a:t>SM</a:t>
            </a:r>
            <a:r>
              <a:rPr sz="2400" spc="-45" dirty="0">
                <a:latin typeface="Calibri"/>
                <a:cs typeface="Calibri"/>
              </a:rPr>
              <a:t>P</a:t>
            </a:r>
            <a:r>
              <a:rPr sz="2400" spc="-5" dirty="0">
                <a:latin typeface="Calibri"/>
                <a:cs typeface="Calibri"/>
              </a:rPr>
              <a:t>s)</a:t>
            </a:r>
            <a:r>
              <a:rPr sz="2400" dirty="0">
                <a:latin typeface="Calibri"/>
                <a:cs typeface="Calibri"/>
              </a:rPr>
              <a:t>,</a:t>
            </a:r>
            <a:r>
              <a:rPr sz="2400" spc="-75" dirty="0">
                <a:latin typeface="Times New Roman"/>
                <a:cs typeface="Times New Roman"/>
              </a:rPr>
              <a:t> </a:t>
            </a:r>
            <a:r>
              <a:rPr sz="2400" spc="-5" dirty="0">
                <a:latin typeface="Calibri"/>
                <a:cs typeface="Calibri"/>
              </a:rPr>
              <a:t>ope</a:t>
            </a:r>
            <a:r>
              <a:rPr sz="2400" spc="-50" dirty="0">
                <a:latin typeface="Calibri"/>
                <a:cs typeface="Calibri"/>
              </a:rPr>
              <a:t>r</a:t>
            </a:r>
            <a:r>
              <a:rPr sz="2400" spc="-25" dirty="0">
                <a:latin typeface="Calibri"/>
                <a:cs typeface="Calibri"/>
              </a:rPr>
              <a:t>a</a:t>
            </a:r>
            <a:r>
              <a:rPr sz="2400" dirty="0">
                <a:latin typeface="Calibri"/>
                <a:cs typeface="Calibri"/>
              </a:rPr>
              <a:t>ti</a:t>
            </a:r>
            <a:r>
              <a:rPr sz="2400" spc="-5" dirty="0">
                <a:latin typeface="Calibri"/>
                <a:cs typeface="Calibri"/>
              </a:rPr>
              <a:t>n</a:t>
            </a:r>
            <a:r>
              <a:rPr sz="2400" dirty="0">
                <a:latin typeface="Calibri"/>
                <a:cs typeface="Calibri"/>
              </a:rPr>
              <a:t>g</a:t>
            </a:r>
            <a:r>
              <a:rPr sz="2400" dirty="0">
                <a:latin typeface="Times New Roman"/>
                <a:cs typeface="Times New Roman"/>
              </a:rPr>
              <a:t>	</a:t>
            </a:r>
            <a:r>
              <a:rPr sz="2400" spc="-55" dirty="0">
                <a:latin typeface="Calibri"/>
                <a:cs typeface="Calibri"/>
              </a:rPr>
              <a:t>s</a:t>
            </a:r>
            <a:r>
              <a:rPr sz="2400" spc="-20" dirty="0">
                <a:latin typeface="Calibri"/>
                <a:cs typeface="Calibri"/>
              </a:rPr>
              <a:t>y</a:t>
            </a:r>
            <a:r>
              <a:rPr sz="2400" spc="-30" dirty="0">
                <a:latin typeface="Calibri"/>
                <a:cs typeface="Calibri"/>
              </a:rPr>
              <a:t>s</a:t>
            </a:r>
            <a:r>
              <a:rPr sz="2400" spc="-25" dirty="0">
                <a:latin typeface="Calibri"/>
                <a:cs typeface="Calibri"/>
              </a:rPr>
              <a:t>t</a:t>
            </a:r>
            <a:r>
              <a:rPr sz="2400" dirty="0">
                <a:latin typeface="Calibri"/>
                <a:cs typeface="Calibri"/>
              </a:rPr>
              <a:t>e</a:t>
            </a:r>
            <a:r>
              <a:rPr sz="2400" spc="5" dirty="0">
                <a:latin typeface="Calibri"/>
                <a:cs typeface="Calibri"/>
              </a:rPr>
              <a:t>m</a:t>
            </a:r>
            <a:r>
              <a:rPr sz="2400" spc="-5" dirty="0">
                <a:latin typeface="Calibri"/>
                <a:cs typeface="Calibri"/>
              </a:rPr>
              <a:t>s, </a:t>
            </a:r>
            <a:r>
              <a:rPr sz="2400" spc="-5" dirty="0">
                <a:latin typeface="Times New Roman"/>
                <a:cs typeface="Times New Roman"/>
              </a:rPr>
              <a:t> </a:t>
            </a:r>
            <a:r>
              <a:rPr sz="2400" spc="-10" dirty="0">
                <a:latin typeface="Calibri"/>
                <a:cs typeface="Calibri"/>
              </a:rPr>
              <a:t>high-performance</a:t>
            </a:r>
            <a:r>
              <a:rPr sz="2400" spc="-10" dirty="0">
                <a:latin typeface="Times New Roman"/>
                <a:cs typeface="Times New Roman"/>
              </a:rPr>
              <a:t>	</a:t>
            </a:r>
            <a:r>
              <a:rPr sz="2400" spc="-10" dirty="0">
                <a:latin typeface="Calibri"/>
                <a:cs typeface="Calibri"/>
              </a:rPr>
              <a:t>interconnects,</a:t>
            </a:r>
            <a:r>
              <a:rPr sz="2400" spc="-5" dirty="0">
                <a:latin typeface="Calibri"/>
                <a:cs typeface="Calibri"/>
              </a:rPr>
              <a:t> </a:t>
            </a:r>
            <a:r>
              <a:rPr sz="2400" spc="-10" dirty="0">
                <a:latin typeface="Calibri"/>
                <a:cs typeface="Calibri"/>
              </a:rPr>
              <a:t>middleware,</a:t>
            </a:r>
            <a:r>
              <a:rPr sz="2400" spc="-10" dirty="0">
                <a:latin typeface="Times New Roman"/>
                <a:cs typeface="Times New Roman"/>
              </a:rPr>
              <a:t>	</a:t>
            </a:r>
            <a:r>
              <a:rPr sz="2400" spc="-10" dirty="0">
                <a:latin typeface="Calibri"/>
                <a:cs typeface="Calibri"/>
              </a:rPr>
              <a:t>parallel </a:t>
            </a:r>
            <a:r>
              <a:rPr sz="2400" spc="-5" dirty="0">
                <a:latin typeface="Calibri"/>
                <a:cs typeface="Calibri"/>
              </a:rPr>
              <a:t> </a:t>
            </a:r>
            <a:r>
              <a:rPr sz="2400" spc="-10" dirty="0">
                <a:latin typeface="Calibri"/>
                <a:cs typeface="Calibri"/>
              </a:rPr>
              <a:t>programming</a:t>
            </a:r>
            <a:r>
              <a:rPr sz="2400" spc="-10" dirty="0">
                <a:latin typeface="Times New Roman"/>
                <a:cs typeface="Times New Roman"/>
              </a:rPr>
              <a:t>	</a:t>
            </a:r>
            <a:r>
              <a:rPr sz="2400" spc="-10" dirty="0">
                <a:latin typeface="Calibri"/>
                <a:cs typeface="Calibri"/>
              </a:rPr>
              <a:t>environments,</a:t>
            </a:r>
            <a:r>
              <a:rPr sz="2400" spc="-10" dirty="0">
                <a:latin typeface="Times New Roman"/>
                <a:cs typeface="Times New Roman"/>
              </a:rPr>
              <a:t>	</a:t>
            </a:r>
            <a:r>
              <a:rPr sz="2400" dirty="0">
                <a:latin typeface="Calibri"/>
                <a:cs typeface="Calibri"/>
              </a:rPr>
              <a:t>and</a:t>
            </a:r>
            <a:r>
              <a:rPr sz="2400" dirty="0">
                <a:latin typeface="Times New Roman"/>
                <a:cs typeface="Times New Roman"/>
              </a:rPr>
              <a:t>	</a:t>
            </a:r>
            <a:r>
              <a:rPr sz="2400" spc="-10" dirty="0">
                <a:latin typeface="Calibri"/>
                <a:cs typeface="Calibri"/>
              </a:rPr>
              <a:t>applications.</a:t>
            </a:r>
            <a:endParaRPr sz="2400" dirty="0">
              <a:latin typeface="Calibri"/>
              <a:cs typeface="Calibri"/>
            </a:endParaRPr>
          </a:p>
        </p:txBody>
      </p:sp>
      <p:sp>
        <p:nvSpPr>
          <p:cNvPr id="5" name="Footer Placeholder 4">
            <a:extLst>
              <a:ext uri="{FF2B5EF4-FFF2-40B4-BE49-F238E27FC236}">
                <a16:creationId xmlns:a16="http://schemas.microsoft.com/office/drawing/2014/main" id="{4B834D25-CA14-9BB4-88B1-9F37B0CF0DF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2497" y="337511"/>
            <a:ext cx="4088765" cy="381515"/>
          </a:xfrm>
          <a:prstGeom prst="rect">
            <a:avLst/>
          </a:prstGeom>
        </p:spPr>
        <p:txBody>
          <a:bodyPr vert="horz" wrap="square" lIns="0" tIns="12065" rIns="0" bIns="0" rtlCol="0">
            <a:spAutoFit/>
          </a:bodyPr>
          <a:lstStyle/>
          <a:p>
            <a:pPr marL="12700" algn="ctr">
              <a:lnSpc>
                <a:spcPct val="100000"/>
              </a:lnSpc>
              <a:spcBef>
                <a:spcPts val="95"/>
              </a:spcBef>
            </a:pPr>
            <a:r>
              <a:rPr sz="2400" b="1" spc="-20" dirty="0">
                <a:solidFill>
                  <a:srgbClr val="000000"/>
                </a:solidFill>
                <a:latin typeface="Calibri"/>
                <a:cs typeface="Calibri"/>
              </a:rPr>
              <a:t>Cluster</a:t>
            </a:r>
            <a:r>
              <a:rPr sz="2400" b="1" spc="-40" dirty="0">
                <a:solidFill>
                  <a:srgbClr val="000000"/>
                </a:solidFill>
                <a:latin typeface="Calibri"/>
                <a:cs typeface="Calibri"/>
              </a:rPr>
              <a:t> </a:t>
            </a:r>
            <a:r>
              <a:rPr sz="2400" b="1" spc="-5" dirty="0">
                <a:solidFill>
                  <a:srgbClr val="000000"/>
                </a:solidFill>
                <a:latin typeface="Calibri"/>
                <a:cs typeface="Calibri"/>
              </a:rPr>
              <a:t>Computing?</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17</a:t>
            </a:r>
          </a:p>
        </p:txBody>
      </p:sp>
      <p:sp>
        <p:nvSpPr>
          <p:cNvPr id="3" name="object 3"/>
          <p:cNvSpPr txBox="1"/>
          <p:nvPr/>
        </p:nvSpPr>
        <p:spPr>
          <a:xfrm>
            <a:off x="459740" y="1041654"/>
            <a:ext cx="7994015" cy="3206115"/>
          </a:xfrm>
          <a:prstGeom prst="rect">
            <a:avLst/>
          </a:prstGeom>
        </p:spPr>
        <p:txBody>
          <a:bodyPr vert="horz" wrap="square" lIns="0" tIns="78740" rIns="0" bIns="0" rtlCol="0">
            <a:spAutoFit/>
          </a:bodyPr>
          <a:lstStyle/>
          <a:p>
            <a:pPr marL="355600" marR="5080" indent="-342900">
              <a:lnSpc>
                <a:spcPct val="80000"/>
              </a:lnSpc>
              <a:spcBef>
                <a:spcPts val="620"/>
              </a:spcBef>
              <a:buFont typeface="Arial MT"/>
              <a:buChar char="•"/>
              <a:tabLst>
                <a:tab pos="354965" algn="l"/>
                <a:tab pos="355600" algn="l"/>
              </a:tabLst>
            </a:pPr>
            <a:r>
              <a:rPr sz="2200" spc="-15" dirty="0">
                <a:latin typeface="Calibri"/>
                <a:cs typeface="Calibri"/>
              </a:rPr>
              <a:t>Clusters</a:t>
            </a:r>
            <a:r>
              <a:rPr sz="2200" spc="-5" dirty="0">
                <a:latin typeface="Calibri"/>
                <a:cs typeface="Calibri"/>
              </a:rPr>
              <a:t> </a:t>
            </a:r>
            <a:r>
              <a:rPr sz="2200" spc="-10" dirty="0">
                <a:latin typeface="Calibri"/>
                <a:cs typeface="Calibri"/>
              </a:rPr>
              <a:t>are</a:t>
            </a:r>
            <a:r>
              <a:rPr sz="2200" spc="-5" dirty="0">
                <a:latin typeface="Calibri"/>
                <a:cs typeface="Calibri"/>
              </a:rPr>
              <a:t> usually </a:t>
            </a:r>
            <a:r>
              <a:rPr sz="2200" spc="-10" dirty="0">
                <a:latin typeface="Calibri"/>
                <a:cs typeface="Calibri"/>
              </a:rPr>
              <a:t>deployed</a:t>
            </a:r>
            <a:r>
              <a:rPr sz="2200" spc="-5" dirty="0">
                <a:latin typeface="Calibri"/>
                <a:cs typeface="Calibri"/>
              </a:rPr>
              <a:t> </a:t>
            </a:r>
            <a:r>
              <a:rPr sz="2200" spc="-15" dirty="0">
                <a:latin typeface="Calibri"/>
                <a:cs typeface="Calibri"/>
              </a:rPr>
              <a:t>to</a:t>
            </a:r>
            <a:r>
              <a:rPr sz="2200" spc="5" dirty="0">
                <a:latin typeface="Calibri"/>
                <a:cs typeface="Calibri"/>
              </a:rPr>
              <a:t> </a:t>
            </a:r>
            <a:r>
              <a:rPr sz="2200" spc="-15" dirty="0">
                <a:latin typeface="Calibri"/>
                <a:cs typeface="Calibri"/>
              </a:rPr>
              <a:t>improve</a:t>
            </a:r>
            <a:r>
              <a:rPr sz="2200" spc="-5" dirty="0">
                <a:latin typeface="Calibri"/>
                <a:cs typeface="Calibri"/>
              </a:rPr>
              <a:t> speed</a:t>
            </a:r>
            <a:r>
              <a:rPr sz="2200" spc="-10" dirty="0">
                <a:latin typeface="Calibri"/>
                <a:cs typeface="Calibri"/>
              </a:rPr>
              <a:t> and/or</a:t>
            </a:r>
            <a:r>
              <a:rPr sz="2200" spc="-20" dirty="0">
                <a:latin typeface="Calibri"/>
                <a:cs typeface="Calibri"/>
              </a:rPr>
              <a:t> </a:t>
            </a:r>
            <a:r>
              <a:rPr sz="2200" spc="-5" dirty="0">
                <a:latin typeface="Calibri"/>
                <a:cs typeface="Calibri"/>
              </a:rPr>
              <a:t>reliability </a:t>
            </a:r>
            <a:r>
              <a:rPr sz="2200" dirty="0">
                <a:latin typeface="Calibri"/>
                <a:cs typeface="Calibri"/>
              </a:rPr>
              <a:t> </a:t>
            </a:r>
            <a:r>
              <a:rPr sz="2200" spc="-15" dirty="0">
                <a:latin typeface="Calibri"/>
                <a:cs typeface="Calibri"/>
              </a:rPr>
              <a:t>over</a:t>
            </a:r>
            <a:r>
              <a:rPr sz="2200" dirty="0">
                <a:latin typeface="Calibri"/>
                <a:cs typeface="Calibri"/>
              </a:rPr>
              <a:t> </a:t>
            </a:r>
            <a:r>
              <a:rPr sz="2200" spc="-15" dirty="0">
                <a:latin typeface="Calibri"/>
                <a:cs typeface="Calibri"/>
              </a:rPr>
              <a:t>that</a:t>
            </a:r>
            <a:r>
              <a:rPr sz="2200" spc="10" dirty="0">
                <a:latin typeface="Calibri"/>
                <a:cs typeface="Calibri"/>
              </a:rPr>
              <a:t> </a:t>
            </a:r>
            <a:r>
              <a:rPr sz="2200" spc="-10" dirty="0">
                <a:latin typeface="Calibri"/>
                <a:cs typeface="Calibri"/>
              </a:rPr>
              <a:t>provided</a:t>
            </a:r>
            <a:r>
              <a:rPr sz="2200" spc="-20" dirty="0">
                <a:latin typeface="Calibri"/>
                <a:cs typeface="Calibri"/>
              </a:rPr>
              <a:t> </a:t>
            </a:r>
            <a:r>
              <a:rPr sz="2200" spc="-10" dirty="0">
                <a:latin typeface="Calibri"/>
                <a:cs typeface="Calibri"/>
              </a:rPr>
              <a:t>by</a:t>
            </a:r>
            <a:r>
              <a:rPr sz="2200" spc="5" dirty="0">
                <a:latin typeface="Calibri"/>
                <a:cs typeface="Calibri"/>
              </a:rPr>
              <a:t> </a:t>
            </a:r>
            <a:r>
              <a:rPr sz="2200" spc="-5" dirty="0">
                <a:latin typeface="Calibri"/>
                <a:cs typeface="Calibri"/>
              </a:rPr>
              <a:t>a</a:t>
            </a:r>
            <a:r>
              <a:rPr sz="2200" dirty="0">
                <a:latin typeface="Calibri"/>
                <a:cs typeface="Calibri"/>
              </a:rPr>
              <a:t> </a:t>
            </a:r>
            <a:r>
              <a:rPr sz="2200" spc="-5" dirty="0">
                <a:latin typeface="Calibri"/>
                <a:cs typeface="Calibri"/>
              </a:rPr>
              <a:t>single</a:t>
            </a:r>
            <a:r>
              <a:rPr sz="2200" spc="5" dirty="0">
                <a:latin typeface="Calibri"/>
                <a:cs typeface="Calibri"/>
              </a:rPr>
              <a:t> </a:t>
            </a:r>
            <a:r>
              <a:rPr sz="2200" spc="-35" dirty="0">
                <a:latin typeface="Calibri"/>
                <a:cs typeface="Calibri"/>
              </a:rPr>
              <a:t>computer,</a:t>
            </a:r>
            <a:r>
              <a:rPr sz="2200" spc="35" dirty="0">
                <a:latin typeface="Calibri"/>
                <a:cs typeface="Calibri"/>
              </a:rPr>
              <a:t> </a:t>
            </a:r>
            <a:r>
              <a:rPr sz="2200" spc="-5" dirty="0">
                <a:latin typeface="Calibri"/>
                <a:cs typeface="Calibri"/>
              </a:rPr>
              <a:t>while</a:t>
            </a:r>
            <a:r>
              <a:rPr sz="2200" dirty="0">
                <a:latin typeface="Calibri"/>
                <a:cs typeface="Calibri"/>
              </a:rPr>
              <a:t> </a:t>
            </a:r>
            <a:r>
              <a:rPr sz="2200" spc="-10" dirty="0">
                <a:latin typeface="Calibri"/>
                <a:cs typeface="Calibri"/>
              </a:rPr>
              <a:t>typically</a:t>
            </a:r>
            <a:r>
              <a:rPr sz="2200" spc="10" dirty="0">
                <a:latin typeface="Calibri"/>
                <a:cs typeface="Calibri"/>
              </a:rPr>
              <a:t> </a:t>
            </a:r>
            <a:r>
              <a:rPr sz="2200" spc="-5" dirty="0">
                <a:latin typeface="Calibri"/>
                <a:cs typeface="Calibri"/>
              </a:rPr>
              <a:t>being</a:t>
            </a:r>
            <a:r>
              <a:rPr sz="2200" dirty="0">
                <a:latin typeface="Calibri"/>
                <a:cs typeface="Calibri"/>
              </a:rPr>
              <a:t> </a:t>
            </a:r>
            <a:r>
              <a:rPr sz="2200" spc="-5" dirty="0">
                <a:latin typeface="Calibri"/>
                <a:cs typeface="Calibri"/>
              </a:rPr>
              <a:t>much </a:t>
            </a:r>
            <a:r>
              <a:rPr sz="2200" spc="-480" dirty="0">
                <a:latin typeface="Calibri"/>
                <a:cs typeface="Calibri"/>
              </a:rPr>
              <a:t> </a:t>
            </a:r>
            <a:r>
              <a:rPr sz="2200" spc="-10" dirty="0">
                <a:latin typeface="Calibri"/>
                <a:cs typeface="Calibri"/>
              </a:rPr>
              <a:t>more</a:t>
            </a:r>
            <a:r>
              <a:rPr sz="2200" dirty="0">
                <a:latin typeface="Calibri"/>
                <a:cs typeface="Calibri"/>
              </a:rPr>
              <a:t> </a:t>
            </a:r>
            <a:r>
              <a:rPr sz="2200" spc="-15" dirty="0">
                <a:latin typeface="Calibri"/>
                <a:cs typeface="Calibri"/>
              </a:rPr>
              <a:t>cost</a:t>
            </a:r>
            <a:r>
              <a:rPr sz="2200" spc="15" dirty="0">
                <a:latin typeface="Calibri"/>
                <a:cs typeface="Calibri"/>
              </a:rPr>
              <a:t> </a:t>
            </a:r>
            <a:r>
              <a:rPr sz="2200" spc="-20" dirty="0">
                <a:latin typeface="Calibri"/>
                <a:cs typeface="Calibri"/>
              </a:rPr>
              <a:t>effective</a:t>
            </a:r>
            <a:r>
              <a:rPr sz="2200" spc="40" dirty="0">
                <a:latin typeface="Calibri"/>
                <a:cs typeface="Calibri"/>
              </a:rPr>
              <a:t> </a:t>
            </a:r>
            <a:r>
              <a:rPr sz="2200" spc="-5" dirty="0">
                <a:latin typeface="Calibri"/>
                <a:cs typeface="Calibri"/>
              </a:rPr>
              <a:t>than</a:t>
            </a:r>
            <a:r>
              <a:rPr sz="2200" spc="5" dirty="0">
                <a:latin typeface="Calibri"/>
                <a:cs typeface="Calibri"/>
              </a:rPr>
              <a:t> </a:t>
            </a:r>
            <a:r>
              <a:rPr sz="2200" spc="-5" dirty="0">
                <a:latin typeface="Calibri"/>
                <a:cs typeface="Calibri"/>
              </a:rPr>
              <a:t>single</a:t>
            </a:r>
            <a:r>
              <a:rPr sz="2200" dirty="0">
                <a:latin typeface="Calibri"/>
                <a:cs typeface="Calibri"/>
              </a:rPr>
              <a:t> </a:t>
            </a:r>
            <a:r>
              <a:rPr sz="2200" spc="-15" dirty="0">
                <a:latin typeface="Calibri"/>
                <a:cs typeface="Calibri"/>
              </a:rPr>
              <a:t>computer</a:t>
            </a:r>
            <a:r>
              <a:rPr sz="2200" spc="30"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of</a:t>
            </a:r>
            <a:r>
              <a:rPr sz="2200" dirty="0">
                <a:latin typeface="Calibri"/>
                <a:cs typeface="Calibri"/>
              </a:rPr>
              <a:t> </a:t>
            </a:r>
            <a:r>
              <a:rPr sz="2200" spc="-15" dirty="0">
                <a:latin typeface="Calibri"/>
                <a:cs typeface="Calibri"/>
              </a:rPr>
              <a:t>comparable</a:t>
            </a:r>
            <a:r>
              <a:rPr sz="2200" spc="10" dirty="0">
                <a:latin typeface="Calibri"/>
                <a:cs typeface="Calibri"/>
              </a:rPr>
              <a:t> </a:t>
            </a:r>
            <a:r>
              <a:rPr sz="2200" spc="-10" dirty="0">
                <a:latin typeface="Calibri"/>
                <a:cs typeface="Calibri"/>
              </a:rPr>
              <a:t>speed </a:t>
            </a:r>
            <a:r>
              <a:rPr sz="2200" spc="-5" dirty="0">
                <a:latin typeface="Calibri"/>
                <a:cs typeface="Calibri"/>
              </a:rPr>
              <a:t> or reliability</a:t>
            </a:r>
            <a:endParaRPr sz="2200" dirty="0">
              <a:latin typeface="Calibri"/>
              <a:cs typeface="Calibri"/>
            </a:endParaRPr>
          </a:p>
          <a:p>
            <a:pPr marL="355600" indent="-342900">
              <a:lnSpc>
                <a:spcPts val="2390"/>
              </a:lnSpc>
              <a:spcBef>
                <a:spcPts val="1835"/>
              </a:spcBef>
              <a:buFont typeface="Arial MT"/>
              <a:buChar char="•"/>
              <a:tabLst>
                <a:tab pos="354965" algn="l"/>
                <a:tab pos="355600" algn="l"/>
              </a:tabLst>
            </a:pPr>
            <a:r>
              <a:rPr sz="2000" dirty="0">
                <a:latin typeface="Calibri"/>
                <a:cs typeface="Calibri"/>
              </a:rPr>
              <a:t>In</a:t>
            </a:r>
            <a:r>
              <a:rPr sz="2000" spc="-15"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typical</a:t>
            </a:r>
            <a:r>
              <a:rPr sz="2000" spc="-25" dirty="0">
                <a:latin typeface="Calibri"/>
                <a:cs typeface="Calibri"/>
              </a:rPr>
              <a:t> </a:t>
            </a:r>
            <a:r>
              <a:rPr sz="2000" spc="-10" dirty="0">
                <a:latin typeface="Calibri"/>
                <a:cs typeface="Calibri"/>
              </a:rPr>
              <a:t>cluster:</a:t>
            </a:r>
            <a:endParaRPr sz="2000" dirty="0">
              <a:latin typeface="Calibri"/>
              <a:cs typeface="Calibri"/>
            </a:endParaRPr>
          </a:p>
          <a:p>
            <a:pPr marL="756285" marR="715010" lvl="1" indent="-287020">
              <a:lnSpc>
                <a:spcPts val="2500"/>
              </a:lnSpc>
              <a:spcBef>
                <a:spcPts val="590"/>
              </a:spcBef>
              <a:buFont typeface="Arial MT"/>
              <a:buChar char="–"/>
              <a:tabLst>
                <a:tab pos="756920" algn="l"/>
              </a:tabLst>
            </a:pPr>
            <a:r>
              <a:rPr sz="2600" spc="-5" dirty="0">
                <a:latin typeface="Calibri"/>
                <a:cs typeface="Calibri"/>
              </a:rPr>
              <a:t>Network: </a:t>
            </a:r>
            <a:r>
              <a:rPr sz="2600" spc="-50" dirty="0">
                <a:latin typeface="Calibri"/>
                <a:cs typeface="Calibri"/>
              </a:rPr>
              <a:t>Faster, </a:t>
            </a:r>
            <a:r>
              <a:rPr sz="2600" spc="-5" dirty="0">
                <a:latin typeface="Calibri"/>
                <a:cs typeface="Calibri"/>
              </a:rPr>
              <a:t>closer connection </a:t>
            </a:r>
            <a:r>
              <a:rPr sz="2600" dirty="0">
                <a:latin typeface="Calibri"/>
                <a:cs typeface="Calibri"/>
              </a:rPr>
              <a:t>than a </a:t>
            </a:r>
            <a:r>
              <a:rPr sz="2600" spc="-5" dirty="0">
                <a:latin typeface="Calibri"/>
                <a:cs typeface="Calibri"/>
              </a:rPr>
              <a:t>typical </a:t>
            </a:r>
            <a:r>
              <a:rPr sz="2600" spc="-575" dirty="0">
                <a:latin typeface="Calibri"/>
                <a:cs typeface="Calibri"/>
              </a:rPr>
              <a:t> </a:t>
            </a:r>
            <a:r>
              <a:rPr sz="2600" spc="-10" dirty="0">
                <a:latin typeface="Calibri"/>
                <a:cs typeface="Calibri"/>
              </a:rPr>
              <a:t>network</a:t>
            </a:r>
            <a:r>
              <a:rPr sz="2600" spc="-15" dirty="0">
                <a:latin typeface="Calibri"/>
                <a:cs typeface="Calibri"/>
              </a:rPr>
              <a:t> </a:t>
            </a:r>
            <a:r>
              <a:rPr sz="2600" spc="-5" dirty="0">
                <a:latin typeface="Calibri"/>
                <a:cs typeface="Calibri"/>
              </a:rPr>
              <a:t>(LAN)</a:t>
            </a:r>
            <a:endParaRPr sz="2600" dirty="0">
              <a:latin typeface="Calibri"/>
              <a:cs typeface="Calibri"/>
            </a:endParaRPr>
          </a:p>
          <a:p>
            <a:pPr marL="756285" lvl="1" indent="-287020">
              <a:lnSpc>
                <a:spcPct val="100000"/>
              </a:lnSpc>
              <a:spcBef>
                <a:spcPts val="20"/>
              </a:spcBef>
              <a:buFont typeface="Arial MT"/>
              <a:buChar char="–"/>
              <a:tabLst>
                <a:tab pos="756920" algn="l"/>
              </a:tabLst>
            </a:pPr>
            <a:r>
              <a:rPr sz="2600" spc="-10" dirty="0">
                <a:latin typeface="Calibri"/>
                <a:cs typeface="Calibri"/>
              </a:rPr>
              <a:t>Low</a:t>
            </a:r>
            <a:r>
              <a:rPr sz="2600" spc="15" dirty="0">
                <a:latin typeface="Calibri"/>
                <a:cs typeface="Calibri"/>
              </a:rPr>
              <a:t> </a:t>
            </a:r>
            <a:r>
              <a:rPr sz="2600" spc="-10" dirty="0">
                <a:latin typeface="Calibri"/>
                <a:cs typeface="Calibri"/>
              </a:rPr>
              <a:t>latency</a:t>
            </a:r>
            <a:r>
              <a:rPr sz="2600" spc="-20" dirty="0">
                <a:latin typeface="Calibri"/>
                <a:cs typeface="Calibri"/>
              </a:rPr>
              <a:t> </a:t>
            </a:r>
            <a:r>
              <a:rPr sz="2600" spc="-10" dirty="0">
                <a:latin typeface="Calibri"/>
                <a:cs typeface="Calibri"/>
              </a:rPr>
              <a:t>communication</a:t>
            </a:r>
            <a:r>
              <a:rPr sz="2600" dirty="0">
                <a:latin typeface="Calibri"/>
                <a:cs typeface="Calibri"/>
              </a:rPr>
              <a:t> </a:t>
            </a:r>
            <a:r>
              <a:rPr sz="2600" spc="-15" dirty="0">
                <a:latin typeface="Calibri"/>
                <a:cs typeface="Calibri"/>
              </a:rPr>
              <a:t>protocols</a:t>
            </a:r>
            <a:endParaRPr sz="2600" dirty="0">
              <a:latin typeface="Calibri"/>
              <a:cs typeface="Calibri"/>
            </a:endParaRPr>
          </a:p>
          <a:p>
            <a:pPr marL="756285" lvl="1" indent="-287020">
              <a:lnSpc>
                <a:spcPct val="100000"/>
              </a:lnSpc>
              <a:buFont typeface="Arial MT"/>
              <a:buChar char="–"/>
              <a:tabLst>
                <a:tab pos="756920" algn="l"/>
              </a:tabLst>
            </a:pPr>
            <a:r>
              <a:rPr sz="2600" spc="-5" dirty="0">
                <a:latin typeface="Calibri"/>
                <a:cs typeface="Calibri"/>
              </a:rPr>
              <a:t>Loosely</a:t>
            </a:r>
            <a:r>
              <a:rPr sz="2600" spc="-30" dirty="0">
                <a:latin typeface="Calibri"/>
                <a:cs typeface="Calibri"/>
              </a:rPr>
              <a:t> </a:t>
            </a:r>
            <a:r>
              <a:rPr sz="2600" spc="-5" dirty="0">
                <a:latin typeface="Calibri"/>
                <a:cs typeface="Calibri"/>
              </a:rPr>
              <a:t>coupled</a:t>
            </a:r>
            <a:r>
              <a:rPr sz="2600" spc="-25" dirty="0">
                <a:latin typeface="Calibri"/>
                <a:cs typeface="Calibri"/>
              </a:rPr>
              <a:t> </a:t>
            </a:r>
            <a:r>
              <a:rPr sz="2600" dirty="0">
                <a:latin typeface="Calibri"/>
                <a:cs typeface="Calibri"/>
              </a:rPr>
              <a:t>than</a:t>
            </a:r>
            <a:r>
              <a:rPr sz="2600" spc="-20" dirty="0">
                <a:latin typeface="Calibri"/>
                <a:cs typeface="Calibri"/>
              </a:rPr>
              <a:t> </a:t>
            </a:r>
            <a:r>
              <a:rPr sz="2600" spc="-5" dirty="0">
                <a:latin typeface="Calibri"/>
                <a:cs typeface="Calibri"/>
              </a:rPr>
              <a:t>SMP</a:t>
            </a:r>
            <a:endParaRPr sz="2600" dirty="0">
              <a:latin typeface="Calibri"/>
              <a:cs typeface="Calibri"/>
            </a:endParaRPr>
          </a:p>
        </p:txBody>
      </p:sp>
      <p:sp>
        <p:nvSpPr>
          <p:cNvPr id="5" name="Footer Placeholder 4">
            <a:extLst>
              <a:ext uri="{FF2B5EF4-FFF2-40B4-BE49-F238E27FC236}">
                <a16:creationId xmlns:a16="http://schemas.microsoft.com/office/drawing/2014/main" id="{1BAC5A79-EB7B-0421-7370-6D7EFBA9E71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6801" y="429820"/>
            <a:ext cx="3628390" cy="382797"/>
          </a:xfrm>
          <a:prstGeom prst="rect">
            <a:avLst/>
          </a:prstGeom>
        </p:spPr>
        <p:txBody>
          <a:bodyPr vert="horz" wrap="square" lIns="0" tIns="13335" rIns="0" bIns="0" rtlCol="0">
            <a:spAutoFit/>
          </a:bodyPr>
          <a:lstStyle/>
          <a:p>
            <a:pPr marL="12700" algn="ctr">
              <a:lnSpc>
                <a:spcPct val="100000"/>
              </a:lnSpc>
              <a:spcBef>
                <a:spcPts val="105"/>
              </a:spcBef>
            </a:pPr>
            <a:r>
              <a:rPr sz="2400" b="1" spc="-40" dirty="0">
                <a:solidFill>
                  <a:srgbClr val="000000"/>
                </a:solidFill>
                <a:latin typeface="Calibri"/>
                <a:cs typeface="Calibri"/>
              </a:rPr>
              <a:t>Types</a:t>
            </a:r>
            <a:r>
              <a:rPr sz="2400" b="1" spc="-10" dirty="0">
                <a:solidFill>
                  <a:srgbClr val="000000"/>
                </a:solidFill>
                <a:latin typeface="Calibri"/>
                <a:cs typeface="Calibri"/>
              </a:rPr>
              <a:t> </a:t>
            </a:r>
            <a:r>
              <a:rPr sz="2400" b="1" spc="-5" dirty="0">
                <a:solidFill>
                  <a:srgbClr val="000000"/>
                </a:solidFill>
                <a:latin typeface="Calibri"/>
                <a:cs typeface="Calibri"/>
              </a:rPr>
              <a:t>of</a:t>
            </a:r>
            <a:r>
              <a:rPr sz="2400" b="1" spc="-30" dirty="0">
                <a:solidFill>
                  <a:srgbClr val="000000"/>
                </a:solidFill>
                <a:latin typeface="Calibri"/>
                <a:cs typeface="Calibri"/>
              </a:rPr>
              <a:t> </a:t>
            </a:r>
            <a:r>
              <a:rPr sz="2400" b="1" spc="-15" dirty="0">
                <a:solidFill>
                  <a:srgbClr val="000000"/>
                </a:solidFill>
                <a:latin typeface="Calibri"/>
                <a:cs typeface="Calibri"/>
              </a:rPr>
              <a:t>Cluster</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18</a:t>
            </a:r>
          </a:p>
        </p:txBody>
      </p:sp>
      <p:sp>
        <p:nvSpPr>
          <p:cNvPr id="3" name="object 3"/>
          <p:cNvSpPr txBox="1"/>
          <p:nvPr/>
        </p:nvSpPr>
        <p:spPr>
          <a:xfrm>
            <a:off x="683465" y="1590254"/>
            <a:ext cx="6118860" cy="1562735"/>
          </a:xfrm>
          <a:prstGeom prst="rect">
            <a:avLst/>
          </a:prstGeom>
        </p:spPr>
        <p:txBody>
          <a:bodyPr vert="horz" wrap="square" lIns="0" tIns="98425" rIns="0" bIns="0" rtlCol="0">
            <a:spAutoFit/>
          </a:bodyPr>
          <a:lstStyle/>
          <a:p>
            <a:pPr marL="469900" indent="-457834">
              <a:lnSpc>
                <a:spcPct val="100000"/>
              </a:lnSpc>
              <a:spcBef>
                <a:spcPts val="775"/>
              </a:spcBef>
              <a:buFont typeface="Arial MT"/>
              <a:buChar char="•"/>
              <a:tabLst>
                <a:tab pos="469900" algn="l"/>
                <a:tab pos="470534" algn="l"/>
              </a:tabLst>
            </a:pPr>
            <a:r>
              <a:rPr sz="2800" spc="-5" dirty="0">
                <a:latin typeface="Calibri"/>
                <a:cs typeface="Calibri"/>
              </a:rPr>
              <a:t>High</a:t>
            </a:r>
            <a:r>
              <a:rPr sz="2800" spc="5" dirty="0">
                <a:latin typeface="Calibri"/>
                <a:cs typeface="Calibri"/>
              </a:rPr>
              <a:t> </a:t>
            </a:r>
            <a:r>
              <a:rPr sz="2800" spc="-15" dirty="0">
                <a:latin typeface="Calibri"/>
                <a:cs typeface="Calibri"/>
              </a:rPr>
              <a:t>Availability</a:t>
            </a:r>
            <a:r>
              <a:rPr sz="2800" spc="-5" dirty="0">
                <a:latin typeface="Calibri"/>
                <a:cs typeface="Calibri"/>
              </a:rPr>
              <a:t> or </a:t>
            </a:r>
            <a:r>
              <a:rPr sz="2800" spc="-20" dirty="0">
                <a:latin typeface="Calibri"/>
                <a:cs typeface="Calibri"/>
              </a:rPr>
              <a:t>Failover</a:t>
            </a:r>
            <a:r>
              <a:rPr sz="2800" spc="-10" dirty="0">
                <a:latin typeface="Calibri"/>
                <a:cs typeface="Calibri"/>
              </a:rPr>
              <a:t> </a:t>
            </a:r>
            <a:r>
              <a:rPr sz="2800" spc="-20" dirty="0">
                <a:latin typeface="Calibri"/>
                <a:cs typeface="Calibri"/>
              </a:rPr>
              <a:t>Clusters</a:t>
            </a:r>
            <a:endParaRPr sz="2800">
              <a:latin typeface="Calibri"/>
              <a:cs typeface="Calibri"/>
            </a:endParaRPr>
          </a:p>
          <a:p>
            <a:pPr marL="469900" indent="-457834">
              <a:lnSpc>
                <a:spcPct val="100000"/>
              </a:lnSpc>
              <a:spcBef>
                <a:spcPts val="670"/>
              </a:spcBef>
              <a:buFont typeface="Arial MT"/>
              <a:buChar char="•"/>
              <a:tabLst>
                <a:tab pos="469900" algn="l"/>
                <a:tab pos="470534" algn="l"/>
              </a:tabLst>
            </a:pPr>
            <a:r>
              <a:rPr sz="2800" spc="-5" dirty="0">
                <a:latin typeface="Calibri"/>
                <a:cs typeface="Calibri"/>
              </a:rPr>
              <a:t>Load</a:t>
            </a:r>
            <a:r>
              <a:rPr sz="2800" spc="-15" dirty="0">
                <a:latin typeface="Calibri"/>
                <a:cs typeface="Calibri"/>
              </a:rPr>
              <a:t> </a:t>
            </a:r>
            <a:r>
              <a:rPr sz="2800" spc="-5" dirty="0">
                <a:latin typeface="Calibri"/>
                <a:cs typeface="Calibri"/>
              </a:rPr>
              <a:t>Balancing </a:t>
            </a:r>
            <a:r>
              <a:rPr sz="2800" spc="-20" dirty="0">
                <a:latin typeface="Calibri"/>
                <a:cs typeface="Calibri"/>
              </a:rPr>
              <a:t>Cluster</a:t>
            </a:r>
            <a:endParaRPr sz="2800">
              <a:latin typeface="Calibri"/>
              <a:cs typeface="Calibri"/>
            </a:endParaRPr>
          </a:p>
          <a:p>
            <a:pPr marL="469900" indent="-457834">
              <a:lnSpc>
                <a:spcPct val="100000"/>
              </a:lnSpc>
              <a:spcBef>
                <a:spcPts val="675"/>
              </a:spcBef>
              <a:buFont typeface="Arial MT"/>
              <a:buChar char="•"/>
              <a:tabLst>
                <a:tab pos="469900" algn="l"/>
                <a:tab pos="470534" algn="l"/>
              </a:tabLst>
            </a:pPr>
            <a:r>
              <a:rPr sz="2800" spc="-15" dirty="0">
                <a:latin typeface="Calibri"/>
                <a:cs typeface="Calibri"/>
              </a:rPr>
              <a:t>Parallel/Distributed</a:t>
            </a:r>
            <a:r>
              <a:rPr sz="2800" spc="35" dirty="0">
                <a:latin typeface="Calibri"/>
                <a:cs typeface="Calibri"/>
              </a:rPr>
              <a:t> </a:t>
            </a:r>
            <a:r>
              <a:rPr sz="2800" spc="-15" dirty="0">
                <a:latin typeface="Calibri"/>
                <a:cs typeface="Calibri"/>
              </a:rPr>
              <a:t>Processing</a:t>
            </a:r>
            <a:r>
              <a:rPr sz="2800" spc="20" dirty="0">
                <a:latin typeface="Calibri"/>
                <a:cs typeface="Calibri"/>
              </a:rPr>
              <a:t> </a:t>
            </a:r>
            <a:r>
              <a:rPr sz="2800" spc="-20" dirty="0">
                <a:latin typeface="Calibri"/>
                <a:cs typeface="Calibri"/>
              </a:rPr>
              <a:t>Clusters</a:t>
            </a:r>
            <a:endParaRPr sz="2800">
              <a:latin typeface="Calibri"/>
              <a:cs typeface="Calibri"/>
            </a:endParaRPr>
          </a:p>
        </p:txBody>
      </p:sp>
      <p:sp>
        <p:nvSpPr>
          <p:cNvPr id="5" name="Footer Placeholder 4">
            <a:extLst>
              <a:ext uri="{FF2B5EF4-FFF2-40B4-BE49-F238E27FC236}">
                <a16:creationId xmlns:a16="http://schemas.microsoft.com/office/drawing/2014/main" id="{55DFCBB1-3DFD-DC53-2F3E-479BFD6DC131}"/>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308809"/>
            <a:ext cx="3979164" cy="381515"/>
          </a:xfrm>
          <a:prstGeom prst="rect">
            <a:avLst/>
          </a:prstGeom>
        </p:spPr>
        <p:txBody>
          <a:bodyPr vert="horz" wrap="square" lIns="0" tIns="12065" rIns="0" bIns="0" rtlCol="0">
            <a:spAutoFit/>
          </a:bodyPr>
          <a:lstStyle/>
          <a:p>
            <a:pPr marL="12700" algn="ctr">
              <a:lnSpc>
                <a:spcPct val="100000"/>
              </a:lnSpc>
              <a:spcBef>
                <a:spcPts val="95"/>
              </a:spcBef>
            </a:pPr>
            <a:r>
              <a:rPr sz="2400" b="1" spc="-15" dirty="0">
                <a:solidFill>
                  <a:srgbClr val="000000"/>
                </a:solidFill>
                <a:latin typeface="Calibri"/>
                <a:cs typeface="Calibri"/>
              </a:rPr>
              <a:t>Cluster</a:t>
            </a:r>
            <a:r>
              <a:rPr sz="2400" b="1" spc="-60" dirty="0">
                <a:solidFill>
                  <a:srgbClr val="000000"/>
                </a:solidFill>
                <a:latin typeface="Calibri"/>
                <a:cs typeface="Calibri"/>
              </a:rPr>
              <a:t> </a:t>
            </a:r>
            <a:r>
              <a:rPr sz="2400" b="1" spc="-5" dirty="0">
                <a:solidFill>
                  <a:srgbClr val="000000"/>
                </a:solidFill>
                <a:latin typeface="Calibri"/>
                <a:cs typeface="Calibri"/>
              </a:rPr>
              <a:t>Components</a:t>
            </a:r>
            <a:endParaRPr sz="2400" b="1" dirty="0">
              <a:latin typeface="Calibri"/>
              <a:cs typeface="Calibri"/>
            </a:endParaRP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19</a:t>
            </a:r>
          </a:p>
        </p:txBody>
      </p:sp>
      <p:sp>
        <p:nvSpPr>
          <p:cNvPr id="3" name="object 3"/>
          <p:cNvSpPr txBox="1"/>
          <p:nvPr/>
        </p:nvSpPr>
        <p:spPr>
          <a:xfrm>
            <a:off x="304800" y="1088421"/>
            <a:ext cx="8054340" cy="1858645"/>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4965" algn="l"/>
                <a:tab pos="355600" algn="l"/>
              </a:tabLst>
            </a:pPr>
            <a:r>
              <a:rPr sz="2400" dirty="0">
                <a:latin typeface="Calibri"/>
                <a:cs typeface="Calibri"/>
              </a:rPr>
              <a:t>Basic</a:t>
            </a:r>
            <a:r>
              <a:rPr sz="2400" spc="-20" dirty="0">
                <a:latin typeface="Calibri"/>
                <a:cs typeface="Calibri"/>
              </a:rPr>
              <a:t> </a:t>
            </a:r>
            <a:r>
              <a:rPr sz="2400" spc="-5" dirty="0">
                <a:latin typeface="Calibri"/>
                <a:cs typeface="Calibri"/>
              </a:rPr>
              <a:t>building</a:t>
            </a:r>
            <a:r>
              <a:rPr sz="2400" spc="5" dirty="0">
                <a:latin typeface="Calibri"/>
                <a:cs typeface="Calibri"/>
              </a:rPr>
              <a:t> </a:t>
            </a:r>
            <a:r>
              <a:rPr sz="2400" spc="-10" dirty="0">
                <a:latin typeface="Calibri"/>
                <a:cs typeface="Calibri"/>
              </a:rPr>
              <a:t>blocks </a:t>
            </a:r>
            <a:r>
              <a:rPr sz="2400" spc="-5" dirty="0">
                <a:latin typeface="Calibri"/>
                <a:cs typeface="Calibri"/>
              </a:rPr>
              <a:t>of</a:t>
            </a:r>
            <a:r>
              <a:rPr sz="2400" spc="5" dirty="0">
                <a:latin typeface="Calibri"/>
                <a:cs typeface="Calibri"/>
              </a:rPr>
              <a:t> </a:t>
            </a:r>
            <a:r>
              <a:rPr sz="2400" spc="-15" dirty="0">
                <a:latin typeface="Calibri"/>
                <a:cs typeface="Calibri"/>
              </a:rPr>
              <a:t>clusters</a:t>
            </a:r>
            <a:r>
              <a:rPr sz="2400" spc="-25" dirty="0">
                <a:latin typeface="Calibri"/>
                <a:cs typeface="Calibri"/>
              </a:rPr>
              <a:t> </a:t>
            </a:r>
            <a:r>
              <a:rPr sz="2400" spc="-15" dirty="0">
                <a:latin typeface="Calibri"/>
                <a:cs typeface="Calibri"/>
              </a:rPr>
              <a:t>are</a:t>
            </a:r>
            <a:r>
              <a:rPr sz="2400" spc="5" dirty="0">
                <a:latin typeface="Calibri"/>
                <a:cs typeface="Calibri"/>
              </a:rPr>
              <a:t> </a:t>
            </a:r>
            <a:r>
              <a:rPr sz="2400" spc="-25" dirty="0">
                <a:latin typeface="Calibri"/>
                <a:cs typeface="Calibri"/>
              </a:rPr>
              <a:t>broken</a:t>
            </a:r>
            <a:r>
              <a:rPr sz="2400" spc="-5" dirty="0">
                <a:latin typeface="Calibri"/>
                <a:cs typeface="Calibri"/>
              </a:rPr>
              <a:t> </a:t>
            </a:r>
            <a:r>
              <a:rPr sz="2400" spc="-10" dirty="0">
                <a:latin typeface="Calibri"/>
                <a:cs typeface="Calibri"/>
              </a:rPr>
              <a:t>down</a:t>
            </a:r>
            <a:r>
              <a:rPr sz="2400" spc="5" dirty="0">
                <a:latin typeface="Calibri"/>
                <a:cs typeface="Calibri"/>
              </a:rPr>
              <a:t> </a:t>
            </a:r>
            <a:r>
              <a:rPr sz="2400" spc="-15" dirty="0">
                <a:latin typeface="Calibri"/>
                <a:cs typeface="Calibri"/>
              </a:rPr>
              <a:t>into</a:t>
            </a:r>
            <a:r>
              <a:rPr sz="2400" spc="5" dirty="0">
                <a:latin typeface="Calibri"/>
                <a:cs typeface="Calibri"/>
              </a:rPr>
              <a:t> </a:t>
            </a:r>
            <a:r>
              <a:rPr sz="2400" spc="-5" dirty="0">
                <a:latin typeface="Calibri"/>
                <a:cs typeface="Calibri"/>
              </a:rPr>
              <a:t>multiple </a:t>
            </a:r>
            <a:r>
              <a:rPr sz="2400" spc="-525" dirty="0">
                <a:latin typeface="Calibri"/>
                <a:cs typeface="Calibri"/>
              </a:rPr>
              <a:t> </a:t>
            </a:r>
            <a:r>
              <a:rPr sz="2400" spc="-10" dirty="0">
                <a:latin typeface="Calibri"/>
                <a:cs typeface="Calibri"/>
              </a:rPr>
              <a:t>categories:</a:t>
            </a:r>
            <a:endParaRPr sz="2400" dirty="0">
              <a:latin typeface="Calibri"/>
              <a:cs typeface="Calibri"/>
            </a:endParaRPr>
          </a:p>
          <a:p>
            <a:pPr marL="664845" lvl="1" indent="-516255">
              <a:lnSpc>
                <a:spcPct val="100000"/>
              </a:lnSpc>
              <a:spcBef>
                <a:spcPts val="509"/>
              </a:spcBef>
              <a:buFont typeface="Arial MT"/>
              <a:buChar char="•"/>
              <a:tabLst>
                <a:tab pos="664845" algn="l"/>
                <a:tab pos="665480" algn="l"/>
              </a:tabLst>
            </a:pPr>
            <a:r>
              <a:rPr sz="2000" b="1" spc="-10" dirty="0">
                <a:latin typeface="Calibri"/>
                <a:cs typeface="Calibri"/>
              </a:rPr>
              <a:t>Cluster</a:t>
            </a:r>
            <a:r>
              <a:rPr sz="2000" b="1" spc="-95" dirty="0">
                <a:latin typeface="Calibri"/>
                <a:cs typeface="Calibri"/>
              </a:rPr>
              <a:t> </a:t>
            </a:r>
            <a:r>
              <a:rPr sz="2000" b="1" dirty="0">
                <a:latin typeface="Calibri"/>
                <a:cs typeface="Calibri"/>
              </a:rPr>
              <a:t>Nodes</a:t>
            </a:r>
            <a:endParaRPr sz="2000" dirty="0">
              <a:latin typeface="Calibri"/>
              <a:cs typeface="Calibri"/>
            </a:endParaRPr>
          </a:p>
          <a:p>
            <a:pPr marL="664845" lvl="1" indent="-516255">
              <a:lnSpc>
                <a:spcPct val="100000"/>
              </a:lnSpc>
              <a:spcBef>
                <a:spcPts val="480"/>
              </a:spcBef>
              <a:buFont typeface="Arial MT"/>
              <a:buChar char="•"/>
              <a:tabLst>
                <a:tab pos="664845" algn="l"/>
                <a:tab pos="665480" algn="l"/>
              </a:tabLst>
            </a:pPr>
            <a:r>
              <a:rPr sz="2000" b="1" spc="-10" dirty="0">
                <a:latin typeface="Calibri"/>
                <a:cs typeface="Calibri"/>
              </a:rPr>
              <a:t>Cluster</a:t>
            </a:r>
            <a:r>
              <a:rPr sz="2000" b="1" spc="-50" dirty="0">
                <a:latin typeface="Calibri"/>
                <a:cs typeface="Calibri"/>
              </a:rPr>
              <a:t> </a:t>
            </a:r>
            <a:r>
              <a:rPr sz="2000" b="1" spc="-5" dirty="0">
                <a:latin typeface="Calibri"/>
                <a:cs typeface="Calibri"/>
              </a:rPr>
              <a:t>Network</a:t>
            </a:r>
            <a:endParaRPr sz="2000" dirty="0">
              <a:latin typeface="Calibri"/>
              <a:cs typeface="Calibri"/>
            </a:endParaRPr>
          </a:p>
          <a:p>
            <a:pPr marL="664845" lvl="1" indent="-516255">
              <a:lnSpc>
                <a:spcPct val="100000"/>
              </a:lnSpc>
              <a:spcBef>
                <a:spcPts val="480"/>
              </a:spcBef>
              <a:buFont typeface="Arial MT"/>
              <a:buChar char="•"/>
              <a:tabLst>
                <a:tab pos="664845" algn="l"/>
                <a:tab pos="665480" algn="l"/>
              </a:tabLst>
            </a:pPr>
            <a:r>
              <a:rPr sz="2000" b="1" spc="-5" dirty="0">
                <a:latin typeface="Calibri"/>
                <a:cs typeface="Calibri"/>
              </a:rPr>
              <a:t>Network</a:t>
            </a:r>
            <a:r>
              <a:rPr sz="2000" b="1" spc="-30" dirty="0">
                <a:latin typeface="Calibri"/>
                <a:cs typeface="Calibri"/>
              </a:rPr>
              <a:t> </a:t>
            </a:r>
            <a:r>
              <a:rPr sz="2000" b="1" spc="-15" dirty="0">
                <a:latin typeface="Calibri"/>
                <a:cs typeface="Calibri"/>
              </a:rPr>
              <a:t>Characterization</a:t>
            </a:r>
            <a:endParaRPr sz="2000" dirty="0">
              <a:latin typeface="Calibri"/>
              <a:cs typeface="Calibri"/>
            </a:endParaRPr>
          </a:p>
        </p:txBody>
      </p:sp>
      <p:pic>
        <p:nvPicPr>
          <p:cNvPr id="4" name="object 4"/>
          <p:cNvPicPr/>
          <p:nvPr/>
        </p:nvPicPr>
        <p:blipFill>
          <a:blip r:embed="rId2" cstate="print"/>
          <a:stretch>
            <a:fillRect/>
          </a:stretch>
        </p:blipFill>
        <p:spPr>
          <a:xfrm>
            <a:off x="1524000" y="3016123"/>
            <a:ext cx="6858000" cy="1613027"/>
          </a:xfrm>
          <a:prstGeom prst="rect">
            <a:avLst/>
          </a:prstGeom>
        </p:spPr>
      </p:pic>
      <p:sp>
        <p:nvSpPr>
          <p:cNvPr id="6" name="Footer Placeholder 5">
            <a:extLst>
              <a:ext uri="{FF2B5EF4-FFF2-40B4-BE49-F238E27FC236}">
                <a16:creationId xmlns:a16="http://schemas.microsoft.com/office/drawing/2014/main" id="{3B8B815A-4B30-D05F-A971-99FF9E1C926C}"/>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438150"/>
            <a:ext cx="5943600" cy="382156"/>
          </a:xfrm>
          <a:prstGeom prst="rect">
            <a:avLst/>
          </a:prstGeom>
        </p:spPr>
        <p:txBody>
          <a:bodyPr vert="horz" wrap="square" lIns="0" tIns="12700" rIns="0" bIns="0" rtlCol="0">
            <a:spAutoFit/>
          </a:bodyPr>
          <a:lstStyle/>
          <a:p>
            <a:pPr marL="12700" algn="ctr">
              <a:lnSpc>
                <a:spcPct val="100000"/>
              </a:lnSpc>
              <a:spcBef>
                <a:spcPts val="100"/>
              </a:spcBef>
            </a:pPr>
            <a:r>
              <a:rPr sz="2400" b="1" spc="-35" dirty="0">
                <a:solidFill>
                  <a:srgbClr val="000000"/>
                </a:solidFill>
              </a:rPr>
              <a:t>Key</a:t>
            </a:r>
            <a:r>
              <a:rPr sz="2400" b="1" dirty="0">
                <a:solidFill>
                  <a:srgbClr val="000000"/>
                </a:solidFill>
              </a:rPr>
              <a:t> </a:t>
            </a:r>
            <a:r>
              <a:rPr sz="2400" b="1" spc="-15" dirty="0">
                <a:solidFill>
                  <a:srgbClr val="000000"/>
                </a:solidFill>
              </a:rPr>
              <a:t>Operational</a:t>
            </a:r>
            <a:r>
              <a:rPr sz="2400" b="1" spc="15" dirty="0">
                <a:solidFill>
                  <a:srgbClr val="000000"/>
                </a:solidFill>
              </a:rPr>
              <a:t> </a:t>
            </a:r>
            <a:r>
              <a:rPr sz="2400" b="1" spc="-10" dirty="0">
                <a:solidFill>
                  <a:srgbClr val="000000"/>
                </a:solidFill>
              </a:rPr>
              <a:t>Benefits</a:t>
            </a:r>
            <a:r>
              <a:rPr sz="2400" b="1" dirty="0">
                <a:solidFill>
                  <a:srgbClr val="000000"/>
                </a:solidFill>
              </a:rPr>
              <a:t> </a:t>
            </a:r>
            <a:r>
              <a:rPr sz="2400" b="1" spc="-5" dirty="0">
                <a:solidFill>
                  <a:srgbClr val="000000"/>
                </a:solidFill>
              </a:rPr>
              <a:t>of</a:t>
            </a:r>
            <a:r>
              <a:rPr sz="2400" b="1" dirty="0">
                <a:solidFill>
                  <a:srgbClr val="000000"/>
                </a:solidFill>
              </a:rPr>
              <a:t> </a:t>
            </a:r>
            <a:r>
              <a:rPr sz="2400" b="1" spc="-15" dirty="0">
                <a:solidFill>
                  <a:srgbClr val="000000"/>
                </a:solidFill>
              </a:rPr>
              <a:t>Clustering</a:t>
            </a:r>
            <a:endParaRPr sz="2400" b="1" dirty="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20</a:t>
            </a:r>
          </a:p>
        </p:txBody>
      </p:sp>
      <p:sp>
        <p:nvSpPr>
          <p:cNvPr id="3" name="object 3"/>
          <p:cNvSpPr txBox="1"/>
          <p:nvPr/>
        </p:nvSpPr>
        <p:spPr>
          <a:xfrm>
            <a:off x="612138" y="1069086"/>
            <a:ext cx="7896859" cy="3345179"/>
          </a:xfrm>
          <a:prstGeom prst="rect">
            <a:avLst/>
          </a:prstGeom>
        </p:spPr>
        <p:txBody>
          <a:bodyPr vert="horz" wrap="square" lIns="0" tIns="49530" rIns="0" bIns="0" rtlCol="0">
            <a:spAutoFit/>
          </a:bodyPr>
          <a:lstStyle/>
          <a:p>
            <a:pPr marL="355600" marR="63500" indent="-343535">
              <a:lnSpc>
                <a:spcPts val="2380"/>
              </a:lnSpc>
              <a:spcBef>
                <a:spcPts val="390"/>
              </a:spcBef>
              <a:buFont typeface="Arial MT"/>
              <a:buChar char="•"/>
              <a:tabLst>
                <a:tab pos="355600" algn="l"/>
                <a:tab pos="356235" algn="l"/>
              </a:tabLst>
            </a:pPr>
            <a:r>
              <a:rPr sz="2200" spc="-20" dirty="0">
                <a:latin typeface="Calibri"/>
                <a:cs typeface="Calibri"/>
              </a:rPr>
              <a:t>System</a:t>
            </a:r>
            <a:r>
              <a:rPr sz="2200" spc="25" dirty="0">
                <a:latin typeface="Calibri"/>
                <a:cs typeface="Calibri"/>
              </a:rPr>
              <a:t> </a:t>
            </a:r>
            <a:r>
              <a:rPr sz="2200" spc="-10" dirty="0">
                <a:latin typeface="Calibri"/>
                <a:cs typeface="Calibri"/>
              </a:rPr>
              <a:t>availability:</a:t>
            </a:r>
            <a:r>
              <a:rPr sz="2200" spc="5" dirty="0">
                <a:latin typeface="Calibri"/>
                <a:cs typeface="Calibri"/>
              </a:rPr>
              <a:t> </a:t>
            </a:r>
            <a:r>
              <a:rPr sz="2200" spc="-20" dirty="0">
                <a:latin typeface="Calibri"/>
                <a:cs typeface="Calibri"/>
              </a:rPr>
              <a:t>offer</a:t>
            </a:r>
            <a:r>
              <a:rPr sz="2200" spc="20" dirty="0">
                <a:latin typeface="Calibri"/>
                <a:cs typeface="Calibri"/>
              </a:rPr>
              <a:t> </a:t>
            </a:r>
            <a:r>
              <a:rPr sz="2200" spc="-15" dirty="0">
                <a:latin typeface="Calibri"/>
                <a:cs typeface="Calibri"/>
              </a:rPr>
              <a:t>inherent</a:t>
            </a:r>
            <a:r>
              <a:rPr sz="2200" spc="5" dirty="0">
                <a:latin typeface="Calibri"/>
                <a:cs typeface="Calibri"/>
              </a:rPr>
              <a:t> </a:t>
            </a:r>
            <a:r>
              <a:rPr sz="2200" spc="-5" dirty="0">
                <a:latin typeface="Calibri"/>
                <a:cs typeface="Calibri"/>
              </a:rPr>
              <a:t>high</a:t>
            </a:r>
            <a:r>
              <a:rPr sz="2200" dirty="0">
                <a:latin typeface="Calibri"/>
                <a:cs typeface="Calibri"/>
              </a:rPr>
              <a:t> </a:t>
            </a:r>
            <a:r>
              <a:rPr sz="2200" spc="-25" dirty="0">
                <a:latin typeface="Calibri"/>
                <a:cs typeface="Calibri"/>
              </a:rPr>
              <a:t>system</a:t>
            </a:r>
            <a:r>
              <a:rPr sz="2200" spc="30" dirty="0">
                <a:latin typeface="Calibri"/>
                <a:cs typeface="Calibri"/>
              </a:rPr>
              <a:t> </a:t>
            </a:r>
            <a:r>
              <a:rPr sz="2200" spc="-10" dirty="0">
                <a:latin typeface="Calibri"/>
                <a:cs typeface="Calibri"/>
              </a:rPr>
              <a:t>availability</a:t>
            </a:r>
            <a:r>
              <a:rPr sz="2200" spc="-30" dirty="0">
                <a:latin typeface="Calibri"/>
                <a:cs typeface="Calibri"/>
              </a:rPr>
              <a:t> </a:t>
            </a:r>
            <a:r>
              <a:rPr sz="2200" spc="-10" dirty="0">
                <a:latin typeface="Calibri"/>
                <a:cs typeface="Calibri"/>
              </a:rPr>
              <a:t>due</a:t>
            </a:r>
            <a:r>
              <a:rPr sz="2200" spc="-5" dirty="0">
                <a:latin typeface="Calibri"/>
                <a:cs typeface="Calibri"/>
              </a:rPr>
              <a:t> </a:t>
            </a:r>
            <a:r>
              <a:rPr sz="2200" spc="-15" dirty="0">
                <a:latin typeface="Calibri"/>
                <a:cs typeface="Calibri"/>
              </a:rPr>
              <a:t>to </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redundancy</a:t>
            </a:r>
            <a:r>
              <a:rPr sz="2200" spc="-5" dirty="0">
                <a:latin typeface="Calibri"/>
                <a:cs typeface="Calibri"/>
              </a:rPr>
              <a:t> of</a:t>
            </a:r>
            <a:r>
              <a:rPr sz="2200" spc="10" dirty="0">
                <a:latin typeface="Calibri"/>
                <a:cs typeface="Calibri"/>
              </a:rPr>
              <a:t> </a:t>
            </a:r>
            <a:r>
              <a:rPr sz="2200" spc="-15" dirty="0">
                <a:latin typeface="Calibri"/>
                <a:cs typeface="Calibri"/>
              </a:rPr>
              <a:t>hardware, operating</a:t>
            </a:r>
            <a:r>
              <a:rPr sz="2200" dirty="0">
                <a:latin typeface="Calibri"/>
                <a:cs typeface="Calibri"/>
              </a:rPr>
              <a:t> </a:t>
            </a:r>
            <a:r>
              <a:rPr sz="2200" spc="-20" dirty="0">
                <a:latin typeface="Calibri"/>
                <a:cs typeface="Calibri"/>
              </a:rPr>
              <a:t>systems,</a:t>
            </a:r>
            <a:r>
              <a:rPr sz="2200" spc="45" dirty="0">
                <a:latin typeface="Calibri"/>
                <a:cs typeface="Calibri"/>
              </a:rPr>
              <a:t> </a:t>
            </a:r>
            <a:r>
              <a:rPr sz="2200" spc="-5" dirty="0">
                <a:latin typeface="Calibri"/>
                <a:cs typeface="Calibri"/>
              </a:rPr>
              <a:t>and</a:t>
            </a:r>
            <a:r>
              <a:rPr sz="2200" spc="5" dirty="0">
                <a:latin typeface="Calibri"/>
                <a:cs typeface="Calibri"/>
              </a:rPr>
              <a:t> </a:t>
            </a:r>
            <a:r>
              <a:rPr sz="2200" spc="-5" dirty="0">
                <a:latin typeface="Calibri"/>
                <a:cs typeface="Calibri"/>
              </a:rPr>
              <a:t>applications.</a:t>
            </a:r>
            <a:endParaRPr sz="2200">
              <a:latin typeface="Calibri"/>
              <a:cs typeface="Calibri"/>
            </a:endParaRPr>
          </a:p>
          <a:p>
            <a:pPr marL="355600" marR="1007744" indent="-343535">
              <a:lnSpc>
                <a:spcPts val="2380"/>
              </a:lnSpc>
              <a:spcBef>
                <a:spcPts val="520"/>
              </a:spcBef>
              <a:buFont typeface="Arial MT"/>
              <a:buChar char="•"/>
              <a:tabLst>
                <a:tab pos="355600" algn="l"/>
                <a:tab pos="356235" algn="l"/>
                <a:tab pos="3380740" algn="l"/>
              </a:tabLst>
            </a:pPr>
            <a:r>
              <a:rPr sz="2200" spc="-15" dirty="0">
                <a:latin typeface="Calibri"/>
                <a:cs typeface="Calibri"/>
              </a:rPr>
              <a:t>Hardware</a:t>
            </a:r>
            <a:r>
              <a:rPr sz="2200" dirty="0">
                <a:latin typeface="Calibri"/>
                <a:cs typeface="Calibri"/>
              </a:rPr>
              <a:t> </a:t>
            </a:r>
            <a:r>
              <a:rPr sz="2200" spc="-15" dirty="0">
                <a:latin typeface="Calibri"/>
                <a:cs typeface="Calibri"/>
              </a:rPr>
              <a:t>fault</a:t>
            </a:r>
            <a:r>
              <a:rPr sz="2200" spc="15" dirty="0">
                <a:latin typeface="Calibri"/>
                <a:cs typeface="Calibri"/>
              </a:rPr>
              <a:t> </a:t>
            </a:r>
            <a:r>
              <a:rPr sz="2200" spc="-10" dirty="0">
                <a:latin typeface="Calibri"/>
                <a:cs typeface="Calibri"/>
              </a:rPr>
              <a:t>tolerance:</a:t>
            </a:r>
            <a:r>
              <a:rPr sz="2200" spc="-10" dirty="0">
                <a:latin typeface="Times New Roman"/>
                <a:cs typeface="Times New Roman"/>
              </a:rPr>
              <a:t>	</a:t>
            </a:r>
            <a:r>
              <a:rPr sz="2200" spc="-10" dirty="0">
                <a:latin typeface="Calibri"/>
                <a:cs typeface="Calibri"/>
              </a:rPr>
              <a:t>redundancy</a:t>
            </a:r>
            <a:r>
              <a:rPr sz="2200" spc="-5" dirty="0">
                <a:latin typeface="Calibri"/>
                <a:cs typeface="Calibri"/>
              </a:rPr>
              <a:t> </a:t>
            </a:r>
            <a:r>
              <a:rPr sz="2200" spc="-20" dirty="0">
                <a:latin typeface="Calibri"/>
                <a:cs typeface="Calibri"/>
              </a:rPr>
              <a:t>for</a:t>
            </a:r>
            <a:r>
              <a:rPr sz="2200" dirty="0">
                <a:latin typeface="Calibri"/>
                <a:cs typeface="Calibri"/>
              </a:rPr>
              <a:t> </a:t>
            </a:r>
            <a:r>
              <a:rPr sz="2200" spc="-10" dirty="0">
                <a:latin typeface="Calibri"/>
                <a:cs typeface="Calibri"/>
              </a:rPr>
              <a:t>most</a:t>
            </a:r>
            <a:r>
              <a:rPr sz="2200" spc="5" dirty="0">
                <a:latin typeface="Calibri"/>
                <a:cs typeface="Calibri"/>
              </a:rPr>
              <a:t> </a:t>
            </a:r>
            <a:r>
              <a:rPr sz="2200" spc="-25" dirty="0">
                <a:latin typeface="Calibri"/>
                <a:cs typeface="Calibri"/>
              </a:rPr>
              <a:t>system </a:t>
            </a:r>
            <a:r>
              <a:rPr sz="2200" spc="-20" dirty="0">
                <a:latin typeface="Calibri"/>
                <a:cs typeface="Calibri"/>
              </a:rPr>
              <a:t> </a:t>
            </a:r>
            <a:r>
              <a:rPr sz="2200" spc="-15" dirty="0">
                <a:latin typeface="Calibri"/>
                <a:cs typeface="Calibri"/>
              </a:rPr>
              <a:t>components</a:t>
            </a:r>
            <a:r>
              <a:rPr sz="2200" spc="35" dirty="0">
                <a:latin typeface="Calibri"/>
                <a:cs typeface="Calibri"/>
              </a:rPr>
              <a:t> </a:t>
            </a:r>
            <a:r>
              <a:rPr sz="2200" spc="-5" dirty="0">
                <a:latin typeface="Calibri"/>
                <a:cs typeface="Calibri"/>
              </a:rPr>
              <a:t>(eg.</a:t>
            </a:r>
            <a:r>
              <a:rPr sz="2200" spc="5" dirty="0">
                <a:latin typeface="Calibri"/>
                <a:cs typeface="Calibri"/>
              </a:rPr>
              <a:t> </a:t>
            </a:r>
            <a:r>
              <a:rPr sz="2200" spc="-5" dirty="0">
                <a:latin typeface="Calibri"/>
                <a:cs typeface="Calibri"/>
              </a:rPr>
              <a:t>disk-RAID),</a:t>
            </a:r>
            <a:r>
              <a:rPr sz="2200" spc="20" dirty="0">
                <a:latin typeface="Calibri"/>
                <a:cs typeface="Calibri"/>
              </a:rPr>
              <a:t> </a:t>
            </a:r>
            <a:r>
              <a:rPr sz="2200" spc="-10" dirty="0">
                <a:latin typeface="Calibri"/>
                <a:cs typeface="Calibri"/>
              </a:rPr>
              <a:t>including</a:t>
            </a:r>
            <a:r>
              <a:rPr sz="2200" spc="-15" dirty="0">
                <a:latin typeface="Calibri"/>
                <a:cs typeface="Calibri"/>
              </a:rPr>
              <a:t> </a:t>
            </a:r>
            <a:r>
              <a:rPr sz="2200" spc="-5" dirty="0">
                <a:latin typeface="Calibri"/>
                <a:cs typeface="Calibri"/>
              </a:rPr>
              <a:t>both</a:t>
            </a:r>
            <a:r>
              <a:rPr sz="2200" spc="10" dirty="0">
                <a:latin typeface="Calibri"/>
                <a:cs typeface="Calibri"/>
              </a:rPr>
              <a:t> </a:t>
            </a:r>
            <a:r>
              <a:rPr sz="2200" spc="-15" dirty="0">
                <a:latin typeface="Calibri"/>
                <a:cs typeface="Calibri"/>
              </a:rPr>
              <a:t>hardware</a:t>
            </a:r>
            <a:r>
              <a:rPr sz="2200" spc="-25" dirty="0">
                <a:latin typeface="Calibri"/>
                <a:cs typeface="Calibri"/>
              </a:rPr>
              <a:t> </a:t>
            </a:r>
            <a:r>
              <a:rPr sz="2200" spc="-5" dirty="0">
                <a:latin typeface="Calibri"/>
                <a:cs typeface="Calibri"/>
              </a:rPr>
              <a:t>and </a:t>
            </a:r>
            <a:r>
              <a:rPr sz="2200" spc="-480" dirty="0">
                <a:latin typeface="Calibri"/>
                <a:cs typeface="Calibri"/>
              </a:rPr>
              <a:t> </a:t>
            </a:r>
            <a:r>
              <a:rPr sz="2200" spc="-10" dirty="0">
                <a:latin typeface="Calibri"/>
                <a:cs typeface="Calibri"/>
              </a:rPr>
              <a:t>software.</a:t>
            </a:r>
            <a:endParaRPr sz="2200">
              <a:latin typeface="Calibri"/>
              <a:cs typeface="Calibri"/>
            </a:endParaRPr>
          </a:p>
          <a:p>
            <a:pPr marL="355600" marR="250825" indent="-343535">
              <a:lnSpc>
                <a:spcPts val="2380"/>
              </a:lnSpc>
              <a:spcBef>
                <a:spcPts val="520"/>
              </a:spcBef>
              <a:buFont typeface="Arial MT"/>
              <a:buChar char="•"/>
              <a:tabLst>
                <a:tab pos="355600" algn="l"/>
                <a:tab pos="356235" algn="l"/>
                <a:tab pos="3851910" algn="l"/>
              </a:tabLst>
            </a:pPr>
            <a:r>
              <a:rPr sz="2200" spc="-5" dirty="0">
                <a:latin typeface="Calibri"/>
                <a:cs typeface="Calibri"/>
              </a:rPr>
              <a:t>OS</a:t>
            </a:r>
            <a:r>
              <a:rPr sz="2200" spc="20" dirty="0">
                <a:latin typeface="Calibri"/>
                <a:cs typeface="Calibri"/>
              </a:rPr>
              <a:t> </a:t>
            </a:r>
            <a:r>
              <a:rPr sz="2200" spc="-5" dirty="0">
                <a:latin typeface="Calibri"/>
                <a:cs typeface="Calibri"/>
              </a:rPr>
              <a:t>and</a:t>
            </a:r>
            <a:r>
              <a:rPr sz="2200" spc="5" dirty="0">
                <a:latin typeface="Calibri"/>
                <a:cs typeface="Calibri"/>
              </a:rPr>
              <a:t> </a:t>
            </a:r>
            <a:r>
              <a:rPr sz="2200" spc="-10" dirty="0">
                <a:latin typeface="Calibri"/>
                <a:cs typeface="Calibri"/>
              </a:rPr>
              <a:t>application </a:t>
            </a:r>
            <a:r>
              <a:rPr sz="2200" spc="-5" dirty="0">
                <a:latin typeface="Calibri"/>
                <a:cs typeface="Calibri"/>
              </a:rPr>
              <a:t>reliability:</a:t>
            </a:r>
            <a:r>
              <a:rPr sz="2200" spc="-5" dirty="0">
                <a:latin typeface="Times New Roman"/>
                <a:cs typeface="Times New Roman"/>
              </a:rPr>
              <a:t>	</a:t>
            </a:r>
            <a:r>
              <a:rPr sz="2200" spc="-5" dirty="0">
                <a:latin typeface="Calibri"/>
                <a:cs typeface="Calibri"/>
              </a:rPr>
              <a:t>run</a:t>
            </a:r>
            <a:r>
              <a:rPr sz="2200" spc="-10" dirty="0">
                <a:latin typeface="Calibri"/>
                <a:cs typeface="Calibri"/>
              </a:rPr>
              <a:t> </a:t>
            </a:r>
            <a:r>
              <a:rPr sz="2200" spc="-5" dirty="0">
                <a:latin typeface="Calibri"/>
                <a:cs typeface="Calibri"/>
              </a:rPr>
              <a:t>multiple</a:t>
            </a:r>
            <a:r>
              <a:rPr sz="2200" spc="10" dirty="0">
                <a:latin typeface="Calibri"/>
                <a:cs typeface="Calibri"/>
              </a:rPr>
              <a:t> </a:t>
            </a:r>
            <a:r>
              <a:rPr sz="2200" spc="-10" dirty="0">
                <a:latin typeface="Calibri"/>
                <a:cs typeface="Calibri"/>
              </a:rPr>
              <a:t>copies</a:t>
            </a:r>
            <a:r>
              <a:rPr sz="2200" spc="-5" dirty="0">
                <a:latin typeface="Calibri"/>
                <a:cs typeface="Calibri"/>
              </a:rPr>
              <a:t> of</a:t>
            </a:r>
            <a:r>
              <a:rPr sz="2200" spc="-10" dirty="0">
                <a:latin typeface="Calibri"/>
                <a:cs typeface="Calibri"/>
              </a:rPr>
              <a:t> the</a:t>
            </a:r>
            <a:r>
              <a:rPr sz="2200" spc="5" dirty="0">
                <a:latin typeface="Calibri"/>
                <a:cs typeface="Calibri"/>
              </a:rPr>
              <a:t> </a:t>
            </a:r>
            <a:r>
              <a:rPr sz="2200" spc="-5" dirty="0">
                <a:latin typeface="Calibri"/>
                <a:cs typeface="Calibri"/>
              </a:rPr>
              <a:t>OS</a:t>
            </a:r>
            <a:r>
              <a:rPr sz="2200" spc="5" dirty="0">
                <a:latin typeface="Calibri"/>
                <a:cs typeface="Calibri"/>
              </a:rPr>
              <a:t> </a:t>
            </a:r>
            <a:r>
              <a:rPr sz="2200" spc="-5" dirty="0">
                <a:latin typeface="Calibri"/>
                <a:cs typeface="Calibri"/>
              </a:rPr>
              <a:t>and </a:t>
            </a:r>
            <a:r>
              <a:rPr sz="2200" spc="-484" dirty="0">
                <a:latin typeface="Calibri"/>
                <a:cs typeface="Calibri"/>
              </a:rPr>
              <a:t> </a:t>
            </a:r>
            <a:r>
              <a:rPr sz="2200" spc="-10" dirty="0">
                <a:latin typeface="Calibri"/>
                <a:cs typeface="Calibri"/>
              </a:rPr>
              <a:t>applications,</a:t>
            </a:r>
            <a:r>
              <a:rPr sz="2200" spc="-15" dirty="0">
                <a:latin typeface="Calibri"/>
                <a:cs typeface="Calibri"/>
              </a:rPr>
              <a:t> </a:t>
            </a:r>
            <a:r>
              <a:rPr sz="2200" spc="-5" dirty="0">
                <a:latin typeface="Calibri"/>
                <a:cs typeface="Calibri"/>
              </a:rPr>
              <a:t>and</a:t>
            </a:r>
            <a:r>
              <a:rPr sz="2200" dirty="0">
                <a:latin typeface="Calibri"/>
                <a:cs typeface="Calibri"/>
              </a:rPr>
              <a:t> </a:t>
            </a:r>
            <a:r>
              <a:rPr sz="2200" spc="-10" dirty="0">
                <a:latin typeface="Calibri"/>
                <a:cs typeface="Calibri"/>
              </a:rPr>
              <a:t>through</a:t>
            </a:r>
            <a:r>
              <a:rPr sz="2200" spc="-15" dirty="0">
                <a:latin typeface="Calibri"/>
                <a:cs typeface="Calibri"/>
              </a:rPr>
              <a:t> </a:t>
            </a:r>
            <a:r>
              <a:rPr sz="2200" spc="-5" dirty="0">
                <a:latin typeface="Calibri"/>
                <a:cs typeface="Calibri"/>
              </a:rPr>
              <a:t>this</a:t>
            </a:r>
            <a:r>
              <a:rPr sz="2200" spc="15" dirty="0">
                <a:latin typeface="Calibri"/>
                <a:cs typeface="Calibri"/>
              </a:rPr>
              <a:t> </a:t>
            </a:r>
            <a:r>
              <a:rPr sz="2200" spc="-10" dirty="0">
                <a:latin typeface="Calibri"/>
                <a:cs typeface="Calibri"/>
              </a:rPr>
              <a:t>redundancy</a:t>
            </a:r>
            <a:endParaRPr sz="2200">
              <a:latin typeface="Calibri"/>
              <a:cs typeface="Calibri"/>
            </a:endParaRPr>
          </a:p>
          <a:p>
            <a:pPr marL="355600" indent="-343535">
              <a:lnSpc>
                <a:spcPts val="2510"/>
              </a:lnSpc>
              <a:spcBef>
                <a:spcPts val="225"/>
              </a:spcBef>
              <a:buFont typeface="Arial MT"/>
              <a:buChar char="•"/>
              <a:tabLst>
                <a:tab pos="355600" algn="l"/>
                <a:tab pos="356235" algn="l"/>
              </a:tabLst>
            </a:pPr>
            <a:r>
              <a:rPr sz="2200" spc="-20" dirty="0">
                <a:latin typeface="Calibri"/>
                <a:cs typeface="Calibri"/>
              </a:rPr>
              <a:t>Scalability.</a:t>
            </a:r>
            <a:r>
              <a:rPr sz="2200" spc="-10" dirty="0">
                <a:latin typeface="Calibri"/>
                <a:cs typeface="Calibri"/>
              </a:rPr>
              <a:t> </a:t>
            </a:r>
            <a:r>
              <a:rPr sz="2200" spc="-5" dirty="0">
                <a:latin typeface="Calibri"/>
                <a:cs typeface="Calibri"/>
              </a:rPr>
              <a:t>adding</a:t>
            </a:r>
            <a:r>
              <a:rPr sz="2200" spc="-30" dirty="0">
                <a:latin typeface="Calibri"/>
                <a:cs typeface="Calibri"/>
              </a:rPr>
              <a:t> </a:t>
            </a:r>
            <a:r>
              <a:rPr sz="2200" spc="-10" dirty="0">
                <a:latin typeface="Calibri"/>
                <a:cs typeface="Calibri"/>
              </a:rPr>
              <a:t>servers</a:t>
            </a:r>
            <a:r>
              <a:rPr sz="2200" dirty="0">
                <a:latin typeface="Calibri"/>
                <a:cs typeface="Calibri"/>
              </a:rPr>
              <a:t> </a:t>
            </a:r>
            <a:r>
              <a:rPr sz="2200" spc="-20" dirty="0">
                <a:latin typeface="Calibri"/>
                <a:cs typeface="Calibri"/>
              </a:rPr>
              <a:t>to</a:t>
            </a:r>
            <a:r>
              <a:rPr sz="2200" spc="2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cluster</a:t>
            </a:r>
            <a:r>
              <a:rPr sz="2200" spc="5" dirty="0">
                <a:latin typeface="Calibri"/>
                <a:cs typeface="Calibri"/>
              </a:rPr>
              <a:t> </a:t>
            </a:r>
            <a:r>
              <a:rPr sz="2200" dirty="0">
                <a:latin typeface="Calibri"/>
                <a:cs typeface="Calibri"/>
              </a:rPr>
              <a:t>or </a:t>
            </a:r>
            <a:r>
              <a:rPr sz="2200" spc="-15" dirty="0">
                <a:latin typeface="Calibri"/>
                <a:cs typeface="Calibri"/>
              </a:rPr>
              <a:t>by</a:t>
            </a:r>
            <a:r>
              <a:rPr sz="2200" spc="5" dirty="0">
                <a:latin typeface="Calibri"/>
                <a:cs typeface="Calibri"/>
              </a:rPr>
              <a:t> </a:t>
            </a:r>
            <a:r>
              <a:rPr sz="2200" spc="-5" dirty="0">
                <a:latin typeface="Calibri"/>
                <a:cs typeface="Calibri"/>
              </a:rPr>
              <a:t>adding</a:t>
            </a:r>
            <a:r>
              <a:rPr sz="2200" spc="-10" dirty="0">
                <a:latin typeface="Calibri"/>
                <a:cs typeface="Calibri"/>
              </a:rPr>
              <a:t> more</a:t>
            </a:r>
            <a:r>
              <a:rPr sz="2200" dirty="0">
                <a:latin typeface="Calibri"/>
                <a:cs typeface="Calibri"/>
              </a:rPr>
              <a:t> </a:t>
            </a:r>
            <a:r>
              <a:rPr sz="2200" spc="-15" dirty="0">
                <a:latin typeface="Calibri"/>
                <a:cs typeface="Calibri"/>
              </a:rPr>
              <a:t>clusters</a:t>
            </a:r>
            <a:endParaRPr sz="2200">
              <a:latin typeface="Calibri"/>
              <a:cs typeface="Calibri"/>
            </a:endParaRPr>
          </a:p>
          <a:p>
            <a:pPr marL="355600">
              <a:lnSpc>
                <a:spcPts val="2510"/>
              </a:lnSpc>
            </a:pPr>
            <a:r>
              <a:rPr sz="2200" spc="-20" dirty="0">
                <a:latin typeface="Calibri"/>
                <a:cs typeface="Calibri"/>
              </a:rPr>
              <a:t>to</a:t>
            </a:r>
            <a:r>
              <a:rPr sz="2200" spc="5"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network</a:t>
            </a:r>
            <a:r>
              <a:rPr sz="2200" spc="15" dirty="0">
                <a:latin typeface="Calibri"/>
                <a:cs typeface="Calibri"/>
              </a:rPr>
              <a:t> </a:t>
            </a:r>
            <a:r>
              <a:rPr sz="2200" spc="-5" dirty="0">
                <a:latin typeface="Calibri"/>
                <a:cs typeface="Calibri"/>
              </a:rPr>
              <a:t>as</a:t>
            </a:r>
            <a:r>
              <a:rPr sz="2200" spc="5" dirty="0">
                <a:latin typeface="Calibri"/>
                <a:cs typeface="Calibri"/>
              </a:rPr>
              <a:t> </a:t>
            </a:r>
            <a:r>
              <a:rPr sz="2200" spc="-10" dirty="0">
                <a:latin typeface="Calibri"/>
                <a:cs typeface="Calibri"/>
              </a:rPr>
              <a:t>the need</a:t>
            </a:r>
            <a:r>
              <a:rPr sz="2200" spc="15" dirty="0">
                <a:latin typeface="Calibri"/>
                <a:cs typeface="Calibri"/>
              </a:rPr>
              <a:t> </a:t>
            </a:r>
            <a:r>
              <a:rPr sz="2200" spc="-5" dirty="0">
                <a:latin typeface="Calibri"/>
                <a:cs typeface="Calibri"/>
              </a:rPr>
              <a:t>arises</a:t>
            </a:r>
            <a:r>
              <a:rPr sz="2200" dirty="0">
                <a:latin typeface="Calibri"/>
                <a:cs typeface="Calibri"/>
              </a:rPr>
              <a:t> </a:t>
            </a:r>
            <a:r>
              <a:rPr sz="2200" spc="-5" dirty="0">
                <a:latin typeface="Calibri"/>
                <a:cs typeface="Calibri"/>
              </a:rPr>
              <a:t>or</a:t>
            </a:r>
            <a:r>
              <a:rPr sz="2200" spc="5" dirty="0">
                <a:latin typeface="Calibri"/>
                <a:cs typeface="Calibri"/>
              </a:rPr>
              <a:t> </a:t>
            </a:r>
            <a:r>
              <a:rPr sz="2200" spc="-10" dirty="0">
                <a:latin typeface="Calibri"/>
                <a:cs typeface="Calibri"/>
              </a:rPr>
              <a:t>CPU</a:t>
            </a:r>
            <a:r>
              <a:rPr sz="2200" dirty="0">
                <a:latin typeface="Calibri"/>
                <a:cs typeface="Calibri"/>
              </a:rPr>
              <a:t> </a:t>
            </a:r>
            <a:r>
              <a:rPr sz="2200" spc="-20" dirty="0">
                <a:latin typeface="Calibri"/>
                <a:cs typeface="Calibri"/>
              </a:rPr>
              <a:t>to</a:t>
            </a:r>
            <a:r>
              <a:rPr sz="2200" spc="10" dirty="0">
                <a:latin typeface="Calibri"/>
                <a:cs typeface="Calibri"/>
              </a:rPr>
              <a:t> </a:t>
            </a:r>
            <a:r>
              <a:rPr sz="2200" spc="-70" dirty="0">
                <a:latin typeface="Calibri"/>
                <a:cs typeface="Calibri"/>
              </a:rPr>
              <a:t>SMP.</a:t>
            </a:r>
            <a:endParaRPr sz="2200">
              <a:latin typeface="Calibri"/>
              <a:cs typeface="Calibri"/>
            </a:endParaRPr>
          </a:p>
          <a:p>
            <a:pPr marL="355600" indent="-343535">
              <a:lnSpc>
                <a:spcPct val="100000"/>
              </a:lnSpc>
              <a:spcBef>
                <a:spcPts val="265"/>
              </a:spcBef>
              <a:buFont typeface="Arial MT"/>
              <a:buChar char="•"/>
              <a:tabLst>
                <a:tab pos="355600" algn="l"/>
                <a:tab pos="356235" algn="l"/>
              </a:tabLst>
            </a:pPr>
            <a:r>
              <a:rPr sz="2200" spc="-5" dirty="0">
                <a:latin typeface="Calibri"/>
                <a:cs typeface="Calibri"/>
              </a:rPr>
              <a:t>High</a:t>
            </a:r>
            <a:r>
              <a:rPr sz="2200" dirty="0">
                <a:latin typeface="Calibri"/>
                <a:cs typeface="Calibri"/>
              </a:rPr>
              <a:t> </a:t>
            </a:r>
            <a:r>
              <a:rPr sz="2200" spc="-10" dirty="0">
                <a:latin typeface="Calibri"/>
                <a:cs typeface="Calibri"/>
              </a:rPr>
              <a:t>performance:</a:t>
            </a:r>
            <a:r>
              <a:rPr sz="2200" spc="25" dirty="0">
                <a:latin typeface="Calibri"/>
                <a:cs typeface="Calibri"/>
              </a:rPr>
              <a:t> </a:t>
            </a:r>
            <a:r>
              <a:rPr sz="2200" spc="-10" dirty="0">
                <a:latin typeface="Calibri"/>
                <a:cs typeface="Calibri"/>
              </a:rPr>
              <a:t>(running</a:t>
            </a:r>
            <a:r>
              <a:rPr sz="2200" spc="-5" dirty="0">
                <a:latin typeface="Calibri"/>
                <a:cs typeface="Calibri"/>
              </a:rPr>
              <a:t> </a:t>
            </a:r>
            <a:r>
              <a:rPr sz="2200" spc="-15" dirty="0">
                <a:latin typeface="Calibri"/>
                <a:cs typeface="Calibri"/>
              </a:rPr>
              <a:t>cluster</a:t>
            </a:r>
            <a:r>
              <a:rPr sz="2200" spc="5" dirty="0">
                <a:latin typeface="Calibri"/>
                <a:cs typeface="Calibri"/>
              </a:rPr>
              <a:t> </a:t>
            </a:r>
            <a:r>
              <a:rPr sz="2200" spc="-5" dirty="0">
                <a:latin typeface="Calibri"/>
                <a:cs typeface="Calibri"/>
              </a:rPr>
              <a:t>enabled</a:t>
            </a:r>
            <a:r>
              <a:rPr sz="2200" spc="10" dirty="0">
                <a:latin typeface="Calibri"/>
                <a:cs typeface="Calibri"/>
              </a:rPr>
              <a:t> </a:t>
            </a:r>
            <a:r>
              <a:rPr sz="2200" spc="-15" dirty="0">
                <a:latin typeface="Calibri"/>
                <a:cs typeface="Calibri"/>
              </a:rPr>
              <a:t>programs)</a:t>
            </a:r>
            <a:endParaRPr sz="2200">
              <a:latin typeface="Calibri"/>
              <a:cs typeface="Calibri"/>
            </a:endParaRPr>
          </a:p>
        </p:txBody>
      </p:sp>
      <p:sp>
        <p:nvSpPr>
          <p:cNvPr id="5" name="Footer Placeholder 4">
            <a:extLst>
              <a:ext uri="{FF2B5EF4-FFF2-40B4-BE49-F238E27FC236}">
                <a16:creationId xmlns:a16="http://schemas.microsoft.com/office/drawing/2014/main" id="{E62A6E48-6F3B-B7F2-D4A4-035512F880A5}"/>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4443704" cy="530631"/>
          </a:xfrm>
        </p:spPr>
        <p:txBody>
          <a:bodyPr>
            <a:normAutofit/>
          </a:bodyPr>
          <a:lstStyle/>
          <a:p>
            <a:pPr algn="ctr"/>
            <a:r>
              <a:rPr lang="en-IN" sz="2400" b="1" kern="0" dirty="0"/>
              <a:t>Summary</a:t>
            </a:r>
            <a:endParaRPr lang="en-IN" sz="24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968892"/>
            <a:ext cx="8229600" cy="3404937"/>
          </a:xfrm>
        </p:spPr>
        <p:txBody>
          <a:bodyPr>
            <a:noAutofit/>
          </a:bodyPr>
          <a:lstStyle/>
          <a:p>
            <a:pPr>
              <a:lnSpc>
                <a:spcPct val="150000"/>
              </a:lnSpc>
              <a:buBlip>
                <a:blip r:embed="rId2"/>
              </a:buBlip>
            </a:pPr>
            <a:r>
              <a:rPr lang="en-US" sz="1400" dirty="0"/>
              <a:t>Cluster computing refers to a system where multiple interconnected computers (nodes) work together to perform tasks. These nodes communicate over a network to appear as a single system, sharing resources like processing power and storage.</a:t>
            </a:r>
          </a:p>
          <a:p>
            <a:pPr>
              <a:lnSpc>
                <a:spcPct val="150000"/>
              </a:lnSpc>
              <a:buBlip>
                <a:blip r:embed="rId2"/>
              </a:buBlip>
            </a:pPr>
            <a:r>
              <a:rPr lang="en-US" sz="1400" dirty="0"/>
              <a:t>Cluster computing offers high scalability by adding more nodes to handle increased workloads. It improves performance by distributing tasks across nodes, enabling parallel processing and faster execution of complex computations.</a:t>
            </a:r>
            <a:endParaRPr lang="en-US" sz="1400" b="1" dirty="0"/>
          </a:p>
          <a:p>
            <a:pPr>
              <a:lnSpc>
                <a:spcPct val="150000"/>
              </a:lnSpc>
              <a:buBlip>
                <a:blip r:embed="rId2"/>
              </a:buBlip>
            </a:pPr>
            <a:r>
              <a:rPr lang="en-US" sz="1400" dirty="0"/>
              <a:t>Clusters are designed for high availability. If one node fails, others can take over its tasks, ensuring minimal disruption. Redundancy and fault-tolerant configurations help maintain continuous service even in the case of hardware failures.</a:t>
            </a:r>
          </a:p>
          <a:p>
            <a:pPr>
              <a:lnSpc>
                <a:spcPct val="150000"/>
              </a:lnSpc>
              <a:buBlip>
                <a:blip r:embed="rId2"/>
              </a:buBlip>
            </a:pPr>
            <a:r>
              <a:rPr lang="en-US" sz="1400" dirty="0"/>
              <a:t>Cluster computing is used in a wide range of fields, such as scientific research, big data processing, financial modeling, cloud computing, and machine learning.</a:t>
            </a:r>
            <a:endParaRPr lang="en-US" sz="1400" b="1"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15</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r>
              <a:rPr lang="en-IN" sz="2400" b="1" kern="0" dirty="0"/>
              <a:t>References</a:t>
            </a:r>
            <a:endParaRPr lang="en-IN" sz="24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17</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1335</Words>
  <Application>Microsoft Office PowerPoint</Application>
  <PresentationFormat>On-screen Show (16:9)</PresentationFormat>
  <Paragraphs>142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What is Cluster Computing?</vt:lpstr>
      <vt:lpstr>Cluster Computing?</vt:lpstr>
      <vt:lpstr>Types of Cluster</vt:lpstr>
      <vt:lpstr>Cluster Components</vt:lpstr>
      <vt:lpstr>Key Operational Benefits of Clustering</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8</cp:revision>
  <dcterms:created xsi:type="dcterms:W3CDTF">2024-12-06T17:10:37Z</dcterms:created>
  <dcterms:modified xsi:type="dcterms:W3CDTF">2024-12-08T15:06:08Z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