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19"/>
  </p:notesMasterIdLst>
  <p:sldIdLst>
    <p:sldId id="390" r:id="rId2"/>
    <p:sldId id="413" r:id="rId3"/>
    <p:sldId id="414" r:id="rId4"/>
    <p:sldId id="420" r:id="rId5"/>
    <p:sldId id="415" r:id="rId6"/>
    <p:sldId id="416" r:id="rId7"/>
    <p:sldId id="417" r:id="rId8"/>
    <p:sldId id="418" r:id="rId9"/>
    <p:sldId id="419" r:id="rId10"/>
    <p:sldId id="423" r:id="rId11"/>
    <p:sldId id="270" r:id="rId12"/>
    <p:sldId id="271" r:id="rId13"/>
    <p:sldId id="272" r:id="rId14"/>
    <p:sldId id="273" r:id="rId15"/>
    <p:sldId id="421" r:id="rId16"/>
    <p:sldId id="422" r:id="rId17"/>
    <p:sldId id="352" r:id="rId18"/>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9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12/8/2024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12/8/2024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12/8/2024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12/8/2024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12/8/2024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12/8/2024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12/8/2024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12/8/2024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12/8/2024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12/8/2024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gi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tutorialspoint.com/cloud_computing/index.htm" TargetMode="External"/><Relationship Id="rId4" Type="http://schemas.openxmlformats.org/officeDocument/2006/relationships/hyperlink" Target="https://www.geeksforgeeks.org/cloud-computing/" TargetMode="External"/><Relationship Id="rId9"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a:bodyPr>
          <a:lstStyle/>
          <a:p>
            <a:pPr marL="0" indent="0" algn="ctr">
              <a:buNone/>
            </a:pPr>
            <a:r>
              <a:rPr lang="en-US" sz="2700" b="1" dirty="0"/>
              <a:t>Chandigarh School of Business, Jhanjeri</a:t>
            </a:r>
          </a:p>
          <a:p>
            <a:pPr marL="0" indent="0" algn="ctr">
              <a:buNone/>
            </a:pPr>
            <a:r>
              <a:rPr lang="en-US" b="1" dirty="0"/>
              <a:t>Department of Computer Application </a:t>
            </a:r>
          </a:p>
          <a:p>
            <a:pPr marL="0" indent="0" algn="ctr">
              <a:buNone/>
            </a:pPr>
            <a:r>
              <a:rPr lang="en-US" sz="1800" b="1" dirty="0"/>
              <a:t>Program Code: NA</a:t>
            </a:r>
          </a:p>
          <a:p>
            <a:pPr marL="0" indent="0" algn="ctr">
              <a:buNone/>
            </a:pPr>
            <a:r>
              <a:rPr lang="en-US" sz="1800" b="1" dirty="0"/>
              <a:t>Program Name: MCA</a:t>
            </a:r>
          </a:p>
          <a:p>
            <a:pPr marL="0" indent="0" algn="ctr">
              <a:buNone/>
            </a:pPr>
            <a:r>
              <a:rPr lang="en-US" sz="1800" b="1" dirty="0"/>
              <a:t>Course Code: </a:t>
            </a:r>
            <a:r>
              <a:rPr lang="en-US" sz="1800" b="1" i="0" u="none" strike="noStrike" baseline="0" dirty="0">
                <a:solidFill>
                  <a:srgbClr val="000000"/>
                </a:solidFill>
              </a:rPr>
              <a:t>PGCA1937</a:t>
            </a:r>
            <a:r>
              <a:rPr lang="en-US" sz="1800" b="1" i="0" u="none" strike="noStrike" baseline="0" dirty="0">
                <a:solidFill>
                  <a:srgbClr val="000000"/>
                </a:solidFill>
                <a:latin typeface="Times New Roman" panose="02020603050405020304" pitchFamily="18" charset="0"/>
              </a:rPr>
              <a:t> </a:t>
            </a:r>
            <a:r>
              <a:rPr lang="en-US" sz="1800" b="1" dirty="0">
                <a:solidFill>
                  <a:srgbClr val="000000"/>
                </a:solidFill>
              </a:rPr>
              <a:t> </a:t>
            </a:r>
            <a:endParaRPr lang="en-US" sz="1800" b="1" dirty="0"/>
          </a:p>
          <a:p>
            <a:pPr marL="0" indent="0" algn="ctr">
              <a:buNone/>
            </a:pPr>
            <a:r>
              <a:rPr lang="en-US" sz="1800" b="1" dirty="0"/>
              <a:t>Course Name: </a:t>
            </a:r>
            <a:r>
              <a:rPr lang="en-US" sz="1800" b="1" i="0" u="none" strike="noStrike" baseline="0" dirty="0">
                <a:solidFill>
                  <a:srgbClr val="000000"/>
                </a:solidFill>
              </a:rPr>
              <a:t>Cloud Computing </a:t>
            </a:r>
            <a:endParaRPr lang="en-US" sz="18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2400" b="1" dirty="0">
                <a:latin typeface="+mn-lt"/>
              </a:rPr>
              <a:t>Outlines</a:t>
            </a:r>
            <a:endParaRPr lang="en-IN" sz="24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p:txBody>
          <a:bodyPr>
            <a:normAutofit/>
          </a:bodyPr>
          <a:lstStyle/>
          <a:p>
            <a:r>
              <a:rPr lang="en-US" sz="1800" b="1" dirty="0"/>
              <a:t>PTU Syllabus of Unit-I</a:t>
            </a:r>
          </a:p>
          <a:p>
            <a:r>
              <a:rPr lang="en-US" sz="1800" b="1" dirty="0"/>
              <a:t>CO’s Introduction</a:t>
            </a:r>
          </a:p>
          <a:p>
            <a:r>
              <a:rPr lang="en-US" sz="1800" b="1" dirty="0"/>
              <a:t>Topic Overview</a:t>
            </a:r>
          </a:p>
          <a:p>
            <a:r>
              <a:rPr lang="en-US" sz="1800" b="1" dirty="0"/>
              <a:t>Brief description of what the presentation will cover</a:t>
            </a:r>
          </a:p>
          <a:p>
            <a:r>
              <a:rPr lang="en-US" sz="1800" b="1" dirty="0"/>
              <a:t>Importance or relevance of the topic</a:t>
            </a:r>
          </a:p>
          <a:p>
            <a:r>
              <a:rPr lang="en-US" sz="1800" b="1" dirty="0"/>
              <a:t>Key objectives or learning outcomes</a:t>
            </a:r>
          </a:p>
          <a:p>
            <a:r>
              <a:rPr lang="en-US" sz="1800" b="1" dirty="0"/>
              <a:t>Summary</a:t>
            </a:r>
          </a:p>
          <a:p>
            <a:r>
              <a:rPr lang="en-US" sz="18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46288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lstStyle/>
          <a:p>
            <a:r>
              <a:rPr lang="en-US" sz="2400" b="1" dirty="0">
                <a:latin typeface="+mn-lt"/>
              </a:rPr>
              <a:t>PTU Syllabus of Unit-I</a:t>
            </a:r>
            <a:endParaRPr lang="en-IN" sz="24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628650" y="1123950"/>
            <a:ext cx="7886700" cy="3508773"/>
          </a:xfrm>
        </p:spPr>
        <p:txBody>
          <a:bodyPr>
            <a:normAutofit fontScale="40000" lnSpcReduction="20000"/>
          </a:bodyPr>
          <a:lstStyle/>
          <a:p>
            <a:pPr marL="0" indent="0" algn="ctr">
              <a:buNone/>
            </a:pPr>
            <a:r>
              <a:rPr lang="en-US" sz="3600" b="1" dirty="0">
                <a:solidFill>
                  <a:srgbClr val="000000"/>
                </a:solidFill>
              </a:rPr>
              <a:t>Part-A</a:t>
            </a:r>
            <a:endParaRPr lang="en-US" sz="3600" dirty="0">
              <a:solidFill>
                <a:srgbClr val="000000"/>
              </a:solidFill>
            </a:endParaRPr>
          </a:p>
          <a:p>
            <a:pPr algn="just">
              <a:lnSpc>
                <a:spcPct val="120000"/>
              </a:lnSpc>
            </a:pPr>
            <a:r>
              <a:rPr lang="en-US" sz="3600" b="1" i="0" u="none" strike="noStrike" baseline="0" dirty="0">
                <a:solidFill>
                  <a:srgbClr val="000000"/>
                </a:solidFill>
              </a:rPr>
              <a:t>Overview of Computing Paradigm: </a:t>
            </a:r>
            <a:r>
              <a:rPr lang="en-US" sz="36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3600" b="1" i="0" u="none" strike="noStrike" baseline="0" dirty="0">
                <a:solidFill>
                  <a:srgbClr val="000000"/>
                </a:solidFill>
              </a:rPr>
              <a:t>Introduction to Cloud Computing: </a:t>
            </a:r>
            <a:r>
              <a:rPr lang="en-US" sz="36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3600" b="1" i="0" u="none" strike="noStrike" baseline="0" dirty="0">
                <a:solidFill>
                  <a:srgbClr val="000000"/>
                </a:solidFill>
              </a:rPr>
              <a:t>Migrating into a Cloud: </a:t>
            </a:r>
            <a:r>
              <a:rPr lang="en-US" sz="36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3600" b="1" i="0" u="none" strike="noStrike" baseline="0" dirty="0">
                <a:solidFill>
                  <a:srgbClr val="000000"/>
                </a:solidFill>
              </a:rPr>
              <a:t>Virtualization: </a:t>
            </a:r>
            <a:r>
              <a:rPr lang="en-US" sz="36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3600" b="1" i="0" u="none" strike="noStrike" baseline="0" dirty="0">
                <a:solidFill>
                  <a:srgbClr val="000000"/>
                </a:solidFill>
              </a:rPr>
              <a:t>Capacity Planning: </a:t>
            </a:r>
            <a:r>
              <a:rPr lang="en-US" sz="36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5747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r>
              <a:rPr lang="en-US" altLang="en-US" sz="2400" b="1" kern="0" dirty="0">
                <a:latin typeface="+mn-lt"/>
              </a:rPr>
              <a:t>Key objectives or learning outcomes</a:t>
            </a:r>
            <a:endParaRPr lang="en-IN" sz="2400" dirty="0">
              <a:latin typeface="+mn-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534400" cy="2590800"/>
          </a:xfrm>
        </p:spPr>
        <p:txBody>
          <a:bodyPr>
            <a:noAutofit/>
          </a:bodyPr>
          <a:lstStyle/>
          <a:p>
            <a:pPr algn="just"/>
            <a:r>
              <a:rPr lang="en-US" sz="1800" b="0" i="0" u="none" strike="noStrike" baseline="0" dirty="0">
                <a:solidFill>
                  <a:srgbClr val="000000"/>
                </a:solidFill>
              </a:rPr>
              <a:t>CO1 	Understand the basic concept and importance of cloud computing. 	</a:t>
            </a:r>
          </a:p>
          <a:p>
            <a:pPr algn="just"/>
            <a:r>
              <a:rPr lang="en-US" sz="1800" b="0" i="0" u="none" strike="noStrike" baseline="0" dirty="0">
                <a:solidFill>
                  <a:srgbClr val="000000"/>
                </a:solidFill>
              </a:rPr>
              <a:t>CO2 	Access the suitability of migrating to a cloud solution for different applications.</a:t>
            </a:r>
          </a:p>
          <a:p>
            <a:pPr algn="just"/>
            <a:r>
              <a:rPr lang="en-US" sz="1800" b="0" i="0" u="none" strike="noStrike" baseline="0" dirty="0">
                <a:solidFill>
                  <a:srgbClr val="000000"/>
                </a:solidFill>
              </a:rPr>
              <a:t>CO3 	Compare and evaluate the virtualization technologies. 	</a:t>
            </a:r>
          </a:p>
          <a:p>
            <a:pPr algn="just"/>
            <a:r>
              <a:rPr lang="en-US" sz="1800" b="0" i="0" u="none" strike="noStrike" baseline="0" dirty="0">
                <a:solidFill>
                  <a:srgbClr val="000000"/>
                </a:solidFill>
              </a:rPr>
              <a:t>CO4 	Monitor and manage the cloud resources, applications and data while addressing </a:t>
            </a:r>
            <a:r>
              <a:rPr lang="en-US" sz="1800" b="0" i="0" u="none" strike="noStrike" baseline="0" dirty="0">
                <a:solidFill>
                  <a:srgbClr val="000000"/>
                </a:solidFill>
                <a:latin typeface="Times New Roman" panose="02020603050405020304" pitchFamily="18" charset="0"/>
              </a:rPr>
              <a:t>	the </a:t>
            </a:r>
            <a:r>
              <a:rPr lang="en-US" sz="1800" b="0" i="0" u="none" strike="noStrike" baseline="0" dirty="0">
                <a:solidFill>
                  <a:srgbClr val="000000"/>
                </a:solidFill>
              </a:rPr>
              <a:t>security concerns. 	</a:t>
            </a:r>
            <a:endParaRPr lang="en-US" sz="1800" dirty="0">
              <a:solidFill>
                <a:srgbClr val="000000"/>
              </a:solidFill>
            </a:endParaRPr>
          </a:p>
          <a:p>
            <a:pPr algn="just"/>
            <a:r>
              <a:rPr lang="en-US" sz="18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73487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2400" b="1" kern="0" dirty="0">
                <a:latin typeface="+mn-lt"/>
              </a:rPr>
              <a:t>CO Introduction</a:t>
            </a:r>
            <a:endParaRPr lang="en-IN" sz="2400" dirty="0">
              <a:latin typeface="+mn-lt"/>
            </a:endParaRP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3062688452"/>
              </p:ext>
            </p:extLst>
          </p:nvPr>
        </p:nvGraphicFramePr>
        <p:xfrm>
          <a:off x="635741" y="1056233"/>
          <a:ext cx="7764059" cy="337087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CO1</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Overview of Computing Paradigm: </a:t>
                      </a:r>
                      <a:r>
                        <a:rPr lang="en-US" sz="1800" b="0" i="0" u="none" strike="noStrike" kern="1200" baseline="0" dirty="0">
                          <a:solidFill>
                            <a:schemeClr val="tx1"/>
                          </a:solidFill>
                          <a:latin typeface="+mn-lt"/>
                          <a:ea typeface="+mn-ea"/>
                          <a:cs typeface="+mn-cs"/>
                        </a:rPr>
                        <a:t>Recent trends in Computing -Grid Computing, Cluster Computing, Distributed Computing, Utility Computing, Cloud Computing. </a:t>
                      </a:r>
                    </a:p>
                    <a:p>
                      <a:pPr algn="just"/>
                      <a:r>
                        <a:rPr lang="en-US" sz="1800" b="1" i="0" u="none" strike="noStrike" kern="1200" baseline="0" dirty="0">
                          <a:solidFill>
                            <a:schemeClr val="tx1"/>
                          </a:solidFill>
                          <a:latin typeface="+mn-lt"/>
                          <a:ea typeface="+mn-ea"/>
                          <a:cs typeface="+mn-cs"/>
                        </a:rPr>
                        <a:t>Introduction to Cloud Computing: </a:t>
                      </a:r>
                      <a:r>
                        <a:rPr lang="en-US" sz="1800" b="0" i="0" u="none" strike="noStrike" kern="1200" baseline="0" dirty="0">
                          <a:solidFill>
                            <a:schemeClr val="tx1"/>
                          </a:solidFill>
                          <a:latin typeface="+mn-lt"/>
                          <a:ea typeface="+mn-ea"/>
                          <a:cs typeface="+mn-cs"/>
                        </a:rPr>
                        <a:t>Vision of Cloud Computing, Defining a Cloud, Cloud Reference Model, Deployment Model, Characteristics, Benefits of Cloud Computing, Challenges ahead. Cloud computing vs. Cluster computing vs. Grid computing. </a:t>
                      </a:r>
                      <a:r>
                        <a:rPr lang="en-US" sz="1350" b="0" i="0" u="none" strike="noStrike" kern="1200" baseline="0" dirty="0">
                          <a:solidFill>
                            <a:schemeClr val="tx1"/>
                          </a:solidFill>
                          <a:latin typeface="+mn-lt"/>
                          <a:ea typeface="+mn-ea"/>
                          <a:cs typeface="+mn-cs"/>
                        </a:rPr>
                        <a:t>	</a:t>
                      </a: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84274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550791" y="0"/>
            <a:ext cx="2564259" cy="857250"/>
          </a:xfrm>
        </p:spPr>
        <p:txBody>
          <a:bodyPr>
            <a:normAutofit/>
          </a:bodyPr>
          <a:lstStyle/>
          <a:p>
            <a:r>
              <a:rPr lang="en-IN" sz="2400" b="1" kern="0" dirty="0">
                <a:latin typeface="+mn-lt"/>
              </a:rPr>
              <a:t>Topic Overview</a:t>
            </a:r>
            <a:endParaRPr lang="en-IN" sz="24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1046748"/>
            <a:ext cx="8229600" cy="3547875"/>
          </a:xfrm>
        </p:spPr>
        <p:txBody>
          <a:bodyPr>
            <a:normAutofit/>
          </a:bodyPr>
          <a:lstStyle/>
          <a:p>
            <a:pPr algn="just">
              <a:lnSpc>
                <a:spcPct val="150000"/>
              </a:lnSpc>
            </a:pPr>
            <a:r>
              <a:rPr lang="en-US" sz="1800" b="1" dirty="0"/>
              <a:t>Evolution and Integration</a:t>
            </a:r>
            <a:r>
              <a:rPr lang="en-US" sz="1800" dirty="0"/>
              <a:t>: Recent trends in computing, such as Grid Computing, Cluster Computing, and Distributed Computing, focus on optimizing resource utilization across multiple systems. </a:t>
            </a:r>
          </a:p>
          <a:p>
            <a:pPr algn="just">
              <a:lnSpc>
                <a:spcPct val="150000"/>
              </a:lnSpc>
            </a:pPr>
            <a:r>
              <a:rPr lang="en-US" sz="1800" dirty="0"/>
              <a:t>These paradigms enable parallel processing and resource sharing, improving performance, scalability, and fault tolerance. </a:t>
            </a:r>
          </a:p>
          <a:p>
            <a:pPr algn="just">
              <a:lnSpc>
                <a:spcPct val="150000"/>
              </a:lnSpc>
            </a:pPr>
            <a:r>
              <a:rPr lang="en-US" sz="1800" dirty="0"/>
              <a:t>Grid Computing uses distributed resources to solve complex tasks, Cluster Computing groups tightly coupled systems for enhanced performance, and Distributed Computing splits workloads across geographically dispersed networks.</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743200" y="205979"/>
            <a:ext cx="4436706" cy="857250"/>
          </a:xfrm>
        </p:spPr>
        <p:txBody>
          <a:bodyPr>
            <a:noAutofit/>
          </a:bodyPr>
          <a:lstStyle/>
          <a:p>
            <a:r>
              <a:rPr lang="en-US" altLang="en-US" sz="2400" b="1" kern="0" dirty="0"/>
              <a:t>Brief of what the presentation will</a:t>
            </a:r>
            <a:endParaRPr lang="en-IN" sz="24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p:txBody>
          <a:bodyPr>
            <a:normAutofit/>
          </a:bodyPr>
          <a:lstStyle/>
          <a:p>
            <a:pPr marL="0" indent="0">
              <a:buNone/>
            </a:pPr>
            <a:r>
              <a:rPr lang="en-US" dirty="0"/>
              <a:t>The presentation will cover the following points:</a:t>
            </a:r>
          </a:p>
          <a:p>
            <a:pPr>
              <a:buFont typeface="+mj-lt"/>
              <a:buAutoNum type="arabicPeriod"/>
            </a:pPr>
            <a:r>
              <a:rPr lang="en-US" sz="2400" b="1" spc="-55" dirty="0">
                <a:solidFill>
                  <a:srgbClr val="000000"/>
                </a:solidFill>
                <a:latin typeface="Calibri"/>
                <a:cs typeface="Calibri"/>
              </a:rPr>
              <a:t>Trends</a:t>
            </a:r>
            <a:r>
              <a:rPr lang="en-US" sz="2400" b="1" spc="-10" dirty="0">
                <a:solidFill>
                  <a:srgbClr val="000000"/>
                </a:solidFill>
                <a:latin typeface="Calibri"/>
                <a:cs typeface="Calibri"/>
              </a:rPr>
              <a:t> </a:t>
            </a:r>
            <a:r>
              <a:rPr lang="en-US" sz="2400" b="1" dirty="0">
                <a:solidFill>
                  <a:srgbClr val="000000"/>
                </a:solidFill>
                <a:latin typeface="Calibri"/>
                <a:cs typeface="Calibri"/>
              </a:rPr>
              <a:t>in</a:t>
            </a:r>
            <a:r>
              <a:rPr lang="en-US" sz="2400" b="1" spc="-30" dirty="0">
                <a:solidFill>
                  <a:srgbClr val="000000"/>
                </a:solidFill>
                <a:latin typeface="Calibri"/>
                <a:cs typeface="Calibri"/>
              </a:rPr>
              <a:t> </a:t>
            </a:r>
            <a:r>
              <a:rPr lang="en-US" sz="2400" b="1" spc="-5" dirty="0">
                <a:solidFill>
                  <a:srgbClr val="000000"/>
                </a:solidFill>
                <a:latin typeface="Calibri"/>
                <a:cs typeface="Calibri"/>
              </a:rPr>
              <a:t>Computing</a:t>
            </a:r>
          </a:p>
          <a:p>
            <a:pPr>
              <a:buFont typeface="+mj-lt"/>
              <a:buAutoNum type="arabicPeriod"/>
            </a:pPr>
            <a:r>
              <a:rPr lang="en-US" sz="2400" b="1" spc="-25" dirty="0">
                <a:latin typeface="Calibri"/>
                <a:cs typeface="Calibri"/>
              </a:rPr>
              <a:t> </a:t>
            </a:r>
            <a:r>
              <a:rPr lang="en-US" sz="2400" b="1" spc="-15" dirty="0">
                <a:solidFill>
                  <a:srgbClr val="000000"/>
                </a:solidFill>
                <a:latin typeface="Calibri"/>
                <a:cs typeface="Calibri"/>
              </a:rPr>
              <a:t>Distributed </a:t>
            </a:r>
            <a:r>
              <a:rPr lang="en-US" sz="2400" b="1" spc="-5" dirty="0">
                <a:latin typeface="Calibri"/>
                <a:cs typeface="Calibri"/>
              </a:rPr>
              <a:t>Computing</a:t>
            </a:r>
          </a:p>
          <a:p>
            <a:pPr>
              <a:buFont typeface="+mj-lt"/>
              <a:buAutoNum type="arabicPeriod"/>
            </a:pPr>
            <a:r>
              <a:rPr lang="en-US" sz="2400" b="1" spc="-5" dirty="0">
                <a:latin typeface="Calibri"/>
                <a:cs typeface="Calibri"/>
              </a:rPr>
              <a:t>Need</a:t>
            </a:r>
          </a:p>
          <a:p>
            <a:pPr>
              <a:buFont typeface="+mj-lt"/>
              <a:buAutoNum type="arabicPeriod"/>
            </a:pPr>
            <a:r>
              <a:rPr lang="en-US" sz="2400" b="1" spc="-5" dirty="0">
                <a:latin typeface="Calibri"/>
                <a:cs typeface="Calibri"/>
              </a:rPr>
              <a:t>Applications</a:t>
            </a:r>
          </a:p>
          <a:p>
            <a:pPr>
              <a:buFont typeface="+mj-lt"/>
              <a:buAutoNum type="arabicPeriod"/>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2400" b="1" kern="0" dirty="0">
                <a:latin typeface="+mn-lt"/>
              </a:rPr>
              <a:t>Importance of the topic</a:t>
            </a:r>
            <a:endParaRPr lang="en-IN" sz="2400" dirty="0">
              <a:latin typeface="+mn-lt"/>
            </a:endParaRPr>
          </a:p>
        </p:txBody>
      </p:sp>
      <p:sp>
        <p:nvSpPr>
          <p:cNvPr id="7" name="Content Placeholder 6">
            <a:extLst>
              <a:ext uri="{FF2B5EF4-FFF2-40B4-BE49-F238E27FC236}">
                <a16:creationId xmlns:a16="http://schemas.microsoft.com/office/drawing/2014/main" id="{C05D211D-56BC-A519-0A90-7523B1284AAC}"/>
              </a:ext>
            </a:extLst>
          </p:cNvPr>
          <p:cNvSpPr>
            <a:spLocks noGrp="1"/>
          </p:cNvSpPr>
          <p:nvPr>
            <p:ph idx="1"/>
          </p:nvPr>
        </p:nvSpPr>
        <p:spPr>
          <a:xfrm>
            <a:off x="457200" y="1046747"/>
            <a:ext cx="8229600" cy="3723425"/>
          </a:xfrm>
        </p:spPr>
        <p:txBody>
          <a:bodyPr>
            <a:normAutofit/>
          </a:bodyPr>
          <a:lstStyle/>
          <a:p>
            <a:pPr algn="just"/>
            <a:r>
              <a:rPr lang="en-US" sz="2000" b="1" dirty="0"/>
              <a:t>Scalability and Flexibility</a:t>
            </a:r>
            <a:r>
              <a:rPr lang="en-US" sz="2000" dirty="0"/>
              <a:t>: Cloud computing provides on-demand access to a vast range of resources, enabling businesses to scale up or down based on their needs.</a:t>
            </a:r>
          </a:p>
          <a:p>
            <a:pPr algn="just"/>
            <a:r>
              <a:rPr lang="en-US" sz="2000" b="1" dirty="0"/>
              <a:t>Cost Efficiency</a:t>
            </a:r>
            <a:r>
              <a:rPr lang="en-US" sz="2000" dirty="0"/>
              <a:t>: By using cloud services, businesses can significantly reduce costs associated with maintaining and upgrading physical hardware.</a:t>
            </a:r>
          </a:p>
          <a:p>
            <a:pPr algn="just"/>
            <a:r>
              <a:rPr lang="en-US" sz="2000" b="1" dirty="0"/>
              <a:t>Accessibility and Collaboration</a:t>
            </a:r>
            <a:r>
              <a:rPr lang="en-US" sz="2000" dirty="0"/>
              <a:t>: Cloud computing allows users to access data and applications from any device with an internet connection, facilitating remote work and global collaboration. This enhances productivity, supports flexible work environments, and enables real-time collaboration across teams and locations.</a:t>
            </a:r>
            <a:endParaRPr lang="en-IN" sz="2000" dirty="0"/>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2400" b="1" kern="0" dirty="0">
                <a:latin typeface="+mn-lt"/>
              </a:rPr>
              <a:t>Detail Topics</a:t>
            </a:r>
            <a:endParaRPr lang="en-IN" sz="24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p:txBody>
          <a:bodyPr>
            <a:normAutofit fontScale="55000" lnSpcReduction="20000"/>
          </a:bodyPr>
          <a:lstStyle/>
          <a:p>
            <a:pPr marL="12065" indent="0">
              <a:lnSpc>
                <a:spcPct val="100000"/>
              </a:lnSpc>
              <a:spcBef>
                <a:spcPts val="95"/>
              </a:spcBef>
              <a:buNone/>
              <a:tabLst>
                <a:tab pos="355600" algn="l"/>
                <a:tab pos="356235" algn="l"/>
              </a:tabLst>
            </a:pPr>
            <a:r>
              <a:rPr lang="en-US" sz="2800" spc="-10" dirty="0">
                <a:latin typeface="Calibri"/>
                <a:cs typeface="Calibri"/>
              </a:rPr>
              <a:t>The</a:t>
            </a:r>
            <a:r>
              <a:rPr lang="en-US" sz="2800" spc="20" dirty="0">
                <a:latin typeface="Calibri"/>
                <a:cs typeface="Calibri"/>
              </a:rPr>
              <a:t> </a:t>
            </a:r>
            <a:r>
              <a:rPr lang="en-US" sz="2800" spc="-10" dirty="0">
                <a:latin typeface="Calibri"/>
                <a:cs typeface="Calibri"/>
              </a:rPr>
              <a:t>ACM</a:t>
            </a:r>
            <a:r>
              <a:rPr lang="en-US" sz="2800" spc="-5" dirty="0">
                <a:latin typeface="Calibri"/>
                <a:cs typeface="Calibri"/>
              </a:rPr>
              <a:t> </a:t>
            </a:r>
            <a:r>
              <a:rPr lang="en-US" sz="2800" i="1" spc="-5" dirty="0">
                <a:latin typeface="Calibri"/>
                <a:cs typeface="Calibri"/>
              </a:rPr>
              <a:t>Computing</a:t>
            </a:r>
            <a:r>
              <a:rPr lang="en-US" sz="2800" i="1" spc="-10" dirty="0">
                <a:latin typeface="Calibri"/>
                <a:cs typeface="Calibri"/>
              </a:rPr>
              <a:t> </a:t>
            </a:r>
            <a:r>
              <a:rPr lang="en-US" sz="2800" i="1" spc="-5" dirty="0">
                <a:latin typeface="Calibri"/>
                <a:cs typeface="Calibri"/>
              </a:rPr>
              <a:t>Curricula</a:t>
            </a:r>
            <a:r>
              <a:rPr lang="en-US" sz="2800" i="1" spc="-35" dirty="0">
                <a:latin typeface="Calibri"/>
                <a:cs typeface="Calibri"/>
              </a:rPr>
              <a:t> </a:t>
            </a:r>
            <a:r>
              <a:rPr lang="en-US" sz="2800" i="1" spc="-5" dirty="0">
                <a:latin typeface="Calibri"/>
                <a:cs typeface="Calibri"/>
              </a:rPr>
              <a:t>2005</a:t>
            </a:r>
            <a:r>
              <a:rPr lang="en-US" sz="2800" i="1" spc="-170" dirty="0">
                <a:latin typeface="Calibri"/>
                <a:cs typeface="Calibri"/>
              </a:rPr>
              <a:t> </a:t>
            </a:r>
            <a:r>
              <a:rPr lang="en-US" sz="2800" spc="-10" dirty="0">
                <a:latin typeface="Calibri"/>
                <a:cs typeface="Calibri"/>
              </a:rPr>
              <a:t>defined</a:t>
            </a:r>
            <a:r>
              <a:rPr lang="en-US" sz="2800" spc="15" dirty="0">
                <a:latin typeface="Calibri"/>
                <a:cs typeface="Calibri"/>
              </a:rPr>
              <a:t> </a:t>
            </a:r>
            <a:r>
              <a:rPr lang="en-US" sz="2800" spc="-10" dirty="0">
                <a:latin typeface="Calibri"/>
                <a:cs typeface="Calibri"/>
              </a:rPr>
              <a:t>"computing"</a:t>
            </a:r>
            <a:r>
              <a:rPr lang="en-US" sz="2800" spc="40" dirty="0">
                <a:latin typeface="Calibri"/>
                <a:cs typeface="Calibri"/>
              </a:rPr>
              <a:t> </a:t>
            </a:r>
            <a:r>
              <a:rPr lang="en-US" sz="2800" spc="-5" dirty="0">
                <a:latin typeface="Calibri"/>
                <a:cs typeface="Calibri"/>
              </a:rPr>
              <a:t>as</a:t>
            </a:r>
            <a:endParaRPr lang="en-US" sz="2800" dirty="0">
              <a:latin typeface="Calibri"/>
              <a:cs typeface="Calibri"/>
            </a:endParaRPr>
          </a:p>
          <a:p>
            <a:pPr>
              <a:lnSpc>
                <a:spcPct val="100000"/>
              </a:lnSpc>
              <a:spcBef>
                <a:spcPts val="55"/>
              </a:spcBef>
            </a:pPr>
            <a:endParaRPr lang="en-US" sz="3200" dirty="0">
              <a:latin typeface="Calibri"/>
              <a:cs typeface="Calibri"/>
            </a:endParaRPr>
          </a:p>
          <a:p>
            <a:pPr marL="12700" marR="5080" algn="just">
              <a:lnSpc>
                <a:spcPct val="170000"/>
              </a:lnSpc>
            </a:pPr>
            <a:r>
              <a:rPr lang="en-US" sz="2800" spc="-5" dirty="0">
                <a:cs typeface="Calibri"/>
              </a:rPr>
              <a:t>"In a </a:t>
            </a:r>
            <a:r>
              <a:rPr lang="en-US" sz="2800" spc="-15" dirty="0">
                <a:cs typeface="Calibri"/>
              </a:rPr>
              <a:t>general </a:t>
            </a:r>
            <a:r>
              <a:rPr lang="en-US" sz="2800" spc="-60" dirty="0">
                <a:cs typeface="Calibri"/>
              </a:rPr>
              <a:t>way, </a:t>
            </a:r>
            <a:r>
              <a:rPr lang="en-US" sz="2800" spc="-15" dirty="0">
                <a:cs typeface="Calibri"/>
              </a:rPr>
              <a:t>we can </a:t>
            </a:r>
            <a:r>
              <a:rPr lang="en-US" sz="2800" spc="-10" dirty="0">
                <a:cs typeface="Calibri"/>
              </a:rPr>
              <a:t>define </a:t>
            </a:r>
            <a:r>
              <a:rPr lang="en-US" sz="2800" spc="-5" dirty="0">
                <a:uFill>
                  <a:solidFill>
                    <a:srgbClr val="000000"/>
                  </a:solidFill>
                </a:uFill>
                <a:cs typeface="Calibri"/>
              </a:rPr>
              <a:t>computing </a:t>
            </a:r>
            <a:r>
              <a:rPr lang="en-US" sz="2800" spc="-20" dirty="0">
                <a:uFill>
                  <a:solidFill>
                    <a:srgbClr val="000000"/>
                  </a:solidFill>
                </a:uFill>
                <a:cs typeface="Calibri"/>
              </a:rPr>
              <a:t>to </a:t>
            </a:r>
            <a:r>
              <a:rPr lang="en-US" sz="2800" spc="-5" dirty="0">
                <a:uFill>
                  <a:solidFill>
                    <a:srgbClr val="000000"/>
                  </a:solidFill>
                </a:uFill>
                <a:cs typeface="Calibri"/>
              </a:rPr>
              <a:t>mean </a:t>
            </a:r>
            <a:r>
              <a:rPr lang="en-US" sz="2800" spc="-15" dirty="0">
                <a:uFill>
                  <a:solidFill>
                    <a:srgbClr val="000000"/>
                  </a:solidFill>
                </a:uFill>
                <a:cs typeface="Calibri"/>
              </a:rPr>
              <a:t>any </a:t>
            </a:r>
            <a:r>
              <a:rPr lang="en-US" sz="2800" spc="-10" dirty="0">
                <a:uFill>
                  <a:solidFill>
                    <a:srgbClr val="000000"/>
                  </a:solidFill>
                </a:uFill>
                <a:cs typeface="Calibri"/>
              </a:rPr>
              <a:t>goal-oriented </a:t>
            </a:r>
            <a:r>
              <a:rPr lang="en-US" sz="2800" spc="-5" dirty="0">
                <a:cs typeface="Calibri"/>
              </a:rPr>
              <a:t> </a:t>
            </a:r>
            <a:r>
              <a:rPr lang="en-US" sz="2800" spc="-5" dirty="0">
                <a:uFill>
                  <a:solidFill>
                    <a:srgbClr val="000000"/>
                  </a:solidFill>
                </a:uFill>
                <a:cs typeface="Calibri"/>
              </a:rPr>
              <a:t>activity</a:t>
            </a:r>
            <a:r>
              <a:rPr lang="en-US" sz="2800" dirty="0">
                <a:uFill>
                  <a:solidFill>
                    <a:srgbClr val="000000"/>
                  </a:solidFill>
                </a:uFill>
                <a:cs typeface="Calibri"/>
              </a:rPr>
              <a:t> </a:t>
            </a:r>
            <a:r>
              <a:rPr lang="en-US" sz="2800" spc="-5" dirty="0">
                <a:uFill>
                  <a:solidFill>
                    <a:srgbClr val="000000"/>
                  </a:solidFill>
                </a:uFill>
                <a:cs typeface="Calibri"/>
              </a:rPr>
              <a:t>requiring</a:t>
            </a:r>
            <a:r>
              <a:rPr lang="en-US" sz="2800" spc="-5" dirty="0">
                <a:cs typeface="Calibri"/>
              </a:rPr>
              <a:t>,</a:t>
            </a:r>
            <a:r>
              <a:rPr lang="en-US" sz="2800" dirty="0">
                <a:cs typeface="Calibri"/>
              </a:rPr>
              <a:t> </a:t>
            </a:r>
            <a:r>
              <a:rPr lang="en-US" sz="2800" spc="-10" dirty="0">
                <a:cs typeface="Calibri"/>
              </a:rPr>
              <a:t>benefiting</a:t>
            </a:r>
            <a:r>
              <a:rPr lang="en-US" sz="2800" spc="-5" dirty="0">
                <a:cs typeface="Calibri"/>
              </a:rPr>
              <a:t> </a:t>
            </a:r>
            <a:r>
              <a:rPr lang="en-US" sz="2800" spc="-15" dirty="0">
                <a:cs typeface="Calibri"/>
              </a:rPr>
              <a:t>from,</a:t>
            </a:r>
            <a:r>
              <a:rPr lang="en-US" sz="2800" spc="-10" dirty="0">
                <a:cs typeface="Calibri"/>
              </a:rPr>
              <a:t> </a:t>
            </a:r>
            <a:r>
              <a:rPr lang="en-US" sz="2800" spc="-5" dirty="0">
                <a:cs typeface="Calibri"/>
              </a:rPr>
              <a:t>or</a:t>
            </a:r>
            <a:r>
              <a:rPr lang="en-US" sz="2800" dirty="0">
                <a:cs typeface="Calibri"/>
              </a:rPr>
              <a:t> </a:t>
            </a:r>
            <a:r>
              <a:rPr lang="en-US" sz="2800" spc="-10" dirty="0">
                <a:cs typeface="Calibri"/>
              </a:rPr>
              <a:t>creating</a:t>
            </a:r>
            <a:r>
              <a:rPr lang="en-US" sz="2800" spc="-5" dirty="0">
                <a:cs typeface="Calibri"/>
              </a:rPr>
              <a:t> </a:t>
            </a:r>
            <a:r>
              <a:rPr lang="en-US" sz="2800" spc="-15" dirty="0">
                <a:cs typeface="Calibri"/>
              </a:rPr>
              <a:t>computers.</a:t>
            </a:r>
            <a:r>
              <a:rPr lang="en-US" sz="2800" spc="-10" dirty="0">
                <a:cs typeface="Calibri"/>
              </a:rPr>
              <a:t> Thus, </a:t>
            </a:r>
            <a:r>
              <a:rPr lang="en-US" sz="2800" spc="-484" dirty="0">
                <a:cs typeface="Calibri"/>
              </a:rPr>
              <a:t> </a:t>
            </a:r>
            <a:r>
              <a:rPr lang="en-US" sz="2800" spc="-10" dirty="0">
                <a:cs typeface="Calibri"/>
              </a:rPr>
              <a:t>computing</a:t>
            </a:r>
            <a:r>
              <a:rPr lang="en-US" sz="2800" spc="-5" dirty="0">
                <a:cs typeface="Calibri"/>
              </a:rPr>
              <a:t> </a:t>
            </a:r>
            <a:r>
              <a:rPr lang="en-US" sz="2800" spc="-10" dirty="0">
                <a:cs typeface="Calibri"/>
              </a:rPr>
              <a:t>includes</a:t>
            </a:r>
            <a:r>
              <a:rPr lang="en-US" sz="2800" spc="-5" dirty="0">
                <a:cs typeface="Calibri"/>
              </a:rPr>
              <a:t> designing</a:t>
            </a:r>
            <a:r>
              <a:rPr lang="en-US" sz="2800" dirty="0">
                <a:cs typeface="Calibri"/>
              </a:rPr>
              <a:t> </a:t>
            </a:r>
            <a:r>
              <a:rPr lang="en-US" sz="2800" spc="-5" dirty="0">
                <a:cs typeface="Calibri"/>
              </a:rPr>
              <a:t>and</a:t>
            </a:r>
            <a:r>
              <a:rPr lang="en-US" sz="2800" dirty="0">
                <a:cs typeface="Calibri"/>
              </a:rPr>
              <a:t> </a:t>
            </a:r>
            <a:r>
              <a:rPr lang="en-US" sz="2800" spc="-10" dirty="0">
                <a:cs typeface="Calibri"/>
              </a:rPr>
              <a:t>building</a:t>
            </a:r>
            <a:r>
              <a:rPr lang="en-US" sz="2800" spc="-5" dirty="0">
                <a:cs typeface="Calibri"/>
              </a:rPr>
              <a:t> </a:t>
            </a:r>
            <a:r>
              <a:rPr lang="en-US" sz="2800" spc="-15" dirty="0">
                <a:cs typeface="Calibri"/>
              </a:rPr>
              <a:t>hardware</a:t>
            </a:r>
            <a:r>
              <a:rPr lang="en-US" sz="2800" spc="-10" dirty="0">
                <a:cs typeface="Calibri"/>
              </a:rPr>
              <a:t> </a:t>
            </a:r>
            <a:r>
              <a:rPr lang="en-US" sz="2800" spc="-5" dirty="0">
                <a:cs typeface="Calibri"/>
              </a:rPr>
              <a:t>and</a:t>
            </a:r>
            <a:r>
              <a:rPr lang="en-US" sz="2800" dirty="0">
                <a:cs typeface="Calibri"/>
              </a:rPr>
              <a:t> </a:t>
            </a:r>
            <a:r>
              <a:rPr lang="en-US" sz="2800" spc="-10" dirty="0">
                <a:cs typeface="Calibri"/>
              </a:rPr>
              <a:t>software </a:t>
            </a:r>
            <a:r>
              <a:rPr lang="en-US" sz="2800" spc="-5" dirty="0">
                <a:cs typeface="Calibri"/>
              </a:rPr>
              <a:t> </a:t>
            </a:r>
            <a:r>
              <a:rPr lang="en-US" sz="2800" spc="-20" dirty="0">
                <a:cs typeface="Calibri"/>
              </a:rPr>
              <a:t>systems</a:t>
            </a:r>
            <a:r>
              <a:rPr lang="en-US" sz="2800" spc="-15" dirty="0">
                <a:cs typeface="Calibri"/>
              </a:rPr>
              <a:t> </a:t>
            </a:r>
            <a:r>
              <a:rPr lang="en-US" sz="2800" spc="-20" dirty="0">
                <a:cs typeface="Calibri"/>
              </a:rPr>
              <a:t>for</a:t>
            </a:r>
            <a:r>
              <a:rPr lang="en-US" sz="2800" spc="-15" dirty="0">
                <a:cs typeface="Calibri"/>
              </a:rPr>
              <a:t> </a:t>
            </a:r>
            <a:r>
              <a:rPr lang="en-US" sz="2800" spc="-5" dirty="0">
                <a:cs typeface="Calibri"/>
              </a:rPr>
              <a:t>a</a:t>
            </a:r>
            <a:r>
              <a:rPr lang="en-US" sz="2800" dirty="0">
                <a:cs typeface="Calibri"/>
              </a:rPr>
              <a:t> </a:t>
            </a:r>
            <a:r>
              <a:rPr lang="en-US" sz="2800" spc="-5" dirty="0">
                <a:cs typeface="Calibri"/>
              </a:rPr>
              <a:t>wide</a:t>
            </a:r>
            <a:r>
              <a:rPr lang="en-US" sz="2800" dirty="0">
                <a:cs typeface="Calibri"/>
              </a:rPr>
              <a:t> </a:t>
            </a:r>
            <a:r>
              <a:rPr lang="en-US" sz="2800" spc="-15" dirty="0">
                <a:cs typeface="Calibri"/>
              </a:rPr>
              <a:t>range</a:t>
            </a:r>
            <a:r>
              <a:rPr lang="en-US" sz="2800" spc="-10" dirty="0">
                <a:cs typeface="Calibri"/>
              </a:rPr>
              <a:t> </a:t>
            </a:r>
            <a:r>
              <a:rPr lang="en-US" sz="2800" dirty="0">
                <a:cs typeface="Calibri"/>
              </a:rPr>
              <a:t>of</a:t>
            </a:r>
            <a:r>
              <a:rPr lang="en-US" sz="2800" spc="5" dirty="0">
                <a:cs typeface="Calibri"/>
              </a:rPr>
              <a:t> </a:t>
            </a:r>
            <a:r>
              <a:rPr lang="en-US" sz="2800" spc="-5" dirty="0">
                <a:cs typeface="Calibri"/>
              </a:rPr>
              <a:t>purposes;</a:t>
            </a:r>
            <a:r>
              <a:rPr lang="en-US" sz="2800" dirty="0">
                <a:cs typeface="Calibri"/>
              </a:rPr>
              <a:t> </a:t>
            </a:r>
            <a:r>
              <a:rPr lang="en-US" sz="2800" spc="-5" dirty="0">
                <a:cs typeface="Calibri"/>
              </a:rPr>
              <a:t>processing,</a:t>
            </a:r>
            <a:r>
              <a:rPr lang="en-US" sz="2800" dirty="0">
                <a:cs typeface="Calibri"/>
              </a:rPr>
              <a:t> </a:t>
            </a:r>
            <a:r>
              <a:rPr lang="en-US" sz="2800" spc="-5" dirty="0">
                <a:cs typeface="Calibri"/>
              </a:rPr>
              <a:t>structuring,</a:t>
            </a:r>
            <a:r>
              <a:rPr lang="en-US" sz="2800" dirty="0">
                <a:cs typeface="Calibri"/>
              </a:rPr>
              <a:t> </a:t>
            </a:r>
            <a:r>
              <a:rPr lang="en-US" sz="2800" spc="-5" dirty="0">
                <a:cs typeface="Calibri"/>
              </a:rPr>
              <a:t>and </a:t>
            </a:r>
            <a:r>
              <a:rPr lang="en-US" sz="2800" spc="-484" dirty="0">
                <a:cs typeface="Calibri"/>
              </a:rPr>
              <a:t> </a:t>
            </a:r>
            <a:r>
              <a:rPr lang="en-US" sz="2800" spc="-5" dirty="0">
                <a:cs typeface="Calibri"/>
              </a:rPr>
              <a:t>managing </a:t>
            </a:r>
            <a:r>
              <a:rPr lang="en-US" sz="2800" spc="-10" dirty="0">
                <a:cs typeface="Calibri"/>
              </a:rPr>
              <a:t>various </a:t>
            </a:r>
            <a:r>
              <a:rPr lang="en-US" sz="2800" spc="-5" dirty="0">
                <a:cs typeface="Calibri"/>
              </a:rPr>
              <a:t>kinds </a:t>
            </a:r>
            <a:r>
              <a:rPr lang="en-US" sz="2800" spc="-10" dirty="0">
                <a:cs typeface="Calibri"/>
              </a:rPr>
              <a:t>of information; </a:t>
            </a:r>
            <a:r>
              <a:rPr lang="en-US" sz="2800" spc="-5" dirty="0">
                <a:cs typeface="Calibri"/>
              </a:rPr>
              <a:t>doing scientific </a:t>
            </a:r>
            <a:r>
              <a:rPr lang="en-US" sz="2800" spc="-10" dirty="0">
                <a:cs typeface="Calibri"/>
              </a:rPr>
              <a:t>studies using </a:t>
            </a:r>
            <a:r>
              <a:rPr lang="en-US" sz="2800" spc="-5" dirty="0">
                <a:cs typeface="Calibri"/>
              </a:rPr>
              <a:t> </a:t>
            </a:r>
            <a:r>
              <a:rPr lang="en-US" sz="2800" spc="-10" dirty="0">
                <a:cs typeface="Calibri"/>
              </a:rPr>
              <a:t>computers;</a:t>
            </a:r>
            <a:r>
              <a:rPr lang="en-US" sz="2800" spc="-5" dirty="0">
                <a:cs typeface="Calibri"/>
              </a:rPr>
              <a:t> making</a:t>
            </a:r>
            <a:r>
              <a:rPr lang="en-US" sz="2800" dirty="0">
                <a:cs typeface="Calibri"/>
              </a:rPr>
              <a:t> </a:t>
            </a:r>
            <a:r>
              <a:rPr lang="en-US" sz="2800" spc="-15" dirty="0">
                <a:cs typeface="Calibri"/>
              </a:rPr>
              <a:t>computer</a:t>
            </a:r>
            <a:r>
              <a:rPr lang="en-US" sz="2800" spc="-10" dirty="0">
                <a:cs typeface="Calibri"/>
              </a:rPr>
              <a:t> </a:t>
            </a:r>
            <a:r>
              <a:rPr lang="en-US" sz="2800" spc="-15" dirty="0">
                <a:cs typeface="Calibri"/>
              </a:rPr>
              <a:t>systems</a:t>
            </a:r>
            <a:r>
              <a:rPr lang="en-US" sz="2800" spc="-10" dirty="0">
                <a:cs typeface="Calibri"/>
              </a:rPr>
              <a:t> </a:t>
            </a:r>
            <a:r>
              <a:rPr lang="en-US" sz="2800" spc="-15" dirty="0">
                <a:cs typeface="Calibri"/>
              </a:rPr>
              <a:t>behave</a:t>
            </a:r>
            <a:r>
              <a:rPr lang="en-US" sz="2800" spc="-10" dirty="0">
                <a:cs typeface="Calibri"/>
              </a:rPr>
              <a:t> intelligently;</a:t>
            </a:r>
            <a:r>
              <a:rPr lang="en-US" sz="2800" spc="475" dirty="0">
                <a:cs typeface="Calibri"/>
              </a:rPr>
              <a:t> </a:t>
            </a:r>
            <a:r>
              <a:rPr lang="en-US" sz="2800" spc="-10" dirty="0">
                <a:cs typeface="Calibri"/>
              </a:rPr>
              <a:t>creating </a:t>
            </a:r>
            <a:r>
              <a:rPr lang="en-US" sz="2800" spc="-5" dirty="0">
                <a:cs typeface="Calibri"/>
              </a:rPr>
              <a:t> and</a:t>
            </a:r>
            <a:r>
              <a:rPr lang="en-US" sz="2800" dirty="0">
                <a:cs typeface="Calibri"/>
              </a:rPr>
              <a:t> </a:t>
            </a:r>
            <a:r>
              <a:rPr lang="en-US" sz="2800" spc="-5" dirty="0">
                <a:cs typeface="Calibri"/>
              </a:rPr>
              <a:t>using</a:t>
            </a:r>
            <a:r>
              <a:rPr lang="en-US" sz="2800" dirty="0">
                <a:cs typeface="Calibri"/>
              </a:rPr>
              <a:t> </a:t>
            </a:r>
            <a:r>
              <a:rPr lang="en-US" sz="2800" spc="-10" dirty="0">
                <a:cs typeface="Calibri"/>
              </a:rPr>
              <a:t>communications</a:t>
            </a:r>
            <a:r>
              <a:rPr lang="en-US" sz="2800" spc="-5" dirty="0">
                <a:cs typeface="Calibri"/>
              </a:rPr>
              <a:t> and</a:t>
            </a:r>
            <a:r>
              <a:rPr lang="en-US" sz="2800" dirty="0">
                <a:cs typeface="Calibri"/>
              </a:rPr>
              <a:t> </a:t>
            </a:r>
            <a:r>
              <a:rPr lang="en-US" sz="2800" spc="-15" dirty="0">
                <a:cs typeface="Calibri"/>
              </a:rPr>
              <a:t>entertainment</a:t>
            </a:r>
            <a:r>
              <a:rPr lang="en-US" sz="2800" spc="-10" dirty="0">
                <a:cs typeface="Calibri"/>
              </a:rPr>
              <a:t> </a:t>
            </a:r>
            <a:r>
              <a:rPr lang="en-US" sz="2800" spc="-5" dirty="0">
                <a:cs typeface="Calibri"/>
              </a:rPr>
              <a:t>media;</a:t>
            </a:r>
            <a:r>
              <a:rPr lang="en-US" sz="2800" dirty="0">
                <a:cs typeface="Calibri"/>
              </a:rPr>
              <a:t> </a:t>
            </a:r>
            <a:r>
              <a:rPr lang="en-US" sz="2800" spc="-5" dirty="0">
                <a:cs typeface="Calibri"/>
              </a:rPr>
              <a:t>finding</a:t>
            </a:r>
            <a:r>
              <a:rPr lang="en-US" sz="2800" dirty="0">
                <a:cs typeface="Calibri"/>
              </a:rPr>
              <a:t> </a:t>
            </a:r>
            <a:r>
              <a:rPr lang="en-US" sz="2800" spc="-5" dirty="0">
                <a:cs typeface="Calibri"/>
              </a:rPr>
              <a:t>and </a:t>
            </a:r>
            <a:r>
              <a:rPr lang="en-US" sz="2800" dirty="0">
                <a:cs typeface="Calibri"/>
              </a:rPr>
              <a:t> </a:t>
            </a:r>
            <a:r>
              <a:rPr lang="en-US" sz="2800" spc="-10" dirty="0">
                <a:cs typeface="Calibri"/>
              </a:rPr>
              <a:t>gathering information </a:t>
            </a:r>
            <a:r>
              <a:rPr lang="en-US" sz="2800" spc="-15" dirty="0">
                <a:cs typeface="Calibri"/>
              </a:rPr>
              <a:t>relevant </a:t>
            </a:r>
            <a:r>
              <a:rPr lang="en-US" sz="2800" spc="-20" dirty="0">
                <a:cs typeface="Calibri"/>
              </a:rPr>
              <a:t>to </a:t>
            </a:r>
            <a:r>
              <a:rPr lang="en-US" sz="2800" spc="-15" dirty="0">
                <a:cs typeface="Calibri"/>
              </a:rPr>
              <a:t>any </a:t>
            </a:r>
            <a:r>
              <a:rPr lang="en-US" sz="2800" spc="-10" dirty="0">
                <a:cs typeface="Calibri"/>
              </a:rPr>
              <a:t>particular </a:t>
            </a:r>
            <a:r>
              <a:rPr lang="en-US" sz="2800" spc="-5" dirty="0">
                <a:cs typeface="Calibri"/>
              </a:rPr>
              <a:t>purpose, and </a:t>
            </a:r>
            <a:r>
              <a:rPr lang="en-US" sz="2800" dirty="0">
                <a:cs typeface="Calibri"/>
              </a:rPr>
              <a:t>so </a:t>
            </a:r>
            <a:r>
              <a:rPr lang="en-US" sz="2800" spc="-5" dirty="0">
                <a:cs typeface="Calibri"/>
              </a:rPr>
              <a:t>on. </a:t>
            </a:r>
            <a:r>
              <a:rPr lang="en-US" sz="2800" dirty="0">
                <a:cs typeface="Calibri"/>
              </a:rPr>
              <a:t> </a:t>
            </a:r>
            <a:r>
              <a:rPr lang="en-US" sz="2800" spc="-10" dirty="0">
                <a:cs typeface="Calibri"/>
              </a:rPr>
              <a:t>The</a:t>
            </a:r>
            <a:r>
              <a:rPr lang="en-US" sz="2800" spc="15" dirty="0">
                <a:cs typeface="Calibri"/>
              </a:rPr>
              <a:t> </a:t>
            </a:r>
            <a:r>
              <a:rPr lang="en-US" sz="2800" spc="-10" dirty="0">
                <a:cs typeface="Calibri"/>
              </a:rPr>
              <a:t>list </a:t>
            </a:r>
            <a:r>
              <a:rPr lang="en-US" sz="2800" spc="-5" dirty="0">
                <a:cs typeface="Calibri"/>
              </a:rPr>
              <a:t>is</a:t>
            </a:r>
            <a:r>
              <a:rPr lang="en-US" sz="2800" dirty="0">
                <a:cs typeface="Calibri"/>
              </a:rPr>
              <a:t> </a:t>
            </a:r>
            <a:r>
              <a:rPr lang="en-US" sz="2800" spc="-5" dirty="0">
                <a:cs typeface="Calibri"/>
              </a:rPr>
              <a:t>virtually</a:t>
            </a:r>
            <a:r>
              <a:rPr lang="en-US" sz="2800" spc="-15" dirty="0">
                <a:cs typeface="Calibri"/>
              </a:rPr>
              <a:t> </a:t>
            </a:r>
            <a:r>
              <a:rPr lang="en-US" sz="2800" spc="-5" dirty="0">
                <a:cs typeface="Calibri"/>
              </a:rPr>
              <a:t>endless,</a:t>
            </a:r>
            <a:r>
              <a:rPr lang="en-US" sz="2800" spc="20" dirty="0">
                <a:cs typeface="Calibri"/>
              </a:rPr>
              <a:t> </a:t>
            </a:r>
            <a:r>
              <a:rPr lang="en-US" sz="2800" spc="-5" dirty="0">
                <a:cs typeface="Calibri"/>
              </a:rPr>
              <a:t>and the</a:t>
            </a:r>
            <a:r>
              <a:rPr lang="en-US" sz="2800" dirty="0">
                <a:cs typeface="Calibri"/>
              </a:rPr>
              <a:t> </a:t>
            </a:r>
            <a:r>
              <a:rPr lang="en-US" sz="2800" spc="-5" dirty="0">
                <a:cs typeface="Calibri"/>
              </a:rPr>
              <a:t>possibilities </a:t>
            </a:r>
            <a:r>
              <a:rPr lang="en-US" sz="2800" spc="-10" dirty="0">
                <a:cs typeface="Calibri"/>
              </a:rPr>
              <a:t>are</a:t>
            </a:r>
            <a:r>
              <a:rPr lang="en-US" sz="2800" spc="-5" dirty="0">
                <a:cs typeface="Calibri"/>
              </a:rPr>
              <a:t> </a:t>
            </a:r>
            <a:r>
              <a:rPr lang="en-US" sz="2800" spc="-15" dirty="0">
                <a:cs typeface="Calibri"/>
              </a:rPr>
              <a:t>vast."</a:t>
            </a:r>
            <a:endParaRPr lang="en-US" sz="2800" dirty="0">
              <a:cs typeface="Calibri"/>
            </a:endParaRPr>
          </a:p>
          <a:p>
            <a:endParaRPr lang="en-IN" sz="18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39513-E6F8-262F-3C03-C3DBAAF25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5721E-79A6-4172-0878-42FAEA0D1231}"/>
              </a:ext>
            </a:extLst>
          </p:cNvPr>
          <p:cNvSpPr>
            <a:spLocks noGrp="1"/>
          </p:cNvSpPr>
          <p:nvPr>
            <p:ph type="title"/>
          </p:nvPr>
        </p:nvSpPr>
        <p:spPr>
          <a:xfrm>
            <a:off x="2744426" y="70036"/>
            <a:ext cx="4478695" cy="594770"/>
          </a:xfrm>
        </p:spPr>
        <p:txBody>
          <a:bodyPr>
            <a:normAutofit/>
          </a:bodyPr>
          <a:lstStyle/>
          <a:p>
            <a:pPr algn="ctr"/>
            <a:r>
              <a:rPr lang="en-US" altLang="en-US" sz="2400" b="1" kern="0" dirty="0">
                <a:latin typeface="+mn-lt"/>
              </a:rPr>
              <a:t>Detail Topics</a:t>
            </a:r>
            <a:endParaRPr lang="en-IN" sz="2400" dirty="0">
              <a:latin typeface="+mn-lt"/>
            </a:endParaRPr>
          </a:p>
        </p:txBody>
      </p:sp>
      <p:sp>
        <p:nvSpPr>
          <p:cNvPr id="8" name="Content Placeholder 7">
            <a:extLst>
              <a:ext uri="{FF2B5EF4-FFF2-40B4-BE49-F238E27FC236}">
                <a16:creationId xmlns:a16="http://schemas.microsoft.com/office/drawing/2014/main" id="{8E841531-BFD4-8C2F-8BAB-4C1788D1F97F}"/>
              </a:ext>
            </a:extLst>
          </p:cNvPr>
          <p:cNvSpPr>
            <a:spLocks noGrp="1"/>
          </p:cNvSpPr>
          <p:nvPr>
            <p:ph idx="1"/>
          </p:nvPr>
        </p:nvSpPr>
        <p:spPr>
          <a:xfrm>
            <a:off x="628650" y="1047750"/>
            <a:ext cx="7886700" cy="3584973"/>
          </a:xfrm>
        </p:spPr>
        <p:txBody>
          <a:bodyPr>
            <a:noAutofit/>
          </a:bodyPr>
          <a:lstStyle/>
          <a:p>
            <a:pPr marL="469265" indent="-457200" algn="just">
              <a:lnSpc>
                <a:spcPct val="120000"/>
              </a:lnSpc>
              <a:spcBef>
                <a:spcPts val="95"/>
              </a:spcBef>
              <a:tabLst>
                <a:tab pos="355600" algn="l"/>
                <a:tab pos="356235" algn="l"/>
              </a:tabLst>
            </a:pPr>
            <a:r>
              <a:rPr lang="en-US" sz="1600" dirty="0">
                <a:cs typeface="Calibri"/>
              </a:rPr>
              <a:t>Distributed computing refers to a computing model in which a system consists of multiple independent computers, or nodes, that work together to achieve a common goal. </a:t>
            </a:r>
          </a:p>
          <a:p>
            <a:pPr marL="469265" indent="-457200" algn="just">
              <a:lnSpc>
                <a:spcPct val="120000"/>
              </a:lnSpc>
              <a:spcBef>
                <a:spcPts val="95"/>
              </a:spcBef>
              <a:tabLst>
                <a:tab pos="355600" algn="l"/>
                <a:tab pos="356235" algn="l"/>
              </a:tabLst>
            </a:pPr>
            <a:r>
              <a:rPr lang="en-US" sz="1600" dirty="0">
                <a:cs typeface="Calibri"/>
              </a:rPr>
              <a:t>These computers are connected via a network and collaborate by sharing tasks and resources, with each node performing a specific part of the overall computation. </a:t>
            </a:r>
          </a:p>
          <a:p>
            <a:pPr marL="469265" indent="-457200" algn="just">
              <a:lnSpc>
                <a:spcPct val="120000"/>
              </a:lnSpc>
              <a:spcBef>
                <a:spcPts val="95"/>
              </a:spcBef>
              <a:tabLst>
                <a:tab pos="355600" algn="l"/>
                <a:tab pos="356235" algn="l"/>
              </a:tabLst>
            </a:pPr>
            <a:r>
              <a:rPr lang="en-US" sz="1600" dirty="0">
                <a:cs typeface="Calibri"/>
              </a:rPr>
              <a:t>The nodes may be geographically dispersed and operate autonomously, but they communicate and coordinate to solve problems or process data.</a:t>
            </a:r>
          </a:p>
          <a:p>
            <a:pPr marL="469265" indent="-457200" algn="just">
              <a:lnSpc>
                <a:spcPct val="120000"/>
              </a:lnSpc>
              <a:spcBef>
                <a:spcPts val="95"/>
              </a:spcBef>
              <a:tabLst>
                <a:tab pos="355600" algn="l"/>
                <a:tab pos="356235" algn="l"/>
              </a:tabLst>
            </a:pPr>
            <a:r>
              <a:rPr lang="en-US" sz="1600" dirty="0">
                <a:cs typeface="Calibri"/>
              </a:rPr>
              <a:t>In distributed computing, the workload is divided into smaller chunks and distributed across various machines (sometimes referred to as workers or nodes). These nodes can either be in the same physical location or spread across different locations globally. </a:t>
            </a:r>
          </a:p>
          <a:p>
            <a:pPr marL="469265" indent="-457200" algn="just">
              <a:lnSpc>
                <a:spcPct val="120000"/>
              </a:lnSpc>
              <a:spcBef>
                <a:spcPts val="95"/>
              </a:spcBef>
              <a:tabLst>
                <a:tab pos="355600" algn="l"/>
                <a:tab pos="356235" algn="l"/>
              </a:tabLst>
            </a:pPr>
            <a:r>
              <a:rPr lang="en-US" sz="1600" dirty="0">
                <a:cs typeface="Calibri"/>
              </a:rPr>
              <a:t>The main idea is to combine the processing power of multiple computers to handle large tasks more efficiently than a single machine could on its own.</a:t>
            </a:r>
          </a:p>
        </p:txBody>
      </p:sp>
      <p:sp>
        <p:nvSpPr>
          <p:cNvPr id="5" name="Footer Placeholder 4">
            <a:extLst>
              <a:ext uri="{FF2B5EF4-FFF2-40B4-BE49-F238E27FC236}">
                <a16:creationId xmlns:a16="http://schemas.microsoft.com/office/drawing/2014/main" id="{A84957CB-7949-7C85-DBE5-5B8D1CB59B39}"/>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15B26EA3-A174-4533-FE31-85A8B081F39F}"/>
              </a:ext>
            </a:extLst>
          </p:cNvPr>
          <p:cNvSpPr>
            <a:spLocks noGrp="1"/>
          </p:cNvSpPr>
          <p:nvPr>
            <p:ph type="sldNum" sz="quarter" idx="12"/>
          </p:nvPr>
        </p:nvSpPr>
        <p:spPr/>
        <p:txBody>
          <a:bodyPr/>
          <a:lstStyle/>
          <a:p>
            <a:fld id="{7B69A187-1465-481C-91D5-B2B7D79C567F}" type="slidenum">
              <a:rPr lang="en-US" smtClean="0"/>
              <a:pPr/>
              <a:t>10</a:t>
            </a:fld>
            <a:endParaRPr lang="en-US" dirty="0"/>
          </a:p>
        </p:txBody>
      </p:sp>
      <p:pic>
        <p:nvPicPr>
          <p:cNvPr id="3" name="Picture 2">
            <a:extLst>
              <a:ext uri="{FF2B5EF4-FFF2-40B4-BE49-F238E27FC236}">
                <a16:creationId xmlns:a16="http://schemas.microsoft.com/office/drawing/2014/main" id="{5D5D95A1-508A-2926-4170-AFBED05A8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A1DA168-E67B-D0F4-AF97-2D055F350368}"/>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139230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288997"/>
            <a:ext cx="4396765" cy="381515"/>
          </a:xfrm>
          <a:prstGeom prst="rect">
            <a:avLst/>
          </a:prstGeom>
        </p:spPr>
        <p:txBody>
          <a:bodyPr vert="horz" wrap="square" lIns="0" tIns="12065" rIns="0" bIns="0" rtlCol="0">
            <a:spAutoFit/>
          </a:bodyPr>
          <a:lstStyle/>
          <a:p>
            <a:pPr marL="12700" algn="ctr">
              <a:lnSpc>
                <a:spcPct val="100000"/>
              </a:lnSpc>
              <a:spcBef>
                <a:spcPts val="95"/>
              </a:spcBef>
            </a:pPr>
            <a:r>
              <a:rPr sz="2400" b="1" spc="-30" dirty="0">
                <a:solidFill>
                  <a:srgbClr val="000000"/>
                </a:solidFill>
                <a:latin typeface="Calibri"/>
                <a:cs typeface="Calibri"/>
              </a:rPr>
              <a:t>Why</a:t>
            </a:r>
            <a:r>
              <a:rPr sz="2400" b="1" dirty="0">
                <a:solidFill>
                  <a:srgbClr val="000000"/>
                </a:solidFill>
                <a:latin typeface="Calibri"/>
                <a:cs typeface="Calibri"/>
              </a:rPr>
              <a:t> </a:t>
            </a:r>
            <a:r>
              <a:rPr sz="2400" b="1" spc="-15" dirty="0">
                <a:solidFill>
                  <a:srgbClr val="000000"/>
                </a:solidFill>
                <a:latin typeface="Calibri"/>
                <a:cs typeface="Calibri"/>
              </a:rPr>
              <a:t>Distributed</a:t>
            </a:r>
            <a:r>
              <a:rPr sz="2400" b="1" dirty="0">
                <a:solidFill>
                  <a:srgbClr val="000000"/>
                </a:solidFill>
                <a:latin typeface="Calibri"/>
                <a:cs typeface="Calibri"/>
              </a:rPr>
              <a:t> </a:t>
            </a:r>
            <a:r>
              <a:rPr sz="2400" b="1" spc="-10" dirty="0">
                <a:solidFill>
                  <a:srgbClr val="000000"/>
                </a:solidFill>
                <a:latin typeface="Calibri"/>
                <a:cs typeface="Calibri"/>
              </a:rPr>
              <a:t>Computing?</a:t>
            </a:r>
            <a:endParaRPr sz="24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2</a:t>
            </a:r>
          </a:p>
        </p:txBody>
      </p:sp>
      <p:sp>
        <p:nvSpPr>
          <p:cNvPr id="3" name="object 3"/>
          <p:cNvSpPr txBox="1"/>
          <p:nvPr/>
        </p:nvSpPr>
        <p:spPr>
          <a:xfrm>
            <a:off x="690471" y="971751"/>
            <a:ext cx="7362190" cy="3288665"/>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4965" algn="l"/>
                <a:tab pos="355600" algn="l"/>
              </a:tabLst>
            </a:pPr>
            <a:r>
              <a:rPr sz="1700" spc="-5" dirty="0">
                <a:latin typeface="Calibri"/>
                <a:cs typeface="Calibri"/>
              </a:rPr>
              <a:t>Nature</a:t>
            </a:r>
            <a:r>
              <a:rPr sz="1700" spc="-45" dirty="0">
                <a:latin typeface="Calibri"/>
                <a:cs typeface="Calibri"/>
              </a:rPr>
              <a:t> </a:t>
            </a:r>
            <a:r>
              <a:rPr sz="1700" dirty="0">
                <a:latin typeface="Calibri"/>
                <a:cs typeface="Calibri"/>
              </a:rPr>
              <a:t>of</a:t>
            </a:r>
            <a:r>
              <a:rPr sz="1700" spc="-10" dirty="0">
                <a:latin typeface="Calibri"/>
                <a:cs typeface="Calibri"/>
              </a:rPr>
              <a:t> </a:t>
            </a:r>
            <a:r>
              <a:rPr sz="1700" spc="-5" dirty="0">
                <a:latin typeface="Calibri"/>
                <a:cs typeface="Calibri"/>
              </a:rPr>
              <a:t>application</a:t>
            </a:r>
            <a:endParaRPr sz="1700" dirty="0">
              <a:latin typeface="Calibri"/>
              <a:cs typeface="Calibri"/>
            </a:endParaRPr>
          </a:p>
          <a:p>
            <a:pPr marL="355600" indent="-342900">
              <a:lnSpc>
                <a:spcPts val="2030"/>
              </a:lnSpc>
              <a:buFont typeface="Arial MT"/>
              <a:buChar char="•"/>
              <a:tabLst>
                <a:tab pos="354965" algn="l"/>
                <a:tab pos="355600" algn="l"/>
              </a:tabLst>
            </a:pPr>
            <a:r>
              <a:rPr sz="1700" spc="-10" dirty="0">
                <a:latin typeface="Calibri"/>
                <a:cs typeface="Calibri"/>
              </a:rPr>
              <a:t>Performance</a:t>
            </a:r>
            <a:endParaRPr sz="1700" dirty="0">
              <a:latin typeface="Calibri"/>
              <a:cs typeface="Calibri"/>
            </a:endParaRPr>
          </a:p>
          <a:p>
            <a:pPr marL="756285" lvl="1" indent="-287020">
              <a:lnSpc>
                <a:spcPts val="2630"/>
              </a:lnSpc>
              <a:buFont typeface="Arial MT"/>
              <a:buChar char="–"/>
              <a:tabLst>
                <a:tab pos="756285" algn="l"/>
                <a:tab pos="756920" algn="l"/>
              </a:tabLst>
            </a:pPr>
            <a:r>
              <a:rPr sz="2200" spc="-5" dirty="0">
                <a:latin typeface="Calibri"/>
                <a:cs typeface="Calibri"/>
              </a:rPr>
              <a:t>Computing</a:t>
            </a:r>
            <a:r>
              <a:rPr sz="2200" spc="-45" dirty="0">
                <a:latin typeface="Calibri"/>
                <a:cs typeface="Calibri"/>
              </a:rPr>
              <a:t> </a:t>
            </a:r>
            <a:r>
              <a:rPr sz="2200" spc="-10" dirty="0">
                <a:latin typeface="Calibri"/>
                <a:cs typeface="Calibri"/>
              </a:rPr>
              <a:t>intensive</a:t>
            </a:r>
            <a:endParaRPr sz="2200" dirty="0">
              <a:latin typeface="Calibri"/>
              <a:cs typeface="Calibri"/>
            </a:endParaRPr>
          </a:p>
          <a:p>
            <a:pPr marL="1155700" marR="825500" lvl="2" indent="-228600">
              <a:lnSpc>
                <a:spcPts val="1540"/>
              </a:lnSpc>
              <a:spcBef>
                <a:spcPts val="390"/>
              </a:spcBef>
              <a:buFont typeface="Arial MT"/>
              <a:buChar char="•"/>
              <a:tabLst>
                <a:tab pos="1155065" algn="l"/>
                <a:tab pos="1156335" algn="l"/>
              </a:tabLst>
            </a:pPr>
            <a:r>
              <a:rPr sz="1600" spc="-5" dirty="0">
                <a:latin typeface="Calibri"/>
                <a:cs typeface="Calibri"/>
              </a:rPr>
              <a:t>The</a:t>
            </a:r>
            <a:r>
              <a:rPr sz="1600" dirty="0">
                <a:latin typeface="Calibri"/>
                <a:cs typeface="Calibri"/>
              </a:rPr>
              <a:t> </a:t>
            </a:r>
            <a:r>
              <a:rPr sz="1600" spc="-10" dirty="0">
                <a:latin typeface="Calibri"/>
                <a:cs typeface="Calibri"/>
              </a:rPr>
              <a:t>task</a:t>
            </a:r>
            <a:r>
              <a:rPr sz="1600" spc="10" dirty="0">
                <a:latin typeface="Calibri"/>
                <a:cs typeface="Calibri"/>
              </a:rPr>
              <a:t> </a:t>
            </a:r>
            <a:r>
              <a:rPr sz="1600" spc="-10" dirty="0">
                <a:latin typeface="Calibri"/>
                <a:cs typeface="Calibri"/>
              </a:rPr>
              <a:t>could</a:t>
            </a:r>
            <a:r>
              <a:rPr sz="1600" spc="-5" dirty="0">
                <a:latin typeface="Calibri"/>
                <a:cs typeface="Calibri"/>
              </a:rPr>
              <a:t> </a:t>
            </a:r>
            <a:r>
              <a:rPr sz="1600" spc="-10" dirty="0">
                <a:latin typeface="Calibri"/>
                <a:cs typeface="Calibri"/>
              </a:rPr>
              <a:t>consume</a:t>
            </a:r>
            <a:r>
              <a:rPr sz="1600" spc="10" dirty="0">
                <a:latin typeface="Calibri"/>
                <a:cs typeface="Calibri"/>
              </a:rPr>
              <a:t> </a:t>
            </a:r>
            <a:r>
              <a:rPr sz="1600" spc="-5" dirty="0">
                <a:latin typeface="Calibri"/>
                <a:cs typeface="Calibri"/>
              </a:rPr>
              <a:t>a</a:t>
            </a:r>
            <a:r>
              <a:rPr sz="1600" dirty="0">
                <a:latin typeface="Calibri"/>
                <a:cs typeface="Calibri"/>
              </a:rPr>
              <a:t> </a:t>
            </a:r>
            <a:r>
              <a:rPr sz="1600" spc="-5" dirty="0">
                <a:latin typeface="Calibri"/>
                <a:cs typeface="Calibri"/>
              </a:rPr>
              <a:t>lot</a:t>
            </a:r>
            <a:r>
              <a:rPr sz="1600" dirty="0">
                <a:latin typeface="Calibri"/>
                <a:cs typeface="Calibri"/>
              </a:rPr>
              <a:t> </a:t>
            </a:r>
            <a:r>
              <a:rPr sz="1600" spc="-5" dirty="0">
                <a:latin typeface="Calibri"/>
                <a:cs typeface="Calibri"/>
              </a:rPr>
              <a:t>of</a:t>
            </a:r>
            <a:r>
              <a:rPr sz="1600" spc="15" dirty="0">
                <a:latin typeface="Calibri"/>
                <a:cs typeface="Calibri"/>
              </a:rPr>
              <a:t> </a:t>
            </a:r>
            <a:r>
              <a:rPr sz="1600" spc="-5" dirty="0">
                <a:latin typeface="Calibri"/>
                <a:cs typeface="Calibri"/>
              </a:rPr>
              <a:t>time on</a:t>
            </a:r>
            <a:r>
              <a:rPr sz="1600" spc="5" dirty="0">
                <a:latin typeface="Calibri"/>
                <a:cs typeface="Calibri"/>
              </a:rPr>
              <a:t> </a:t>
            </a:r>
            <a:r>
              <a:rPr sz="1600" spc="-10" dirty="0">
                <a:latin typeface="Calibri"/>
                <a:cs typeface="Calibri"/>
              </a:rPr>
              <a:t>computing.</a:t>
            </a:r>
            <a:r>
              <a:rPr sz="1600" spc="-15" dirty="0">
                <a:latin typeface="Calibri"/>
                <a:cs typeface="Calibri"/>
              </a:rPr>
              <a:t> For</a:t>
            </a:r>
            <a:r>
              <a:rPr sz="1600" spc="25" dirty="0">
                <a:latin typeface="Calibri"/>
                <a:cs typeface="Calibri"/>
              </a:rPr>
              <a:t> </a:t>
            </a:r>
            <a:r>
              <a:rPr sz="1600" spc="-10" dirty="0">
                <a:latin typeface="Calibri"/>
                <a:cs typeface="Calibri"/>
              </a:rPr>
              <a:t>example, </a:t>
            </a:r>
            <a:r>
              <a:rPr sz="1600" spc="-345" dirty="0">
                <a:latin typeface="Calibri"/>
                <a:cs typeface="Calibri"/>
              </a:rPr>
              <a:t> </a:t>
            </a:r>
            <a:r>
              <a:rPr sz="1600" spc="-10" dirty="0">
                <a:latin typeface="Calibri"/>
                <a:cs typeface="Calibri"/>
              </a:rPr>
              <a:t>Computation </a:t>
            </a:r>
            <a:r>
              <a:rPr sz="1600" spc="-5" dirty="0">
                <a:latin typeface="Calibri"/>
                <a:cs typeface="Calibri"/>
              </a:rPr>
              <a:t>of </a:t>
            </a:r>
            <a:r>
              <a:rPr sz="1600" dirty="0">
                <a:latin typeface="Calibri"/>
                <a:cs typeface="Calibri"/>
              </a:rPr>
              <a:t>Pi</a:t>
            </a:r>
            <a:r>
              <a:rPr sz="1600" spc="-5" dirty="0">
                <a:latin typeface="Calibri"/>
                <a:cs typeface="Calibri"/>
              </a:rPr>
              <a:t> </a:t>
            </a:r>
            <a:r>
              <a:rPr sz="1600" spc="-10" dirty="0">
                <a:latin typeface="Calibri"/>
                <a:cs typeface="Calibri"/>
              </a:rPr>
              <a:t>value</a:t>
            </a:r>
            <a:r>
              <a:rPr sz="1600" spc="-5" dirty="0">
                <a:latin typeface="Calibri"/>
                <a:cs typeface="Calibri"/>
              </a:rPr>
              <a:t> using</a:t>
            </a:r>
            <a:r>
              <a:rPr sz="1600" spc="-20" dirty="0">
                <a:latin typeface="Calibri"/>
                <a:cs typeface="Calibri"/>
              </a:rPr>
              <a:t> </a:t>
            </a:r>
            <a:r>
              <a:rPr sz="1600" spc="-10" dirty="0">
                <a:latin typeface="Calibri"/>
                <a:cs typeface="Calibri"/>
              </a:rPr>
              <a:t>Monte</a:t>
            </a:r>
            <a:r>
              <a:rPr sz="1600" spc="-5" dirty="0">
                <a:latin typeface="Calibri"/>
                <a:cs typeface="Calibri"/>
              </a:rPr>
              <a:t> Carlo</a:t>
            </a:r>
            <a:r>
              <a:rPr sz="1600" spc="5" dirty="0">
                <a:latin typeface="Calibri"/>
                <a:cs typeface="Calibri"/>
              </a:rPr>
              <a:t> </a:t>
            </a:r>
            <a:r>
              <a:rPr sz="1600" spc="-5" dirty="0">
                <a:latin typeface="Calibri"/>
                <a:cs typeface="Calibri"/>
              </a:rPr>
              <a:t>simulation</a:t>
            </a:r>
            <a:endParaRPr sz="1600" dirty="0">
              <a:latin typeface="Calibri"/>
              <a:cs typeface="Calibri"/>
            </a:endParaRPr>
          </a:p>
          <a:p>
            <a:pPr marL="756285" lvl="1" indent="-287020">
              <a:lnSpc>
                <a:spcPts val="2625"/>
              </a:lnSpc>
              <a:buFont typeface="Arial MT"/>
              <a:buChar char="–"/>
              <a:tabLst>
                <a:tab pos="756285" algn="l"/>
                <a:tab pos="756920" algn="l"/>
              </a:tabLst>
            </a:pPr>
            <a:r>
              <a:rPr sz="2200" spc="-15" dirty="0">
                <a:latin typeface="Calibri"/>
                <a:cs typeface="Calibri"/>
              </a:rPr>
              <a:t>Data</a:t>
            </a:r>
            <a:r>
              <a:rPr sz="2200" spc="-25" dirty="0">
                <a:latin typeface="Calibri"/>
                <a:cs typeface="Calibri"/>
              </a:rPr>
              <a:t> </a:t>
            </a:r>
            <a:r>
              <a:rPr sz="2200" spc="-15" dirty="0">
                <a:latin typeface="Calibri"/>
                <a:cs typeface="Calibri"/>
              </a:rPr>
              <a:t>intensive</a:t>
            </a:r>
            <a:endParaRPr sz="2200" dirty="0">
              <a:latin typeface="Calibri"/>
              <a:cs typeface="Calibri"/>
            </a:endParaRPr>
          </a:p>
          <a:p>
            <a:pPr marL="1155700" marR="170180" lvl="2" indent="-228600">
              <a:lnSpc>
                <a:spcPts val="1540"/>
              </a:lnSpc>
              <a:spcBef>
                <a:spcPts val="395"/>
              </a:spcBef>
              <a:buFont typeface="Arial MT"/>
              <a:buChar char="•"/>
              <a:tabLst>
                <a:tab pos="1155065" algn="l"/>
                <a:tab pos="1156335" algn="l"/>
              </a:tabLst>
            </a:pPr>
            <a:r>
              <a:rPr sz="1600" spc="-5" dirty="0">
                <a:latin typeface="Calibri"/>
                <a:cs typeface="Calibri"/>
              </a:rPr>
              <a:t>The</a:t>
            </a:r>
            <a:r>
              <a:rPr sz="1600" dirty="0">
                <a:latin typeface="Calibri"/>
                <a:cs typeface="Calibri"/>
              </a:rPr>
              <a:t> </a:t>
            </a:r>
            <a:r>
              <a:rPr sz="1600" spc="-10" dirty="0">
                <a:latin typeface="Calibri"/>
                <a:cs typeface="Calibri"/>
              </a:rPr>
              <a:t>task</a:t>
            </a:r>
            <a:r>
              <a:rPr sz="1600" spc="5" dirty="0">
                <a:latin typeface="Calibri"/>
                <a:cs typeface="Calibri"/>
              </a:rPr>
              <a:t> </a:t>
            </a:r>
            <a:r>
              <a:rPr sz="1600" spc="-10" dirty="0">
                <a:latin typeface="Calibri"/>
                <a:cs typeface="Calibri"/>
              </a:rPr>
              <a:t>that </a:t>
            </a:r>
            <a:r>
              <a:rPr sz="1600" spc="-5" dirty="0">
                <a:latin typeface="Calibri"/>
                <a:cs typeface="Calibri"/>
              </a:rPr>
              <a:t>deals</a:t>
            </a:r>
            <a:r>
              <a:rPr sz="1600" spc="-10" dirty="0">
                <a:latin typeface="Calibri"/>
                <a:cs typeface="Calibri"/>
              </a:rPr>
              <a:t> </a:t>
            </a:r>
            <a:r>
              <a:rPr sz="1600" spc="-5" dirty="0">
                <a:latin typeface="Calibri"/>
                <a:cs typeface="Calibri"/>
              </a:rPr>
              <a:t>with a</a:t>
            </a:r>
            <a:r>
              <a:rPr sz="1600" dirty="0">
                <a:latin typeface="Calibri"/>
                <a:cs typeface="Calibri"/>
              </a:rPr>
              <a:t> </a:t>
            </a:r>
            <a:r>
              <a:rPr sz="1600" spc="-10" dirty="0">
                <a:latin typeface="Calibri"/>
                <a:cs typeface="Calibri"/>
              </a:rPr>
              <a:t>large</a:t>
            </a:r>
            <a:r>
              <a:rPr sz="1600" dirty="0">
                <a:latin typeface="Calibri"/>
                <a:cs typeface="Calibri"/>
              </a:rPr>
              <a:t> </a:t>
            </a:r>
            <a:r>
              <a:rPr sz="1600" spc="-5" dirty="0">
                <a:latin typeface="Calibri"/>
                <a:cs typeface="Calibri"/>
              </a:rPr>
              <a:t>amount</a:t>
            </a:r>
            <a:r>
              <a:rPr sz="1600" spc="5" dirty="0">
                <a:latin typeface="Calibri"/>
                <a:cs typeface="Calibri"/>
              </a:rPr>
              <a:t> </a:t>
            </a:r>
            <a:r>
              <a:rPr sz="1600" spc="-5" dirty="0">
                <a:latin typeface="Calibri"/>
                <a:cs typeface="Calibri"/>
              </a:rPr>
              <a:t>or</a:t>
            </a:r>
            <a:r>
              <a:rPr sz="1600" spc="15" dirty="0">
                <a:latin typeface="Calibri"/>
                <a:cs typeface="Calibri"/>
              </a:rPr>
              <a:t> </a:t>
            </a:r>
            <a:r>
              <a:rPr sz="1600" spc="-10" dirty="0">
                <a:latin typeface="Calibri"/>
                <a:cs typeface="Calibri"/>
              </a:rPr>
              <a:t>large</a:t>
            </a:r>
            <a:r>
              <a:rPr sz="1600" dirty="0">
                <a:latin typeface="Calibri"/>
                <a:cs typeface="Calibri"/>
              </a:rPr>
              <a:t> </a:t>
            </a:r>
            <a:r>
              <a:rPr sz="1600" spc="-15" dirty="0">
                <a:latin typeface="Calibri"/>
                <a:cs typeface="Calibri"/>
              </a:rPr>
              <a:t>size</a:t>
            </a:r>
            <a:r>
              <a:rPr sz="1600" dirty="0">
                <a:latin typeface="Calibri"/>
                <a:cs typeface="Calibri"/>
              </a:rPr>
              <a:t> </a:t>
            </a:r>
            <a:r>
              <a:rPr sz="1600" spc="-5" dirty="0">
                <a:latin typeface="Calibri"/>
                <a:cs typeface="Calibri"/>
              </a:rPr>
              <a:t>of</a:t>
            </a:r>
            <a:r>
              <a:rPr sz="1600" spc="10" dirty="0">
                <a:latin typeface="Calibri"/>
                <a:cs typeface="Calibri"/>
              </a:rPr>
              <a:t> </a:t>
            </a:r>
            <a:r>
              <a:rPr sz="1600" spc="-5" dirty="0">
                <a:latin typeface="Calibri"/>
                <a:cs typeface="Calibri"/>
              </a:rPr>
              <a:t>files.</a:t>
            </a:r>
            <a:r>
              <a:rPr sz="1600" spc="-25" dirty="0">
                <a:latin typeface="Calibri"/>
                <a:cs typeface="Calibri"/>
              </a:rPr>
              <a:t> </a:t>
            </a:r>
            <a:r>
              <a:rPr sz="1600" spc="-15" dirty="0">
                <a:latin typeface="Calibri"/>
                <a:cs typeface="Calibri"/>
              </a:rPr>
              <a:t>For</a:t>
            </a:r>
            <a:r>
              <a:rPr sz="1600" spc="15" dirty="0">
                <a:latin typeface="Calibri"/>
                <a:cs typeface="Calibri"/>
              </a:rPr>
              <a:t> </a:t>
            </a:r>
            <a:r>
              <a:rPr sz="1600" spc="-10" dirty="0">
                <a:latin typeface="Calibri"/>
                <a:cs typeface="Calibri"/>
              </a:rPr>
              <a:t>example, </a:t>
            </a:r>
            <a:r>
              <a:rPr sz="1600" spc="-345" dirty="0">
                <a:latin typeface="Calibri"/>
                <a:cs typeface="Calibri"/>
              </a:rPr>
              <a:t> </a:t>
            </a:r>
            <a:r>
              <a:rPr sz="1600" spc="-10" dirty="0">
                <a:latin typeface="Calibri"/>
                <a:cs typeface="Calibri"/>
              </a:rPr>
              <a:t>Facebook,</a:t>
            </a:r>
            <a:r>
              <a:rPr sz="1600" spc="40" dirty="0">
                <a:latin typeface="Calibri"/>
                <a:cs typeface="Calibri"/>
              </a:rPr>
              <a:t> </a:t>
            </a:r>
            <a:r>
              <a:rPr sz="1600" spc="-10" dirty="0">
                <a:latin typeface="Calibri"/>
                <a:cs typeface="Calibri"/>
              </a:rPr>
              <a:t>LHC(Large</a:t>
            </a:r>
            <a:r>
              <a:rPr sz="1600" spc="15" dirty="0">
                <a:latin typeface="Calibri"/>
                <a:cs typeface="Calibri"/>
              </a:rPr>
              <a:t> </a:t>
            </a:r>
            <a:r>
              <a:rPr sz="1600" spc="-10" dirty="0">
                <a:latin typeface="Calibri"/>
                <a:cs typeface="Calibri"/>
              </a:rPr>
              <a:t>Hadron</a:t>
            </a:r>
            <a:r>
              <a:rPr sz="1600" spc="5" dirty="0">
                <a:latin typeface="Calibri"/>
                <a:cs typeface="Calibri"/>
              </a:rPr>
              <a:t> </a:t>
            </a:r>
            <a:r>
              <a:rPr sz="1600" spc="-5" dirty="0">
                <a:latin typeface="Calibri"/>
                <a:cs typeface="Calibri"/>
              </a:rPr>
              <a:t>Collider)</a:t>
            </a:r>
            <a:r>
              <a:rPr sz="1600" dirty="0">
                <a:latin typeface="Calibri"/>
                <a:cs typeface="Calibri"/>
              </a:rPr>
              <a:t> </a:t>
            </a:r>
            <a:r>
              <a:rPr sz="1600" spc="-10" dirty="0">
                <a:latin typeface="Calibri"/>
                <a:cs typeface="Calibri"/>
              </a:rPr>
              <a:t>experimental</a:t>
            </a:r>
            <a:r>
              <a:rPr sz="1600" spc="5" dirty="0">
                <a:latin typeface="Calibri"/>
                <a:cs typeface="Calibri"/>
              </a:rPr>
              <a:t> </a:t>
            </a:r>
            <a:r>
              <a:rPr sz="1600" spc="-15" dirty="0">
                <a:latin typeface="Calibri"/>
                <a:cs typeface="Calibri"/>
              </a:rPr>
              <a:t>data </a:t>
            </a:r>
            <a:r>
              <a:rPr sz="1600" spc="-10" dirty="0">
                <a:latin typeface="Calibri"/>
                <a:cs typeface="Calibri"/>
              </a:rPr>
              <a:t>processing.</a:t>
            </a:r>
            <a:endParaRPr sz="1600" dirty="0">
              <a:latin typeface="Calibri"/>
              <a:cs typeface="Calibri"/>
            </a:endParaRPr>
          </a:p>
          <a:p>
            <a:pPr marL="355600" indent="-342900">
              <a:lnSpc>
                <a:spcPts val="2030"/>
              </a:lnSpc>
              <a:spcBef>
                <a:spcPts val="5"/>
              </a:spcBef>
              <a:buFont typeface="Arial MT"/>
              <a:buChar char="•"/>
              <a:tabLst>
                <a:tab pos="354965" algn="l"/>
                <a:tab pos="355600" algn="l"/>
              </a:tabLst>
            </a:pPr>
            <a:r>
              <a:rPr sz="1700" spc="-10" dirty="0">
                <a:latin typeface="Calibri"/>
                <a:cs typeface="Calibri"/>
              </a:rPr>
              <a:t>Robustness</a:t>
            </a:r>
            <a:endParaRPr sz="1700" dirty="0">
              <a:latin typeface="Calibri"/>
              <a:cs typeface="Calibri"/>
            </a:endParaRPr>
          </a:p>
          <a:p>
            <a:pPr marL="756285" lvl="1" indent="-287020">
              <a:lnSpc>
                <a:spcPts val="2630"/>
              </a:lnSpc>
              <a:buFont typeface="Arial MT"/>
              <a:buChar char="–"/>
              <a:tabLst>
                <a:tab pos="756285" algn="l"/>
                <a:tab pos="756920" algn="l"/>
              </a:tabLst>
            </a:pPr>
            <a:r>
              <a:rPr sz="2200" spc="-5" dirty="0">
                <a:latin typeface="Calibri"/>
                <a:cs typeface="Calibri"/>
              </a:rPr>
              <a:t>No</a:t>
            </a:r>
            <a:r>
              <a:rPr sz="2200" dirty="0">
                <a:latin typeface="Calibri"/>
                <a:cs typeface="Calibri"/>
              </a:rPr>
              <a:t> </a:t>
            </a:r>
            <a:r>
              <a:rPr sz="2200" spc="-5" dirty="0">
                <a:latin typeface="Calibri"/>
                <a:cs typeface="Calibri"/>
              </a:rPr>
              <a:t>SPOF</a:t>
            </a:r>
            <a:r>
              <a:rPr sz="2200" dirty="0">
                <a:latin typeface="Calibri"/>
                <a:cs typeface="Calibri"/>
              </a:rPr>
              <a:t> </a:t>
            </a:r>
            <a:r>
              <a:rPr sz="2200" spc="-5" dirty="0">
                <a:latin typeface="Calibri"/>
                <a:cs typeface="Calibri"/>
              </a:rPr>
              <a:t>(Single</a:t>
            </a:r>
            <a:r>
              <a:rPr sz="2200" spc="5" dirty="0">
                <a:latin typeface="Calibri"/>
                <a:cs typeface="Calibri"/>
              </a:rPr>
              <a:t> </a:t>
            </a:r>
            <a:r>
              <a:rPr sz="2200" spc="-20" dirty="0">
                <a:latin typeface="Calibri"/>
                <a:cs typeface="Calibri"/>
              </a:rPr>
              <a:t>Point</a:t>
            </a:r>
            <a:r>
              <a:rPr sz="2200" spc="-10" dirty="0">
                <a:latin typeface="Calibri"/>
                <a:cs typeface="Calibri"/>
              </a:rPr>
              <a:t> </a:t>
            </a:r>
            <a:r>
              <a:rPr sz="2200" spc="-5" dirty="0">
                <a:latin typeface="Calibri"/>
                <a:cs typeface="Calibri"/>
              </a:rPr>
              <a:t>Of</a:t>
            </a:r>
            <a:r>
              <a:rPr sz="2200" spc="5" dirty="0">
                <a:latin typeface="Calibri"/>
                <a:cs typeface="Calibri"/>
              </a:rPr>
              <a:t> </a:t>
            </a:r>
            <a:r>
              <a:rPr sz="2200" spc="-15" dirty="0">
                <a:latin typeface="Calibri"/>
                <a:cs typeface="Calibri"/>
              </a:rPr>
              <a:t>Failure)</a:t>
            </a:r>
            <a:endParaRPr sz="2200" dirty="0">
              <a:latin typeface="Calibri"/>
              <a:cs typeface="Calibri"/>
            </a:endParaRPr>
          </a:p>
          <a:p>
            <a:pPr marL="756285" marR="5080" lvl="1" indent="-287020">
              <a:lnSpc>
                <a:spcPct val="80000"/>
              </a:lnSpc>
              <a:spcBef>
                <a:spcPts val="525"/>
              </a:spcBef>
              <a:buFont typeface="Arial MT"/>
              <a:buChar char="–"/>
              <a:tabLst>
                <a:tab pos="756285" algn="l"/>
                <a:tab pos="756920" algn="l"/>
              </a:tabLst>
            </a:pPr>
            <a:r>
              <a:rPr sz="2200" spc="-10" dirty="0">
                <a:latin typeface="Calibri"/>
                <a:cs typeface="Calibri"/>
              </a:rPr>
              <a:t>Other</a:t>
            </a:r>
            <a:r>
              <a:rPr sz="2200" spc="15" dirty="0">
                <a:latin typeface="Calibri"/>
                <a:cs typeface="Calibri"/>
              </a:rPr>
              <a:t> </a:t>
            </a:r>
            <a:r>
              <a:rPr sz="2200" spc="-10" dirty="0">
                <a:latin typeface="Calibri"/>
                <a:cs typeface="Calibri"/>
              </a:rPr>
              <a:t>nodes</a:t>
            </a:r>
            <a:r>
              <a:rPr sz="2200" spc="10" dirty="0">
                <a:latin typeface="Calibri"/>
                <a:cs typeface="Calibri"/>
              </a:rPr>
              <a:t> </a:t>
            </a:r>
            <a:r>
              <a:rPr sz="2200" spc="-15" dirty="0">
                <a:latin typeface="Calibri"/>
                <a:cs typeface="Calibri"/>
              </a:rPr>
              <a:t>can</a:t>
            </a:r>
            <a:r>
              <a:rPr sz="2200" dirty="0">
                <a:latin typeface="Calibri"/>
                <a:cs typeface="Calibri"/>
              </a:rPr>
              <a:t> </a:t>
            </a:r>
            <a:r>
              <a:rPr sz="2200" spc="-25" dirty="0">
                <a:latin typeface="Calibri"/>
                <a:cs typeface="Calibri"/>
              </a:rPr>
              <a:t>execute</a:t>
            </a:r>
            <a:r>
              <a:rPr sz="2200" spc="35" dirty="0">
                <a:latin typeface="Calibri"/>
                <a:cs typeface="Calibri"/>
              </a:rPr>
              <a:t> </a:t>
            </a:r>
            <a:r>
              <a:rPr sz="2200" spc="-5" dirty="0">
                <a:latin typeface="Calibri"/>
                <a:cs typeface="Calibri"/>
              </a:rPr>
              <a:t>the</a:t>
            </a:r>
            <a:r>
              <a:rPr sz="2200" spc="10" dirty="0">
                <a:latin typeface="Calibri"/>
                <a:cs typeface="Calibri"/>
              </a:rPr>
              <a:t> </a:t>
            </a:r>
            <a:r>
              <a:rPr sz="2200" spc="-5" dirty="0">
                <a:latin typeface="Calibri"/>
                <a:cs typeface="Calibri"/>
              </a:rPr>
              <a:t>same</a:t>
            </a:r>
            <a:r>
              <a:rPr sz="2200" dirty="0">
                <a:latin typeface="Calibri"/>
                <a:cs typeface="Calibri"/>
              </a:rPr>
              <a:t> </a:t>
            </a:r>
            <a:r>
              <a:rPr sz="2200" spc="-10" dirty="0">
                <a:latin typeface="Calibri"/>
                <a:cs typeface="Calibri"/>
              </a:rPr>
              <a:t>task</a:t>
            </a:r>
            <a:r>
              <a:rPr sz="2200" spc="-5" dirty="0">
                <a:latin typeface="Calibri"/>
                <a:cs typeface="Calibri"/>
              </a:rPr>
              <a:t> </a:t>
            </a:r>
            <a:r>
              <a:rPr sz="2200" spc="-20" dirty="0">
                <a:latin typeface="Calibri"/>
                <a:cs typeface="Calibri"/>
              </a:rPr>
              <a:t>executed</a:t>
            </a:r>
            <a:r>
              <a:rPr sz="2200" spc="25" dirty="0">
                <a:latin typeface="Calibri"/>
                <a:cs typeface="Calibri"/>
              </a:rPr>
              <a:t> </a:t>
            </a:r>
            <a:r>
              <a:rPr sz="2200" spc="-5" dirty="0">
                <a:latin typeface="Calibri"/>
                <a:cs typeface="Calibri"/>
              </a:rPr>
              <a:t>on</a:t>
            </a:r>
            <a:r>
              <a:rPr sz="2200" dirty="0">
                <a:latin typeface="Calibri"/>
                <a:cs typeface="Calibri"/>
              </a:rPr>
              <a:t> </a:t>
            </a:r>
            <a:r>
              <a:rPr sz="2200" spc="-10" dirty="0">
                <a:latin typeface="Calibri"/>
                <a:cs typeface="Calibri"/>
              </a:rPr>
              <a:t>failed </a:t>
            </a:r>
            <a:r>
              <a:rPr sz="2200" spc="-484" dirty="0">
                <a:latin typeface="Calibri"/>
                <a:cs typeface="Calibri"/>
              </a:rPr>
              <a:t> </a:t>
            </a:r>
            <a:r>
              <a:rPr sz="2200" spc="-10" dirty="0">
                <a:latin typeface="Calibri"/>
                <a:cs typeface="Calibri"/>
              </a:rPr>
              <a:t>node.</a:t>
            </a:r>
            <a:endParaRPr sz="2200" dirty="0">
              <a:latin typeface="Calibri"/>
              <a:cs typeface="Calibri"/>
            </a:endParaRPr>
          </a:p>
        </p:txBody>
      </p:sp>
      <p:sp>
        <p:nvSpPr>
          <p:cNvPr id="5" name="Footer Placeholder 4">
            <a:extLst>
              <a:ext uri="{FF2B5EF4-FFF2-40B4-BE49-F238E27FC236}">
                <a16:creationId xmlns:a16="http://schemas.microsoft.com/office/drawing/2014/main" id="{280A1D35-009F-2D69-CF8B-B22A0C6D2C16}"/>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372543"/>
            <a:ext cx="5022723" cy="382797"/>
          </a:xfrm>
          <a:prstGeom prst="rect">
            <a:avLst/>
          </a:prstGeom>
        </p:spPr>
        <p:txBody>
          <a:bodyPr vert="horz" wrap="square" lIns="0" tIns="13335" rIns="0" bIns="0" rtlCol="0">
            <a:spAutoFit/>
          </a:bodyPr>
          <a:lstStyle/>
          <a:p>
            <a:pPr marL="12700" algn="ctr">
              <a:lnSpc>
                <a:spcPct val="100000"/>
              </a:lnSpc>
              <a:spcBef>
                <a:spcPts val="105"/>
              </a:spcBef>
            </a:pPr>
            <a:r>
              <a:rPr sz="2400" b="1" spc="-10" dirty="0">
                <a:solidFill>
                  <a:srgbClr val="000000"/>
                </a:solidFill>
                <a:latin typeface="Calibri"/>
                <a:cs typeface="Calibri"/>
              </a:rPr>
              <a:t>Distributed</a:t>
            </a:r>
            <a:r>
              <a:rPr sz="2400" b="1" spc="-40" dirty="0">
                <a:solidFill>
                  <a:srgbClr val="000000"/>
                </a:solidFill>
                <a:latin typeface="Calibri"/>
                <a:cs typeface="Calibri"/>
              </a:rPr>
              <a:t> </a:t>
            </a:r>
            <a:r>
              <a:rPr sz="2400" b="1" spc="-10" dirty="0">
                <a:solidFill>
                  <a:srgbClr val="000000"/>
                </a:solidFill>
                <a:latin typeface="Calibri"/>
                <a:cs typeface="Calibri"/>
              </a:rPr>
              <a:t>applications</a:t>
            </a:r>
            <a:endParaRPr sz="24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3</a:t>
            </a:r>
          </a:p>
        </p:txBody>
      </p:sp>
      <p:sp>
        <p:nvSpPr>
          <p:cNvPr id="3" name="object 3"/>
          <p:cNvSpPr txBox="1"/>
          <p:nvPr/>
        </p:nvSpPr>
        <p:spPr>
          <a:xfrm>
            <a:off x="543257" y="1099820"/>
            <a:ext cx="7830820" cy="2830830"/>
          </a:xfrm>
          <a:prstGeom prst="rect">
            <a:avLst/>
          </a:prstGeom>
        </p:spPr>
        <p:txBody>
          <a:bodyPr vert="horz" wrap="square" lIns="0" tIns="47625" rIns="0" bIns="0" rtlCol="0">
            <a:spAutoFit/>
          </a:bodyPr>
          <a:lstStyle/>
          <a:p>
            <a:pPr marL="194945" marR="5080" indent="-182880">
              <a:lnSpc>
                <a:spcPts val="2160"/>
              </a:lnSpc>
              <a:spcBef>
                <a:spcPts val="375"/>
              </a:spcBef>
              <a:buClr>
                <a:srgbClr val="4F80BC"/>
              </a:buClr>
              <a:buSzPct val="85000"/>
              <a:buFont typeface="Arial MT"/>
              <a:buChar char="•"/>
              <a:tabLst>
                <a:tab pos="195580" algn="l"/>
              </a:tabLst>
            </a:pPr>
            <a:r>
              <a:rPr sz="2000" spc="-5" dirty="0">
                <a:latin typeface="Calibri"/>
                <a:cs typeface="Calibri"/>
              </a:rPr>
              <a:t>Applications</a:t>
            </a:r>
            <a:r>
              <a:rPr sz="2000" dirty="0">
                <a:latin typeface="Calibri"/>
                <a:cs typeface="Calibri"/>
              </a:rPr>
              <a:t> </a:t>
            </a:r>
            <a:r>
              <a:rPr sz="2000" spc="-5" dirty="0">
                <a:latin typeface="Calibri"/>
                <a:cs typeface="Calibri"/>
              </a:rPr>
              <a:t>that</a:t>
            </a:r>
            <a:r>
              <a:rPr sz="2000" dirty="0">
                <a:latin typeface="Calibri"/>
                <a:cs typeface="Calibri"/>
              </a:rPr>
              <a:t> </a:t>
            </a:r>
            <a:r>
              <a:rPr sz="2000" spc="-5" dirty="0">
                <a:latin typeface="Calibri"/>
                <a:cs typeface="Calibri"/>
              </a:rPr>
              <a:t>consist</a:t>
            </a:r>
            <a:r>
              <a:rPr sz="2000" dirty="0">
                <a:latin typeface="Calibri"/>
                <a:cs typeface="Calibri"/>
              </a:rPr>
              <a:t> </a:t>
            </a:r>
            <a:r>
              <a:rPr sz="2000" spc="-5" dirty="0">
                <a:latin typeface="Calibri"/>
                <a:cs typeface="Calibri"/>
              </a:rPr>
              <a:t>of</a:t>
            </a:r>
            <a:r>
              <a:rPr sz="2000" dirty="0">
                <a:latin typeface="Calibri"/>
                <a:cs typeface="Calibri"/>
              </a:rPr>
              <a:t> a</a:t>
            </a:r>
            <a:r>
              <a:rPr sz="2000" spc="5" dirty="0">
                <a:latin typeface="Calibri"/>
                <a:cs typeface="Calibri"/>
              </a:rPr>
              <a:t> </a:t>
            </a:r>
            <a:r>
              <a:rPr sz="2000" spc="-10" dirty="0">
                <a:latin typeface="Calibri"/>
                <a:cs typeface="Calibri"/>
              </a:rPr>
              <a:t>set</a:t>
            </a:r>
            <a:r>
              <a:rPr sz="2000" spc="15" dirty="0">
                <a:latin typeface="Calibri"/>
                <a:cs typeface="Calibri"/>
              </a:rPr>
              <a:t> </a:t>
            </a:r>
            <a:r>
              <a:rPr sz="2000" spc="-5" dirty="0">
                <a:latin typeface="Calibri"/>
                <a:cs typeface="Calibri"/>
              </a:rPr>
              <a:t>of</a:t>
            </a:r>
            <a:r>
              <a:rPr sz="2000" spc="-10" dirty="0">
                <a:latin typeface="Calibri"/>
                <a:cs typeface="Calibri"/>
              </a:rPr>
              <a:t> processes</a:t>
            </a:r>
            <a:r>
              <a:rPr sz="2000" spc="10" dirty="0">
                <a:latin typeface="Calibri"/>
                <a:cs typeface="Calibri"/>
              </a:rPr>
              <a:t> </a:t>
            </a:r>
            <a:r>
              <a:rPr sz="2000" spc="-5" dirty="0">
                <a:latin typeface="Calibri"/>
                <a:cs typeface="Calibri"/>
              </a:rPr>
              <a:t>that</a:t>
            </a:r>
            <a:r>
              <a:rPr sz="2000" spc="15" dirty="0">
                <a:latin typeface="Calibri"/>
                <a:cs typeface="Calibri"/>
              </a:rPr>
              <a:t> </a:t>
            </a:r>
            <a:r>
              <a:rPr sz="2000" spc="-10" dirty="0">
                <a:latin typeface="Calibri"/>
                <a:cs typeface="Calibri"/>
              </a:rPr>
              <a:t>are</a:t>
            </a:r>
            <a:r>
              <a:rPr sz="2000" spc="5" dirty="0">
                <a:latin typeface="Calibri"/>
                <a:cs typeface="Calibri"/>
              </a:rPr>
              <a:t> </a:t>
            </a:r>
            <a:r>
              <a:rPr sz="2000" spc="-5" dirty="0">
                <a:latin typeface="Calibri"/>
                <a:cs typeface="Calibri"/>
              </a:rPr>
              <a:t>distributed</a:t>
            </a:r>
            <a:r>
              <a:rPr sz="2000" spc="15" dirty="0">
                <a:latin typeface="Calibri"/>
                <a:cs typeface="Calibri"/>
              </a:rPr>
              <a:t> </a:t>
            </a:r>
            <a:r>
              <a:rPr sz="2000" spc="-10" dirty="0">
                <a:latin typeface="Calibri"/>
                <a:cs typeface="Calibri"/>
              </a:rPr>
              <a:t>across </a:t>
            </a:r>
            <a:r>
              <a:rPr sz="2000" dirty="0">
                <a:latin typeface="Calibri"/>
                <a:cs typeface="Calibri"/>
              </a:rPr>
              <a:t>a </a:t>
            </a:r>
            <a:r>
              <a:rPr sz="2000" spc="-434" dirty="0">
                <a:latin typeface="Calibri"/>
                <a:cs typeface="Calibri"/>
              </a:rPr>
              <a:t> </a:t>
            </a:r>
            <a:r>
              <a:rPr sz="2000" spc="-10" dirty="0">
                <a:latin typeface="Calibri"/>
                <a:cs typeface="Calibri"/>
              </a:rPr>
              <a:t>network</a:t>
            </a:r>
            <a:r>
              <a:rPr sz="2000" spc="-5" dirty="0">
                <a:latin typeface="Calibri"/>
                <a:cs typeface="Calibri"/>
              </a:rPr>
              <a:t> of</a:t>
            </a:r>
            <a:r>
              <a:rPr sz="2000" spc="-10" dirty="0">
                <a:latin typeface="Calibri"/>
                <a:cs typeface="Calibri"/>
              </a:rPr>
              <a:t> </a:t>
            </a:r>
            <a:r>
              <a:rPr sz="2000" dirty="0">
                <a:latin typeface="Calibri"/>
                <a:cs typeface="Calibri"/>
              </a:rPr>
              <a:t>machines and </a:t>
            </a:r>
            <a:r>
              <a:rPr sz="2000" spc="-10" dirty="0">
                <a:latin typeface="Calibri"/>
                <a:cs typeface="Calibri"/>
              </a:rPr>
              <a:t>work</a:t>
            </a:r>
            <a:r>
              <a:rPr sz="2000" dirty="0">
                <a:latin typeface="Calibri"/>
                <a:cs typeface="Calibri"/>
              </a:rPr>
              <a:t> </a:t>
            </a:r>
            <a:r>
              <a:rPr sz="2000" spc="-10" dirty="0">
                <a:latin typeface="Calibri"/>
                <a:cs typeface="Calibri"/>
              </a:rPr>
              <a:t>together </a:t>
            </a:r>
            <a:r>
              <a:rPr sz="2000" dirty="0">
                <a:latin typeface="Calibri"/>
                <a:cs typeface="Calibri"/>
              </a:rPr>
              <a:t>as</a:t>
            </a:r>
            <a:r>
              <a:rPr sz="2000" spc="-5" dirty="0">
                <a:latin typeface="Calibri"/>
                <a:cs typeface="Calibri"/>
              </a:rPr>
              <a:t> </a:t>
            </a:r>
            <a:r>
              <a:rPr sz="2000" dirty="0">
                <a:latin typeface="Calibri"/>
                <a:cs typeface="Calibri"/>
              </a:rPr>
              <a:t>an </a:t>
            </a:r>
            <a:r>
              <a:rPr sz="2000" spc="-5" dirty="0">
                <a:latin typeface="Calibri"/>
                <a:cs typeface="Calibri"/>
              </a:rPr>
              <a:t>ensemble</a:t>
            </a:r>
            <a:r>
              <a:rPr sz="2000" spc="10" dirty="0">
                <a:latin typeface="Calibri"/>
                <a:cs typeface="Calibri"/>
              </a:rPr>
              <a:t> </a:t>
            </a:r>
            <a:r>
              <a:rPr sz="2000" spc="-15" dirty="0">
                <a:latin typeface="Calibri"/>
                <a:cs typeface="Calibri"/>
              </a:rPr>
              <a:t>to</a:t>
            </a:r>
            <a:r>
              <a:rPr sz="2000" dirty="0">
                <a:latin typeface="Calibri"/>
                <a:cs typeface="Calibri"/>
              </a:rPr>
              <a:t> </a:t>
            </a:r>
            <a:r>
              <a:rPr sz="2000" spc="-10" dirty="0">
                <a:latin typeface="Calibri"/>
                <a:cs typeface="Calibri"/>
              </a:rPr>
              <a:t>solve</a:t>
            </a:r>
            <a:r>
              <a:rPr sz="2000" spc="15" dirty="0">
                <a:latin typeface="Calibri"/>
                <a:cs typeface="Calibri"/>
              </a:rPr>
              <a:t> </a:t>
            </a:r>
            <a:r>
              <a:rPr sz="2000" dirty="0">
                <a:latin typeface="Calibri"/>
                <a:cs typeface="Calibri"/>
              </a:rPr>
              <a:t>a </a:t>
            </a:r>
            <a:r>
              <a:rPr sz="2000" spc="5" dirty="0">
                <a:latin typeface="Calibri"/>
                <a:cs typeface="Calibri"/>
              </a:rPr>
              <a:t> </a:t>
            </a:r>
            <a:r>
              <a:rPr sz="2000" spc="-5" dirty="0">
                <a:latin typeface="Calibri"/>
                <a:cs typeface="Calibri"/>
              </a:rPr>
              <a:t>common</a:t>
            </a:r>
            <a:r>
              <a:rPr sz="2000" spc="-25" dirty="0">
                <a:latin typeface="Calibri"/>
                <a:cs typeface="Calibri"/>
              </a:rPr>
              <a:t> </a:t>
            </a:r>
            <a:r>
              <a:rPr sz="2000" spc="-10" dirty="0">
                <a:latin typeface="Calibri"/>
                <a:cs typeface="Calibri"/>
              </a:rPr>
              <a:t>problem</a:t>
            </a:r>
            <a:endParaRPr sz="2000" dirty="0">
              <a:latin typeface="Calibri"/>
              <a:cs typeface="Calibri"/>
            </a:endParaRPr>
          </a:p>
          <a:p>
            <a:pPr>
              <a:lnSpc>
                <a:spcPct val="100000"/>
              </a:lnSpc>
              <a:spcBef>
                <a:spcPts val="40"/>
              </a:spcBef>
              <a:buClr>
                <a:srgbClr val="4F80BC"/>
              </a:buClr>
              <a:buFont typeface="Arial MT"/>
              <a:buChar char="•"/>
            </a:pPr>
            <a:endParaRPr sz="2300" dirty="0">
              <a:latin typeface="Calibri"/>
              <a:cs typeface="Calibri"/>
            </a:endParaRPr>
          </a:p>
          <a:p>
            <a:pPr marL="195580" indent="-182880">
              <a:lnSpc>
                <a:spcPct val="100000"/>
              </a:lnSpc>
              <a:buClr>
                <a:srgbClr val="4F80BC"/>
              </a:buClr>
              <a:buSzPct val="85000"/>
              <a:buFont typeface="Arial MT"/>
              <a:buChar char="•"/>
              <a:tabLst>
                <a:tab pos="195580" algn="l"/>
              </a:tabLst>
            </a:pPr>
            <a:r>
              <a:rPr sz="2000" dirty="0">
                <a:latin typeface="Calibri"/>
                <a:cs typeface="Calibri"/>
              </a:rPr>
              <a:t>In</a:t>
            </a:r>
            <a:r>
              <a:rPr sz="2000" spc="-10" dirty="0">
                <a:latin typeface="Calibri"/>
                <a:cs typeface="Calibri"/>
              </a:rPr>
              <a:t> </a:t>
            </a:r>
            <a:r>
              <a:rPr sz="2000" dirty="0">
                <a:latin typeface="Calibri"/>
                <a:cs typeface="Calibri"/>
              </a:rPr>
              <a:t>the</a:t>
            </a:r>
            <a:r>
              <a:rPr sz="2000" spc="-25" dirty="0">
                <a:latin typeface="Calibri"/>
                <a:cs typeface="Calibri"/>
              </a:rPr>
              <a:t> </a:t>
            </a:r>
            <a:r>
              <a:rPr sz="2000" spc="-10" dirty="0">
                <a:latin typeface="Calibri"/>
                <a:cs typeface="Calibri"/>
              </a:rPr>
              <a:t>past, </a:t>
            </a:r>
            <a:r>
              <a:rPr sz="2000" spc="-5" dirty="0">
                <a:latin typeface="Calibri"/>
                <a:cs typeface="Calibri"/>
              </a:rPr>
              <a:t>mostly</a:t>
            </a:r>
            <a:r>
              <a:rPr sz="2000" spc="-10" dirty="0">
                <a:latin typeface="Calibri"/>
                <a:cs typeface="Calibri"/>
              </a:rPr>
              <a:t> </a:t>
            </a:r>
            <a:r>
              <a:rPr sz="2000" spc="-5" dirty="0">
                <a:latin typeface="Calibri"/>
                <a:cs typeface="Calibri"/>
              </a:rPr>
              <a:t>“client-server”</a:t>
            </a:r>
            <a:endParaRPr sz="2000" dirty="0">
              <a:latin typeface="Calibri"/>
              <a:cs typeface="Calibri"/>
            </a:endParaRPr>
          </a:p>
          <a:p>
            <a:pPr marL="469900" lvl="1" indent="-183515">
              <a:lnSpc>
                <a:spcPct val="100000"/>
              </a:lnSpc>
              <a:spcBef>
                <a:spcPts val="240"/>
              </a:spcBef>
              <a:buClr>
                <a:srgbClr val="4F80BC"/>
              </a:buClr>
              <a:buSzPct val="85000"/>
              <a:buFont typeface="Arial MT"/>
              <a:buChar char="•"/>
              <a:tabLst>
                <a:tab pos="469900" algn="l"/>
              </a:tabLst>
            </a:pPr>
            <a:r>
              <a:rPr sz="2000" spc="-10" dirty="0">
                <a:latin typeface="Calibri"/>
                <a:cs typeface="Calibri"/>
              </a:rPr>
              <a:t>Resource </a:t>
            </a:r>
            <a:r>
              <a:rPr sz="2000" spc="-5" dirty="0">
                <a:latin typeface="Calibri"/>
                <a:cs typeface="Calibri"/>
              </a:rPr>
              <a:t>management </a:t>
            </a:r>
            <a:r>
              <a:rPr sz="2000" spc="-10" dirty="0">
                <a:latin typeface="Calibri"/>
                <a:cs typeface="Calibri"/>
              </a:rPr>
              <a:t>centralized</a:t>
            </a:r>
            <a:r>
              <a:rPr sz="2000" spc="15" dirty="0">
                <a:latin typeface="Calibri"/>
                <a:cs typeface="Calibri"/>
              </a:rPr>
              <a:t> </a:t>
            </a:r>
            <a:r>
              <a:rPr sz="2000" spc="-15" dirty="0">
                <a:latin typeface="Calibri"/>
                <a:cs typeface="Calibri"/>
              </a:rPr>
              <a:t>at</a:t>
            </a:r>
            <a:r>
              <a:rPr sz="2000" spc="-5" dirty="0">
                <a:latin typeface="Calibri"/>
                <a:cs typeface="Calibri"/>
              </a:rPr>
              <a:t> </a:t>
            </a:r>
            <a:r>
              <a:rPr sz="2000" dirty="0">
                <a:latin typeface="Calibri"/>
                <a:cs typeface="Calibri"/>
              </a:rPr>
              <a:t>the</a:t>
            </a:r>
            <a:r>
              <a:rPr sz="2000" spc="-5" dirty="0">
                <a:latin typeface="Calibri"/>
                <a:cs typeface="Calibri"/>
              </a:rPr>
              <a:t> server</a:t>
            </a:r>
            <a:endParaRPr sz="2000" dirty="0">
              <a:latin typeface="Calibri"/>
              <a:cs typeface="Calibri"/>
            </a:endParaRPr>
          </a:p>
          <a:p>
            <a:pPr lvl="1">
              <a:lnSpc>
                <a:spcPct val="100000"/>
              </a:lnSpc>
              <a:spcBef>
                <a:spcPts val="15"/>
              </a:spcBef>
              <a:buClr>
                <a:srgbClr val="4F80BC"/>
              </a:buClr>
              <a:buFont typeface="Arial MT"/>
              <a:buChar char="•"/>
            </a:pPr>
            <a:endParaRPr sz="2350" dirty="0">
              <a:latin typeface="Calibri"/>
              <a:cs typeface="Calibri"/>
            </a:endParaRPr>
          </a:p>
          <a:p>
            <a:pPr marL="251460" indent="-239395">
              <a:lnSpc>
                <a:spcPts val="2280"/>
              </a:lnSpc>
              <a:buClr>
                <a:srgbClr val="4F80BC"/>
              </a:buClr>
              <a:buSzPct val="85000"/>
              <a:buFont typeface="Arial MT"/>
              <a:buChar char="•"/>
              <a:tabLst>
                <a:tab pos="251460" algn="l"/>
                <a:tab pos="252095" algn="l"/>
              </a:tabLst>
            </a:pPr>
            <a:r>
              <a:rPr sz="2000" spc="-10" dirty="0">
                <a:latin typeface="Calibri"/>
                <a:cs typeface="Calibri"/>
              </a:rPr>
              <a:t>“Peer</a:t>
            </a:r>
            <a:r>
              <a:rPr sz="2000" spc="10" dirty="0">
                <a:latin typeface="Calibri"/>
                <a:cs typeface="Calibri"/>
              </a:rPr>
              <a:t> </a:t>
            </a:r>
            <a:r>
              <a:rPr sz="2000" spc="-10" dirty="0">
                <a:latin typeface="Calibri"/>
                <a:cs typeface="Calibri"/>
              </a:rPr>
              <a:t>to</a:t>
            </a:r>
            <a:r>
              <a:rPr sz="2000" dirty="0">
                <a:latin typeface="Calibri"/>
                <a:cs typeface="Calibri"/>
              </a:rPr>
              <a:t> </a:t>
            </a:r>
            <a:r>
              <a:rPr sz="2000" spc="5" dirty="0">
                <a:latin typeface="Calibri"/>
                <a:cs typeface="Calibri"/>
              </a:rPr>
              <a:t>Peer”</a:t>
            </a:r>
            <a:r>
              <a:rPr sz="2000" dirty="0">
                <a:latin typeface="Calibri"/>
                <a:cs typeface="Calibri"/>
              </a:rPr>
              <a:t> </a:t>
            </a:r>
            <a:r>
              <a:rPr sz="2000" spc="-5" dirty="0">
                <a:latin typeface="Calibri"/>
                <a:cs typeface="Calibri"/>
              </a:rPr>
              <a:t>computing</a:t>
            </a:r>
            <a:r>
              <a:rPr sz="2000" spc="-15" dirty="0">
                <a:latin typeface="Calibri"/>
                <a:cs typeface="Calibri"/>
              </a:rPr>
              <a:t> </a:t>
            </a:r>
            <a:r>
              <a:rPr sz="2000" spc="-10" dirty="0">
                <a:latin typeface="Calibri"/>
                <a:cs typeface="Calibri"/>
              </a:rPr>
              <a:t>represents</a:t>
            </a:r>
            <a:r>
              <a:rPr sz="2000" spc="10" dirty="0">
                <a:latin typeface="Calibri"/>
                <a:cs typeface="Calibri"/>
              </a:rPr>
              <a:t> </a:t>
            </a:r>
            <a:r>
              <a:rPr sz="2000" dirty="0">
                <a:latin typeface="Calibri"/>
                <a:cs typeface="Calibri"/>
              </a:rPr>
              <a:t>a</a:t>
            </a:r>
            <a:r>
              <a:rPr sz="2000" spc="5" dirty="0">
                <a:latin typeface="Calibri"/>
                <a:cs typeface="Calibri"/>
              </a:rPr>
              <a:t> </a:t>
            </a:r>
            <a:r>
              <a:rPr sz="2000" spc="-10" dirty="0">
                <a:latin typeface="Calibri"/>
                <a:cs typeface="Calibri"/>
              </a:rPr>
              <a:t>movement</a:t>
            </a:r>
            <a:r>
              <a:rPr sz="2000" spc="15" dirty="0">
                <a:latin typeface="Calibri"/>
                <a:cs typeface="Calibri"/>
              </a:rPr>
              <a:t> </a:t>
            </a:r>
            <a:r>
              <a:rPr sz="2000" spc="-15" dirty="0">
                <a:latin typeface="Calibri"/>
                <a:cs typeface="Calibri"/>
              </a:rPr>
              <a:t>towards</a:t>
            </a:r>
            <a:r>
              <a:rPr sz="2000" dirty="0">
                <a:latin typeface="Calibri"/>
                <a:cs typeface="Calibri"/>
              </a:rPr>
              <a:t> </a:t>
            </a:r>
            <a:r>
              <a:rPr sz="2000" spc="-10" dirty="0">
                <a:latin typeface="Calibri"/>
                <a:cs typeface="Calibri"/>
              </a:rPr>
              <a:t>more</a:t>
            </a:r>
            <a:r>
              <a:rPr sz="2000" spc="5" dirty="0">
                <a:latin typeface="Calibri"/>
                <a:cs typeface="Calibri"/>
              </a:rPr>
              <a:t> “truly”</a:t>
            </a:r>
            <a:endParaRPr sz="2000" dirty="0">
              <a:latin typeface="Calibri"/>
              <a:cs typeface="Calibri"/>
            </a:endParaRPr>
          </a:p>
          <a:p>
            <a:pPr marL="194945">
              <a:lnSpc>
                <a:spcPts val="2280"/>
              </a:lnSpc>
            </a:pPr>
            <a:r>
              <a:rPr sz="2000" spc="-5" dirty="0">
                <a:latin typeface="Calibri"/>
                <a:cs typeface="Calibri"/>
              </a:rPr>
              <a:t>distributed</a:t>
            </a:r>
            <a:r>
              <a:rPr sz="2000" spc="-20" dirty="0">
                <a:latin typeface="Calibri"/>
                <a:cs typeface="Calibri"/>
              </a:rPr>
              <a:t> </a:t>
            </a:r>
            <a:r>
              <a:rPr sz="2000" spc="-5" dirty="0">
                <a:latin typeface="Calibri"/>
                <a:cs typeface="Calibri"/>
              </a:rPr>
              <a:t>applications</a:t>
            </a:r>
            <a:endParaRPr sz="2000" dirty="0">
              <a:latin typeface="Calibri"/>
              <a:cs typeface="Calibri"/>
            </a:endParaRPr>
          </a:p>
        </p:txBody>
      </p:sp>
      <p:sp>
        <p:nvSpPr>
          <p:cNvPr id="5" name="Footer Placeholder 4">
            <a:extLst>
              <a:ext uri="{FF2B5EF4-FFF2-40B4-BE49-F238E27FC236}">
                <a16:creationId xmlns:a16="http://schemas.microsoft.com/office/drawing/2014/main" id="{4019067E-19FF-B17B-3464-2C0927748716}"/>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0" y="514350"/>
            <a:ext cx="5916930" cy="443711"/>
          </a:xfrm>
          <a:prstGeom prst="rect">
            <a:avLst/>
          </a:prstGeom>
        </p:spPr>
        <p:txBody>
          <a:bodyPr vert="horz" wrap="square" lIns="0" tIns="12700" rIns="0" bIns="0" rtlCol="0">
            <a:spAutoFit/>
          </a:bodyPr>
          <a:lstStyle/>
          <a:p>
            <a:pPr marL="12700" algn="ctr">
              <a:lnSpc>
                <a:spcPct val="100000"/>
              </a:lnSpc>
              <a:spcBef>
                <a:spcPts val="100"/>
              </a:spcBef>
            </a:pPr>
            <a:r>
              <a:rPr sz="2800" b="1" spc="-10" dirty="0">
                <a:solidFill>
                  <a:srgbClr val="000000"/>
                </a:solidFill>
                <a:latin typeface="Calibri"/>
                <a:cs typeface="Calibri"/>
              </a:rPr>
              <a:t>Clients</a:t>
            </a:r>
            <a:r>
              <a:rPr sz="2800" b="1" spc="-5" dirty="0">
                <a:solidFill>
                  <a:srgbClr val="000000"/>
                </a:solidFill>
                <a:latin typeface="Calibri"/>
                <a:cs typeface="Calibri"/>
              </a:rPr>
              <a:t> </a:t>
            </a:r>
            <a:r>
              <a:rPr sz="2800" b="1" spc="-40" dirty="0">
                <a:solidFill>
                  <a:srgbClr val="000000"/>
                </a:solidFill>
                <a:latin typeface="Calibri"/>
                <a:cs typeface="Calibri"/>
              </a:rPr>
              <a:t>invoke</a:t>
            </a:r>
            <a:r>
              <a:rPr sz="2800" b="1" spc="-10" dirty="0">
                <a:solidFill>
                  <a:srgbClr val="000000"/>
                </a:solidFill>
                <a:latin typeface="Calibri"/>
                <a:cs typeface="Calibri"/>
              </a:rPr>
              <a:t> </a:t>
            </a:r>
            <a:r>
              <a:rPr sz="2800" b="1" spc="-5" dirty="0">
                <a:solidFill>
                  <a:srgbClr val="000000"/>
                </a:solidFill>
                <a:latin typeface="Calibri"/>
                <a:cs typeface="Calibri"/>
              </a:rPr>
              <a:t>individual</a:t>
            </a:r>
            <a:r>
              <a:rPr sz="2800" b="1" spc="-50" dirty="0">
                <a:solidFill>
                  <a:srgbClr val="000000"/>
                </a:solidFill>
                <a:latin typeface="Calibri"/>
                <a:cs typeface="Calibri"/>
              </a:rPr>
              <a:t> </a:t>
            </a:r>
            <a:r>
              <a:rPr sz="2800" b="1" spc="-15" dirty="0">
                <a:solidFill>
                  <a:srgbClr val="000000"/>
                </a:solidFill>
                <a:latin typeface="Calibri"/>
                <a:cs typeface="Calibri"/>
              </a:rPr>
              <a:t>servers</a:t>
            </a:r>
            <a:endParaRPr sz="28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4</a:t>
            </a:r>
          </a:p>
        </p:txBody>
      </p:sp>
      <p:pic>
        <p:nvPicPr>
          <p:cNvPr id="3" name="object 3"/>
          <p:cNvPicPr/>
          <p:nvPr/>
        </p:nvPicPr>
        <p:blipFill>
          <a:blip r:embed="rId2" cstate="print"/>
          <a:stretch>
            <a:fillRect/>
          </a:stretch>
        </p:blipFill>
        <p:spPr>
          <a:xfrm>
            <a:off x="552450" y="1371600"/>
            <a:ext cx="8039100" cy="2400300"/>
          </a:xfrm>
          <a:prstGeom prst="rect">
            <a:avLst/>
          </a:prstGeom>
        </p:spPr>
      </p:pic>
      <p:sp>
        <p:nvSpPr>
          <p:cNvPr id="5" name="Footer Placeholder 4">
            <a:extLst>
              <a:ext uri="{FF2B5EF4-FFF2-40B4-BE49-F238E27FC236}">
                <a16:creationId xmlns:a16="http://schemas.microsoft.com/office/drawing/2014/main" id="{DF950C8A-EBE0-BD39-3E99-B9DC6E7CBAA4}"/>
              </a:ext>
            </a:extLst>
          </p:cNvPr>
          <p:cNvSpPr>
            <a:spLocks noGrp="1"/>
          </p:cNvSpPr>
          <p:nvPr>
            <p:ph type="ftr" sz="quarter" idx="11"/>
          </p:nvPr>
        </p:nvSpPr>
        <p:spPr/>
        <p:txBody>
          <a:bodyPr/>
          <a:lstStyle/>
          <a:p>
            <a:r>
              <a:rPr lang="en-US"/>
              <a:t>Department of Computer Application</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818635"/>
            <a:ext cx="8230234" cy="381515"/>
          </a:xfrm>
          <a:prstGeom prst="rect">
            <a:avLst/>
          </a:prstGeom>
        </p:spPr>
        <p:txBody>
          <a:bodyPr vert="horz" wrap="square" lIns="0" tIns="12065" rIns="0" bIns="0" rtlCol="0">
            <a:spAutoFit/>
          </a:bodyPr>
          <a:lstStyle/>
          <a:p>
            <a:pPr marL="12700" algn="ctr">
              <a:lnSpc>
                <a:spcPct val="100000"/>
              </a:lnSpc>
              <a:spcBef>
                <a:spcPts val="95"/>
              </a:spcBef>
            </a:pPr>
            <a:r>
              <a:rPr sz="2400" spc="-5" dirty="0">
                <a:solidFill>
                  <a:srgbClr val="000000"/>
                </a:solidFill>
                <a:latin typeface="Calibri"/>
                <a:cs typeface="Calibri"/>
              </a:rPr>
              <a:t>A</a:t>
            </a:r>
            <a:r>
              <a:rPr sz="2400" spc="10" dirty="0">
                <a:solidFill>
                  <a:srgbClr val="000000"/>
                </a:solidFill>
                <a:latin typeface="Calibri"/>
                <a:cs typeface="Calibri"/>
              </a:rPr>
              <a:t> </a:t>
            </a:r>
            <a:r>
              <a:rPr sz="2400" spc="-10" dirty="0">
                <a:solidFill>
                  <a:srgbClr val="000000"/>
                </a:solidFill>
                <a:latin typeface="Calibri"/>
                <a:cs typeface="Calibri"/>
              </a:rPr>
              <a:t>typical</a:t>
            </a:r>
            <a:r>
              <a:rPr sz="2400" spc="10" dirty="0">
                <a:solidFill>
                  <a:srgbClr val="000000"/>
                </a:solidFill>
                <a:latin typeface="Calibri"/>
                <a:cs typeface="Calibri"/>
              </a:rPr>
              <a:t> </a:t>
            </a:r>
            <a:r>
              <a:rPr sz="2400" spc="-15" dirty="0">
                <a:solidFill>
                  <a:srgbClr val="000000"/>
                </a:solidFill>
                <a:latin typeface="Calibri"/>
                <a:cs typeface="Calibri"/>
              </a:rPr>
              <a:t>distributed</a:t>
            </a:r>
            <a:r>
              <a:rPr sz="2400" spc="55" dirty="0">
                <a:solidFill>
                  <a:srgbClr val="000000"/>
                </a:solidFill>
                <a:latin typeface="Calibri"/>
                <a:cs typeface="Calibri"/>
              </a:rPr>
              <a:t> </a:t>
            </a:r>
            <a:r>
              <a:rPr sz="2400" spc="-10" dirty="0">
                <a:solidFill>
                  <a:srgbClr val="000000"/>
                </a:solidFill>
                <a:latin typeface="Calibri"/>
                <a:cs typeface="Calibri"/>
              </a:rPr>
              <a:t>application</a:t>
            </a:r>
            <a:r>
              <a:rPr sz="2400" spc="15" dirty="0">
                <a:solidFill>
                  <a:srgbClr val="000000"/>
                </a:solidFill>
                <a:latin typeface="Calibri"/>
                <a:cs typeface="Calibri"/>
              </a:rPr>
              <a:t> </a:t>
            </a:r>
            <a:r>
              <a:rPr sz="2400" spc="-5" dirty="0">
                <a:solidFill>
                  <a:srgbClr val="000000"/>
                </a:solidFill>
                <a:latin typeface="Calibri"/>
                <a:cs typeface="Calibri"/>
              </a:rPr>
              <a:t>based</a:t>
            </a:r>
            <a:r>
              <a:rPr sz="2400" spc="15" dirty="0">
                <a:solidFill>
                  <a:srgbClr val="000000"/>
                </a:solidFill>
                <a:latin typeface="Calibri"/>
                <a:cs typeface="Calibri"/>
              </a:rPr>
              <a:t> </a:t>
            </a:r>
            <a:r>
              <a:rPr sz="2400" spc="-5" dirty="0">
                <a:solidFill>
                  <a:srgbClr val="000000"/>
                </a:solidFill>
                <a:latin typeface="Calibri"/>
                <a:cs typeface="Calibri"/>
              </a:rPr>
              <a:t>on</a:t>
            </a:r>
            <a:r>
              <a:rPr sz="2400" spc="5" dirty="0">
                <a:solidFill>
                  <a:srgbClr val="000000"/>
                </a:solidFill>
                <a:latin typeface="Calibri"/>
                <a:cs typeface="Calibri"/>
              </a:rPr>
              <a:t> </a:t>
            </a:r>
            <a:r>
              <a:rPr sz="2400" spc="-5" dirty="0">
                <a:solidFill>
                  <a:srgbClr val="000000"/>
                </a:solidFill>
                <a:latin typeface="Calibri"/>
                <a:cs typeface="Calibri"/>
              </a:rPr>
              <a:t>peer </a:t>
            </a:r>
            <a:r>
              <a:rPr sz="2400" spc="-15" dirty="0">
                <a:solidFill>
                  <a:srgbClr val="000000"/>
                </a:solidFill>
                <a:latin typeface="Calibri"/>
                <a:cs typeface="Calibri"/>
              </a:rPr>
              <a:t>processes</a:t>
            </a:r>
            <a:endParaRPr sz="2400"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5</a:t>
            </a:r>
          </a:p>
        </p:txBody>
      </p:sp>
      <p:pic>
        <p:nvPicPr>
          <p:cNvPr id="3" name="object 3"/>
          <p:cNvPicPr/>
          <p:nvPr/>
        </p:nvPicPr>
        <p:blipFill>
          <a:blip r:embed="rId2" cstate="print"/>
          <a:stretch>
            <a:fillRect/>
          </a:stretch>
        </p:blipFill>
        <p:spPr>
          <a:xfrm>
            <a:off x="990600" y="1200150"/>
            <a:ext cx="6629400" cy="3394075"/>
          </a:xfrm>
          <a:prstGeom prst="rect">
            <a:avLst/>
          </a:prstGeom>
        </p:spPr>
      </p:pic>
      <p:sp>
        <p:nvSpPr>
          <p:cNvPr id="5" name="Footer Placeholder 4">
            <a:extLst>
              <a:ext uri="{FF2B5EF4-FFF2-40B4-BE49-F238E27FC236}">
                <a16:creationId xmlns:a16="http://schemas.microsoft.com/office/drawing/2014/main" id="{AF3FCC48-16BC-66DD-65BD-F942A0E38E44}"/>
              </a:ext>
            </a:extLst>
          </p:cNvPr>
          <p:cNvSpPr>
            <a:spLocks noGrp="1"/>
          </p:cNvSpPr>
          <p:nvPr>
            <p:ph type="ftr" sz="quarter" idx="11"/>
          </p:nvPr>
        </p:nvSpPr>
        <p:spPr/>
        <p:txBody>
          <a:bodyPr/>
          <a:lstStyle/>
          <a:p>
            <a:r>
              <a:rPr lang="en-US"/>
              <a:t>Department of Computer Application</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4443704" cy="530631"/>
          </a:xfrm>
        </p:spPr>
        <p:txBody>
          <a:bodyPr>
            <a:normAutofit/>
          </a:bodyPr>
          <a:lstStyle/>
          <a:p>
            <a:r>
              <a:rPr lang="en-IN" sz="2400" b="1" kern="0" dirty="0"/>
              <a:t>Summary</a:t>
            </a:r>
            <a:endParaRPr lang="en-IN" sz="2400" dirty="0"/>
          </a:p>
        </p:txBody>
      </p:sp>
      <p:sp>
        <p:nvSpPr>
          <p:cNvPr id="7" name="Content Placeholder 6">
            <a:extLst>
              <a:ext uri="{FF2B5EF4-FFF2-40B4-BE49-F238E27FC236}">
                <a16:creationId xmlns:a16="http://schemas.microsoft.com/office/drawing/2014/main" id="{F920D1DA-5B3D-714D-DF00-E9D6B1E6A284}"/>
              </a:ext>
            </a:extLst>
          </p:cNvPr>
          <p:cNvSpPr>
            <a:spLocks noGrp="1"/>
          </p:cNvSpPr>
          <p:nvPr>
            <p:ph idx="1"/>
          </p:nvPr>
        </p:nvSpPr>
        <p:spPr>
          <a:xfrm>
            <a:off x="457200" y="1082842"/>
            <a:ext cx="8229600" cy="3404937"/>
          </a:xfrm>
        </p:spPr>
        <p:txBody>
          <a:bodyPr>
            <a:noAutofit/>
          </a:bodyPr>
          <a:lstStyle/>
          <a:p>
            <a:pPr>
              <a:lnSpc>
                <a:spcPct val="150000"/>
              </a:lnSpc>
              <a:buBlip>
                <a:blip r:embed="rId2"/>
              </a:buBlip>
            </a:pPr>
            <a:r>
              <a:rPr lang="en-US" sz="1600" dirty="0"/>
              <a:t>Distributed computing involves multiple independent computers (often located in different physical locations) working together to solve a problem. These computers communicate over a network, sharing tasks and resources to complete computations more efficiently.</a:t>
            </a:r>
          </a:p>
          <a:p>
            <a:pPr>
              <a:lnSpc>
                <a:spcPct val="150000"/>
              </a:lnSpc>
              <a:buBlip>
                <a:blip r:embed="rId2"/>
              </a:buBlip>
            </a:pPr>
            <a:r>
              <a:rPr lang="en-US" sz="1600" dirty="0"/>
              <a:t>It offers benefits like scalability, resource sharing, fault tolerance, and improved performance. By distributing tasks, it allows handling large, complex problems that would be difficult for a single machine to manage, and it ensures reliability by allowing the system to continue functioning even if some nodes fail.</a:t>
            </a:r>
          </a:p>
          <a:p>
            <a:pPr>
              <a:lnSpc>
                <a:spcPct val="150000"/>
              </a:lnSpc>
              <a:buBlip>
                <a:blip r:embed="rId2"/>
              </a:buBlip>
            </a:pPr>
            <a:r>
              <a:rPr lang="en-US" sz="1600" dirty="0"/>
              <a:t>Distributed computing is used in various fields, including cloud computing, big data analytics, scientific simulations, and collaborative platforms.</a:t>
            </a:r>
            <a:endParaRPr lang="en-US" sz="1600" b="1" dirty="0"/>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15</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955887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r>
              <a:rPr lang="en-IN" sz="2400" b="1" kern="0" dirty="0"/>
              <a:t>References</a:t>
            </a:r>
            <a:endParaRPr lang="en-IN" sz="24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70000" lnSpcReduction="20000"/>
          </a:bodyPr>
          <a:lstStyle/>
          <a:p>
            <a:r>
              <a:rPr lang="en-US" sz="1800" dirty="0"/>
              <a:t>Books References</a:t>
            </a:r>
          </a:p>
          <a:p>
            <a:r>
              <a:rPr lang="en-US" sz="1650" dirty="0">
                <a:solidFill>
                  <a:srgbClr val="000000"/>
                </a:solidFill>
                <a:ea typeface="Calibri" panose="020F0502020204030204" pitchFamily="34" charset="0"/>
                <a:cs typeface="Calibri" panose="020F0502020204030204" pitchFamily="34" charset="0"/>
              </a:rPr>
              <a:t>Mastering Cloud Computing, Rajkumar </a:t>
            </a:r>
            <a:r>
              <a:rPr lang="en-US" sz="1650" dirty="0" err="1">
                <a:solidFill>
                  <a:srgbClr val="000000"/>
                </a:solidFill>
                <a:ea typeface="Calibri" panose="020F0502020204030204" pitchFamily="34" charset="0"/>
                <a:cs typeface="Calibri" panose="020F0502020204030204" pitchFamily="34" charset="0"/>
              </a:rPr>
              <a:t>Buyya</a:t>
            </a:r>
            <a:r>
              <a:rPr lang="en-US" sz="1650" dirty="0">
                <a:solidFill>
                  <a:srgbClr val="000000"/>
                </a:solidFill>
                <a:ea typeface="Calibri" panose="020F0502020204030204" pitchFamily="34" charset="0"/>
                <a:cs typeface="Calibri" panose="020F0502020204030204" pitchFamily="34" charset="0"/>
              </a:rPr>
              <a:t>, Christian </a:t>
            </a:r>
            <a:r>
              <a:rPr lang="en-US" sz="1650" dirty="0" err="1">
                <a:solidFill>
                  <a:srgbClr val="000000"/>
                </a:solidFill>
                <a:ea typeface="Calibri" panose="020F0502020204030204" pitchFamily="34" charset="0"/>
                <a:cs typeface="Calibri" panose="020F0502020204030204" pitchFamily="34" charset="0"/>
              </a:rPr>
              <a:t>Vecchiola</a:t>
            </a:r>
            <a:r>
              <a:rPr lang="en-US" sz="1650" dirty="0">
                <a:solidFill>
                  <a:srgbClr val="000000"/>
                </a:solidFill>
                <a:ea typeface="Calibri" panose="020F0502020204030204" pitchFamily="34" charset="0"/>
                <a:cs typeface="Calibri" panose="020F0502020204030204" pitchFamily="34" charset="0"/>
              </a:rPr>
              <a:t>, and </a:t>
            </a:r>
            <a:r>
              <a:rPr lang="en-US" sz="1650" dirty="0" err="1">
                <a:solidFill>
                  <a:srgbClr val="000000"/>
                </a:solidFill>
                <a:ea typeface="Calibri" panose="020F0502020204030204" pitchFamily="34" charset="0"/>
                <a:cs typeface="Calibri" panose="020F0502020204030204" pitchFamily="34" charset="0"/>
              </a:rPr>
              <a:t>ThamaraiSelvi</a:t>
            </a:r>
            <a:r>
              <a:rPr lang="en-US" sz="1650" dirty="0">
                <a:solidFill>
                  <a:srgbClr val="000000"/>
                </a:solidFill>
                <a:ea typeface="Calibri" panose="020F0502020204030204" pitchFamily="34" charset="0"/>
                <a:cs typeface="Calibri" panose="020F0502020204030204" pitchFamily="34" charset="0"/>
              </a:rPr>
              <a:t>, Tata McGraw Hill, ISBN-13: 978-1-25-902995-0, New Delhi, </a:t>
            </a:r>
            <a:r>
              <a:rPr lang="en-US" sz="1650" dirty="0" err="1">
                <a:solidFill>
                  <a:srgbClr val="000000"/>
                </a:solidFill>
                <a:ea typeface="Calibri" panose="020F0502020204030204" pitchFamily="34" charset="0"/>
                <a:cs typeface="Calibri" panose="020F0502020204030204" pitchFamily="34" charset="0"/>
              </a:rPr>
              <a:t>India,Feb</a:t>
            </a:r>
            <a:r>
              <a:rPr lang="en-US" sz="1650" dirty="0">
                <a:solidFill>
                  <a:srgbClr val="000000"/>
                </a:solidFill>
                <a:ea typeface="Calibri" panose="020F0502020204030204" pitchFamily="34" charset="0"/>
                <a:cs typeface="Calibri" panose="020F0502020204030204" pitchFamily="34" charset="0"/>
              </a:rPr>
              <a:t> 2013. </a:t>
            </a:r>
            <a:endParaRPr lang="en-US" sz="1650" dirty="0"/>
          </a:p>
          <a:p>
            <a:pPr marL="0" indent="0">
              <a:buNone/>
            </a:pPr>
            <a:endParaRPr lang="en-US" sz="1800" dirty="0"/>
          </a:p>
          <a:p>
            <a:r>
              <a:rPr lang="en-US" sz="1800" dirty="0"/>
              <a:t>E-book link</a:t>
            </a:r>
          </a:p>
          <a:p>
            <a:r>
              <a:rPr lang="en-US" sz="1800" dirty="0">
                <a:hlinkClick r:id="rId2"/>
              </a:rPr>
              <a:t>https://archive.org/details/cloudcomputingbi0000sosi</a:t>
            </a:r>
            <a:endParaRPr lang="en-US" sz="1800" dirty="0"/>
          </a:p>
          <a:p>
            <a:pPr marL="0" indent="0">
              <a:buNone/>
            </a:pPr>
            <a:endParaRPr lang="en-US" sz="1800" dirty="0"/>
          </a:p>
          <a:p>
            <a:r>
              <a:rPr lang="en-US" sz="1800" dirty="0"/>
              <a:t>YouTube link</a:t>
            </a:r>
          </a:p>
          <a:p>
            <a:r>
              <a:rPr lang="en-US" sz="1800" dirty="0">
                <a:hlinkClick r:id="rId3"/>
              </a:rPr>
              <a:t>https://www.youtube.com/@cloudcomputing351/videos</a:t>
            </a:r>
            <a:endParaRPr lang="en-US" sz="1800" dirty="0"/>
          </a:p>
          <a:p>
            <a:pPr marL="0" indent="0">
              <a:buNone/>
            </a:pPr>
            <a:endParaRPr lang="en-US" sz="1800" dirty="0"/>
          </a:p>
          <a:p>
            <a:pPr>
              <a:buFont typeface="Wingdings" pitchFamily="2" charset="2"/>
              <a:buChar char="Ø"/>
            </a:pPr>
            <a:r>
              <a:rPr lang="en-US" sz="1800" dirty="0">
                <a:hlinkClick r:id="rId4"/>
              </a:rPr>
              <a:t>https://www.geeksforgeeks.org/cloud-computing/</a:t>
            </a:r>
            <a:endParaRPr lang="en-US" sz="1800" dirty="0"/>
          </a:p>
          <a:p>
            <a:pPr>
              <a:buFont typeface="Wingdings" pitchFamily="2" charset="2"/>
              <a:buChar char="Ø"/>
            </a:pPr>
            <a:r>
              <a:rPr lang="en-IN" sz="1800" dirty="0">
                <a:hlinkClick r:id="rId5"/>
              </a:rPr>
              <a:t>https://www.tutorialspoint.com/cloud_computing/index.htm</a:t>
            </a:r>
            <a:endParaRPr lang="en-US" sz="1800" dirty="0"/>
          </a:p>
          <a:p>
            <a:pPr>
              <a:buFont typeface="Wingdings" pitchFamily="2" charset="2"/>
              <a:buChar char="Ø"/>
            </a:pPr>
            <a:r>
              <a:rPr lang="en-IN" sz="1800" dirty="0">
                <a:hlinkClick r:id="rId6"/>
              </a:rPr>
              <a:t>https://nptel.ac.in/courses/106105167</a:t>
            </a:r>
            <a:endParaRPr lang="en-US" sz="1800" dirty="0"/>
          </a:p>
          <a:p>
            <a:pPr>
              <a:buFont typeface="Wingdings" pitchFamily="2" charset="2"/>
              <a:buChar char="Ø"/>
            </a:pPr>
            <a:r>
              <a:rPr lang="en-IN" sz="1800" dirty="0">
                <a:hlinkClick r:id="rId7"/>
              </a:rPr>
              <a:t>https://www.edx.org/learn/cloud-computing</a:t>
            </a:r>
            <a:endParaRPr lang="en-US" sz="18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16</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17</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132</TotalTime>
  <Words>1307</Words>
  <Application>Microsoft Office PowerPoint</Application>
  <PresentationFormat>On-screen Show (16:9)</PresentationFormat>
  <Paragraphs>142</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Arial MT</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Detail Topics</vt:lpstr>
      <vt:lpstr>Why Distributed Computing?</vt:lpstr>
      <vt:lpstr>Distributed applications</vt:lpstr>
      <vt:lpstr>Clients invoke individual servers</vt:lpstr>
      <vt:lpstr>A typical distributed application based on peer processes</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9</cp:revision>
  <dcterms:created xsi:type="dcterms:W3CDTF">2024-12-06T17:10:37Z</dcterms:created>
  <dcterms:modified xsi:type="dcterms:W3CDTF">2024-12-08T15:10:48Z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