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3.jpg" ContentType="image/jpg"/>
  <Override PartName="/ppt/media/image4.jpg" ContentType="image/jpg"/>
  <Override PartName="/ppt/media/image5.jpg" ContentType="image/jpg"/>
  <Override PartName="/ppt/media/image6.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1"/>
  </p:notesMasterIdLst>
  <p:sldIdLst>
    <p:sldId id="390" r:id="rId2"/>
    <p:sldId id="413" r:id="rId3"/>
    <p:sldId id="414" r:id="rId4"/>
    <p:sldId id="420" r:id="rId5"/>
    <p:sldId id="415" r:id="rId6"/>
    <p:sldId id="416" r:id="rId7"/>
    <p:sldId id="417" r:id="rId8"/>
    <p:sldId id="418" r:id="rId9"/>
    <p:sldId id="419" r:id="rId10"/>
    <p:sldId id="290" r:id="rId11"/>
    <p:sldId id="291" r:id="rId12"/>
    <p:sldId id="292" r:id="rId13"/>
    <p:sldId id="423" r:id="rId14"/>
    <p:sldId id="294" r:id="rId15"/>
    <p:sldId id="295" r:id="rId16"/>
    <p:sldId id="296" r:id="rId17"/>
    <p:sldId id="421" r:id="rId18"/>
    <p:sldId id="422" r:id="rId19"/>
    <p:sldId id="352" r:id="rId2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12/8/2024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12/8/2024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12/8/2024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12/8/2024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12/8/2024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12/8/2024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12/8/2024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12/8/2024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12/8/2024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12/8/2024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2700" b="1" dirty="0"/>
              <a:t>Chandigarh School of Business, Jhanjeri</a:t>
            </a:r>
          </a:p>
          <a:p>
            <a:pPr marL="0" indent="0" algn="ctr">
              <a:buNone/>
            </a:pPr>
            <a:r>
              <a:rPr lang="en-US" b="1" dirty="0"/>
              <a:t>Department of Computer Application </a:t>
            </a:r>
          </a:p>
          <a:p>
            <a:pPr marL="0" indent="0" algn="ctr">
              <a:buNone/>
            </a:pPr>
            <a:r>
              <a:rPr lang="en-US" sz="1800" b="1" dirty="0"/>
              <a:t>Program </a:t>
            </a:r>
            <a:r>
              <a:rPr lang="en-US" sz="1800" b="1" dirty="0" err="1"/>
              <a:t>Code:NA</a:t>
            </a:r>
            <a:endParaRPr lang="en-US" sz="1800" b="1" dirty="0"/>
          </a:p>
          <a:p>
            <a:pPr marL="0" indent="0" algn="ctr">
              <a:buNone/>
            </a:pPr>
            <a:r>
              <a:rPr lang="en-US" sz="1800" b="1" dirty="0"/>
              <a:t>Program Name: MCA</a:t>
            </a:r>
          </a:p>
          <a:p>
            <a:pPr marL="0" indent="0" algn="ctr">
              <a:buNone/>
            </a:pPr>
            <a:r>
              <a:rPr lang="en-US" sz="1800" b="1" dirty="0"/>
              <a:t>Course Code: </a:t>
            </a:r>
            <a:r>
              <a:rPr lang="en-US" sz="1800" b="1" i="0" u="none" strike="noStrike" baseline="0" dirty="0">
                <a:solidFill>
                  <a:srgbClr val="000000"/>
                </a:solidFill>
              </a:rPr>
              <a:t>PGCA1937</a:t>
            </a:r>
            <a:r>
              <a:rPr lang="en-US" sz="1800" b="1" i="0" u="none" strike="noStrike" baseline="0" dirty="0">
                <a:solidFill>
                  <a:srgbClr val="000000"/>
                </a:solidFill>
                <a:latin typeface="Times New Roman" panose="02020603050405020304" pitchFamily="18" charset="0"/>
              </a:rPr>
              <a:t> </a:t>
            </a:r>
            <a:r>
              <a:rPr lang="en-US" sz="1800" b="1" dirty="0">
                <a:solidFill>
                  <a:srgbClr val="000000"/>
                </a:solidFill>
              </a:rPr>
              <a:t> </a:t>
            </a:r>
            <a:endParaRPr lang="en-US" sz="1800" b="1" dirty="0"/>
          </a:p>
          <a:p>
            <a:pPr marL="0" indent="0" algn="ctr">
              <a:buNone/>
            </a:pPr>
            <a:r>
              <a:rPr lang="en-US" sz="1800" b="1" dirty="0"/>
              <a:t>Course Name: </a:t>
            </a:r>
            <a:r>
              <a:rPr lang="en-US" sz="1800" b="1" i="0" u="none" strike="noStrike" baseline="0" dirty="0">
                <a:solidFill>
                  <a:srgbClr val="000000"/>
                </a:solidFill>
              </a:rPr>
              <a:t>Cloud Computing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2400" b="1" dirty="0">
                <a:latin typeface="+mn-lt"/>
              </a:rPr>
              <a:t>Outlines</a:t>
            </a:r>
            <a:endParaRPr lang="en-IN" sz="24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a:bodyPr>
          <a:lstStyle/>
          <a:p>
            <a:r>
              <a:rPr lang="en-US" sz="1800" b="1" dirty="0"/>
              <a:t>PTU Syllabus of Unit-I</a:t>
            </a:r>
          </a:p>
          <a:p>
            <a:r>
              <a:rPr lang="en-US" sz="1800" b="1" dirty="0"/>
              <a:t>CO’s Introduction</a:t>
            </a:r>
          </a:p>
          <a:p>
            <a:r>
              <a:rPr lang="en-US" sz="1800" b="1" dirty="0"/>
              <a:t>Topic Overview</a:t>
            </a:r>
          </a:p>
          <a:p>
            <a:r>
              <a:rPr lang="en-US" sz="1800" b="1" dirty="0"/>
              <a:t>Brief description of what the presentation will cover</a:t>
            </a:r>
          </a:p>
          <a:p>
            <a:r>
              <a:rPr lang="en-US" sz="1800" b="1" dirty="0"/>
              <a:t>Importance or relevance of the topic</a:t>
            </a:r>
          </a:p>
          <a:p>
            <a:r>
              <a:rPr lang="en-US" sz="1800" b="1" dirty="0"/>
              <a:t>Key objectives or learning outcomes</a:t>
            </a:r>
          </a:p>
          <a:p>
            <a:r>
              <a:rPr lang="en-US" sz="1800" b="1" dirty="0"/>
              <a:t>Summary</a:t>
            </a:r>
          </a:p>
          <a:p>
            <a:r>
              <a:rPr lang="en-US" sz="18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lstStyle/>
          <a:p>
            <a:r>
              <a:rPr lang="en-US" sz="2400" b="1" dirty="0">
                <a:latin typeface="+mn-lt"/>
              </a:rPr>
              <a:t>PTU Syllabus of Unit-I</a:t>
            </a:r>
            <a:endParaRPr lang="en-IN" sz="24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23950"/>
            <a:ext cx="7886700" cy="3508773"/>
          </a:xfrm>
        </p:spPr>
        <p:txBody>
          <a:bodyPr>
            <a:normAutofit fontScale="40000" lnSpcReduction="20000"/>
          </a:bodyPr>
          <a:lstStyle/>
          <a:p>
            <a:pPr marL="0" indent="0" algn="ctr">
              <a:buNone/>
            </a:pPr>
            <a:r>
              <a:rPr lang="en-US" sz="3600" b="1" dirty="0">
                <a:solidFill>
                  <a:srgbClr val="000000"/>
                </a:solidFill>
              </a:rPr>
              <a:t>Part-A</a:t>
            </a:r>
            <a:endParaRPr lang="en-US" sz="3600" dirty="0">
              <a:solidFill>
                <a:srgbClr val="000000"/>
              </a:solidFill>
            </a:endParaRPr>
          </a:p>
          <a:p>
            <a:pPr algn="just">
              <a:lnSpc>
                <a:spcPct val="120000"/>
              </a:lnSpc>
            </a:pPr>
            <a:r>
              <a:rPr lang="en-US" sz="3600" b="1" i="0" u="none" strike="noStrike" baseline="0" dirty="0">
                <a:solidFill>
                  <a:srgbClr val="000000"/>
                </a:solidFill>
              </a:rPr>
              <a:t>Overview of Computing Paradigm: </a:t>
            </a:r>
            <a:r>
              <a:rPr lang="en-US" sz="36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600" b="1" i="0" u="none" strike="noStrike" baseline="0" dirty="0">
                <a:solidFill>
                  <a:srgbClr val="000000"/>
                </a:solidFill>
              </a:rPr>
              <a:t>Introduction to Cloud Computing: </a:t>
            </a:r>
            <a:r>
              <a:rPr lang="en-US" sz="36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600" b="1" i="0" u="none" strike="noStrike" baseline="0" dirty="0">
                <a:solidFill>
                  <a:srgbClr val="000000"/>
                </a:solidFill>
              </a:rPr>
              <a:t>Migrating into a Cloud: </a:t>
            </a:r>
            <a:r>
              <a:rPr lang="en-US" sz="36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600" b="1" i="0" u="none" strike="noStrike" baseline="0" dirty="0">
                <a:solidFill>
                  <a:srgbClr val="000000"/>
                </a:solidFill>
              </a:rPr>
              <a:t>Virtualization: </a:t>
            </a:r>
            <a:r>
              <a:rPr lang="en-US" sz="36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600" b="1" i="0" u="none" strike="noStrike" baseline="0" dirty="0">
                <a:solidFill>
                  <a:srgbClr val="000000"/>
                </a:solidFill>
              </a:rPr>
              <a:t>Capacity Planning: </a:t>
            </a:r>
            <a:r>
              <a:rPr lang="en-US" sz="36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2400" b="1" kern="0" dirty="0">
                <a:latin typeface="+mn-lt"/>
              </a:rPr>
              <a:t>Key objectives or learning outcomes</a:t>
            </a:r>
            <a:endParaRPr lang="en-IN" sz="24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Autofit/>
          </a:bodyPr>
          <a:lstStyle/>
          <a:p>
            <a:pPr algn="just">
              <a:lnSpc>
                <a:spcPct val="150000"/>
              </a:lnSpc>
            </a:pPr>
            <a:r>
              <a:rPr lang="en-US" sz="1600" b="1" dirty="0"/>
              <a:t>Evolution and Integration</a:t>
            </a:r>
            <a:r>
              <a:rPr lang="en-US" sz="1600" dirty="0"/>
              <a:t>: Recent trends in computing, such as Grid Computing, Cluster Computing, and Distributed Computing, focus on optimizing resource utilization across multiple systems. </a:t>
            </a:r>
          </a:p>
          <a:p>
            <a:pPr algn="just">
              <a:lnSpc>
                <a:spcPct val="150000"/>
              </a:lnSpc>
            </a:pPr>
            <a:r>
              <a:rPr lang="en-US" sz="1600" dirty="0"/>
              <a:t>These paradigms enable parallel processing and resource sharing, improving performance, scalability, and fault tolerance. </a:t>
            </a:r>
          </a:p>
          <a:p>
            <a:pPr algn="just">
              <a:lnSpc>
                <a:spcPct val="150000"/>
              </a:lnSpc>
            </a:pPr>
            <a:r>
              <a:rPr lang="en-US" sz="1600" dirty="0"/>
              <a:t>Utility computing refers to a computing model in which computing resources, such as processing power, storage, and software, are provided as a service over a network (typically the internet) and charged based on usage, similar to how utilities like water or electricity are billed. In this model, users can access these resources on-demand without needing to manage physical infrastructure.</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r>
              <a:rPr lang="en-US" altLang="en-US" sz="2400" b="1" kern="0" dirty="0"/>
              <a:t>Brief of what the presentation will</a:t>
            </a:r>
            <a:endParaRPr lang="en-IN" sz="24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dirty="0">
                <a:latin typeface="Calibri"/>
                <a:cs typeface="Calibri"/>
              </a:rPr>
              <a:t>Utility</a:t>
            </a:r>
            <a:r>
              <a:rPr lang="en-US" sz="2400" b="1" spc="-25" dirty="0">
                <a:latin typeface="Calibri"/>
                <a:cs typeface="Calibri"/>
              </a:rPr>
              <a:t> </a:t>
            </a:r>
            <a:r>
              <a:rPr lang="en-US" sz="2400" b="1" spc="-5" dirty="0">
                <a:latin typeface="Calibri"/>
                <a:cs typeface="Calibri"/>
              </a:rPr>
              <a:t>Computing</a:t>
            </a:r>
          </a:p>
          <a:p>
            <a:pPr>
              <a:buFont typeface="+mj-lt"/>
              <a:buAutoNum type="arabicPeriod"/>
            </a:pPr>
            <a:r>
              <a:rPr lang="en-US" sz="2400" b="1" spc="-5" dirty="0">
                <a:latin typeface="Calibri"/>
                <a:cs typeface="Calibri"/>
              </a:rPr>
              <a:t>Example</a:t>
            </a:r>
          </a:p>
          <a:p>
            <a:pPr>
              <a:buFont typeface="+mj-lt"/>
              <a:buAutoNum type="arabicPeriod"/>
            </a:pPr>
            <a:r>
              <a:rPr lang="en-US" sz="2400" b="1" spc="-5" dirty="0">
                <a:latin typeface="Calibri"/>
                <a:cs typeface="Calibri"/>
              </a:rPr>
              <a:t>Payment Model</a:t>
            </a:r>
          </a:p>
          <a:p>
            <a:pPr>
              <a:buFont typeface="+mj-lt"/>
              <a:buAutoNum type="arabicPeriod"/>
            </a:pPr>
            <a:r>
              <a:rPr lang="en-US" sz="2400" b="1" spc="-5" dirty="0">
                <a:latin typeface="Calibri"/>
                <a:cs typeface="Calibri"/>
              </a:rPr>
              <a:t>Risks</a:t>
            </a:r>
          </a:p>
          <a:p>
            <a:pPr marL="0" indent="0">
              <a:buNone/>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2400" b="1" kern="0" dirty="0">
                <a:latin typeface="+mn-lt"/>
              </a:rPr>
              <a:t>Importance of the topic</a:t>
            </a:r>
            <a:endParaRPr lang="en-IN" sz="24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fontScale="85000" lnSpcReduction="20000"/>
          </a:bodyPr>
          <a:lstStyle/>
          <a:p>
            <a:pPr algn="just">
              <a:lnSpc>
                <a:spcPct val="120000"/>
              </a:lnSpc>
            </a:pPr>
            <a:r>
              <a:rPr lang="en-US" sz="2000" b="1" dirty="0"/>
              <a:t>On-Demand Resource Allocation:</a:t>
            </a:r>
          </a:p>
          <a:p>
            <a:pPr marL="0" indent="0" algn="just">
              <a:lnSpc>
                <a:spcPct val="120000"/>
              </a:lnSpc>
              <a:buNone/>
            </a:pPr>
            <a:r>
              <a:rPr lang="en-US" sz="2000" dirty="0"/>
              <a:t>Users can request and scale computing resources (e.g., virtual machines, storage) based on their immediate needs. This eliminates the need for users to maintain excess infrastructure, as resources are provided as a service and can be scaled up or down quickly.</a:t>
            </a:r>
          </a:p>
          <a:p>
            <a:pPr algn="just">
              <a:lnSpc>
                <a:spcPct val="120000"/>
              </a:lnSpc>
            </a:pPr>
            <a:r>
              <a:rPr lang="en-US" sz="2000" b="1" dirty="0"/>
              <a:t>Pay-as-You-Go Model:</a:t>
            </a:r>
          </a:p>
          <a:p>
            <a:pPr marL="0" indent="0" algn="just">
              <a:lnSpc>
                <a:spcPct val="120000"/>
              </a:lnSpc>
              <a:buNone/>
            </a:pPr>
            <a:r>
              <a:rPr lang="en-US" sz="2000" dirty="0"/>
              <a:t>Similar to traditional utility services, users are billed for computing resources based on usage, whether it’s by the hour, minute, or data transferred. This is more cost-effective than traditional models where users would need to invest in expensive hardware upfront.</a:t>
            </a:r>
          </a:p>
          <a:p>
            <a:pPr algn="just">
              <a:lnSpc>
                <a:spcPct val="120000"/>
              </a:lnSpc>
            </a:pPr>
            <a:r>
              <a:rPr lang="en-US" sz="2000" b="1" dirty="0"/>
              <a:t>Elasticity:</a:t>
            </a:r>
          </a:p>
          <a:p>
            <a:pPr marL="0" indent="0" algn="just">
              <a:lnSpc>
                <a:spcPct val="120000"/>
              </a:lnSpc>
              <a:buNone/>
            </a:pPr>
            <a:r>
              <a:rPr lang="en-US" sz="2000" dirty="0"/>
              <a:t>Utility computing offers elastic scaling, meaning resources can be increased or decreased automatically based on demand. This is especially beneficial for businesses with fluctuating workloads.</a:t>
            </a:r>
            <a:endParaRPr lang="en-IN" sz="20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2400" b="1" kern="0" dirty="0">
                <a:latin typeface="+mn-lt"/>
              </a:rPr>
              <a:t>Detail Topics</a:t>
            </a:r>
            <a:endParaRPr lang="en-IN" sz="24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8864" y="306734"/>
            <a:ext cx="4446270" cy="443070"/>
          </a:xfrm>
          <a:prstGeom prst="rect">
            <a:avLst/>
          </a:prstGeom>
        </p:spPr>
        <p:txBody>
          <a:bodyPr vert="horz" wrap="square" lIns="0" tIns="12065" rIns="0" bIns="0" rtlCol="0">
            <a:spAutoFit/>
          </a:bodyPr>
          <a:lstStyle/>
          <a:p>
            <a:pPr marL="12700" algn="ctr">
              <a:lnSpc>
                <a:spcPct val="100000"/>
              </a:lnSpc>
              <a:spcBef>
                <a:spcPts val="95"/>
              </a:spcBef>
            </a:pPr>
            <a:r>
              <a:rPr sz="2800" b="1" spc="10" dirty="0">
                <a:latin typeface="Calibri"/>
                <a:cs typeface="Calibri"/>
              </a:rPr>
              <a:t>“Utility”</a:t>
            </a:r>
            <a:r>
              <a:rPr sz="2800" b="1" spc="-40" dirty="0">
                <a:latin typeface="Calibri"/>
                <a:cs typeface="Calibri"/>
              </a:rPr>
              <a:t> </a:t>
            </a:r>
            <a:r>
              <a:rPr sz="2800" b="1" spc="-5" dirty="0">
                <a:latin typeface="Calibri"/>
                <a:cs typeface="Calibri"/>
              </a:rPr>
              <a:t>Computing</a:t>
            </a:r>
            <a:r>
              <a:rPr sz="2800" b="1" spc="-35" dirty="0">
                <a:latin typeface="Calibri"/>
                <a:cs typeface="Calibri"/>
              </a:rPr>
              <a:t> </a:t>
            </a:r>
            <a:r>
              <a:rPr sz="2800" b="1" spc="-5" dirty="0">
                <a:latin typeface="Calibri"/>
                <a:cs typeface="Calibri"/>
              </a:rPr>
              <a:t>?</a:t>
            </a:r>
            <a:endParaRPr sz="28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22</a:t>
            </a:r>
          </a:p>
        </p:txBody>
      </p:sp>
      <p:sp>
        <p:nvSpPr>
          <p:cNvPr id="3" name="object 3"/>
          <p:cNvSpPr txBox="1"/>
          <p:nvPr/>
        </p:nvSpPr>
        <p:spPr>
          <a:xfrm>
            <a:off x="612140" y="1079753"/>
            <a:ext cx="7997825" cy="3161665"/>
          </a:xfrm>
          <a:prstGeom prst="rect">
            <a:avLst/>
          </a:prstGeom>
        </p:spPr>
        <p:txBody>
          <a:bodyPr vert="horz" wrap="square" lIns="0" tIns="13335" rIns="0" bIns="0" rtlCol="0">
            <a:spAutoFit/>
          </a:bodyPr>
          <a:lstStyle/>
          <a:p>
            <a:pPr marL="355600" indent="-343535">
              <a:lnSpc>
                <a:spcPct val="100000"/>
              </a:lnSpc>
              <a:spcBef>
                <a:spcPts val="105"/>
              </a:spcBef>
              <a:buFont typeface="Arial MT"/>
              <a:buChar char="•"/>
              <a:tabLst>
                <a:tab pos="355600" algn="l"/>
                <a:tab pos="356235" algn="l"/>
              </a:tabLst>
            </a:pPr>
            <a:r>
              <a:rPr sz="1700" dirty="0">
                <a:latin typeface="Calibri"/>
                <a:cs typeface="Calibri"/>
              </a:rPr>
              <a:t>Utility</a:t>
            </a:r>
            <a:r>
              <a:rPr sz="1700" spc="-20" dirty="0">
                <a:latin typeface="Calibri"/>
                <a:cs typeface="Calibri"/>
              </a:rPr>
              <a:t> </a:t>
            </a:r>
            <a:r>
              <a:rPr sz="1700" dirty="0">
                <a:latin typeface="Calibri"/>
                <a:cs typeface="Calibri"/>
              </a:rPr>
              <a:t>Computing</a:t>
            </a:r>
            <a:r>
              <a:rPr sz="1700" spc="-25" dirty="0">
                <a:latin typeface="Calibri"/>
                <a:cs typeface="Calibri"/>
              </a:rPr>
              <a:t> </a:t>
            </a:r>
            <a:r>
              <a:rPr sz="1700" dirty="0">
                <a:latin typeface="Calibri"/>
                <a:cs typeface="Calibri"/>
              </a:rPr>
              <a:t>is </a:t>
            </a:r>
            <a:r>
              <a:rPr sz="1700" spc="-5" dirty="0">
                <a:latin typeface="Calibri"/>
                <a:cs typeface="Calibri"/>
              </a:rPr>
              <a:t>purely</a:t>
            </a:r>
            <a:r>
              <a:rPr sz="1700" spc="-20" dirty="0">
                <a:latin typeface="Calibri"/>
                <a:cs typeface="Calibri"/>
              </a:rPr>
              <a:t> </a:t>
            </a:r>
            <a:r>
              <a:rPr sz="1700" dirty="0">
                <a:latin typeface="Calibri"/>
                <a:cs typeface="Calibri"/>
              </a:rPr>
              <a:t>a </a:t>
            </a:r>
            <a:r>
              <a:rPr sz="1700" spc="-5" dirty="0">
                <a:latin typeface="Calibri"/>
                <a:cs typeface="Calibri"/>
              </a:rPr>
              <a:t>concept </a:t>
            </a:r>
            <a:r>
              <a:rPr sz="1700" dirty="0">
                <a:latin typeface="Calibri"/>
                <a:cs typeface="Calibri"/>
              </a:rPr>
              <a:t>which</a:t>
            </a:r>
            <a:r>
              <a:rPr sz="1700" spc="10" dirty="0">
                <a:latin typeface="Calibri"/>
                <a:cs typeface="Calibri"/>
              </a:rPr>
              <a:t> </a:t>
            </a:r>
            <a:r>
              <a:rPr sz="1700" spc="-5" dirty="0">
                <a:latin typeface="Calibri"/>
                <a:cs typeface="Calibri"/>
              </a:rPr>
              <a:t>cloud computing</a:t>
            </a:r>
            <a:r>
              <a:rPr sz="1700" spc="-30" dirty="0">
                <a:latin typeface="Calibri"/>
                <a:cs typeface="Calibri"/>
              </a:rPr>
              <a:t> </a:t>
            </a:r>
            <a:r>
              <a:rPr sz="1700" spc="-5" dirty="0">
                <a:latin typeface="Calibri"/>
                <a:cs typeface="Calibri"/>
              </a:rPr>
              <a:t>practically</a:t>
            </a:r>
            <a:r>
              <a:rPr sz="1700" spc="-25" dirty="0">
                <a:latin typeface="Calibri"/>
                <a:cs typeface="Calibri"/>
              </a:rPr>
              <a:t> </a:t>
            </a:r>
            <a:r>
              <a:rPr sz="1700" dirty="0">
                <a:latin typeface="Calibri"/>
                <a:cs typeface="Calibri"/>
              </a:rPr>
              <a:t>implements.</a:t>
            </a:r>
          </a:p>
          <a:p>
            <a:pPr>
              <a:lnSpc>
                <a:spcPct val="100000"/>
              </a:lnSpc>
              <a:spcBef>
                <a:spcPts val="50"/>
              </a:spcBef>
              <a:buFont typeface="Arial MT"/>
              <a:buChar char="•"/>
            </a:pPr>
            <a:endParaRPr sz="2150" dirty="0">
              <a:latin typeface="Calibri"/>
              <a:cs typeface="Calibri"/>
            </a:endParaRPr>
          </a:p>
          <a:p>
            <a:pPr marL="355600" marR="5715" indent="-343535" algn="just">
              <a:lnSpc>
                <a:spcPts val="1839"/>
              </a:lnSpc>
              <a:buFont typeface="Arial MT"/>
              <a:buChar char="•"/>
              <a:tabLst>
                <a:tab pos="356235" algn="l"/>
              </a:tabLst>
            </a:pPr>
            <a:r>
              <a:rPr sz="1700" dirty="0">
                <a:latin typeface="Calibri"/>
                <a:cs typeface="Calibri"/>
              </a:rPr>
              <a:t>Utility </a:t>
            </a:r>
            <a:r>
              <a:rPr sz="1700" spc="-5" dirty="0">
                <a:latin typeface="Calibri"/>
                <a:cs typeface="Calibri"/>
              </a:rPr>
              <a:t>computing </a:t>
            </a:r>
            <a:r>
              <a:rPr sz="1700" dirty="0">
                <a:latin typeface="Calibri"/>
                <a:cs typeface="Calibri"/>
              </a:rPr>
              <a:t>is a service </a:t>
            </a:r>
            <a:r>
              <a:rPr sz="1700" spc="-10" dirty="0">
                <a:latin typeface="Calibri"/>
                <a:cs typeface="Calibri"/>
              </a:rPr>
              <a:t>provisioning </a:t>
            </a:r>
            <a:r>
              <a:rPr sz="1700" dirty="0">
                <a:latin typeface="Calibri"/>
                <a:cs typeface="Calibri"/>
              </a:rPr>
              <a:t>model </a:t>
            </a:r>
            <a:r>
              <a:rPr sz="1700" spc="-5" dirty="0">
                <a:latin typeface="Calibri"/>
                <a:cs typeface="Calibri"/>
              </a:rPr>
              <a:t>in which </a:t>
            </a:r>
            <a:r>
              <a:rPr sz="1700" dirty="0">
                <a:latin typeface="Calibri"/>
                <a:cs typeface="Calibri"/>
              </a:rPr>
              <a:t>a service </a:t>
            </a:r>
            <a:r>
              <a:rPr sz="1700" spc="-10" dirty="0">
                <a:latin typeface="Calibri"/>
                <a:cs typeface="Calibri"/>
              </a:rPr>
              <a:t>provider </a:t>
            </a:r>
            <a:r>
              <a:rPr sz="1700" spc="-15" dirty="0">
                <a:latin typeface="Calibri"/>
                <a:cs typeface="Calibri"/>
              </a:rPr>
              <a:t>makes </a:t>
            </a:r>
            <a:r>
              <a:rPr sz="1700" spc="-10" dirty="0">
                <a:latin typeface="Calibri"/>
                <a:cs typeface="Calibri"/>
              </a:rPr>
              <a:t> </a:t>
            </a:r>
            <a:r>
              <a:rPr sz="1700" spc="-5" dirty="0">
                <a:latin typeface="Calibri"/>
                <a:cs typeface="Calibri"/>
              </a:rPr>
              <a:t>computing</a:t>
            </a:r>
            <a:r>
              <a:rPr sz="1700" dirty="0">
                <a:latin typeface="Calibri"/>
                <a:cs typeface="Calibri"/>
              </a:rPr>
              <a:t> </a:t>
            </a:r>
            <a:r>
              <a:rPr sz="1700" spc="-10" dirty="0">
                <a:latin typeface="Calibri"/>
                <a:cs typeface="Calibri"/>
              </a:rPr>
              <a:t>resources</a:t>
            </a:r>
            <a:r>
              <a:rPr sz="1700" spc="-5" dirty="0">
                <a:latin typeface="Calibri"/>
                <a:cs typeface="Calibri"/>
              </a:rPr>
              <a:t> and</a:t>
            </a:r>
            <a:r>
              <a:rPr sz="1700" dirty="0">
                <a:latin typeface="Calibri"/>
                <a:cs typeface="Calibri"/>
              </a:rPr>
              <a:t> </a:t>
            </a:r>
            <a:r>
              <a:rPr sz="1700" spc="-10" dirty="0">
                <a:latin typeface="Calibri"/>
                <a:cs typeface="Calibri"/>
              </a:rPr>
              <a:t>infrastructure</a:t>
            </a:r>
            <a:r>
              <a:rPr sz="1700" spc="-5" dirty="0">
                <a:latin typeface="Calibri"/>
                <a:cs typeface="Calibri"/>
              </a:rPr>
              <a:t> management</a:t>
            </a:r>
            <a:r>
              <a:rPr sz="1700" dirty="0">
                <a:latin typeface="Calibri"/>
                <a:cs typeface="Calibri"/>
              </a:rPr>
              <a:t> </a:t>
            </a:r>
            <a:r>
              <a:rPr sz="1700" spc="-10" dirty="0">
                <a:latin typeface="Calibri"/>
                <a:cs typeface="Calibri"/>
              </a:rPr>
              <a:t>available</a:t>
            </a:r>
            <a:r>
              <a:rPr sz="1700" spc="-5" dirty="0">
                <a:latin typeface="Calibri"/>
                <a:cs typeface="Calibri"/>
              </a:rPr>
              <a:t> to</a:t>
            </a:r>
            <a:r>
              <a:rPr sz="1700" dirty="0">
                <a:latin typeface="Calibri"/>
                <a:cs typeface="Calibri"/>
              </a:rPr>
              <a:t> </a:t>
            </a:r>
            <a:r>
              <a:rPr sz="1700" spc="5" dirty="0">
                <a:latin typeface="Calibri"/>
                <a:cs typeface="Calibri"/>
              </a:rPr>
              <a:t>the</a:t>
            </a:r>
            <a:r>
              <a:rPr sz="1700" spc="10" dirty="0">
                <a:latin typeface="Calibri"/>
                <a:cs typeface="Calibri"/>
              </a:rPr>
              <a:t> </a:t>
            </a:r>
            <a:r>
              <a:rPr sz="1700" spc="-10" dirty="0">
                <a:latin typeface="Calibri"/>
                <a:cs typeface="Calibri"/>
              </a:rPr>
              <a:t>customer</a:t>
            </a:r>
            <a:r>
              <a:rPr sz="1700" spc="-5" dirty="0">
                <a:latin typeface="Calibri"/>
                <a:cs typeface="Calibri"/>
              </a:rPr>
              <a:t> as </a:t>
            </a:r>
            <a:r>
              <a:rPr sz="1700" spc="-370" dirty="0">
                <a:latin typeface="Calibri"/>
                <a:cs typeface="Calibri"/>
              </a:rPr>
              <a:t> </a:t>
            </a:r>
            <a:r>
              <a:rPr sz="1700" dirty="0">
                <a:latin typeface="Calibri"/>
                <a:cs typeface="Calibri"/>
              </a:rPr>
              <a:t>needed,</a:t>
            </a:r>
            <a:r>
              <a:rPr sz="1700" spc="-30" dirty="0">
                <a:latin typeface="Calibri"/>
                <a:cs typeface="Calibri"/>
              </a:rPr>
              <a:t> </a:t>
            </a:r>
            <a:r>
              <a:rPr sz="1700" dirty="0">
                <a:latin typeface="Calibri"/>
                <a:cs typeface="Calibri"/>
              </a:rPr>
              <a:t>and</a:t>
            </a:r>
            <a:r>
              <a:rPr sz="1700" spc="-20" dirty="0">
                <a:latin typeface="Calibri"/>
                <a:cs typeface="Calibri"/>
              </a:rPr>
              <a:t> </a:t>
            </a:r>
            <a:r>
              <a:rPr sz="1700" spc="-5" dirty="0">
                <a:latin typeface="Calibri"/>
                <a:cs typeface="Calibri"/>
              </a:rPr>
              <a:t>charges</a:t>
            </a:r>
            <a:r>
              <a:rPr sz="1700" spc="-30" dirty="0">
                <a:latin typeface="Calibri"/>
                <a:cs typeface="Calibri"/>
              </a:rPr>
              <a:t> </a:t>
            </a:r>
            <a:r>
              <a:rPr sz="1700" dirty="0">
                <a:latin typeface="Calibri"/>
                <a:cs typeface="Calibri"/>
              </a:rPr>
              <a:t>them</a:t>
            </a:r>
            <a:r>
              <a:rPr sz="1700" spc="-5" dirty="0">
                <a:latin typeface="Calibri"/>
                <a:cs typeface="Calibri"/>
              </a:rPr>
              <a:t> </a:t>
            </a:r>
            <a:r>
              <a:rPr sz="1700" spc="-15" dirty="0">
                <a:latin typeface="Calibri"/>
                <a:cs typeface="Calibri"/>
              </a:rPr>
              <a:t>for</a:t>
            </a:r>
            <a:r>
              <a:rPr sz="1700" spc="5" dirty="0">
                <a:latin typeface="Calibri"/>
                <a:cs typeface="Calibri"/>
              </a:rPr>
              <a:t> </a:t>
            </a:r>
            <a:r>
              <a:rPr sz="1700" dirty="0">
                <a:latin typeface="Calibri"/>
                <a:cs typeface="Calibri"/>
              </a:rPr>
              <a:t>specific</a:t>
            </a:r>
            <a:r>
              <a:rPr sz="1700" spc="-25" dirty="0">
                <a:latin typeface="Calibri"/>
                <a:cs typeface="Calibri"/>
              </a:rPr>
              <a:t> </a:t>
            </a:r>
            <a:r>
              <a:rPr sz="1700" dirty="0">
                <a:latin typeface="Calibri"/>
                <a:cs typeface="Calibri"/>
              </a:rPr>
              <a:t>usage</a:t>
            </a:r>
            <a:r>
              <a:rPr sz="1700" spc="-20" dirty="0">
                <a:latin typeface="Calibri"/>
                <a:cs typeface="Calibri"/>
              </a:rPr>
              <a:t> </a:t>
            </a:r>
            <a:r>
              <a:rPr sz="1700" spc="-5" dirty="0">
                <a:latin typeface="Calibri"/>
                <a:cs typeface="Calibri"/>
              </a:rPr>
              <a:t>rather</a:t>
            </a:r>
            <a:r>
              <a:rPr sz="1700" spc="-45" dirty="0">
                <a:latin typeface="Calibri"/>
                <a:cs typeface="Calibri"/>
              </a:rPr>
              <a:t> </a:t>
            </a:r>
            <a:r>
              <a:rPr sz="1700" dirty="0">
                <a:latin typeface="Calibri"/>
                <a:cs typeface="Calibri"/>
              </a:rPr>
              <a:t>than</a:t>
            </a:r>
            <a:r>
              <a:rPr sz="1700" spc="-20" dirty="0">
                <a:latin typeface="Calibri"/>
                <a:cs typeface="Calibri"/>
              </a:rPr>
              <a:t> </a:t>
            </a:r>
            <a:r>
              <a:rPr sz="1700" dirty="0">
                <a:latin typeface="Calibri"/>
                <a:cs typeface="Calibri"/>
              </a:rPr>
              <a:t>a</a:t>
            </a:r>
            <a:r>
              <a:rPr sz="1700" spc="-5" dirty="0">
                <a:latin typeface="Calibri"/>
                <a:cs typeface="Calibri"/>
              </a:rPr>
              <a:t> flat</a:t>
            </a:r>
            <a:r>
              <a:rPr sz="1700" spc="-10" dirty="0">
                <a:latin typeface="Calibri"/>
                <a:cs typeface="Calibri"/>
              </a:rPr>
              <a:t> </a:t>
            </a:r>
            <a:r>
              <a:rPr sz="1700" spc="-15" dirty="0">
                <a:latin typeface="Calibri"/>
                <a:cs typeface="Calibri"/>
              </a:rPr>
              <a:t>rate.</a:t>
            </a:r>
            <a:endParaRPr sz="1700" dirty="0">
              <a:latin typeface="Calibri"/>
              <a:cs typeface="Calibri"/>
            </a:endParaRPr>
          </a:p>
          <a:p>
            <a:pPr>
              <a:lnSpc>
                <a:spcPct val="100000"/>
              </a:lnSpc>
              <a:spcBef>
                <a:spcPts val="15"/>
              </a:spcBef>
              <a:buFont typeface="Arial MT"/>
              <a:buChar char="•"/>
            </a:pPr>
            <a:endParaRPr sz="2150" dirty="0">
              <a:latin typeface="Calibri"/>
              <a:cs typeface="Calibri"/>
            </a:endParaRPr>
          </a:p>
          <a:p>
            <a:pPr marL="355600" marR="5080" indent="-343535" algn="just">
              <a:lnSpc>
                <a:spcPts val="1839"/>
              </a:lnSpc>
              <a:buFont typeface="Arial MT"/>
              <a:buChar char="•"/>
              <a:tabLst>
                <a:tab pos="356235" algn="l"/>
              </a:tabLst>
            </a:pPr>
            <a:r>
              <a:rPr sz="1700" spc="-5" dirty="0">
                <a:latin typeface="Calibri"/>
                <a:cs typeface="Calibri"/>
              </a:rPr>
              <a:t>This model </a:t>
            </a:r>
            <a:r>
              <a:rPr sz="1700" spc="-10" dirty="0">
                <a:latin typeface="Calibri"/>
                <a:cs typeface="Calibri"/>
              </a:rPr>
              <a:t>has </a:t>
            </a:r>
            <a:r>
              <a:rPr sz="1700" spc="-5" dirty="0">
                <a:latin typeface="Calibri"/>
                <a:cs typeface="Calibri"/>
              </a:rPr>
              <a:t>the </a:t>
            </a:r>
            <a:r>
              <a:rPr sz="1700" spc="-10" dirty="0">
                <a:latin typeface="Calibri"/>
                <a:cs typeface="Calibri"/>
              </a:rPr>
              <a:t>advantage </a:t>
            </a:r>
            <a:r>
              <a:rPr sz="1700" dirty="0">
                <a:latin typeface="Calibri"/>
                <a:cs typeface="Calibri"/>
              </a:rPr>
              <a:t>of a </a:t>
            </a:r>
            <a:r>
              <a:rPr sz="1700" spc="-5" dirty="0">
                <a:latin typeface="Calibri"/>
                <a:cs typeface="Calibri"/>
              </a:rPr>
              <a:t>low </a:t>
            </a:r>
            <a:r>
              <a:rPr sz="1700" dirty="0">
                <a:latin typeface="Calibri"/>
                <a:cs typeface="Calibri"/>
              </a:rPr>
              <a:t>or no </a:t>
            </a:r>
            <a:r>
              <a:rPr sz="1700" spc="-5" dirty="0">
                <a:latin typeface="Calibri"/>
                <a:cs typeface="Calibri"/>
              </a:rPr>
              <a:t>initial </a:t>
            </a:r>
            <a:r>
              <a:rPr sz="1700" spc="-10" dirty="0">
                <a:latin typeface="Calibri"/>
                <a:cs typeface="Calibri"/>
              </a:rPr>
              <a:t>cost </a:t>
            </a:r>
            <a:r>
              <a:rPr sz="1700" spc="-5" dirty="0">
                <a:latin typeface="Calibri"/>
                <a:cs typeface="Calibri"/>
              </a:rPr>
              <a:t>to </a:t>
            </a:r>
            <a:r>
              <a:rPr sz="1700" spc="-10" dirty="0">
                <a:latin typeface="Calibri"/>
                <a:cs typeface="Calibri"/>
              </a:rPr>
              <a:t>acquire computer resources; </a:t>
            </a:r>
            <a:r>
              <a:rPr sz="1700" spc="-5" dirty="0">
                <a:latin typeface="Calibri"/>
                <a:cs typeface="Calibri"/>
              </a:rPr>
              <a:t> instead,</a:t>
            </a:r>
            <a:r>
              <a:rPr sz="1700" spc="-40" dirty="0">
                <a:latin typeface="Calibri"/>
                <a:cs typeface="Calibri"/>
              </a:rPr>
              <a:t> </a:t>
            </a:r>
            <a:r>
              <a:rPr sz="1700" spc="-5" dirty="0">
                <a:latin typeface="Calibri"/>
                <a:cs typeface="Calibri"/>
              </a:rPr>
              <a:t>computational</a:t>
            </a:r>
            <a:r>
              <a:rPr sz="1700" spc="-35" dirty="0">
                <a:latin typeface="Calibri"/>
                <a:cs typeface="Calibri"/>
              </a:rPr>
              <a:t> </a:t>
            </a:r>
            <a:r>
              <a:rPr sz="1700" spc="-5" dirty="0">
                <a:latin typeface="Calibri"/>
                <a:cs typeface="Calibri"/>
              </a:rPr>
              <a:t>resources</a:t>
            </a:r>
            <a:r>
              <a:rPr sz="1700" spc="-25" dirty="0">
                <a:latin typeface="Calibri"/>
                <a:cs typeface="Calibri"/>
              </a:rPr>
              <a:t> </a:t>
            </a:r>
            <a:r>
              <a:rPr sz="1700" spc="-5" dirty="0">
                <a:latin typeface="Calibri"/>
                <a:cs typeface="Calibri"/>
              </a:rPr>
              <a:t>are</a:t>
            </a:r>
            <a:r>
              <a:rPr sz="1700" spc="-10" dirty="0">
                <a:latin typeface="Calibri"/>
                <a:cs typeface="Calibri"/>
              </a:rPr>
              <a:t> </a:t>
            </a:r>
            <a:r>
              <a:rPr sz="1700" dirty="0">
                <a:latin typeface="Calibri"/>
                <a:cs typeface="Calibri"/>
              </a:rPr>
              <a:t>essentially</a:t>
            </a:r>
            <a:r>
              <a:rPr sz="1700" spc="-25" dirty="0">
                <a:latin typeface="Calibri"/>
                <a:cs typeface="Calibri"/>
              </a:rPr>
              <a:t> </a:t>
            </a:r>
            <a:r>
              <a:rPr sz="1700" spc="-5" dirty="0">
                <a:latin typeface="Calibri"/>
                <a:cs typeface="Calibri"/>
              </a:rPr>
              <a:t>rented.</a:t>
            </a:r>
            <a:endParaRPr sz="1700" dirty="0">
              <a:latin typeface="Calibri"/>
              <a:cs typeface="Calibri"/>
            </a:endParaRPr>
          </a:p>
          <a:p>
            <a:pPr>
              <a:lnSpc>
                <a:spcPct val="100000"/>
              </a:lnSpc>
              <a:spcBef>
                <a:spcPts val="20"/>
              </a:spcBef>
              <a:buFont typeface="Arial MT"/>
              <a:buChar char="•"/>
            </a:pPr>
            <a:endParaRPr sz="2150" dirty="0">
              <a:latin typeface="Calibri"/>
              <a:cs typeface="Calibri"/>
            </a:endParaRPr>
          </a:p>
          <a:p>
            <a:pPr marL="355600" marR="5080" indent="-343535" algn="just">
              <a:lnSpc>
                <a:spcPts val="1839"/>
              </a:lnSpc>
              <a:spcBef>
                <a:spcPts val="5"/>
              </a:spcBef>
              <a:buFont typeface="Arial MT"/>
              <a:buChar char="•"/>
              <a:tabLst>
                <a:tab pos="356235" algn="l"/>
              </a:tabLst>
            </a:pPr>
            <a:r>
              <a:rPr sz="1700" spc="-5" dirty="0">
                <a:latin typeface="Calibri"/>
                <a:cs typeface="Calibri"/>
              </a:rPr>
              <a:t>The </a:t>
            </a:r>
            <a:r>
              <a:rPr sz="1700" spc="-15" dirty="0">
                <a:latin typeface="Calibri"/>
                <a:cs typeface="Calibri"/>
              </a:rPr>
              <a:t>word </a:t>
            </a:r>
            <a:r>
              <a:rPr sz="1700" i="1" spc="-5" dirty="0">
                <a:latin typeface="Calibri"/>
                <a:cs typeface="Calibri"/>
              </a:rPr>
              <a:t>utility </a:t>
            </a:r>
            <a:r>
              <a:rPr sz="1700" spc="-5" dirty="0">
                <a:latin typeface="Calibri"/>
                <a:cs typeface="Calibri"/>
              </a:rPr>
              <a:t>is used to </a:t>
            </a:r>
            <a:r>
              <a:rPr sz="1700" spc="-15" dirty="0">
                <a:latin typeface="Calibri"/>
                <a:cs typeface="Calibri"/>
              </a:rPr>
              <a:t>make </a:t>
            </a:r>
            <a:r>
              <a:rPr sz="1700" spc="-5" dirty="0">
                <a:latin typeface="Calibri"/>
                <a:cs typeface="Calibri"/>
              </a:rPr>
              <a:t>an analogy to other services, such </a:t>
            </a:r>
            <a:r>
              <a:rPr sz="1700" spc="-10" dirty="0">
                <a:latin typeface="Calibri"/>
                <a:cs typeface="Calibri"/>
              </a:rPr>
              <a:t>as </a:t>
            </a:r>
            <a:r>
              <a:rPr sz="1700" dirty="0">
                <a:latin typeface="Calibri"/>
                <a:cs typeface="Calibri"/>
              </a:rPr>
              <a:t>electrical </a:t>
            </a:r>
            <a:r>
              <a:rPr sz="1700" spc="-35" dirty="0">
                <a:latin typeface="Calibri"/>
                <a:cs typeface="Calibri"/>
              </a:rPr>
              <a:t>power, </a:t>
            </a:r>
            <a:r>
              <a:rPr sz="1700" spc="-30" dirty="0">
                <a:latin typeface="Calibri"/>
                <a:cs typeface="Calibri"/>
              </a:rPr>
              <a:t> </a:t>
            </a:r>
            <a:r>
              <a:rPr sz="1700" spc="-5" dirty="0">
                <a:latin typeface="Calibri"/>
                <a:cs typeface="Calibri"/>
              </a:rPr>
              <a:t>that </a:t>
            </a:r>
            <a:r>
              <a:rPr sz="1700" dirty="0">
                <a:latin typeface="Calibri"/>
                <a:cs typeface="Calibri"/>
              </a:rPr>
              <a:t>seek </a:t>
            </a:r>
            <a:r>
              <a:rPr sz="1700" spc="-5" dirty="0">
                <a:latin typeface="Calibri"/>
                <a:cs typeface="Calibri"/>
              </a:rPr>
              <a:t>to meet fluctuating </a:t>
            </a:r>
            <a:r>
              <a:rPr sz="1700" spc="-10" dirty="0">
                <a:latin typeface="Calibri"/>
                <a:cs typeface="Calibri"/>
              </a:rPr>
              <a:t>customer </a:t>
            </a:r>
            <a:r>
              <a:rPr sz="1700" spc="-5" dirty="0">
                <a:latin typeface="Calibri"/>
                <a:cs typeface="Calibri"/>
              </a:rPr>
              <a:t>needs, and charge </a:t>
            </a:r>
            <a:r>
              <a:rPr sz="1700" spc="-15" dirty="0">
                <a:latin typeface="Calibri"/>
                <a:cs typeface="Calibri"/>
              </a:rPr>
              <a:t>for </a:t>
            </a:r>
            <a:r>
              <a:rPr sz="1700" spc="-5" dirty="0">
                <a:latin typeface="Calibri"/>
                <a:cs typeface="Calibri"/>
              </a:rPr>
              <a:t>the </a:t>
            </a:r>
            <a:r>
              <a:rPr sz="1700" spc="-10" dirty="0">
                <a:latin typeface="Calibri"/>
                <a:cs typeface="Calibri"/>
              </a:rPr>
              <a:t>resources </a:t>
            </a:r>
            <a:r>
              <a:rPr sz="1700" spc="-5" dirty="0">
                <a:latin typeface="Calibri"/>
                <a:cs typeface="Calibri"/>
              </a:rPr>
              <a:t>based </a:t>
            </a:r>
            <a:r>
              <a:rPr sz="1700" spc="-15" dirty="0">
                <a:latin typeface="Calibri"/>
                <a:cs typeface="Calibri"/>
              </a:rPr>
              <a:t>on </a:t>
            </a:r>
            <a:r>
              <a:rPr sz="1700" spc="-10" dirty="0">
                <a:latin typeface="Calibri"/>
                <a:cs typeface="Calibri"/>
              </a:rPr>
              <a:t> </a:t>
            </a:r>
            <a:r>
              <a:rPr sz="1700" spc="-5" dirty="0">
                <a:latin typeface="Calibri"/>
                <a:cs typeface="Calibri"/>
              </a:rPr>
              <a:t>usage</a:t>
            </a:r>
            <a:r>
              <a:rPr sz="1700" spc="-25" dirty="0">
                <a:latin typeface="Calibri"/>
                <a:cs typeface="Calibri"/>
              </a:rPr>
              <a:t> </a:t>
            </a:r>
            <a:r>
              <a:rPr sz="1700" spc="-10" dirty="0">
                <a:latin typeface="Calibri"/>
                <a:cs typeface="Calibri"/>
              </a:rPr>
              <a:t>rather</a:t>
            </a:r>
            <a:r>
              <a:rPr sz="1700" spc="-20" dirty="0">
                <a:latin typeface="Calibri"/>
                <a:cs typeface="Calibri"/>
              </a:rPr>
              <a:t> </a:t>
            </a:r>
            <a:r>
              <a:rPr sz="1700" dirty="0">
                <a:latin typeface="Calibri"/>
                <a:cs typeface="Calibri"/>
              </a:rPr>
              <a:t>than</a:t>
            </a:r>
            <a:r>
              <a:rPr sz="1700" spc="-15" dirty="0">
                <a:latin typeface="Calibri"/>
                <a:cs typeface="Calibri"/>
              </a:rPr>
              <a:t> </a:t>
            </a:r>
            <a:r>
              <a:rPr sz="1700" dirty="0">
                <a:latin typeface="Calibri"/>
                <a:cs typeface="Calibri"/>
              </a:rPr>
              <a:t>on</a:t>
            </a:r>
            <a:r>
              <a:rPr sz="1700" spc="-5" dirty="0">
                <a:latin typeface="Calibri"/>
                <a:cs typeface="Calibri"/>
              </a:rPr>
              <a:t> </a:t>
            </a:r>
            <a:r>
              <a:rPr sz="1700" dirty="0">
                <a:latin typeface="Calibri"/>
                <a:cs typeface="Calibri"/>
              </a:rPr>
              <a:t>a </a:t>
            </a:r>
            <a:r>
              <a:rPr sz="1700" spc="-10" dirty="0">
                <a:latin typeface="Calibri"/>
                <a:cs typeface="Calibri"/>
              </a:rPr>
              <a:t>flat-rate</a:t>
            </a:r>
            <a:r>
              <a:rPr sz="1700" spc="-5" dirty="0">
                <a:latin typeface="Calibri"/>
                <a:cs typeface="Calibri"/>
              </a:rPr>
              <a:t> </a:t>
            </a:r>
            <a:r>
              <a:rPr sz="1700" dirty="0">
                <a:latin typeface="Calibri"/>
                <a:cs typeface="Calibri"/>
              </a:rPr>
              <a:t>basis.</a:t>
            </a:r>
            <a:r>
              <a:rPr sz="1700" spc="-35" dirty="0">
                <a:latin typeface="Calibri"/>
                <a:cs typeface="Calibri"/>
              </a:rPr>
              <a:t> </a:t>
            </a:r>
            <a:r>
              <a:rPr sz="1700" dirty="0">
                <a:latin typeface="Calibri"/>
                <a:cs typeface="Calibri"/>
              </a:rPr>
              <a:t>This</a:t>
            </a:r>
            <a:r>
              <a:rPr sz="1700" spc="-10" dirty="0">
                <a:latin typeface="Calibri"/>
                <a:cs typeface="Calibri"/>
              </a:rPr>
              <a:t> </a:t>
            </a:r>
            <a:r>
              <a:rPr sz="1700" spc="-5" dirty="0">
                <a:latin typeface="Calibri"/>
                <a:cs typeface="Calibri"/>
              </a:rPr>
              <a:t>approach,</a:t>
            </a:r>
            <a:r>
              <a:rPr sz="1700" spc="-25" dirty="0">
                <a:latin typeface="Calibri"/>
                <a:cs typeface="Calibri"/>
              </a:rPr>
              <a:t> </a:t>
            </a:r>
            <a:r>
              <a:rPr sz="1700" spc="-5" dirty="0">
                <a:latin typeface="Calibri"/>
                <a:cs typeface="Calibri"/>
              </a:rPr>
              <a:t>sometimes</a:t>
            </a:r>
            <a:r>
              <a:rPr sz="1700" spc="5" dirty="0">
                <a:latin typeface="Calibri"/>
                <a:cs typeface="Calibri"/>
              </a:rPr>
              <a:t> </a:t>
            </a:r>
            <a:r>
              <a:rPr sz="1700" dirty="0">
                <a:latin typeface="Calibri"/>
                <a:cs typeface="Calibri"/>
              </a:rPr>
              <a:t>known</a:t>
            </a:r>
            <a:r>
              <a:rPr sz="1700" spc="-25" dirty="0">
                <a:latin typeface="Calibri"/>
                <a:cs typeface="Calibri"/>
              </a:rPr>
              <a:t> </a:t>
            </a:r>
            <a:r>
              <a:rPr sz="1700" spc="-5" dirty="0">
                <a:latin typeface="Calibri"/>
                <a:cs typeface="Calibri"/>
              </a:rPr>
              <a:t>as </a:t>
            </a:r>
            <a:r>
              <a:rPr sz="1700" i="1" spc="-5" dirty="0">
                <a:latin typeface="Calibri"/>
                <a:cs typeface="Calibri"/>
              </a:rPr>
              <a:t>pay-per-use</a:t>
            </a:r>
            <a:endParaRPr sz="1700" dirty="0">
              <a:latin typeface="Calibri"/>
              <a:cs typeface="Calibri"/>
            </a:endParaRPr>
          </a:p>
        </p:txBody>
      </p:sp>
      <p:sp>
        <p:nvSpPr>
          <p:cNvPr id="5" name="Footer Placeholder 4">
            <a:extLst>
              <a:ext uri="{FF2B5EF4-FFF2-40B4-BE49-F238E27FC236}">
                <a16:creationId xmlns:a16="http://schemas.microsoft.com/office/drawing/2014/main" id="{6F8DF9BA-5400-C47C-8F53-C16D1E85039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2936" y="330464"/>
            <a:ext cx="4898390" cy="444352"/>
          </a:xfrm>
          <a:prstGeom prst="rect">
            <a:avLst/>
          </a:prstGeom>
        </p:spPr>
        <p:txBody>
          <a:bodyPr vert="horz" wrap="square" lIns="0" tIns="13335" rIns="0" bIns="0" rtlCol="0">
            <a:spAutoFit/>
          </a:bodyPr>
          <a:lstStyle/>
          <a:p>
            <a:pPr marL="12700" algn="ctr">
              <a:lnSpc>
                <a:spcPct val="100000"/>
              </a:lnSpc>
              <a:spcBef>
                <a:spcPts val="105"/>
              </a:spcBef>
            </a:pPr>
            <a:r>
              <a:rPr sz="2800" b="1" spc="15" dirty="0">
                <a:latin typeface="Calibri"/>
                <a:cs typeface="Calibri"/>
              </a:rPr>
              <a:t>“Utility”</a:t>
            </a:r>
            <a:r>
              <a:rPr sz="2800" b="1" spc="-50" dirty="0">
                <a:latin typeface="Calibri"/>
                <a:cs typeface="Calibri"/>
              </a:rPr>
              <a:t> </a:t>
            </a:r>
            <a:r>
              <a:rPr sz="2800" b="1" dirty="0">
                <a:latin typeface="Calibri"/>
                <a:cs typeface="Calibri"/>
              </a:rPr>
              <a:t>Computing</a:t>
            </a:r>
            <a:r>
              <a:rPr sz="2800" b="1" spc="-30" dirty="0">
                <a:latin typeface="Calibri"/>
                <a:cs typeface="Calibri"/>
              </a:rPr>
              <a:t> </a:t>
            </a:r>
            <a:r>
              <a:rPr sz="2800" b="1" dirty="0">
                <a:latin typeface="Calibri"/>
                <a:cs typeface="Calibri"/>
              </a:rPr>
              <a:t>?</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23</a:t>
            </a:r>
          </a:p>
        </p:txBody>
      </p:sp>
      <p:sp>
        <p:nvSpPr>
          <p:cNvPr id="3" name="object 3"/>
          <p:cNvSpPr txBox="1"/>
          <p:nvPr/>
        </p:nvSpPr>
        <p:spPr>
          <a:xfrm>
            <a:off x="402436" y="1216913"/>
            <a:ext cx="2881630" cy="2769870"/>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2000" spc="-5" dirty="0">
                <a:latin typeface="Calibri"/>
                <a:cs typeface="Calibri"/>
              </a:rPr>
              <a:t>"Utility computing" has </a:t>
            </a:r>
            <a:r>
              <a:rPr sz="2000" dirty="0">
                <a:latin typeface="Calibri"/>
                <a:cs typeface="Calibri"/>
              </a:rPr>
              <a:t> </a:t>
            </a:r>
            <a:r>
              <a:rPr sz="2000" spc="-5" dirty="0">
                <a:latin typeface="Calibri"/>
                <a:cs typeface="Calibri"/>
              </a:rPr>
              <a:t>usually </a:t>
            </a:r>
            <a:r>
              <a:rPr sz="2000" spc="-10" dirty="0">
                <a:latin typeface="Calibri"/>
                <a:cs typeface="Calibri"/>
              </a:rPr>
              <a:t>envisioned </a:t>
            </a:r>
            <a:r>
              <a:rPr sz="2000" spc="-5" dirty="0">
                <a:latin typeface="Calibri"/>
                <a:cs typeface="Calibri"/>
              </a:rPr>
              <a:t>some </a:t>
            </a:r>
            <a:r>
              <a:rPr sz="2000" spc="-440" dirty="0">
                <a:latin typeface="Calibri"/>
                <a:cs typeface="Calibri"/>
              </a:rPr>
              <a:t> </a:t>
            </a:r>
            <a:r>
              <a:rPr sz="2000" spc="-15" dirty="0">
                <a:latin typeface="Calibri"/>
                <a:cs typeface="Calibri"/>
              </a:rPr>
              <a:t>form </a:t>
            </a:r>
            <a:r>
              <a:rPr sz="2000" spc="-5" dirty="0">
                <a:latin typeface="Calibri"/>
                <a:cs typeface="Calibri"/>
              </a:rPr>
              <a:t>of virtualization so </a:t>
            </a:r>
            <a:r>
              <a:rPr sz="2000" spc="-440" dirty="0">
                <a:latin typeface="Calibri"/>
                <a:cs typeface="Calibri"/>
              </a:rPr>
              <a:t> </a:t>
            </a:r>
            <a:r>
              <a:rPr sz="2000" spc="-5" dirty="0">
                <a:latin typeface="Calibri"/>
                <a:cs typeface="Calibri"/>
              </a:rPr>
              <a:t>that </a:t>
            </a:r>
            <a:r>
              <a:rPr sz="2000" dirty="0">
                <a:latin typeface="Calibri"/>
                <a:cs typeface="Calibri"/>
              </a:rPr>
              <a:t>the </a:t>
            </a:r>
            <a:r>
              <a:rPr sz="2000" spc="-5" dirty="0">
                <a:latin typeface="Calibri"/>
                <a:cs typeface="Calibri"/>
              </a:rPr>
              <a:t>amount of </a:t>
            </a:r>
            <a:r>
              <a:rPr sz="2000" dirty="0">
                <a:latin typeface="Calibri"/>
                <a:cs typeface="Calibri"/>
              </a:rPr>
              <a:t> </a:t>
            </a:r>
            <a:r>
              <a:rPr sz="2000" spc="-15" dirty="0">
                <a:latin typeface="Calibri"/>
                <a:cs typeface="Calibri"/>
              </a:rPr>
              <a:t>storage </a:t>
            </a:r>
            <a:r>
              <a:rPr sz="2000" spc="-5" dirty="0">
                <a:latin typeface="Calibri"/>
                <a:cs typeface="Calibri"/>
              </a:rPr>
              <a:t>or computing </a:t>
            </a:r>
            <a:r>
              <a:rPr sz="2000" dirty="0">
                <a:latin typeface="Calibri"/>
                <a:cs typeface="Calibri"/>
              </a:rPr>
              <a:t> </a:t>
            </a:r>
            <a:r>
              <a:rPr sz="2000" spc="-5" dirty="0">
                <a:latin typeface="Calibri"/>
                <a:cs typeface="Calibri"/>
              </a:rPr>
              <a:t>power</a:t>
            </a:r>
            <a:r>
              <a:rPr sz="2000" spc="-20" dirty="0">
                <a:latin typeface="Calibri"/>
                <a:cs typeface="Calibri"/>
              </a:rPr>
              <a:t> </a:t>
            </a:r>
            <a:r>
              <a:rPr sz="2000" spc="-10" dirty="0">
                <a:latin typeface="Calibri"/>
                <a:cs typeface="Calibri"/>
              </a:rPr>
              <a:t>available</a:t>
            </a:r>
            <a:r>
              <a:rPr sz="2000" spc="5" dirty="0">
                <a:latin typeface="Calibri"/>
                <a:cs typeface="Calibri"/>
              </a:rPr>
              <a:t> </a:t>
            </a:r>
            <a:r>
              <a:rPr sz="2000" dirty="0">
                <a:latin typeface="Calibri"/>
                <a:cs typeface="Calibri"/>
              </a:rPr>
              <a:t>is </a:t>
            </a:r>
            <a:r>
              <a:rPr sz="2000" spc="5" dirty="0">
                <a:latin typeface="Calibri"/>
                <a:cs typeface="Calibri"/>
              </a:rPr>
              <a:t> </a:t>
            </a:r>
            <a:r>
              <a:rPr sz="2000" spc="-5" dirty="0">
                <a:latin typeface="Calibri"/>
                <a:cs typeface="Calibri"/>
              </a:rPr>
              <a:t>considerably </a:t>
            </a:r>
            <a:r>
              <a:rPr sz="2000" spc="-10" dirty="0">
                <a:latin typeface="Calibri"/>
                <a:cs typeface="Calibri"/>
              </a:rPr>
              <a:t>larger </a:t>
            </a:r>
            <a:r>
              <a:rPr sz="2000" dirty="0">
                <a:latin typeface="Calibri"/>
                <a:cs typeface="Calibri"/>
              </a:rPr>
              <a:t>than </a:t>
            </a:r>
            <a:r>
              <a:rPr sz="2000" spc="-440" dirty="0">
                <a:latin typeface="Calibri"/>
                <a:cs typeface="Calibri"/>
              </a:rPr>
              <a:t> </a:t>
            </a:r>
            <a:r>
              <a:rPr sz="2000" spc="-5" dirty="0">
                <a:latin typeface="Calibri"/>
                <a:cs typeface="Calibri"/>
              </a:rPr>
              <a:t>that </a:t>
            </a:r>
            <a:r>
              <a:rPr sz="2000" dirty="0">
                <a:latin typeface="Calibri"/>
                <a:cs typeface="Calibri"/>
              </a:rPr>
              <a:t>of a </a:t>
            </a:r>
            <a:r>
              <a:rPr sz="2000" spc="-5" dirty="0">
                <a:latin typeface="Calibri"/>
                <a:cs typeface="Calibri"/>
              </a:rPr>
              <a:t>single time- </a:t>
            </a:r>
            <a:r>
              <a:rPr sz="2000" dirty="0">
                <a:latin typeface="Calibri"/>
                <a:cs typeface="Calibri"/>
              </a:rPr>
              <a:t> </a:t>
            </a:r>
            <a:r>
              <a:rPr sz="2000" spc="-5" dirty="0">
                <a:latin typeface="Calibri"/>
                <a:cs typeface="Calibri"/>
              </a:rPr>
              <a:t>sharing</a:t>
            </a:r>
            <a:r>
              <a:rPr sz="2000" spc="-10" dirty="0">
                <a:latin typeface="Calibri"/>
                <a:cs typeface="Calibri"/>
              </a:rPr>
              <a:t> </a:t>
            </a:r>
            <a:r>
              <a:rPr sz="2000" spc="-30" dirty="0">
                <a:latin typeface="Calibri"/>
                <a:cs typeface="Calibri"/>
              </a:rPr>
              <a:t>computer.</a:t>
            </a:r>
            <a:endParaRPr sz="2000">
              <a:latin typeface="Calibri"/>
              <a:cs typeface="Calibri"/>
            </a:endParaRPr>
          </a:p>
        </p:txBody>
      </p:sp>
      <p:pic>
        <p:nvPicPr>
          <p:cNvPr id="4" name="object 4"/>
          <p:cNvPicPr/>
          <p:nvPr/>
        </p:nvPicPr>
        <p:blipFill>
          <a:blip r:embed="rId2" cstate="print"/>
          <a:stretch>
            <a:fillRect/>
          </a:stretch>
        </p:blipFill>
        <p:spPr>
          <a:xfrm>
            <a:off x="3505200" y="1297564"/>
            <a:ext cx="5433568" cy="3102737"/>
          </a:xfrm>
          <a:prstGeom prst="rect">
            <a:avLst/>
          </a:prstGeom>
        </p:spPr>
      </p:pic>
      <p:sp>
        <p:nvSpPr>
          <p:cNvPr id="5" name="object 5"/>
          <p:cNvSpPr txBox="1"/>
          <p:nvPr/>
        </p:nvSpPr>
        <p:spPr>
          <a:xfrm>
            <a:off x="5105400" y="4400301"/>
            <a:ext cx="3597275" cy="197490"/>
          </a:xfrm>
          <a:prstGeom prst="rect">
            <a:avLst/>
          </a:prstGeom>
        </p:spPr>
        <p:txBody>
          <a:bodyPr vert="horz" wrap="square" lIns="0" tIns="12700" rIns="0" bIns="0" rtlCol="0">
            <a:spAutoFit/>
          </a:bodyPr>
          <a:lstStyle/>
          <a:p>
            <a:pPr marL="12700">
              <a:lnSpc>
                <a:spcPct val="100000"/>
              </a:lnSpc>
              <a:spcBef>
                <a:spcPts val="100"/>
              </a:spcBef>
            </a:pPr>
            <a:r>
              <a:rPr sz="1200" spc="-80" dirty="0">
                <a:cs typeface="Arial MT"/>
              </a:rPr>
              <a:t>Source:Alan</a:t>
            </a:r>
            <a:r>
              <a:rPr sz="1200" spc="-229" dirty="0">
                <a:cs typeface="Arial MT"/>
              </a:rPr>
              <a:t> </a:t>
            </a:r>
            <a:r>
              <a:rPr sz="1200" spc="-105" dirty="0">
                <a:cs typeface="Arial MT"/>
              </a:rPr>
              <a:t>McSweeney,</a:t>
            </a:r>
            <a:r>
              <a:rPr sz="1200" spc="-220" dirty="0">
                <a:cs typeface="Arial MT"/>
              </a:rPr>
              <a:t> </a:t>
            </a:r>
            <a:r>
              <a:rPr sz="1200" spc="-75" dirty="0">
                <a:cs typeface="Arial MT"/>
              </a:rPr>
              <a:t>“The</a:t>
            </a:r>
            <a:r>
              <a:rPr sz="1200" spc="-220" dirty="0">
                <a:cs typeface="Arial MT"/>
              </a:rPr>
              <a:t> </a:t>
            </a:r>
            <a:r>
              <a:rPr sz="1200" spc="-90" dirty="0">
                <a:cs typeface="Arial MT"/>
              </a:rPr>
              <a:t>Economics</a:t>
            </a:r>
            <a:r>
              <a:rPr sz="1200" spc="-235" dirty="0">
                <a:cs typeface="Arial MT"/>
              </a:rPr>
              <a:t> </a:t>
            </a:r>
            <a:r>
              <a:rPr sz="1200" spc="-50" dirty="0">
                <a:cs typeface="Arial MT"/>
              </a:rPr>
              <a:t>of</a:t>
            </a:r>
            <a:r>
              <a:rPr sz="1200" spc="-210" dirty="0">
                <a:cs typeface="Arial MT"/>
              </a:rPr>
              <a:t> </a:t>
            </a:r>
            <a:r>
              <a:rPr sz="1200" spc="-85" dirty="0">
                <a:cs typeface="Arial MT"/>
              </a:rPr>
              <a:t>Utility</a:t>
            </a:r>
            <a:r>
              <a:rPr sz="1200" spc="-210" dirty="0">
                <a:cs typeface="Arial MT"/>
              </a:rPr>
              <a:t> </a:t>
            </a:r>
            <a:r>
              <a:rPr sz="1200" spc="-95" dirty="0">
                <a:cs typeface="Arial MT"/>
              </a:rPr>
              <a:t>Computing”</a:t>
            </a:r>
            <a:endParaRPr sz="1200" dirty="0">
              <a:cs typeface="Arial MT"/>
            </a:endParaRPr>
          </a:p>
        </p:txBody>
      </p:sp>
      <p:sp>
        <p:nvSpPr>
          <p:cNvPr id="7" name="Footer Placeholder 6">
            <a:extLst>
              <a:ext uri="{FF2B5EF4-FFF2-40B4-BE49-F238E27FC236}">
                <a16:creationId xmlns:a16="http://schemas.microsoft.com/office/drawing/2014/main" id="{DD27B1DD-AC5E-8A37-582B-FACEBB95257E}"/>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4836" y="361241"/>
            <a:ext cx="4893945" cy="382797"/>
          </a:xfrm>
          <a:prstGeom prst="rect">
            <a:avLst/>
          </a:prstGeom>
        </p:spPr>
        <p:txBody>
          <a:bodyPr vert="horz" wrap="square" lIns="0" tIns="13335" rIns="0" bIns="0" rtlCol="0">
            <a:spAutoFit/>
          </a:bodyPr>
          <a:lstStyle/>
          <a:p>
            <a:pPr marL="12700" algn="ctr">
              <a:lnSpc>
                <a:spcPct val="100000"/>
              </a:lnSpc>
              <a:spcBef>
                <a:spcPts val="105"/>
              </a:spcBef>
            </a:pPr>
            <a:r>
              <a:rPr sz="2400" b="1" spc="10" dirty="0">
                <a:latin typeface="Calibri"/>
                <a:cs typeface="Calibri"/>
              </a:rPr>
              <a:t>“Utility”</a:t>
            </a:r>
            <a:r>
              <a:rPr sz="2400" b="1" spc="-40" dirty="0">
                <a:latin typeface="Calibri"/>
                <a:cs typeface="Calibri"/>
              </a:rPr>
              <a:t> </a:t>
            </a:r>
            <a:r>
              <a:rPr sz="2400" b="1" dirty="0">
                <a:latin typeface="Calibri"/>
                <a:cs typeface="Calibri"/>
              </a:rPr>
              <a:t>Computing</a:t>
            </a:r>
            <a:r>
              <a:rPr sz="2400" b="1" spc="-35" dirty="0">
                <a:latin typeface="Calibri"/>
                <a:cs typeface="Calibri"/>
              </a:rPr>
              <a:t> </a:t>
            </a:r>
            <a:r>
              <a:rPr sz="2400" b="1" dirty="0">
                <a:latin typeface="Calibri"/>
                <a:cs typeface="Calibri"/>
              </a:rPr>
              <a:t>?</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24</a:t>
            </a:r>
          </a:p>
        </p:txBody>
      </p:sp>
      <p:sp>
        <p:nvSpPr>
          <p:cNvPr id="3" name="object 3"/>
          <p:cNvSpPr txBox="1"/>
          <p:nvPr/>
        </p:nvSpPr>
        <p:spPr>
          <a:xfrm>
            <a:off x="762000" y="1123950"/>
            <a:ext cx="4794250" cy="2241639"/>
          </a:xfrm>
          <a:prstGeom prst="rect">
            <a:avLst/>
          </a:prstGeom>
        </p:spPr>
        <p:txBody>
          <a:bodyPr vert="horz" wrap="square" lIns="0" tIns="73660" rIns="0" bIns="0" rtlCol="0">
            <a:spAutoFit/>
          </a:bodyPr>
          <a:lstStyle/>
          <a:p>
            <a:pPr marL="354965" indent="-342900">
              <a:lnSpc>
                <a:spcPct val="100000"/>
              </a:lnSpc>
              <a:spcBef>
                <a:spcPts val="580"/>
              </a:spcBef>
              <a:buAutoNum type="alphaLcParenR"/>
              <a:tabLst>
                <a:tab pos="354965" algn="l"/>
                <a:tab pos="355600" algn="l"/>
              </a:tabLst>
            </a:pPr>
            <a:r>
              <a:rPr sz="2000" spc="-15" dirty="0">
                <a:latin typeface="Calibri"/>
                <a:cs typeface="Calibri"/>
              </a:rPr>
              <a:t>Pay-for-use</a:t>
            </a:r>
            <a:r>
              <a:rPr sz="2000" spc="-5" dirty="0">
                <a:latin typeface="Calibri"/>
                <a:cs typeface="Calibri"/>
              </a:rPr>
              <a:t> Pricing</a:t>
            </a:r>
            <a:r>
              <a:rPr sz="2000" spc="15" dirty="0">
                <a:latin typeface="Calibri"/>
                <a:cs typeface="Calibri"/>
              </a:rPr>
              <a:t> </a:t>
            </a:r>
            <a:r>
              <a:rPr sz="2000" spc="-5" dirty="0">
                <a:latin typeface="Calibri"/>
                <a:cs typeface="Calibri"/>
              </a:rPr>
              <a:t>Business</a:t>
            </a:r>
            <a:r>
              <a:rPr sz="2000" spc="5" dirty="0">
                <a:latin typeface="Calibri"/>
                <a:cs typeface="Calibri"/>
              </a:rPr>
              <a:t> </a:t>
            </a:r>
            <a:r>
              <a:rPr sz="2000" dirty="0">
                <a:latin typeface="Calibri"/>
                <a:cs typeface="Calibri"/>
              </a:rPr>
              <a:t>Model</a:t>
            </a:r>
          </a:p>
          <a:p>
            <a:pPr marL="354965" indent="-342900">
              <a:lnSpc>
                <a:spcPct val="100000"/>
              </a:lnSpc>
              <a:spcBef>
                <a:spcPts val="480"/>
              </a:spcBef>
              <a:buAutoNum type="alphaLcParenR"/>
              <a:tabLst>
                <a:tab pos="354965" algn="l"/>
                <a:tab pos="355600" algn="l"/>
              </a:tabLst>
            </a:pPr>
            <a:r>
              <a:rPr sz="2000" spc="-15" dirty="0">
                <a:latin typeface="Calibri"/>
                <a:cs typeface="Calibri"/>
              </a:rPr>
              <a:t>Data</a:t>
            </a:r>
            <a:r>
              <a:rPr sz="2000" spc="-5" dirty="0">
                <a:latin typeface="Calibri"/>
                <a:cs typeface="Calibri"/>
              </a:rPr>
              <a:t> </a:t>
            </a:r>
            <a:r>
              <a:rPr sz="2000" spc="-10" dirty="0">
                <a:latin typeface="Calibri"/>
                <a:cs typeface="Calibri"/>
              </a:rPr>
              <a:t>Center</a:t>
            </a:r>
            <a:r>
              <a:rPr sz="2000" dirty="0">
                <a:latin typeface="Calibri"/>
                <a:cs typeface="Calibri"/>
              </a:rPr>
              <a:t> </a:t>
            </a:r>
            <a:r>
              <a:rPr sz="2000" spc="-5" dirty="0">
                <a:latin typeface="Calibri"/>
                <a:cs typeface="Calibri"/>
              </a:rPr>
              <a:t>Virtualization</a:t>
            </a:r>
            <a:r>
              <a:rPr sz="2000" dirty="0">
                <a:latin typeface="Calibri"/>
                <a:cs typeface="Calibri"/>
              </a:rPr>
              <a:t> and</a:t>
            </a:r>
            <a:r>
              <a:rPr sz="2000" spc="-5" dirty="0">
                <a:latin typeface="Calibri"/>
                <a:cs typeface="Calibri"/>
              </a:rPr>
              <a:t> </a:t>
            </a:r>
            <a:r>
              <a:rPr sz="2000" spc="-10" dirty="0">
                <a:latin typeface="Calibri"/>
                <a:cs typeface="Calibri"/>
              </a:rPr>
              <a:t>Provisioning</a:t>
            </a:r>
            <a:endParaRPr sz="2000" dirty="0">
              <a:latin typeface="Calibri"/>
              <a:cs typeface="Calibri"/>
            </a:endParaRPr>
          </a:p>
          <a:p>
            <a:pPr marL="354965" indent="-342900">
              <a:lnSpc>
                <a:spcPct val="100000"/>
              </a:lnSpc>
              <a:spcBef>
                <a:spcPts val="480"/>
              </a:spcBef>
              <a:buAutoNum type="alphaLcParenR"/>
              <a:tabLst>
                <a:tab pos="354965" algn="l"/>
                <a:tab pos="355600" algn="l"/>
              </a:tabLst>
            </a:pPr>
            <a:r>
              <a:rPr sz="2000" spc="-5" dirty="0">
                <a:latin typeface="Calibri"/>
                <a:cs typeface="Calibri"/>
              </a:rPr>
              <a:t>Solves</a:t>
            </a:r>
            <a:r>
              <a:rPr sz="2000" spc="5" dirty="0">
                <a:latin typeface="Calibri"/>
                <a:cs typeface="Calibri"/>
              </a:rPr>
              <a:t> </a:t>
            </a:r>
            <a:r>
              <a:rPr sz="2000" spc="-10" dirty="0">
                <a:latin typeface="Calibri"/>
                <a:cs typeface="Calibri"/>
              </a:rPr>
              <a:t>Resource</a:t>
            </a:r>
            <a:r>
              <a:rPr sz="2000" dirty="0">
                <a:latin typeface="Calibri"/>
                <a:cs typeface="Calibri"/>
              </a:rPr>
              <a:t> </a:t>
            </a:r>
            <a:r>
              <a:rPr sz="2000" spc="-10" dirty="0">
                <a:latin typeface="Calibri"/>
                <a:cs typeface="Calibri"/>
              </a:rPr>
              <a:t>Utilization</a:t>
            </a:r>
            <a:r>
              <a:rPr sz="2000" spc="20" dirty="0">
                <a:latin typeface="Calibri"/>
                <a:cs typeface="Calibri"/>
              </a:rPr>
              <a:t> </a:t>
            </a:r>
            <a:r>
              <a:rPr sz="2000" spc="-10" dirty="0">
                <a:latin typeface="Calibri"/>
                <a:cs typeface="Calibri"/>
              </a:rPr>
              <a:t>Problem</a:t>
            </a:r>
            <a:endParaRPr sz="2000" dirty="0">
              <a:latin typeface="Calibri"/>
              <a:cs typeface="Calibri"/>
            </a:endParaRPr>
          </a:p>
          <a:p>
            <a:pPr marL="354965" indent="-342900">
              <a:lnSpc>
                <a:spcPct val="100000"/>
              </a:lnSpc>
              <a:spcBef>
                <a:spcPts val="480"/>
              </a:spcBef>
              <a:buClr>
                <a:srgbClr val="000000"/>
              </a:buClr>
              <a:buAutoNum type="alphaLcParenR"/>
              <a:tabLst>
                <a:tab pos="354965" algn="l"/>
                <a:tab pos="355600" algn="l"/>
              </a:tabLst>
            </a:pPr>
            <a:r>
              <a:rPr sz="2000" spc="-5" dirty="0">
                <a:latin typeface="Calibri"/>
                <a:cs typeface="Calibri"/>
              </a:rPr>
              <a:t>Outsourcing</a:t>
            </a:r>
            <a:endParaRPr sz="2000" dirty="0">
              <a:latin typeface="Calibri"/>
              <a:cs typeface="Calibri"/>
            </a:endParaRPr>
          </a:p>
          <a:p>
            <a:pPr marL="354965" indent="-342900">
              <a:lnSpc>
                <a:spcPct val="100000"/>
              </a:lnSpc>
              <a:spcBef>
                <a:spcPts val="480"/>
              </a:spcBef>
              <a:buClr>
                <a:srgbClr val="000000"/>
              </a:buClr>
              <a:buAutoNum type="alphaLcParenR"/>
              <a:tabLst>
                <a:tab pos="354965" algn="l"/>
                <a:tab pos="355600" algn="l"/>
              </a:tabLst>
            </a:pPr>
            <a:r>
              <a:rPr sz="2000" spc="-25" dirty="0">
                <a:latin typeface="Calibri"/>
                <a:cs typeface="Calibri"/>
              </a:rPr>
              <a:t>Web</a:t>
            </a:r>
            <a:r>
              <a:rPr sz="2000" spc="-30" dirty="0">
                <a:latin typeface="Calibri"/>
                <a:cs typeface="Calibri"/>
              </a:rPr>
              <a:t> </a:t>
            </a:r>
            <a:r>
              <a:rPr sz="2000" dirty="0">
                <a:latin typeface="Calibri"/>
                <a:cs typeface="Calibri"/>
              </a:rPr>
              <a:t>Services</a:t>
            </a:r>
            <a:r>
              <a:rPr sz="2000" spc="-10" dirty="0">
                <a:latin typeface="Calibri"/>
                <a:cs typeface="Calibri"/>
              </a:rPr>
              <a:t> </a:t>
            </a:r>
            <a:r>
              <a:rPr sz="2000" spc="-5" dirty="0">
                <a:latin typeface="Calibri"/>
                <a:cs typeface="Calibri"/>
              </a:rPr>
              <a:t>Delivery</a:t>
            </a:r>
            <a:endParaRPr lang="en-US" sz="2000" dirty="0">
              <a:latin typeface="Calibri"/>
              <a:cs typeface="Calibri"/>
            </a:endParaRPr>
          </a:p>
          <a:p>
            <a:pPr marL="354965" indent="-342900">
              <a:lnSpc>
                <a:spcPct val="100000"/>
              </a:lnSpc>
              <a:spcBef>
                <a:spcPts val="480"/>
              </a:spcBef>
              <a:buClr>
                <a:srgbClr val="000000"/>
              </a:buClr>
              <a:buAutoNum type="alphaLcParenR"/>
              <a:tabLst>
                <a:tab pos="354965" algn="l"/>
                <a:tab pos="355600" algn="l"/>
              </a:tabLst>
            </a:pPr>
            <a:r>
              <a:rPr sz="2000" spc="-5" dirty="0">
                <a:latin typeface="Calibri"/>
                <a:cs typeface="Calibri"/>
              </a:rPr>
              <a:t>Automation</a:t>
            </a:r>
            <a:endParaRPr sz="2000" dirty="0">
              <a:latin typeface="Calibri"/>
              <a:cs typeface="Calibri"/>
            </a:endParaRPr>
          </a:p>
        </p:txBody>
      </p:sp>
      <p:pic>
        <p:nvPicPr>
          <p:cNvPr id="4" name="object 4"/>
          <p:cNvPicPr/>
          <p:nvPr/>
        </p:nvPicPr>
        <p:blipFill>
          <a:blip r:embed="rId2" cstate="print"/>
          <a:stretch>
            <a:fillRect/>
          </a:stretch>
        </p:blipFill>
        <p:spPr>
          <a:xfrm>
            <a:off x="4027932" y="2495550"/>
            <a:ext cx="4860036" cy="2147189"/>
          </a:xfrm>
          <a:prstGeom prst="rect">
            <a:avLst/>
          </a:prstGeom>
        </p:spPr>
      </p:pic>
      <p:sp>
        <p:nvSpPr>
          <p:cNvPr id="6" name="Footer Placeholder 5">
            <a:extLst>
              <a:ext uri="{FF2B5EF4-FFF2-40B4-BE49-F238E27FC236}">
                <a16:creationId xmlns:a16="http://schemas.microsoft.com/office/drawing/2014/main" id="{73C9712C-9443-7D9E-E4F7-2EFE84A64B24}"/>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2400C-2795-612D-31DC-02B1460825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A69437-C6A3-6ADB-4A4B-76B6543CD21D}"/>
              </a:ext>
            </a:extLst>
          </p:cNvPr>
          <p:cNvSpPr txBox="1">
            <a:spLocks noGrp="1"/>
          </p:cNvSpPr>
          <p:nvPr>
            <p:ph type="title"/>
          </p:nvPr>
        </p:nvSpPr>
        <p:spPr>
          <a:xfrm>
            <a:off x="2438400" y="361241"/>
            <a:ext cx="4580381" cy="382797"/>
          </a:xfrm>
          <a:prstGeom prst="rect">
            <a:avLst/>
          </a:prstGeom>
        </p:spPr>
        <p:txBody>
          <a:bodyPr vert="horz" wrap="square" lIns="0" tIns="13335" rIns="0" bIns="0" rtlCol="0">
            <a:spAutoFit/>
          </a:bodyPr>
          <a:lstStyle/>
          <a:p>
            <a:pPr marL="12700" algn="ctr">
              <a:lnSpc>
                <a:spcPct val="100000"/>
              </a:lnSpc>
              <a:spcBef>
                <a:spcPts val="105"/>
              </a:spcBef>
            </a:pPr>
            <a:r>
              <a:rPr lang="en-US" sz="2400" b="1" dirty="0">
                <a:latin typeface="Calibri"/>
                <a:cs typeface="Calibri"/>
              </a:rPr>
              <a:t>Utility</a:t>
            </a:r>
            <a:r>
              <a:rPr lang="en-US" sz="2400" b="1" spc="-45" dirty="0">
                <a:latin typeface="Calibri"/>
                <a:cs typeface="Calibri"/>
              </a:rPr>
              <a:t> </a:t>
            </a:r>
            <a:r>
              <a:rPr lang="en-US" sz="2400" b="1" dirty="0">
                <a:latin typeface="Calibri"/>
                <a:cs typeface="Calibri"/>
              </a:rPr>
              <a:t>Computing</a:t>
            </a:r>
            <a:r>
              <a:rPr lang="en-US" sz="2400" b="1" spc="-30" dirty="0">
                <a:latin typeface="Calibri"/>
                <a:cs typeface="Calibri"/>
              </a:rPr>
              <a:t> </a:t>
            </a:r>
            <a:r>
              <a:rPr lang="en-US" sz="2400" b="1" spc="-15" dirty="0">
                <a:latin typeface="Calibri"/>
                <a:cs typeface="Calibri"/>
              </a:rPr>
              <a:t>Example</a:t>
            </a:r>
            <a:endParaRPr lang="en-US" sz="2400" b="1" dirty="0">
              <a:latin typeface="Calibri"/>
              <a:cs typeface="Calibri"/>
            </a:endParaRPr>
          </a:p>
        </p:txBody>
      </p:sp>
      <p:sp>
        <p:nvSpPr>
          <p:cNvPr id="5" name="object 5">
            <a:extLst>
              <a:ext uri="{FF2B5EF4-FFF2-40B4-BE49-F238E27FC236}">
                <a16:creationId xmlns:a16="http://schemas.microsoft.com/office/drawing/2014/main" id="{E48D0747-5896-E36A-326B-E83757ACE741}"/>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24</a:t>
            </a:r>
          </a:p>
        </p:txBody>
      </p:sp>
      <p:sp>
        <p:nvSpPr>
          <p:cNvPr id="3" name="object 3">
            <a:extLst>
              <a:ext uri="{FF2B5EF4-FFF2-40B4-BE49-F238E27FC236}">
                <a16:creationId xmlns:a16="http://schemas.microsoft.com/office/drawing/2014/main" id="{F3013403-0C49-5952-6F6E-67C14A21DA5C}"/>
              </a:ext>
            </a:extLst>
          </p:cNvPr>
          <p:cNvSpPr txBox="1"/>
          <p:nvPr/>
        </p:nvSpPr>
        <p:spPr>
          <a:xfrm>
            <a:off x="838200" y="1276350"/>
            <a:ext cx="4794250" cy="382156"/>
          </a:xfrm>
          <a:prstGeom prst="rect">
            <a:avLst/>
          </a:prstGeom>
        </p:spPr>
        <p:txBody>
          <a:bodyPr vert="horz" wrap="square" lIns="0" tIns="73660" rIns="0" bIns="0" rtlCol="0">
            <a:spAutoFit/>
          </a:bodyPr>
          <a:lstStyle/>
          <a:p>
            <a:pPr marL="12700">
              <a:lnSpc>
                <a:spcPct val="100000"/>
              </a:lnSpc>
              <a:spcBef>
                <a:spcPts val="95"/>
              </a:spcBef>
            </a:pPr>
            <a:r>
              <a:rPr lang="en-US" sz="2000" spc="-10" dirty="0">
                <a:latin typeface="Calibri"/>
                <a:cs typeface="Calibri"/>
              </a:rPr>
              <a:t>On-Demand</a:t>
            </a:r>
            <a:r>
              <a:rPr lang="en-US" sz="2000" spc="20" dirty="0">
                <a:latin typeface="Calibri"/>
                <a:cs typeface="Calibri"/>
              </a:rPr>
              <a:t> </a:t>
            </a:r>
            <a:r>
              <a:rPr lang="en-US" sz="2000" spc="-10" dirty="0">
                <a:latin typeface="Calibri"/>
                <a:cs typeface="Calibri"/>
              </a:rPr>
              <a:t>Cyber</a:t>
            </a:r>
            <a:r>
              <a:rPr lang="en-US" sz="2000" spc="-15" dirty="0">
                <a:latin typeface="Calibri"/>
                <a:cs typeface="Calibri"/>
              </a:rPr>
              <a:t> Infrastructure</a:t>
            </a:r>
            <a:endParaRPr lang="en-US" sz="2000" dirty="0">
              <a:latin typeface="Calibri"/>
              <a:cs typeface="Calibri"/>
            </a:endParaRPr>
          </a:p>
        </p:txBody>
      </p:sp>
      <p:sp>
        <p:nvSpPr>
          <p:cNvPr id="6" name="Footer Placeholder 5">
            <a:extLst>
              <a:ext uri="{FF2B5EF4-FFF2-40B4-BE49-F238E27FC236}">
                <a16:creationId xmlns:a16="http://schemas.microsoft.com/office/drawing/2014/main" id="{FCFEF892-99A3-9E0A-279A-51029952ECC4}"/>
              </a:ext>
            </a:extLst>
          </p:cNvPr>
          <p:cNvSpPr>
            <a:spLocks noGrp="1"/>
          </p:cNvSpPr>
          <p:nvPr>
            <p:ph type="ftr" sz="quarter" idx="11"/>
          </p:nvPr>
        </p:nvSpPr>
        <p:spPr/>
        <p:txBody>
          <a:bodyPr/>
          <a:lstStyle/>
          <a:p>
            <a:r>
              <a:rPr lang="en-US"/>
              <a:t>Department of Computer Application </a:t>
            </a:r>
            <a:endParaRPr lang="en-US" dirty="0"/>
          </a:p>
        </p:txBody>
      </p:sp>
      <p:pic>
        <p:nvPicPr>
          <p:cNvPr id="7" name="object 5">
            <a:extLst>
              <a:ext uri="{FF2B5EF4-FFF2-40B4-BE49-F238E27FC236}">
                <a16:creationId xmlns:a16="http://schemas.microsoft.com/office/drawing/2014/main" id="{769A42EF-D06E-02EB-CDEC-C061FC2592C7}"/>
              </a:ext>
            </a:extLst>
          </p:cNvPr>
          <p:cNvPicPr/>
          <p:nvPr/>
        </p:nvPicPr>
        <p:blipFill>
          <a:blip r:embed="rId2" cstate="print"/>
          <a:stretch>
            <a:fillRect/>
          </a:stretch>
        </p:blipFill>
        <p:spPr>
          <a:xfrm>
            <a:off x="1600200" y="1733550"/>
            <a:ext cx="6408674" cy="2670937"/>
          </a:xfrm>
          <a:prstGeom prst="rect">
            <a:avLst/>
          </a:prstGeom>
        </p:spPr>
      </p:pic>
    </p:spTree>
    <p:extLst>
      <p:ext uri="{BB962C8B-B14F-4D97-AF65-F5344CB8AC3E}">
        <p14:creationId xmlns:p14="http://schemas.microsoft.com/office/powerpoint/2010/main" val="378871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3901" y="292984"/>
            <a:ext cx="6655563" cy="381515"/>
          </a:xfrm>
          <a:prstGeom prst="rect">
            <a:avLst/>
          </a:prstGeom>
        </p:spPr>
        <p:txBody>
          <a:bodyPr vert="horz" wrap="square" lIns="0" tIns="12065" rIns="0" bIns="0" rtlCol="0">
            <a:spAutoFit/>
          </a:bodyPr>
          <a:lstStyle/>
          <a:p>
            <a:pPr marL="12700" algn="ctr">
              <a:lnSpc>
                <a:spcPct val="100000"/>
              </a:lnSpc>
              <a:spcBef>
                <a:spcPts val="95"/>
              </a:spcBef>
            </a:pPr>
            <a:r>
              <a:rPr sz="2400" b="1" spc="-5" dirty="0">
                <a:solidFill>
                  <a:srgbClr val="000000"/>
                </a:solidFill>
                <a:latin typeface="Calibri"/>
                <a:cs typeface="Calibri"/>
              </a:rPr>
              <a:t>Utility</a:t>
            </a:r>
            <a:r>
              <a:rPr sz="2400" b="1" spc="-15" dirty="0">
                <a:solidFill>
                  <a:srgbClr val="000000"/>
                </a:solidFill>
                <a:latin typeface="Calibri"/>
                <a:cs typeface="Calibri"/>
              </a:rPr>
              <a:t> </a:t>
            </a:r>
            <a:r>
              <a:rPr sz="2400" b="1" spc="-5" dirty="0">
                <a:solidFill>
                  <a:srgbClr val="000000"/>
                </a:solidFill>
                <a:latin typeface="Calibri"/>
                <a:cs typeface="Calibri"/>
              </a:rPr>
              <a:t>Solution</a:t>
            </a:r>
            <a:r>
              <a:rPr sz="2400" b="1" spc="-20" dirty="0">
                <a:solidFill>
                  <a:srgbClr val="000000"/>
                </a:solidFill>
                <a:latin typeface="Calibri"/>
                <a:cs typeface="Calibri"/>
              </a:rPr>
              <a:t> </a:t>
            </a:r>
            <a:r>
              <a:rPr sz="2400" b="1" spc="-5" dirty="0">
                <a:solidFill>
                  <a:srgbClr val="000000"/>
                </a:solidFill>
                <a:latin typeface="Calibri"/>
                <a:cs typeface="Calibri"/>
              </a:rPr>
              <a:t>–</a:t>
            </a:r>
            <a:r>
              <a:rPr sz="2400" b="1" spc="-15" dirty="0">
                <a:solidFill>
                  <a:srgbClr val="000000"/>
                </a:solidFill>
                <a:latin typeface="Calibri"/>
                <a:cs typeface="Calibri"/>
              </a:rPr>
              <a:t> </a:t>
            </a:r>
            <a:r>
              <a:rPr sz="2400" b="1" spc="-85" dirty="0">
                <a:solidFill>
                  <a:srgbClr val="000000"/>
                </a:solidFill>
                <a:latin typeface="Calibri"/>
                <a:cs typeface="Calibri"/>
              </a:rPr>
              <a:t>Your</a:t>
            </a:r>
            <a:r>
              <a:rPr sz="2400" b="1" dirty="0">
                <a:solidFill>
                  <a:srgbClr val="000000"/>
                </a:solidFill>
                <a:latin typeface="Calibri"/>
                <a:cs typeface="Calibri"/>
              </a:rPr>
              <a:t> </a:t>
            </a:r>
            <a:r>
              <a:rPr sz="2400" b="1" spc="-25" dirty="0">
                <a:solidFill>
                  <a:srgbClr val="000000"/>
                </a:solidFill>
                <a:latin typeface="Calibri"/>
                <a:cs typeface="Calibri"/>
              </a:rPr>
              <a:t>Perspective</a:t>
            </a:r>
            <a:endParaRPr sz="2400" b="1" dirty="0">
              <a:latin typeface="Calibri"/>
              <a:cs typeface="Calibri"/>
            </a:endParaRPr>
          </a:p>
        </p:txBody>
      </p:sp>
      <p:sp>
        <p:nvSpPr>
          <p:cNvPr id="18" name="object 18"/>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26</a:t>
            </a:r>
          </a:p>
        </p:txBody>
      </p:sp>
      <p:sp>
        <p:nvSpPr>
          <p:cNvPr id="3" name="object 3"/>
          <p:cNvSpPr txBox="1"/>
          <p:nvPr/>
        </p:nvSpPr>
        <p:spPr>
          <a:xfrm>
            <a:off x="1857244" y="911733"/>
            <a:ext cx="5107940" cy="382797"/>
          </a:xfrm>
          <a:prstGeom prst="rect">
            <a:avLst/>
          </a:prstGeom>
        </p:spPr>
        <p:txBody>
          <a:bodyPr vert="horz" wrap="square" lIns="0" tIns="13335" rIns="0" bIns="0" rtlCol="0">
            <a:spAutoFit/>
          </a:bodyPr>
          <a:lstStyle/>
          <a:p>
            <a:pPr marL="12700">
              <a:lnSpc>
                <a:spcPct val="100000"/>
              </a:lnSpc>
              <a:spcBef>
                <a:spcPts val="105"/>
              </a:spcBef>
              <a:tabLst>
                <a:tab pos="3581400" algn="l"/>
              </a:tabLst>
            </a:pPr>
            <a:r>
              <a:rPr sz="2400" dirty="0">
                <a:cs typeface="Arial MT"/>
              </a:rPr>
              <a:t>Consumer	</a:t>
            </a:r>
            <a:r>
              <a:rPr sz="2400" spc="-5" dirty="0">
                <a:cs typeface="Arial MT"/>
              </a:rPr>
              <a:t>Provider</a:t>
            </a:r>
            <a:endParaRPr sz="2400" dirty="0">
              <a:cs typeface="Arial MT"/>
            </a:endParaRPr>
          </a:p>
        </p:txBody>
      </p:sp>
      <p:pic>
        <p:nvPicPr>
          <p:cNvPr id="4" name="object 4"/>
          <p:cNvPicPr/>
          <p:nvPr/>
        </p:nvPicPr>
        <p:blipFill>
          <a:blip r:embed="rId2" cstate="print"/>
          <a:stretch>
            <a:fillRect/>
          </a:stretch>
        </p:blipFill>
        <p:spPr>
          <a:xfrm>
            <a:off x="954087" y="1421587"/>
            <a:ext cx="7142099" cy="2777744"/>
          </a:xfrm>
          <a:prstGeom prst="rect">
            <a:avLst/>
          </a:prstGeom>
        </p:spPr>
      </p:pic>
      <p:sp>
        <p:nvSpPr>
          <p:cNvPr id="5" name="object 5"/>
          <p:cNvSpPr txBox="1"/>
          <p:nvPr/>
        </p:nvSpPr>
        <p:spPr>
          <a:xfrm>
            <a:off x="4052061" y="2504693"/>
            <a:ext cx="65659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Pricing</a:t>
            </a:r>
            <a:endParaRPr sz="1600">
              <a:latin typeface="Times New Roman"/>
              <a:cs typeface="Times New Roman"/>
            </a:endParaRPr>
          </a:p>
        </p:txBody>
      </p:sp>
      <p:sp>
        <p:nvSpPr>
          <p:cNvPr id="6" name="object 6"/>
          <p:cNvSpPr txBox="1"/>
          <p:nvPr/>
        </p:nvSpPr>
        <p:spPr>
          <a:xfrm>
            <a:off x="3381879" y="3158186"/>
            <a:ext cx="74612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Sec</a:t>
            </a:r>
            <a:r>
              <a:rPr sz="1600" b="1" spc="-10" dirty="0">
                <a:latin typeface="Times New Roman"/>
                <a:cs typeface="Times New Roman"/>
              </a:rPr>
              <a:t>u</a:t>
            </a:r>
            <a:r>
              <a:rPr sz="1600" b="1" spc="-5" dirty="0">
                <a:latin typeface="Times New Roman"/>
                <a:cs typeface="Times New Roman"/>
              </a:rPr>
              <a:t>ri</a:t>
            </a:r>
            <a:r>
              <a:rPr sz="1600" b="1" spc="-15" dirty="0">
                <a:latin typeface="Times New Roman"/>
                <a:cs typeface="Times New Roman"/>
              </a:rPr>
              <a:t>t</a:t>
            </a:r>
            <a:r>
              <a:rPr sz="1600" b="1" spc="-5" dirty="0">
                <a:latin typeface="Times New Roman"/>
                <a:cs typeface="Times New Roman"/>
              </a:rPr>
              <a:t>y</a:t>
            </a:r>
            <a:endParaRPr sz="1600">
              <a:latin typeface="Times New Roman"/>
              <a:cs typeface="Times New Roman"/>
            </a:endParaRPr>
          </a:p>
        </p:txBody>
      </p:sp>
      <p:sp>
        <p:nvSpPr>
          <p:cNvPr id="7" name="object 7"/>
          <p:cNvSpPr txBox="1"/>
          <p:nvPr/>
        </p:nvSpPr>
        <p:spPr>
          <a:xfrm>
            <a:off x="1533902" y="2298318"/>
            <a:ext cx="65659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Service</a:t>
            </a:r>
            <a:endParaRPr sz="1600">
              <a:latin typeface="Times New Roman"/>
              <a:cs typeface="Times New Roman"/>
            </a:endParaRPr>
          </a:p>
        </p:txBody>
      </p:sp>
      <p:sp>
        <p:nvSpPr>
          <p:cNvPr id="8" name="object 8"/>
          <p:cNvSpPr txBox="1"/>
          <p:nvPr/>
        </p:nvSpPr>
        <p:spPr>
          <a:xfrm>
            <a:off x="1533902" y="2511931"/>
            <a:ext cx="92773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Assurance</a:t>
            </a:r>
            <a:endParaRPr sz="1600">
              <a:latin typeface="Times New Roman"/>
              <a:cs typeface="Times New Roman"/>
            </a:endParaRPr>
          </a:p>
        </p:txBody>
      </p:sp>
      <p:sp>
        <p:nvSpPr>
          <p:cNvPr id="9" name="object 9"/>
          <p:cNvSpPr txBox="1"/>
          <p:nvPr/>
        </p:nvSpPr>
        <p:spPr>
          <a:xfrm>
            <a:off x="4845808" y="3125801"/>
            <a:ext cx="33083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Calibri"/>
                <a:cs typeface="Calibri"/>
              </a:rPr>
              <a:t>SLA</a:t>
            </a:r>
            <a:endParaRPr sz="1600">
              <a:latin typeface="Calibri"/>
              <a:cs typeface="Calibri"/>
            </a:endParaRPr>
          </a:p>
        </p:txBody>
      </p:sp>
      <p:sp>
        <p:nvSpPr>
          <p:cNvPr id="10" name="object 10"/>
          <p:cNvSpPr txBox="1"/>
          <p:nvPr/>
        </p:nvSpPr>
        <p:spPr>
          <a:xfrm>
            <a:off x="4284087" y="890398"/>
            <a:ext cx="367030" cy="513715"/>
          </a:xfrm>
          <a:prstGeom prst="rect">
            <a:avLst/>
          </a:prstGeom>
        </p:spPr>
        <p:txBody>
          <a:bodyPr vert="horz" wrap="square" lIns="0" tIns="13335" rIns="0" bIns="0" rtlCol="0">
            <a:spAutoFit/>
          </a:bodyPr>
          <a:lstStyle/>
          <a:p>
            <a:pPr marL="12700">
              <a:lnSpc>
                <a:spcPct val="100000"/>
              </a:lnSpc>
              <a:spcBef>
                <a:spcPts val="105"/>
              </a:spcBef>
            </a:pPr>
            <a:r>
              <a:rPr sz="3200" spc="-10" dirty="0">
                <a:latin typeface="Calibri"/>
                <a:cs typeface="Calibri"/>
              </a:rPr>
              <a:t>vs</a:t>
            </a:r>
            <a:endParaRPr sz="3200">
              <a:latin typeface="Calibri"/>
              <a:cs typeface="Calibri"/>
            </a:endParaRPr>
          </a:p>
        </p:txBody>
      </p:sp>
      <p:sp>
        <p:nvSpPr>
          <p:cNvPr id="11" name="object 11"/>
          <p:cNvSpPr txBox="1"/>
          <p:nvPr/>
        </p:nvSpPr>
        <p:spPr>
          <a:xfrm>
            <a:off x="3942331" y="3650105"/>
            <a:ext cx="1040130" cy="481965"/>
          </a:xfrm>
          <a:prstGeom prst="rect">
            <a:avLst/>
          </a:prstGeom>
        </p:spPr>
        <p:txBody>
          <a:bodyPr vert="horz" wrap="square" lIns="0" tIns="44450" rIns="0" bIns="0" rtlCol="0">
            <a:spAutoFit/>
          </a:bodyPr>
          <a:lstStyle/>
          <a:p>
            <a:pPr marL="12700" marR="5080">
              <a:lnSpc>
                <a:spcPts val="1680"/>
              </a:lnSpc>
              <a:spcBef>
                <a:spcPts val="350"/>
              </a:spcBef>
            </a:pPr>
            <a:r>
              <a:rPr sz="1600" b="1" spc="-5" dirty="0">
                <a:latin typeface="Times New Roman"/>
                <a:cs typeface="Times New Roman"/>
              </a:rPr>
              <a:t>Application  Sizing</a:t>
            </a:r>
            <a:endParaRPr sz="1600">
              <a:latin typeface="Times New Roman"/>
              <a:cs typeface="Times New Roman"/>
            </a:endParaRPr>
          </a:p>
        </p:txBody>
      </p:sp>
      <p:sp>
        <p:nvSpPr>
          <p:cNvPr id="12" name="object 12"/>
          <p:cNvSpPr txBox="1"/>
          <p:nvPr/>
        </p:nvSpPr>
        <p:spPr>
          <a:xfrm>
            <a:off x="2301618" y="1886151"/>
            <a:ext cx="1153795" cy="482600"/>
          </a:xfrm>
          <a:prstGeom prst="rect">
            <a:avLst/>
          </a:prstGeom>
        </p:spPr>
        <p:txBody>
          <a:bodyPr vert="horz" wrap="square" lIns="0" tIns="12065" rIns="0" bIns="0" rtlCol="0">
            <a:spAutoFit/>
          </a:bodyPr>
          <a:lstStyle/>
          <a:p>
            <a:pPr marL="62865">
              <a:lnSpc>
                <a:spcPts val="1800"/>
              </a:lnSpc>
              <a:spcBef>
                <a:spcPts val="95"/>
              </a:spcBef>
            </a:pPr>
            <a:r>
              <a:rPr sz="1600" b="1" spc="-5" dirty="0">
                <a:latin typeface="Times New Roman"/>
                <a:cs typeface="Times New Roman"/>
              </a:rPr>
              <a:t>Service</a:t>
            </a:r>
            <a:endParaRPr sz="1600">
              <a:latin typeface="Times New Roman"/>
              <a:cs typeface="Times New Roman"/>
            </a:endParaRPr>
          </a:p>
          <a:p>
            <a:pPr marL="12700">
              <a:lnSpc>
                <a:spcPts val="1800"/>
              </a:lnSpc>
            </a:pPr>
            <a:r>
              <a:rPr sz="1600" b="1" spc="-5" dirty="0">
                <a:latin typeface="Times New Roman"/>
                <a:cs typeface="Times New Roman"/>
              </a:rPr>
              <a:t>P</a:t>
            </a:r>
            <a:r>
              <a:rPr sz="1600" b="1" spc="-35" dirty="0">
                <a:latin typeface="Times New Roman"/>
                <a:cs typeface="Times New Roman"/>
              </a:rPr>
              <a:t>r</a:t>
            </a:r>
            <a:r>
              <a:rPr sz="1600" b="1" spc="-5" dirty="0">
                <a:latin typeface="Times New Roman"/>
                <a:cs typeface="Times New Roman"/>
              </a:rPr>
              <a:t>ocu</a:t>
            </a:r>
            <a:r>
              <a:rPr sz="1600" b="1" spc="-30" dirty="0">
                <a:latin typeface="Times New Roman"/>
                <a:cs typeface="Times New Roman"/>
              </a:rPr>
              <a:t>r</a:t>
            </a:r>
            <a:r>
              <a:rPr sz="1600" b="1" spc="-5" dirty="0">
                <a:latin typeface="Times New Roman"/>
                <a:cs typeface="Times New Roman"/>
              </a:rPr>
              <a:t>e</a:t>
            </a:r>
            <a:r>
              <a:rPr sz="1600" b="1" spc="-30" dirty="0">
                <a:latin typeface="Times New Roman"/>
                <a:cs typeface="Times New Roman"/>
              </a:rPr>
              <a:t>m</a:t>
            </a:r>
            <a:r>
              <a:rPr sz="1600" b="1" spc="-5" dirty="0">
                <a:latin typeface="Times New Roman"/>
                <a:cs typeface="Times New Roman"/>
              </a:rPr>
              <a:t>ent</a:t>
            </a:r>
            <a:endParaRPr sz="1600">
              <a:latin typeface="Times New Roman"/>
              <a:cs typeface="Times New Roman"/>
            </a:endParaRPr>
          </a:p>
        </p:txBody>
      </p:sp>
      <p:sp>
        <p:nvSpPr>
          <p:cNvPr id="13" name="object 13"/>
          <p:cNvSpPr txBox="1"/>
          <p:nvPr/>
        </p:nvSpPr>
        <p:spPr>
          <a:xfrm>
            <a:off x="5450837" y="1884118"/>
            <a:ext cx="127254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Infrastru</a:t>
            </a:r>
            <a:r>
              <a:rPr sz="1600" b="1" spc="-15" dirty="0">
                <a:latin typeface="Times New Roman"/>
                <a:cs typeface="Times New Roman"/>
              </a:rPr>
              <a:t>c</a:t>
            </a:r>
            <a:r>
              <a:rPr sz="1600" b="1" spc="-5" dirty="0">
                <a:latin typeface="Times New Roman"/>
                <a:cs typeface="Times New Roman"/>
              </a:rPr>
              <a:t>t</a:t>
            </a:r>
            <a:r>
              <a:rPr sz="1600" b="1" spc="-10" dirty="0">
                <a:latin typeface="Times New Roman"/>
                <a:cs typeface="Times New Roman"/>
              </a:rPr>
              <a:t>u</a:t>
            </a:r>
            <a:r>
              <a:rPr sz="1600" b="1" spc="-35" dirty="0">
                <a:latin typeface="Times New Roman"/>
                <a:cs typeface="Times New Roman"/>
              </a:rPr>
              <a:t>r</a:t>
            </a:r>
            <a:r>
              <a:rPr sz="1600" b="1" spc="-5" dirty="0">
                <a:latin typeface="Times New Roman"/>
                <a:cs typeface="Times New Roman"/>
              </a:rPr>
              <a:t>e</a:t>
            </a:r>
            <a:endParaRPr sz="1600">
              <a:latin typeface="Times New Roman"/>
              <a:cs typeface="Times New Roman"/>
            </a:endParaRPr>
          </a:p>
        </p:txBody>
      </p:sp>
      <p:sp>
        <p:nvSpPr>
          <p:cNvPr id="14" name="object 14"/>
          <p:cNvSpPr txBox="1"/>
          <p:nvPr/>
        </p:nvSpPr>
        <p:spPr>
          <a:xfrm>
            <a:off x="5450837" y="2099310"/>
            <a:ext cx="115379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Times New Roman"/>
                <a:cs typeface="Times New Roman"/>
              </a:rPr>
              <a:t>P</a:t>
            </a:r>
            <a:r>
              <a:rPr sz="1600" b="1" spc="-35" dirty="0">
                <a:latin typeface="Times New Roman"/>
                <a:cs typeface="Times New Roman"/>
              </a:rPr>
              <a:t>r</a:t>
            </a:r>
            <a:r>
              <a:rPr sz="1600" b="1" spc="-5" dirty="0">
                <a:latin typeface="Times New Roman"/>
                <a:cs typeface="Times New Roman"/>
              </a:rPr>
              <a:t>ocu</a:t>
            </a:r>
            <a:r>
              <a:rPr sz="1600" b="1" spc="-30" dirty="0">
                <a:latin typeface="Times New Roman"/>
                <a:cs typeface="Times New Roman"/>
              </a:rPr>
              <a:t>r</a:t>
            </a:r>
            <a:r>
              <a:rPr sz="1600" b="1" spc="-5" dirty="0">
                <a:latin typeface="Times New Roman"/>
                <a:cs typeface="Times New Roman"/>
              </a:rPr>
              <a:t>e</a:t>
            </a:r>
            <a:r>
              <a:rPr sz="1600" b="1" spc="-30" dirty="0">
                <a:latin typeface="Times New Roman"/>
                <a:cs typeface="Times New Roman"/>
              </a:rPr>
              <a:t>m</a:t>
            </a:r>
            <a:r>
              <a:rPr sz="1600" b="1" spc="-5" dirty="0">
                <a:latin typeface="Times New Roman"/>
                <a:cs typeface="Times New Roman"/>
              </a:rPr>
              <a:t>ent</a:t>
            </a:r>
            <a:endParaRPr sz="1600">
              <a:latin typeface="Times New Roman"/>
              <a:cs typeface="Times New Roman"/>
            </a:endParaRPr>
          </a:p>
        </p:txBody>
      </p:sp>
      <p:sp>
        <p:nvSpPr>
          <p:cNvPr id="15" name="object 15"/>
          <p:cNvSpPr txBox="1"/>
          <p:nvPr/>
        </p:nvSpPr>
        <p:spPr>
          <a:xfrm>
            <a:off x="1262245" y="2661815"/>
            <a:ext cx="1419225" cy="1327785"/>
          </a:xfrm>
          <a:prstGeom prst="rect">
            <a:avLst/>
          </a:prstGeom>
        </p:spPr>
        <p:txBody>
          <a:bodyPr vert="horz" wrap="square" lIns="0" tIns="144145" rIns="0" bIns="0" rtlCol="0">
            <a:spAutoFit/>
          </a:bodyPr>
          <a:lstStyle/>
          <a:p>
            <a:pPr marL="12700" indent="24765">
              <a:lnSpc>
                <a:spcPct val="100000"/>
              </a:lnSpc>
              <a:spcBef>
                <a:spcPts val="1135"/>
              </a:spcBef>
            </a:pPr>
            <a:r>
              <a:rPr sz="1600" b="1" spc="-15" dirty="0">
                <a:latin typeface="Times New Roman"/>
                <a:cs typeface="Times New Roman"/>
              </a:rPr>
              <a:t>Availability</a:t>
            </a:r>
            <a:endParaRPr sz="1600">
              <a:latin typeface="Times New Roman"/>
              <a:cs typeface="Times New Roman"/>
            </a:endParaRPr>
          </a:p>
          <a:p>
            <a:pPr marL="12700" marR="261620">
              <a:lnSpc>
                <a:spcPts val="1680"/>
              </a:lnSpc>
              <a:spcBef>
                <a:spcPts val="1290"/>
              </a:spcBef>
            </a:pPr>
            <a:r>
              <a:rPr sz="1600" b="1" spc="-5" dirty="0">
                <a:latin typeface="Times New Roman"/>
                <a:cs typeface="Times New Roman"/>
              </a:rPr>
              <a:t>Contractor </a:t>
            </a:r>
            <a:r>
              <a:rPr sz="1600" b="1" dirty="0">
                <a:latin typeface="Times New Roman"/>
                <a:cs typeface="Times New Roman"/>
              </a:rPr>
              <a:t> </a:t>
            </a:r>
            <a:r>
              <a:rPr sz="1600" b="1" spc="-5" dirty="0">
                <a:latin typeface="Times New Roman"/>
                <a:cs typeface="Times New Roman"/>
              </a:rPr>
              <a:t>Manage</a:t>
            </a:r>
            <a:r>
              <a:rPr sz="1600" b="1" spc="-30" dirty="0">
                <a:latin typeface="Times New Roman"/>
                <a:cs typeface="Times New Roman"/>
              </a:rPr>
              <a:t>m</a:t>
            </a:r>
            <a:r>
              <a:rPr sz="1600" b="1" spc="-5" dirty="0">
                <a:latin typeface="Times New Roman"/>
                <a:cs typeface="Times New Roman"/>
              </a:rPr>
              <a:t>ent</a:t>
            </a:r>
            <a:endParaRPr sz="1600">
              <a:latin typeface="Times New Roman"/>
              <a:cs typeface="Times New Roman"/>
            </a:endParaRPr>
          </a:p>
          <a:p>
            <a:pPr marL="368300">
              <a:lnSpc>
                <a:spcPct val="100000"/>
              </a:lnSpc>
              <a:spcBef>
                <a:spcPts val="725"/>
              </a:spcBef>
            </a:pPr>
            <a:r>
              <a:rPr sz="1600" b="1" spc="-5" dirty="0">
                <a:latin typeface="Times New Roman"/>
                <a:cs typeface="Times New Roman"/>
              </a:rPr>
              <a:t>Consultants</a:t>
            </a:r>
            <a:endParaRPr sz="1600">
              <a:latin typeface="Times New Roman"/>
              <a:cs typeface="Times New Roman"/>
            </a:endParaRPr>
          </a:p>
        </p:txBody>
      </p:sp>
      <p:sp>
        <p:nvSpPr>
          <p:cNvPr id="16" name="object 16"/>
          <p:cNvSpPr txBox="1"/>
          <p:nvPr/>
        </p:nvSpPr>
        <p:spPr>
          <a:xfrm>
            <a:off x="6093962" y="2229356"/>
            <a:ext cx="1507490" cy="1885314"/>
          </a:xfrm>
          <a:prstGeom prst="rect">
            <a:avLst/>
          </a:prstGeom>
        </p:spPr>
        <p:txBody>
          <a:bodyPr vert="horz" wrap="square" lIns="0" tIns="44450" rIns="0" bIns="0" rtlCol="0">
            <a:spAutoFit/>
          </a:bodyPr>
          <a:lstStyle/>
          <a:p>
            <a:pPr marL="12700" marR="359410">
              <a:lnSpc>
                <a:spcPts val="1680"/>
              </a:lnSpc>
              <a:spcBef>
                <a:spcPts val="350"/>
              </a:spcBef>
            </a:pPr>
            <a:r>
              <a:rPr sz="1600" b="1" spc="-5" dirty="0">
                <a:latin typeface="Times New Roman"/>
                <a:cs typeface="Times New Roman"/>
              </a:rPr>
              <a:t>Equipment </a:t>
            </a:r>
            <a:r>
              <a:rPr sz="1600" b="1" dirty="0">
                <a:latin typeface="Times New Roman"/>
                <a:cs typeface="Times New Roman"/>
              </a:rPr>
              <a:t> </a:t>
            </a:r>
            <a:r>
              <a:rPr sz="1600" b="1" spc="-5" dirty="0">
                <a:latin typeface="Times New Roman"/>
                <a:cs typeface="Times New Roman"/>
              </a:rPr>
              <a:t>Maintenance</a:t>
            </a:r>
            <a:endParaRPr sz="1600" dirty="0">
              <a:latin typeface="Times New Roman"/>
              <a:cs typeface="Times New Roman"/>
            </a:endParaRPr>
          </a:p>
          <a:p>
            <a:pPr marL="388620">
              <a:lnSpc>
                <a:spcPts val="1005"/>
              </a:lnSpc>
            </a:pPr>
            <a:r>
              <a:rPr sz="1600" b="1" spc="-5" dirty="0">
                <a:latin typeface="Times New Roman"/>
                <a:cs typeface="Times New Roman"/>
              </a:rPr>
              <a:t>Resource</a:t>
            </a:r>
            <a:endParaRPr sz="1600" dirty="0">
              <a:latin typeface="Times New Roman"/>
              <a:cs typeface="Times New Roman"/>
            </a:endParaRPr>
          </a:p>
          <a:p>
            <a:pPr marL="445770" marR="5080" indent="-57785">
              <a:lnSpc>
                <a:spcPct val="86400"/>
              </a:lnSpc>
              <a:spcBef>
                <a:spcPts val="140"/>
              </a:spcBef>
            </a:pPr>
            <a:r>
              <a:rPr sz="1600" b="1" spc="-5" dirty="0">
                <a:latin typeface="Times New Roman"/>
                <a:cs typeface="Times New Roman"/>
              </a:rPr>
              <a:t>Utilization </a:t>
            </a:r>
            <a:r>
              <a:rPr sz="1600" b="1" dirty="0">
                <a:latin typeface="Times New Roman"/>
                <a:cs typeface="Times New Roman"/>
              </a:rPr>
              <a:t> </a:t>
            </a:r>
            <a:r>
              <a:rPr sz="1600" b="1" spc="-20" dirty="0">
                <a:latin typeface="Times New Roman"/>
                <a:cs typeface="Times New Roman"/>
              </a:rPr>
              <a:t>Technology </a:t>
            </a:r>
            <a:r>
              <a:rPr sz="1600" b="1" spc="-15" dirty="0">
                <a:latin typeface="Times New Roman"/>
                <a:cs typeface="Times New Roman"/>
              </a:rPr>
              <a:t> </a:t>
            </a:r>
            <a:r>
              <a:rPr sz="1600" b="1" spc="-10" dirty="0">
                <a:latin typeface="Times New Roman"/>
                <a:cs typeface="Times New Roman"/>
              </a:rPr>
              <a:t>Refresh </a:t>
            </a:r>
            <a:r>
              <a:rPr sz="1600" b="1" spc="-5" dirty="0">
                <a:latin typeface="Times New Roman"/>
                <a:cs typeface="Times New Roman"/>
              </a:rPr>
              <a:t> System </a:t>
            </a:r>
            <a:r>
              <a:rPr sz="1600" b="1" dirty="0">
                <a:latin typeface="Times New Roman"/>
                <a:cs typeface="Times New Roman"/>
              </a:rPr>
              <a:t> </a:t>
            </a:r>
            <a:r>
              <a:rPr sz="1600" b="1" spc="-10" dirty="0">
                <a:latin typeface="Times New Roman"/>
                <a:cs typeface="Times New Roman"/>
              </a:rPr>
              <a:t>Admins</a:t>
            </a:r>
            <a:endParaRPr sz="1600" dirty="0">
              <a:latin typeface="Times New Roman"/>
              <a:cs typeface="Times New Roman"/>
            </a:endParaRPr>
          </a:p>
          <a:p>
            <a:pPr marL="61594">
              <a:lnSpc>
                <a:spcPts val="1585"/>
              </a:lnSpc>
            </a:pPr>
            <a:r>
              <a:rPr sz="1600" b="1" spc="-5" dirty="0">
                <a:latin typeface="Times New Roman"/>
                <a:cs typeface="Times New Roman"/>
              </a:rPr>
              <a:t>Capacity</a:t>
            </a:r>
            <a:endParaRPr sz="1600" dirty="0">
              <a:latin typeface="Times New Roman"/>
              <a:cs typeface="Times New Roman"/>
            </a:endParaRPr>
          </a:p>
        </p:txBody>
      </p:sp>
      <p:sp>
        <p:nvSpPr>
          <p:cNvPr id="17" name="object 17"/>
          <p:cNvSpPr txBox="1"/>
          <p:nvPr/>
        </p:nvSpPr>
        <p:spPr>
          <a:xfrm>
            <a:off x="4453504" y="4058815"/>
            <a:ext cx="4246880" cy="725805"/>
          </a:xfrm>
          <a:prstGeom prst="rect">
            <a:avLst/>
          </a:prstGeom>
        </p:spPr>
        <p:txBody>
          <a:bodyPr vert="horz" wrap="square" lIns="0" tIns="12065" rIns="0" bIns="0" rtlCol="0">
            <a:spAutoFit/>
          </a:bodyPr>
          <a:lstStyle/>
          <a:p>
            <a:pPr marR="56515" algn="ctr">
              <a:lnSpc>
                <a:spcPts val="1730"/>
              </a:lnSpc>
              <a:spcBef>
                <a:spcPts val="95"/>
              </a:spcBef>
            </a:pPr>
            <a:r>
              <a:rPr sz="1600" b="1" spc="-5" dirty="0">
                <a:latin typeface="Times New Roman"/>
                <a:cs typeface="Times New Roman"/>
              </a:rPr>
              <a:t>Planning</a:t>
            </a:r>
            <a:endParaRPr sz="1600" dirty="0">
              <a:latin typeface="Times New Roman"/>
              <a:cs typeface="Times New Roman"/>
            </a:endParaRPr>
          </a:p>
          <a:p>
            <a:pPr marR="13335" algn="r">
              <a:lnSpc>
                <a:spcPts val="1170"/>
              </a:lnSpc>
            </a:pPr>
            <a:r>
              <a:rPr sz="1200" spc="-5" dirty="0">
                <a:cs typeface="Times New Roman"/>
              </a:rPr>
              <a:t>Source:</a:t>
            </a:r>
            <a:r>
              <a:rPr sz="1200" spc="10" dirty="0">
                <a:cs typeface="Times New Roman"/>
              </a:rPr>
              <a:t> </a:t>
            </a:r>
            <a:r>
              <a:rPr sz="1200" spc="-5" dirty="0">
                <a:cs typeface="Times New Roman"/>
              </a:rPr>
              <a:t>Perry</a:t>
            </a:r>
            <a:r>
              <a:rPr sz="1200" spc="20" dirty="0">
                <a:cs typeface="Times New Roman"/>
              </a:rPr>
              <a:t> </a:t>
            </a:r>
            <a:r>
              <a:rPr sz="1200" spc="-10" dirty="0">
                <a:cs typeface="Times New Roman"/>
              </a:rPr>
              <a:t>Boster,</a:t>
            </a:r>
            <a:r>
              <a:rPr sz="1200" spc="10" dirty="0">
                <a:cs typeface="Times New Roman"/>
              </a:rPr>
              <a:t> </a:t>
            </a:r>
            <a:r>
              <a:rPr sz="1200" spc="-5" dirty="0">
                <a:cs typeface="Times New Roman"/>
              </a:rPr>
              <a:t>“Utility</a:t>
            </a:r>
            <a:r>
              <a:rPr sz="1200" spc="25" dirty="0">
                <a:cs typeface="Times New Roman"/>
              </a:rPr>
              <a:t> </a:t>
            </a:r>
            <a:r>
              <a:rPr sz="1200" dirty="0">
                <a:cs typeface="Times New Roman"/>
              </a:rPr>
              <a:t>Computing for</a:t>
            </a:r>
            <a:r>
              <a:rPr sz="1200" spc="-5" dirty="0">
                <a:cs typeface="Times New Roman"/>
              </a:rPr>
              <a:t> Shared</a:t>
            </a:r>
            <a:r>
              <a:rPr sz="1200" spc="20" dirty="0">
                <a:cs typeface="Times New Roman"/>
              </a:rPr>
              <a:t> </a:t>
            </a:r>
            <a:r>
              <a:rPr sz="1200" spc="-5" dirty="0">
                <a:cs typeface="Times New Roman"/>
              </a:rPr>
              <a:t>Services”,</a:t>
            </a:r>
            <a:endParaRPr sz="1200" dirty="0">
              <a:cs typeface="Times New Roman"/>
            </a:endParaRPr>
          </a:p>
          <a:p>
            <a:pPr marR="12700" algn="r">
              <a:lnSpc>
                <a:spcPts val="1265"/>
              </a:lnSpc>
            </a:pPr>
            <a:r>
              <a:rPr sz="1200" spc="-5" dirty="0">
                <a:cs typeface="Times New Roman"/>
              </a:rPr>
              <a:t>Massachusetts</a:t>
            </a:r>
            <a:r>
              <a:rPr sz="1200" spc="10" dirty="0">
                <a:cs typeface="Times New Roman"/>
              </a:rPr>
              <a:t> </a:t>
            </a:r>
            <a:r>
              <a:rPr sz="1200" spc="-5" dirty="0">
                <a:cs typeface="Times New Roman"/>
              </a:rPr>
              <a:t>Digital</a:t>
            </a:r>
            <a:r>
              <a:rPr sz="1200" spc="30" dirty="0">
                <a:cs typeface="Times New Roman"/>
              </a:rPr>
              <a:t> </a:t>
            </a:r>
            <a:r>
              <a:rPr sz="1200" spc="-5" dirty="0">
                <a:cs typeface="Times New Roman"/>
              </a:rPr>
              <a:t>Government</a:t>
            </a:r>
            <a:r>
              <a:rPr sz="1200" spc="30" dirty="0">
                <a:cs typeface="Times New Roman"/>
              </a:rPr>
              <a:t> </a:t>
            </a:r>
            <a:r>
              <a:rPr sz="1200" dirty="0">
                <a:cs typeface="Times New Roman"/>
              </a:rPr>
              <a:t>Summit,</a:t>
            </a:r>
            <a:r>
              <a:rPr sz="1200" spc="5" dirty="0">
                <a:cs typeface="Times New Roman"/>
              </a:rPr>
              <a:t> </a:t>
            </a:r>
            <a:r>
              <a:rPr sz="1200" spc="-5" dirty="0">
                <a:cs typeface="Times New Roman"/>
              </a:rPr>
              <a:t>September</a:t>
            </a:r>
            <a:r>
              <a:rPr sz="1200" spc="20" dirty="0">
                <a:cs typeface="Times New Roman"/>
              </a:rPr>
              <a:t> </a:t>
            </a:r>
            <a:r>
              <a:rPr sz="1200" dirty="0">
                <a:cs typeface="Times New Roman"/>
              </a:rPr>
              <a:t>23rd,</a:t>
            </a:r>
            <a:r>
              <a:rPr sz="1200" spc="10" dirty="0">
                <a:cs typeface="Times New Roman"/>
              </a:rPr>
              <a:t> </a:t>
            </a:r>
            <a:r>
              <a:rPr sz="1200" dirty="0">
                <a:cs typeface="Times New Roman"/>
              </a:rPr>
              <a:t>2004</a:t>
            </a:r>
            <a:r>
              <a:rPr sz="1200" spc="20" dirty="0">
                <a:cs typeface="Times New Roman"/>
              </a:rPr>
              <a:t> </a:t>
            </a:r>
            <a:r>
              <a:rPr sz="1200" dirty="0">
                <a:cs typeface="Times New Roman"/>
              </a:rPr>
              <a:t>–</a:t>
            </a:r>
          </a:p>
          <a:p>
            <a:pPr marR="5080" algn="r">
              <a:lnSpc>
                <a:spcPts val="1350"/>
              </a:lnSpc>
            </a:pPr>
            <a:r>
              <a:rPr sz="1200" spc="-5" dirty="0">
                <a:cs typeface="Times New Roman"/>
              </a:rPr>
              <a:t>Boston,</a:t>
            </a:r>
            <a:r>
              <a:rPr sz="1200" spc="-60" dirty="0">
                <a:cs typeface="Times New Roman"/>
              </a:rPr>
              <a:t> </a:t>
            </a:r>
            <a:r>
              <a:rPr sz="1200" spc="-5" dirty="0">
                <a:cs typeface="Times New Roman"/>
              </a:rPr>
              <a:t>MA</a:t>
            </a:r>
            <a:endParaRPr sz="1200" dirty="0">
              <a:cs typeface="Times New Roman"/>
            </a:endParaRPr>
          </a:p>
        </p:txBody>
      </p:sp>
      <p:sp>
        <p:nvSpPr>
          <p:cNvPr id="19" name="Footer Placeholder 18">
            <a:extLst>
              <a:ext uri="{FF2B5EF4-FFF2-40B4-BE49-F238E27FC236}">
                <a16:creationId xmlns:a16="http://schemas.microsoft.com/office/drawing/2014/main" id="{9AD6CD1A-E5AC-EA85-264A-DE37EE813CCA}"/>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399" y="361242"/>
            <a:ext cx="7219543" cy="382797"/>
          </a:xfrm>
          <a:prstGeom prst="rect">
            <a:avLst/>
          </a:prstGeom>
        </p:spPr>
        <p:txBody>
          <a:bodyPr vert="horz" wrap="square" lIns="0" tIns="13335" rIns="0" bIns="0" rtlCol="0">
            <a:spAutoFit/>
          </a:bodyPr>
          <a:lstStyle/>
          <a:p>
            <a:pPr marL="12700" algn="ctr">
              <a:lnSpc>
                <a:spcPct val="100000"/>
              </a:lnSpc>
              <a:spcBef>
                <a:spcPts val="105"/>
              </a:spcBef>
            </a:pPr>
            <a:r>
              <a:rPr sz="2400" b="1" dirty="0">
                <a:solidFill>
                  <a:srgbClr val="000000"/>
                </a:solidFill>
                <a:latin typeface="Calibri"/>
                <a:cs typeface="Calibri"/>
              </a:rPr>
              <a:t>Utility</a:t>
            </a:r>
            <a:r>
              <a:rPr sz="2400" b="1" spc="-20" dirty="0">
                <a:solidFill>
                  <a:srgbClr val="000000"/>
                </a:solidFill>
                <a:latin typeface="Calibri"/>
                <a:cs typeface="Calibri"/>
              </a:rPr>
              <a:t> </a:t>
            </a:r>
            <a:r>
              <a:rPr sz="2400" b="1" dirty="0">
                <a:solidFill>
                  <a:srgbClr val="000000"/>
                </a:solidFill>
                <a:latin typeface="Calibri"/>
                <a:cs typeface="Calibri"/>
              </a:rPr>
              <a:t>Computing</a:t>
            </a:r>
            <a:r>
              <a:rPr sz="2400" b="1" spc="-25" dirty="0">
                <a:solidFill>
                  <a:srgbClr val="000000"/>
                </a:solidFill>
                <a:latin typeface="Calibri"/>
                <a:cs typeface="Calibri"/>
              </a:rPr>
              <a:t> </a:t>
            </a:r>
            <a:r>
              <a:rPr sz="2400" b="1" spc="-30" dirty="0">
                <a:solidFill>
                  <a:srgbClr val="000000"/>
                </a:solidFill>
                <a:latin typeface="Calibri"/>
                <a:cs typeface="Calibri"/>
              </a:rPr>
              <a:t>Payment</a:t>
            </a:r>
            <a:r>
              <a:rPr sz="2400" b="1" spc="-45" dirty="0">
                <a:solidFill>
                  <a:srgbClr val="000000"/>
                </a:solidFill>
                <a:latin typeface="Calibri"/>
                <a:cs typeface="Calibri"/>
              </a:rPr>
              <a:t> </a:t>
            </a:r>
            <a:r>
              <a:rPr sz="2400" b="1" dirty="0">
                <a:solidFill>
                  <a:srgbClr val="000000"/>
                </a:solidFill>
                <a:latin typeface="Calibri"/>
                <a:cs typeface="Calibri"/>
              </a:rPr>
              <a:t>Models</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27</a:t>
            </a:r>
          </a:p>
        </p:txBody>
      </p:sp>
      <p:sp>
        <p:nvSpPr>
          <p:cNvPr id="3" name="object 3"/>
          <p:cNvSpPr txBox="1"/>
          <p:nvPr/>
        </p:nvSpPr>
        <p:spPr>
          <a:xfrm>
            <a:off x="612139" y="1107183"/>
            <a:ext cx="7921625" cy="2965450"/>
          </a:xfrm>
          <a:prstGeom prst="rect">
            <a:avLst/>
          </a:prstGeom>
        </p:spPr>
        <p:txBody>
          <a:bodyPr vert="horz" wrap="square" lIns="0" tIns="13335" rIns="0" bIns="0" rtlCol="0">
            <a:spAutoFit/>
          </a:bodyPr>
          <a:lstStyle/>
          <a:p>
            <a:pPr marL="355600" marR="290830" indent="-343535">
              <a:lnSpc>
                <a:spcPct val="100000"/>
              </a:lnSpc>
              <a:spcBef>
                <a:spcPts val="105"/>
              </a:spcBef>
              <a:buFont typeface="Arial MT"/>
              <a:buChar char="•"/>
              <a:tabLst>
                <a:tab pos="355600" algn="l"/>
                <a:tab pos="356235" algn="l"/>
              </a:tabLst>
            </a:pPr>
            <a:r>
              <a:rPr sz="1400" spc="-5" dirty="0">
                <a:latin typeface="Calibri"/>
                <a:cs typeface="Calibri"/>
              </a:rPr>
              <a:t>Same</a:t>
            </a:r>
            <a:r>
              <a:rPr sz="1400" spc="-20" dirty="0">
                <a:latin typeface="Calibri"/>
                <a:cs typeface="Calibri"/>
              </a:rPr>
              <a:t> </a:t>
            </a:r>
            <a:r>
              <a:rPr sz="1400" spc="-10" dirty="0">
                <a:latin typeface="Calibri"/>
                <a:cs typeface="Calibri"/>
              </a:rPr>
              <a:t>range</a:t>
            </a:r>
            <a:r>
              <a:rPr sz="1400" spc="5" dirty="0">
                <a:latin typeface="Calibri"/>
                <a:cs typeface="Calibri"/>
              </a:rPr>
              <a:t> </a:t>
            </a:r>
            <a:r>
              <a:rPr sz="1400" dirty="0">
                <a:latin typeface="Calibri"/>
                <a:cs typeface="Calibri"/>
              </a:rPr>
              <a:t>of</a:t>
            </a:r>
            <a:r>
              <a:rPr sz="1400" spc="-5" dirty="0">
                <a:latin typeface="Calibri"/>
                <a:cs typeface="Calibri"/>
              </a:rPr>
              <a:t> </a:t>
            </a:r>
            <a:r>
              <a:rPr sz="1400" spc="-10" dirty="0">
                <a:latin typeface="Calibri"/>
                <a:cs typeface="Calibri"/>
              </a:rPr>
              <a:t>charging</a:t>
            </a:r>
            <a:r>
              <a:rPr sz="1400" spc="20" dirty="0">
                <a:latin typeface="Calibri"/>
                <a:cs typeface="Calibri"/>
              </a:rPr>
              <a:t> </a:t>
            </a:r>
            <a:r>
              <a:rPr sz="1400" spc="-5" dirty="0">
                <a:latin typeface="Calibri"/>
                <a:cs typeface="Calibri"/>
              </a:rPr>
              <a:t>models</a:t>
            </a:r>
            <a:r>
              <a:rPr sz="1400" spc="5" dirty="0">
                <a:latin typeface="Calibri"/>
                <a:cs typeface="Calibri"/>
              </a:rPr>
              <a:t> </a:t>
            </a:r>
            <a:r>
              <a:rPr sz="1400" dirty="0">
                <a:latin typeface="Calibri"/>
                <a:cs typeface="Calibri"/>
              </a:rPr>
              <a:t>as</a:t>
            </a:r>
            <a:r>
              <a:rPr sz="1400" spc="5" dirty="0">
                <a:latin typeface="Calibri"/>
                <a:cs typeface="Calibri"/>
              </a:rPr>
              <a:t> </a:t>
            </a:r>
            <a:r>
              <a:rPr sz="1400" spc="-5" dirty="0">
                <a:latin typeface="Calibri"/>
                <a:cs typeface="Calibri"/>
              </a:rPr>
              <a:t>other</a:t>
            </a:r>
            <a:r>
              <a:rPr sz="1400" spc="5" dirty="0">
                <a:latin typeface="Calibri"/>
                <a:cs typeface="Calibri"/>
              </a:rPr>
              <a:t> </a:t>
            </a:r>
            <a:r>
              <a:rPr sz="1400" spc="-5" dirty="0">
                <a:latin typeface="Calibri"/>
                <a:cs typeface="Calibri"/>
              </a:rPr>
              <a:t>utility</a:t>
            </a:r>
            <a:r>
              <a:rPr sz="1400" spc="20" dirty="0">
                <a:latin typeface="Calibri"/>
                <a:cs typeface="Calibri"/>
              </a:rPr>
              <a:t> </a:t>
            </a:r>
            <a:r>
              <a:rPr sz="1400" spc="-10" dirty="0">
                <a:latin typeface="Calibri"/>
                <a:cs typeface="Calibri"/>
              </a:rPr>
              <a:t>providers:</a:t>
            </a:r>
            <a:r>
              <a:rPr sz="1400" spc="15" dirty="0">
                <a:latin typeface="Calibri"/>
                <a:cs typeface="Calibri"/>
              </a:rPr>
              <a:t> </a:t>
            </a:r>
            <a:r>
              <a:rPr sz="1400" spc="-5" dirty="0">
                <a:latin typeface="Calibri"/>
                <a:cs typeface="Calibri"/>
              </a:rPr>
              <a:t>gas,</a:t>
            </a:r>
            <a:r>
              <a:rPr sz="1400" spc="10" dirty="0">
                <a:latin typeface="Calibri"/>
                <a:cs typeface="Calibri"/>
              </a:rPr>
              <a:t> </a:t>
            </a:r>
            <a:r>
              <a:rPr sz="1400" spc="-10" dirty="0">
                <a:latin typeface="Calibri"/>
                <a:cs typeface="Calibri"/>
              </a:rPr>
              <a:t>electricity,</a:t>
            </a:r>
            <a:r>
              <a:rPr sz="1400" spc="10" dirty="0">
                <a:latin typeface="Calibri"/>
                <a:cs typeface="Calibri"/>
              </a:rPr>
              <a:t> </a:t>
            </a:r>
            <a:r>
              <a:rPr sz="1400" spc="-5" dirty="0">
                <a:latin typeface="Calibri"/>
                <a:cs typeface="Calibri"/>
              </a:rPr>
              <a:t>telecommunications,</a:t>
            </a:r>
            <a:r>
              <a:rPr sz="1400" spc="25" dirty="0">
                <a:latin typeface="Calibri"/>
                <a:cs typeface="Calibri"/>
              </a:rPr>
              <a:t> </a:t>
            </a:r>
            <a:r>
              <a:rPr sz="1400" spc="-30" dirty="0">
                <a:latin typeface="Calibri"/>
                <a:cs typeface="Calibri"/>
              </a:rPr>
              <a:t>water, </a:t>
            </a:r>
            <a:r>
              <a:rPr sz="1400" spc="-300" dirty="0">
                <a:latin typeface="Calibri"/>
                <a:cs typeface="Calibri"/>
              </a:rPr>
              <a:t> </a:t>
            </a:r>
            <a:r>
              <a:rPr sz="1400" spc="-5" dirty="0">
                <a:latin typeface="Calibri"/>
                <a:cs typeface="Calibri"/>
              </a:rPr>
              <a:t>television</a:t>
            </a:r>
            <a:r>
              <a:rPr sz="1400" spc="5" dirty="0">
                <a:latin typeface="Calibri"/>
                <a:cs typeface="Calibri"/>
              </a:rPr>
              <a:t> </a:t>
            </a:r>
            <a:r>
              <a:rPr sz="1400" spc="-10" dirty="0">
                <a:latin typeface="Calibri"/>
                <a:cs typeface="Calibri"/>
              </a:rPr>
              <a:t>broadcasting</a:t>
            </a:r>
            <a:endParaRPr sz="1400" dirty="0">
              <a:latin typeface="Calibri"/>
              <a:cs typeface="Calibri"/>
            </a:endParaRPr>
          </a:p>
          <a:p>
            <a:pPr marL="332740">
              <a:lnSpc>
                <a:spcPct val="100000"/>
              </a:lnSpc>
              <a:spcBef>
                <a:spcPts val="305"/>
              </a:spcBef>
            </a:pPr>
            <a:r>
              <a:rPr sz="1200" dirty="0">
                <a:latin typeface="Calibri"/>
                <a:cs typeface="Calibri"/>
              </a:rPr>
              <a:t>−</a:t>
            </a:r>
            <a:r>
              <a:rPr sz="1200" spc="-20" dirty="0">
                <a:latin typeface="Calibri"/>
                <a:cs typeface="Calibri"/>
              </a:rPr>
              <a:t> </a:t>
            </a:r>
            <a:r>
              <a:rPr sz="1200" spc="-5" dirty="0">
                <a:latin typeface="Calibri"/>
                <a:cs typeface="Calibri"/>
              </a:rPr>
              <a:t>Flat</a:t>
            </a:r>
            <a:r>
              <a:rPr sz="1200" spc="-30" dirty="0">
                <a:latin typeface="Calibri"/>
                <a:cs typeface="Calibri"/>
              </a:rPr>
              <a:t> </a:t>
            </a:r>
            <a:r>
              <a:rPr sz="1200" spc="-15" dirty="0">
                <a:latin typeface="Calibri"/>
                <a:cs typeface="Calibri"/>
              </a:rPr>
              <a:t>rate</a:t>
            </a:r>
            <a:endParaRPr sz="1200" dirty="0">
              <a:latin typeface="Calibri"/>
              <a:cs typeface="Calibri"/>
            </a:endParaRPr>
          </a:p>
          <a:p>
            <a:pPr marL="332740">
              <a:lnSpc>
                <a:spcPct val="100000"/>
              </a:lnSpc>
              <a:spcBef>
                <a:spcPts val="290"/>
              </a:spcBef>
            </a:pPr>
            <a:r>
              <a:rPr sz="1200" dirty="0">
                <a:latin typeface="Calibri"/>
                <a:cs typeface="Calibri"/>
              </a:rPr>
              <a:t>−</a:t>
            </a:r>
            <a:r>
              <a:rPr sz="1200" spc="-30" dirty="0">
                <a:latin typeface="Calibri"/>
                <a:cs typeface="Calibri"/>
              </a:rPr>
              <a:t> </a:t>
            </a:r>
            <a:r>
              <a:rPr sz="1200" spc="-5" dirty="0">
                <a:latin typeface="Calibri"/>
                <a:cs typeface="Calibri"/>
              </a:rPr>
              <a:t>Tiered</a:t>
            </a:r>
            <a:endParaRPr sz="1200" dirty="0">
              <a:latin typeface="Calibri"/>
              <a:cs typeface="Calibri"/>
            </a:endParaRPr>
          </a:p>
          <a:p>
            <a:pPr marL="332740">
              <a:lnSpc>
                <a:spcPct val="100000"/>
              </a:lnSpc>
              <a:spcBef>
                <a:spcPts val="285"/>
              </a:spcBef>
            </a:pPr>
            <a:r>
              <a:rPr sz="1200" dirty="0">
                <a:latin typeface="Calibri"/>
                <a:cs typeface="Calibri"/>
              </a:rPr>
              <a:t>−</a:t>
            </a:r>
            <a:r>
              <a:rPr sz="1200" spc="-25" dirty="0">
                <a:latin typeface="Calibri"/>
                <a:cs typeface="Calibri"/>
              </a:rPr>
              <a:t> </a:t>
            </a:r>
            <a:r>
              <a:rPr sz="1200" spc="-5" dirty="0">
                <a:latin typeface="Calibri"/>
                <a:cs typeface="Calibri"/>
              </a:rPr>
              <a:t>Subscription</a:t>
            </a:r>
            <a:endParaRPr sz="1200" dirty="0">
              <a:latin typeface="Calibri"/>
              <a:cs typeface="Calibri"/>
            </a:endParaRPr>
          </a:p>
          <a:p>
            <a:pPr marL="332740">
              <a:lnSpc>
                <a:spcPct val="100000"/>
              </a:lnSpc>
              <a:spcBef>
                <a:spcPts val="290"/>
              </a:spcBef>
            </a:pPr>
            <a:r>
              <a:rPr sz="1200" dirty="0">
                <a:latin typeface="Calibri"/>
                <a:cs typeface="Calibri"/>
              </a:rPr>
              <a:t>−</a:t>
            </a:r>
            <a:r>
              <a:rPr sz="1200" spc="-35" dirty="0">
                <a:latin typeface="Calibri"/>
                <a:cs typeface="Calibri"/>
              </a:rPr>
              <a:t> </a:t>
            </a:r>
            <a:r>
              <a:rPr sz="1200" spc="-5" dirty="0">
                <a:latin typeface="Calibri"/>
                <a:cs typeface="Calibri"/>
              </a:rPr>
              <a:t>Metered</a:t>
            </a:r>
            <a:endParaRPr sz="1200" dirty="0">
              <a:latin typeface="Calibri"/>
              <a:cs typeface="Calibri"/>
            </a:endParaRPr>
          </a:p>
          <a:p>
            <a:pPr marL="332740">
              <a:lnSpc>
                <a:spcPct val="100000"/>
              </a:lnSpc>
              <a:spcBef>
                <a:spcPts val="290"/>
              </a:spcBef>
            </a:pPr>
            <a:r>
              <a:rPr sz="1200" dirty="0">
                <a:latin typeface="Calibri"/>
                <a:cs typeface="Calibri"/>
              </a:rPr>
              <a:t>−</a:t>
            </a:r>
            <a:r>
              <a:rPr sz="1200" spc="-15" dirty="0">
                <a:latin typeface="Calibri"/>
                <a:cs typeface="Calibri"/>
              </a:rPr>
              <a:t> Pay </a:t>
            </a:r>
            <a:r>
              <a:rPr sz="1200" dirty="0">
                <a:latin typeface="Calibri"/>
                <a:cs typeface="Calibri"/>
              </a:rPr>
              <a:t>as</a:t>
            </a:r>
            <a:r>
              <a:rPr sz="1200" spc="-15" dirty="0">
                <a:latin typeface="Calibri"/>
                <a:cs typeface="Calibri"/>
              </a:rPr>
              <a:t> </a:t>
            </a:r>
            <a:r>
              <a:rPr sz="1200" spc="-10" dirty="0">
                <a:latin typeface="Calibri"/>
                <a:cs typeface="Calibri"/>
              </a:rPr>
              <a:t>you</a:t>
            </a:r>
            <a:r>
              <a:rPr sz="1200" spc="-20" dirty="0">
                <a:latin typeface="Calibri"/>
                <a:cs typeface="Calibri"/>
              </a:rPr>
              <a:t> </a:t>
            </a:r>
            <a:r>
              <a:rPr sz="1200" spc="-10" dirty="0">
                <a:latin typeface="Calibri"/>
                <a:cs typeface="Calibri"/>
              </a:rPr>
              <a:t>go</a:t>
            </a:r>
            <a:endParaRPr sz="1200" dirty="0">
              <a:latin typeface="Calibri"/>
              <a:cs typeface="Calibri"/>
            </a:endParaRPr>
          </a:p>
          <a:p>
            <a:pPr marL="332740">
              <a:lnSpc>
                <a:spcPct val="100000"/>
              </a:lnSpc>
              <a:spcBef>
                <a:spcPts val="290"/>
              </a:spcBef>
            </a:pPr>
            <a:r>
              <a:rPr sz="1200" dirty="0">
                <a:latin typeface="Calibri"/>
                <a:cs typeface="Calibri"/>
              </a:rPr>
              <a:t>−</a:t>
            </a:r>
            <a:r>
              <a:rPr sz="1200" spc="-20" dirty="0">
                <a:latin typeface="Calibri"/>
                <a:cs typeface="Calibri"/>
              </a:rPr>
              <a:t> </a:t>
            </a:r>
            <a:r>
              <a:rPr sz="1200" spc="-5" dirty="0">
                <a:latin typeface="Calibri"/>
                <a:cs typeface="Calibri"/>
              </a:rPr>
              <a:t>Standing</a:t>
            </a:r>
            <a:r>
              <a:rPr sz="1200" spc="-55" dirty="0">
                <a:latin typeface="Calibri"/>
                <a:cs typeface="Calibri"/>
              </a:rPr>
              <a:t> </a:t>
            </a:r>
            <a:r>
              <a:rPr sz="1200" spc="-5" dirty="0">
                <a:latin typeface="Calibri"/>
                <a:cs typeface="Calibri"/>
              </a:rPr>
              <a:t>charges</a:t>
            </a:r>
            <a:endParaRPr sz="1200" dirty="0">
              <a:latin typeface="Calibri"/>
              <a:cs typeface="Calibri"/>
            </a:endParaRPr>
          </a:p>
          <a:p>
            <a:pPr marL="355600" marR="593090" indent="-343535">
              <a:lnSpc>
                <a:spcPct val="100000"/>
              </a:lnSpc>
              <a:spcBef>
                <a:spcPts val="315"/>
              </a:spcBef>
              <a:buFont typeface="Arial MT"/>
              <a:buChar char="•"/>
              <a:tabLst>
                <a:tab pos="355600" algn="l"/>
                <a:tab pos="356235" algn="l"/>
              </a:tabLst>
            </a:pPr>
            <a:r>
              <a:rPr sz="1400" spc="-10" dirty="0">
                <a:latin typeface="Calibri"/>
                <a:cs typeface="Calibri"/>
              </a:rPr>
              <a:t>Different </a:t>
            </a:r>
            <a:r>
              <a:rPr sz="1400" spc="-5" dirty="0">
                <a:latin typeface="Calibri"/>
                <a:cs typeface="Calibri"/>
              </a:rPr>
              <a:t>pricing</a:t>
            </a:r>
            <a:r>
              <a:rPr sz="1400" spc="10" dirty="0">
                <a:latin typeface="Calibri"/>
                <a:cs typeface="Calibri"/>
              </a:rPr>
              <a:t> </a:t>
            </a:r>
            <a:r>
              <a:rPr sz="1400" spc="-5" dirty="0">
                <a:latin typeface="Calibri"/>
                <a:cs typeface="Calibri"/>
              </a:rPr>
              <a:t>models</a:t>
            </a:r>
            <a:r>
              <a:rPr sz="1400" dirty="0">
                <a:latin typeface="Calibri"/>
                <a:cs typeface="Calibri"/>
              </a:rPr>
              <a:t> </a:t>
            </a:r>
            <a:r>
              <a:rPr sz="1400" spc="-10" dirty="0">
                <a:latin typeface="Calibri"/>
                <a:cs typeface="Calibri"/>
              </a:rPr>
              <a:t>for</a:t>
            </a:r>
            <a:r>
              <a:rPr sz="1400" spc="-25" dirty="0">
                <a:latin typeface="Calibri"/>
                <a:cs typeface="Calibri"/>
              </a:rPr>
              <a:t> </a:t>
            </a:r>
            <a:r>
              <a:rPr sz="1400" spc="-10" dirty="0">
                <a:latin typeface="Calibri"/>
                <a:cs typeface="Calibri"/>
              </a:rPr>
              <a:t>different</a:t>
            </a:r>
            <a:r>
              <a:rPr sz="1400" spc="20" dirty="0">
                <a:latin typeface="Calibri"/>
                <a:cs typeface="Calibri"/>
              </a:rPr>
              <a:t> </a:t>
            </a:r>
            <a:r>
              <a:rPr sz="1400" spc="-10" dirty="0">
                <a:latin typeface="Calibri"/>
                <a:cs typeface="Calibri"/>
              </a:rPr>
              <a:t>customers </a:t>
            </a:r>
            <a:r>
              <a:rPr sz="1400" spc="-5" dirty="0">
                <a:latin typeface="Calibri"/>
                <a:cs typeface="Calibri"/>
              </a:rPr>
              <a:t>based</a:t>
            </a:r>
            <a:r>
              <a:rPr sz="1400" spc="5" dirty="0">
                <a:latin typeface="Calibri"/>
                <a:cs typeface="Calibri"/>
              </a:rPr>
              <a:t> </a:t>
            </a:r>
            <a:r>
              <a:rPr sz="1400" spc="-5" dirty="0">
                <a:latin typeface="Calibri"/>
                <a:cs typeface="Calibri"/>
              </a:rPr>
              <a:t>on</a:t>
            </a:r>
            <a:r>
              <a:rPr sz="1400" dirty="0">
                <a:latin typeface="Calibri"/>
                <a:cs typeface="Calibri"/>
              </a:rPr>
              <a:t> </a:t>
            </a:r>
            <a:r>
              <a:rPr sz="1400" spc="-10" dirty="0">
                <a:latin typeface="Calibri"/>
                <a:cs typeface="Calibri"/>
              </a:rPr>
              <a:t>factors </a:t>
            </a:r>
            <a:r>
              <a:rPr sz="1400" spc="-5" dirty="0">
                <a:latin typeface="Calibri"/>
                <a:cs typeface="Calibri"/>
              </a:rPr>
              <a:t>such</a:t>
            </a:r>
            <a:r>
              <a:rPr sz="1400" spc="5" dirty="0">
                <a:latin typeface="Calibri"/>
                <a:cs typeface="Calibri"/>
              </a:rPr>
              <a:t> </a:t>
            </a:r>
            <a:r>
              <a:rPr sz="1400" dirty="0">
                <a:latin typeface="Calibri"/>
                <a:cs typeface="Calibri"/>
              </a:rPr>
              <a:t>as</a:t>
            </a:r>
            <a:r>
              <a:rPr sz="1400" spc="5" dirty="0">
                <a:latin typeface="Calibri"/>
                <a:cs typeface="Calibri"/>
              </a:rPr>
              <a:t> </a:t>
            </a:r>
            <a:r>
              <a:rPr sz="1400" spc="-5" dirty="0">
                <a:latin typeface="Calibri"/>
                <a:cs typeface="Calibri"/>
              </a:rPr>
              <a:t>scale,</a:t>
            </a:r>
            <a:r>
              <a:rPr sz="1400" dirty="0">
                <a:latin typeface="Calibri"/>
                <a:cs typeface="Calibri"/>
              </a:rPr>
              <a:t> </a:t>
            </a:r>
            <a:r>
              <a:rPr sz="1400" spc="-5" dirty="0">
                <a:latin typeface="Calibri"/>
                <a:cs typeface="Calibri"/>
              </a:rPr>
              <a:t>commitment</a:t>
            </a:r>
            <a:r>
              <a:rPr sz="1400" dirty="0">
                <a:latin typeface="Calibri"/>
                <a:cs typeface="Calibri"/>
              </a:rPr>
              <a:t> </a:t>
            </a:r>
            <a:r>
              <a:rPr sz="1400" spc="-5" dirty="0">
                <a:latin typeface="Calibri"/>
                <a:cs typeface="Calibri"/>
              </a:rPr>
              <a:t>and </a:t>
            </a:r>
            <a:r>
              <a:rPr sz="1400" spc="-300" dirty="0">
                <a:latin typeface="Calibri"/>
                <a:cs typeface="Calibri"/>
              </a:rPr>
              <a:t> </a:t>
            </a:r>
            <a:r>
              <a:rPr sz="1400" spc="-10" dirty="0">
                <a:latin typeface="Calibri"/>
                <a:cs typeface="Calibri"/>
              </a:rPr>
              <a:t>payment</a:t>
            </a:r>
            <a:r>
              <a:rPr sz="1400" spc="10" dirty="0">
                <a:latin typeface="Calibri"/>
                <a:cs typeface="Calibri"/>
              </a:rPr>
              <a:t> </a:t>
            </a:r>
            <a:r>
              <a:rPr sz="1400" spc="-10" dirty="0">
                <a:latin typeface="Calibri"/>
                <a:cs typeface="Calibri"/>
              </a:rPr>
              <a:t>frequency</a:t>
            </a:r>
            <a:endParaRPr sz="1400" dirty="0">
              <a:latin typeface="Calibri"/>
              <a:cs typeface="Calibri"/>
            </a:endParaRPr>
          </a:p>
          <a:p>
            <a:pPr marL="355600" indent="-343535">
              <a:lnSpc>
                <a:spcPct val="100000"/>
              </a:lnSpc>
              <a:spcBef>
                <a:spcPts val="335"/>
              </a:spcBef>
              <a:buFont typeface="Arial MT"/>
              <a:buChar char="•"/>
              <a:tabLst>
                <a:tab pos="355600" algn="l"/>
                <a:tab pos="356235" algn="l"/>
              </a:tabLst>
            </a:pPr>
            <a:r>
              <a:rPr sz="1400" dirty="0">
                <a:latin typeface="Calibri"/>
                <a:cs typeface="Calibri"/>
              </a:rPr>
              <a:t>But</a:t>
            </a:r>
            <a:r>
              <a:rPr sz="1400" spc="-5" dirty="0">
                <a:latin typeface="Calibri"/>
                <a:cs typeface="Calibri"/>
              </a:rPr>
              <a:t> the principle</a:t>
            </a:r>
            <a:r>
              <a:rPr sz="1400" spc="10" dirty="0">
                <a:latin typeface="Calibri"/>
                <a:cs typeface="Calibri"/>
              </a:rPr>
              <a:t> </a:t>
            </a:r>
            <a:r>
              <a:rPr sz="1400" dirty="0">
                <a:latin typeface="Calibri"/>
                <a:cs typeface="Calibri"/>
              </a:rPr>
              <a:t>of</a:t>
            </a:r>
            <a:r>
              <a:rPr sz="1400" spc="-20" dirty="0">
                <a:latin typeface="Calibri"/>
                <a:cs typeface="Calibri"/>
              </a:rPr>
              <a:t> </a:t>
            </a:r>
            <a:r>
              <a:rPr sz="1400" dirty="0">
                <a:latin typeface="Calibri"/>
                <a:cs typeface="Calibri"/>
              </a:rPr>
              <a:t>utility</a:t>
            </a:r>
            <a:r>
              <a:rPr sz="1400" spc="10" dirty="0">
                <a:latin typeface="Calibri"/>
                <a:cs typeface="Calibri"/>
              </a:rPr>
              <a:t> </a:t>
            </a:r>
            <a:r>
              <a:rPr sz="1400" spc="-5" dirty="0">
                <a:latin typeface="Calibri"/>
                <a:cs typeface="Calibri"/>
              </a:rPr>
              <a:t>computing remains</a:t>
            </a:r>
            <a:endParaRPr sz="1400" dirty="0">
              <a:latin typeface="Calibri"/>
              <a:cs typeface="Calibri"/>
            </a:endParaRPr>
          </a:p>
          <a:p>
            <a:pPr marL="355600" marR="5080" indent="-343535">
              <a:lnSpc>
                <a:spcPct val="100000"/>
              </a:lnSpc>
              <a:spcBef>
                <a:spcPts val="340"/>
              </a:spcBef>
              <a:buFont typeface="Arial MT"/>
              <a:buChar char="•"/>
              <a:tabLst>
                <a:tab pos="355600" algn="l"/>
                <a:tab pos="356235" algn="l"/>
              </a:tabLst>
            </a:pPr>
            <a:r>
              <a:rPr sz="1400" spc="-5" dirty="0">
                <a:latin typeface="Calibri"/>
                <a:cs typeface="Calibri"/>
              </a:rPr>
              <a:t>The</a:t>
            </a:r>
            <a:r>
              <a:rPr sz="1400" spc="10" dirty="0">
                <a:latin typeface="Calibri"/>
                <a:cs typeface="Calibri"/>
              </a:rPr>
              <a:t> </a:t>
            </a:r>
            <a:r>
              <a:rPr sz="1400" spc="-5" dirty="0">
                <a:latin typeface="Calibri"/>
                <a:cs typeface="Calibri"/>
              </a:rPr>
              <a:t>pricing</a:t>
            </a:r>
            <a:r>
              <a:rPr sz="1400" spc="10" dirty="0">
                <a:latin typeface="Calibri"/>
                <a:cs typeface="Calibri"/>
              </a:rPr>
              <a:t> </a:t>
            </a:r>
            <a:r>
              <a:rPr sz="1400" spc="-5" dirty="0">
                <a:latin typeface="Calibri"/>
                <a:cs typeface="Calibri"/>
              </a:rPr>
              <a:t>model</a:t>
            </a:r>
            <a:r>
              <a:rPr sz="1400" dirty="0">
                <a:latin typeface="Calibri"/>
                <a:cs typeface="Calibri"/>
              </a:rPr>
              <a:t> is</a:t>
            </a:r>
            <a:r>
              <a:rPr sz="1400" spc="5" dirty="0">
                <a:latin typeface="Calibri"/>
                <a:cs typeface="Calibri"/>
              </a:rPr>
              <a:t> </a:t>
            </a:r>
            <a:r>
              <a:rPr sz="1400" spc="-5" dirty="0">
                <a:latin typeface="Calibri"/>
                <a:cs typeface="Calibri"/>
              </a:rPr>
              <a:t>simply</a:t>
            </a:r>
            <a:r>
              <a:rPr sz="1400" dirty="0">
                <a:latin typeface="Calibri"/>
                <a:cs typeface="Calibri"/>
              </a:rPr>
              <a:t> an</a:t>
            </a:r>
            <a:r>
              <a:rPr sz="1400" spc="10" dirty="0">
                <a:latin typeface="Calibri"/>
                <a:cs typeface="Calibri"/>
              </a:rPr>
              <a:t> </a:t>
            </a:r>
            <a:r>
              <a:rPr sz="1400" spc="-5" dirty="0">
                <a:latin typeface="Calibri"/>
                <a:cs typeface="Calibri"/>
              </a:rPr>
              <a:t>expression</a:t>
            </a:r>
            <a:r>
              <a:rPr sz="1400" spc="5" dirty="0">
                <a:latin typeface="Calibri"/>
                <a:cs typeface="Calibri"/>
              </a:rPr>
              <a:t> </a:t>
            </a:r>
            <a:r>
              <a:rPr sz="1400" spc="-10" dirty="0">
                <a:latin typeface="Calibri"/>
                <a:cs typeface="Calibri"/>
              </a:rPr>
              <a:t>by</a:t>
            </a:r>
            <a:r>
              <a:rPr sz="1400" spc="10" dirty="0">
                <a:latin typeface="Calibri"/>
                <a:cs typeface="Calibri"/>
              </a:rPr>
              <a:t> </a:t>
            </a:r>
            <a:r>
              <a:rPr sz="1400" spc="-5" dirty="0">
                <a:latin typeface="Calibri"/>
                <a:cs typeface="Calibri"/>
              </a:rPr>
              <a:t>the</a:t>
            </a:r>
            <a:r>
              <a:rPr sz="1400" spc="25" dirty="0">
                <a:latin typeface="Calibri"/>
                <a:cs typeface="Calibri"/>
              </a:rPr>
              <a:t> </a:t>
            </a:r>
            <a:r>
              <a:rPr sz="1400" spc="-10" dirty="0">
                <a:latin typeface="Calibri"/>
                <a:cs typeface="Calibri"/>
              </a:rPr>
              <a:t>provider</a:t>
            </a:r>
            <a:r>
              <a:rPr sz="1400" spc="5" dirty="0">
                <a:latin typeface="Calibri"/>
                <a:cs typeface="Calibri"/>
              </a:rPr>
              <a:t> </a:t>
            </a:r>
            <a:r>
              <a:rPr sz="1400" spc="-5" dirty="0">
                <a:latin typeface="Calibri"/>
                <a:cs typeface="Calibri"/>
              </a:rPr>
              <a:t>of</a:t>
            </a:r>
            <a:r>
              <a:rPr sz="1400" spc="-10" dirty="0">
                <a:latin typeface="Calibri"/>
                <a:cs typeface="Calibri"/>
              </a:rPr>
              <a:t> </a:t>
            </a:r>
            <a:r>
              <a:rPr sz="1400" spc="-5" dirty="0">
                <a:latin typeface="Calibri"/>
                <a:cs typeface="Calibri"/>
              </a:rPr>
              <a:t>the</a:t>
            </a:r>
            <a:r>
              <a:rPr sz="1400" spc="10" dirty="0">
                <a:latin typeface="Calibri"/>
                <a:cs typeface="Calibri"/>
              </a:rPr>
              <a:t> </a:t>
            </a:r>
            <a:r>
              <a:rPr sz="1400" spc="-5" dirty="0">
                <a:latin typeface="Calibri"/>
                <a:cs typeface="Calibri"/>
              </a:rPr>
              <a:t>costs</a:t>
            </a:r>
            <a:r>
              <a:rPr sz="1400" spc="-10" dirty="0">
                <a:latin typeface="Calibri"/>
                <a:cs typeface="Calibri"/>
              </a:rPr>
              <a:t> </a:t>
            </a:r>
            <a:r>
              <a:rPr sz="1400" spc="-5" dirty="0">
                <a:latin typeface="Calibri"/>
                <a:cs typeface="Calibri"/>
              </a:rPr>
              <a:t>of</a:t>
            </a:r>
            <a:r>
              <a:rPr sz="1400" spc="15" dirty="0">
                <a:latin typeface="Calibri"/>
                <a:cs typeface="Calibri"/>
              </a:rPr>
              <a:t> </a:t>
            </a:r>
            <a:r>
              <a:rPr sz="1400" spc="-5" dirty="0">
                <a:latin typeface="Calibri"/>
                <a:cs typeface="Calibri"/>
              </a:rPr>
              <a:t>provision</a:t>
            </a:r>
            <a:r>
              <a:rPr sz="1400" spc="5" dirty="0">
                <a:latin typeface="Calibri"/>
                <a:cs typeface="Calibri"/>
              </a:rPr>
              <a:t> </a:t>
            </a:r>
            <a:r>
              <a:rPr sz="1400" spc="-5" dirty="0">
                <a:latin typeface="Calibri"/>
                <a:cs typeface="Calibri"/>
              </a:rPr>
              <a:t>of the</a:t>
            </a:r>
            <a:r>
              <a:rPr sz="1400" spc="10" dirty="0">
                <a:latin typeface="Calibri"/>
                <a:cs typeface="Calibri"/>
              </a:rPr>
              <a:t> </a:t>
            </a:r>
            <a:r>
              <a:rPr sz="1400" spc="-10" dirty="0">
                <a:latin typeface="Calibri"/>
                <a:cs typeface="Calibri"/>
              </a:rPr>
              <a:t>resources</a:t>
            </a:r>
            <a:r>
              <a:rPr sz="1400" dirty="0">
                <a:latin typeface="Calibri"/>
                <a:cs typeface="Calibri"/>
              </a:rPr>
              <a:t> </a:t>
            </a:r>
            <a:r>
              <a:rPr sz="1400" spc="-5" dirty="0">
                <a:latin typeface="Calibri"/>
                <a:cs typeface="Calibri"/>
              </a:rPr>
              <a:t>and</a:t>
            </a:r>
            <a:r>
              <a:rPr sz="1400" spc="5" dirty="0">
                <a:latin typeface="Calibri"/>
                <a:cs typeface="Calibri"/>
              </a:rPr>
              <a:t> </a:t>
            </a:r>
            <a:r>
              <a:rPr sz="1400" dirty="0">
                <a:latin typeface="Calibri"/>
                <a:cs typeface="Calibri"/>
              </a:rPr>
              <a:t>a </a:t>
            </a:r>
            <a:r>
              <a:rPr sz="1400" spc="-300" dirty="0">
                <a:latin typeface="Calibri"/>
                <a:cs typeface="Calibri"/>
              </a:rPr>
              <a:t> </a:t>
            </a:r>
            <a:r>
              <a:rPr sz="1400" spc="-5" dirty="0">
                <a:latin typeface="Calibri"/>
                <a:cs typeface="Calibri"/>
              </a:rPr>
              <a:t>profit</a:t>
            </a:r>
            <a:r>
              <a:rPr sz="1400" spc="-10" dirty="0">
                <a:latin typeface="Calibri"/>
                <a:cs typeface="Calibri"/>
              </a:rPr>
              <a:t> </a:t>
            </a:r>
            <a:r>
              <a:rPr sz="1400" spc="-5" dirty="0">
                <a:latin typeface="Calibri"/>
                <a:cs typeface="Calibri"/>
              </a:rPr>
              <a:t>margin</a:t>
            </a:r>
            <a:endParaRPr sz="1400" dirty="0">
              <a:latin typeface="Calibri"/>
              <a:cs typeface="Calibri"/>
            </a:endParaRPr>
          </a:p>
        </p:txBody>
      </p:sp>
      <p:sp>
        <p:nvSpPr>
          <p:cNvPr id="5" name="Footer Placeholder 4">
            <a:extLst>
              <a:ext uri="{FF2B5EF4-FFF2-40B4-BE49-F238E27FC236}">
                <a16:creationId xmlns:a16="http://schemas.microsoft.com/office/drawing/2014/main" id="{2710D1BE-34DE-F8C1-82DD-9D84D26B0F58}"/>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0" y="542851"/>
            <a:ext cx="4490085" cy="382797"/>
          </a:xfrm>
          <a:prstGeom prst="rect">
            <a:avLst/>
          </a:prstGeom>
        </p:spPr>
        <p:txBody>
          <a:bodyPr vert="horz" wrap="square" lIns="0" tIns="13335" rIns="0" bIns="0" rtlCol="0">
            <a:spAutoFit/>
          </a:bodyPr>
          <a:lstStyle/>
          <a:p>
            <a:pPr marL="12700" algn="ctr">
              <a:lnSpc>
                <a:spcPct val="100000"/>
              </a:lnSpc>
              <a:spcBef>
                <a:spcPts val="105"/>
              </a:spcBef>
            </a:pPr>
            <a:r>
              <a:rPr sz="2400" b="1" spc="-10" dirty="0">
                <a:solidFill>
                  <a:srgbClr val="000000"/>
                </a:solidFill>
              </a:rPr>
              <a:t>Risks</a:t>
            </a:r>
            <a:r>
              <a:rPr sz="2400" b="1" spc="-35" dirty="0">
                <a:solidFill>
                  <a:srgbClr val="000000"/>
                </a:solidFill>
              </a:rPr>
              <a:t> </a:t>
            </a:r>
            <a:r>
              <a:rPr sz="2400" b="1" dirty="0">
                <a:solidFill>
                  <a:srgbClr val="000000"/>
                </a:solidFill>
              </a:rPr>
              <a:t>in</a:t>
            </a:r>
            <a:r>
              <a:rPr sz="2400" b="1" spc="-15" dirty="0">
                <a:solidFill>
                  <a:srgbClr val="000000"/>
                </a:solidFill>
              </a:rPr>
              <a:t> </a:t>
            </a:r>
            <a:r>
              <a:rPr sz="2400" b="1" dirty="0">
                <a:solidFill>
                  <a:srgbClr val="000000"/>
                </a:solidFill>
              </a:rPr>
              <a:t>a</a:t>
            </a:r>
            <a:r>
              <a:rPr sz="2400" b="1" spc="-15" dirty="0">
                <a:solidFill>
                  <a:srgbClr val="000000"/>
                </a:solidFill>
              </a:rPr>
              <a:t> </a:t>
            </a:r>
            <a:r>
              <a:rPr sz="2400" b="1" dirty="0">
                <a:solidFill>
                  <a:srgbClr val="000000"/>
                </a:solidFill>
              </a:rPr>
              <a:t>UC</a:t>
            </a:r>
            <a:r>
              <a:rPr sz="2400" b="1" spc="-15" dirty="0">
                <a:solidFill>
                  <a:srgbClr val="000000"/>
                </a:solidFill>
              </a:rPr>
              <a:t> </a:t>
            </a:r>
            <a:r>
              <a:rPr sz="2400" b="1" spc="-35" dirty="0">
                <a:solidFill>
                  <a:srgbClr val="000000"/>
                </a:solidFill>
              </a:rPr>
              <a:t>World</a:t>
            </a:r>
            <a:endParaRPr sz="2400" b="1" dirty="0"/>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28</a:t>
            </a:r>
          </a:p>
        </p:txBody>
      </p:sp>
      <p:sp>
        <p:nvSpPr>
          <p:cNvPr id="3" name="object 3"/>
          <p:cNvSpPr txBox="1"/>
          <p:nvPr/>
        </p:nvSpPr>
        <p:spPr>
          <a:xfrm>
            <a:off x="604217" y="1252880"/>
            <a:ext cx="3737610" cy="2037714"/>
          </a:xfrm>
          <a:prstGeom prst="rect">
            <a:avLst/>
          </a:prstGeom>
        </p:spPr>
        <p:txBody>
          <a:bodyPr vert="horz" wrap="square" lIns="0" tIns="79375" rIns="0" bIns="0" rtlCol="0">
            <a:spAutoFit/>
          </a:bodyPr>
          <a:lstStyle/>
          <a:p>
            <a:pPr marL="195580" indent="-182880">
              <a:lnSpc>
                <a:spcPct val="100000"/>
              </a:lnSpc>
              <a:spcBef>
                <a:spcPts val="625"/>
              </a:spcBef>
              <a:buClr>
                <a:srgbClr val="4F80BC"/>
              </a:buClr>
              <a:buSzPct val="84090"/>
              <a:buFont typeface="Arial MT"/>
              <a:buChar char="•"/>
              <a:tabLst>
                <a:tab pos="195580" algn="l"/>
              </a:tabLst>
            </a:pPr>
            <a:r>
              <a:rPr sz="2200" spc="-20" dirty="0">
                <a:latin typeface="Calibri"/>
                <a:cs typeface="Calibri"/>
              </a:rPr>
              <a:t>Data</a:t>
            </a:r>
            <a:r>
              <a:rPr sz="2200" spc="-35" dirty="0">
                <a:latin typeface="Calibri"/>
                <a:cs typeface="Calibri"/>
              </a:rPr>
              <a:t> </a:t>
            </a:r>
            <a:r>
              <a:rPr sz="2200" spc="-10" dirty="0">
                <a:latin typeface="Calibri"/>
                <a:cs typeface="Calibri"/>
              </a:rPr>
              <a:t>Backup</a:t>
            </a:r>
            <a:endParaRPr sz="2200">
              <a:latin typeface="Calibri"/>
              <a:cs typeface="Calibri"/>
            </a:endParaRPr>
          </a:p>
          <a:p>
            <a:pPr marL="195580" indent="-182880">
              <a:lnSpc>
                <a:spcPct val="100000"/>
              </a:lnSpc>
              <a:spcBef>
                <a:spcPts val="530"/>
              </a:spcBef>
              <a:buClr>
                <a:srgbClr val="4F80BC"/>
              </a:buClr>
              <a:buSzPct val="84090"/>
              <a:buFont typeface="Arial MT"/>
              <a:buChar char="•"/>
              <a:tabLst>
                <a:tab pos="195580" algn="l"/>
              </a:tabLst>
            </a:pPr>
            <a:r>
              <a:rPr sz="2200" spc="-20" dirty="0">
                <a:latin typeface="Calibri"/>
                <a:cs typeface="Calibri"/>
              </a:rPr>
              <a:t>Data</a:t>
            </a:r>
            <a:r>
              <a:rPr sz="2200" spc="-25" dirty="0">
                <a:latin typeface="Calibri"/>
                <a:cs typeface="Calibri"/>
              </a:rPr>
              <a:t> </a:t>
            </a:r>
            <a:r>
              <a:rPr sz="2200" spc="-10" dirty="0">
                <a:latin typeface="Calibri"/>
                <a:cs typeface="Calibri"/>
              </a:rPr>
              <a:t>Security</a:t>
            </a:r>
            <a:endParaRPr sz="2200">
              <a:latin typeface="Calibri"/>
              <a:cs typeface="Calibri"/>
            </a:endParaRPr>
          </a:p>
          <a:p>
            <a:pPr marL="195580" indent="-182880">
              <a:lnSpc>
                <a:spcPct val="100000"/>
              </a:lnSpc>
              <a:spcBef>
                <a:spcPts val="530"/>
              </a:spcBef>
              <a:buClr>
                <a:srgbClr val="4F80BC"/>
              </a:buClr>
              <a:buSzPct val="84090"/>
              <a:buFont typeface="Arial MT"/>
              <a:buChar char="•"/>
              <a:tabLst>
                <a:tab pos="195580" algn="l"/>
              </a:tabLst>
            </a:pPr>
            <a:r>
              <a:rPr sz="2200" spc="-10" dirty="0">
                <a:latin typeface="Calibri"/>
                <a:cs typeface="Calibri"/>
              </a:rPr>
              <a:t>Partner</a:t>
            </a:r>
            <a:r>
              <a:rPr sz="2200" spc="-30" dirty="0">
                <a:latin typeface="Calibri"/>
                <a:cs typeface="Calibri"/>
              </a:rPr>
              <a:t> </a:t>
            </a:r>
            <a:r>
              <a:rPr sz="2200" spc="-10" dirty="0">
                <a:latin typeface="Calibri"/>
                <a:cs typeface="Calibri"/>
              </a:rPr>
              <a:t>Competency</a:t>
            </a:r>
            <a:endParaRPr sz="2200">
              <a:latin typeface="Calibri"/>
              <a:cs typeface="Calibri"/>
            </a:endParaRPr>
          </a:p>
          <a:p>
            <a:pPr marL="195580" indent="-182880">
              <a:lnSpc>
                <a:spcPct val="100000"/>
              </a:lnSpc>
              <a:spcBef>
                <a:spcPts val="530"/>
              </a:spcBef>
              <a:buClr>
                <a:srgbClr val="4F80BC"/>
              </a:buClr>
              <a:buSzPct val="84090"/>
              <a:buFont typeface="Arial MT"/>
              <a:buChar char="•"/>
              <a:tabLst>
                <a:tab pos="195580" algn="l"/>
              </a:tabLst>
            </a:pPr>
            <a:r>
              <a:rPr sz="2200" spc="-10" dirty="0">
                <a:latin typeface="Calibri"/>
                <a:cs typeface="Calibri"/>
              </a:rPr>
              <a:t>Defining</a:t>
            </a:r>
            <a:r>
              <a:rPr sz="2200" spc="-40" dirty="0">
                <a:latin typeface="Calibri"/>
                <a:cs typeface="Calibri"/>
              </a:rPr>
              <a:t> </a:t>
            </a:r>
            <a:r>
              <a:rPr sz="2200" spc="-10" dirty="0">
                <a:latin typeface="Calibri"/>
                <a:cs typeface="Calibri"/>
              </a:rPr>
              <a:t>SLA</a:t>
            </a:r>
            <a:endParaRPr sz="2200">
              <a:latin typeface="Calibri"/>
              <a:cs typeface="Calibri"/>
            </a:endParaRPr>
          </a:p>
          <a:p>
            <a:pPr marL="195580" indent="-182880">
              <a:lnSpc>
                <a:spcPct val="100000"/>
              </a:lnSpc>
              <a:spcBef>
                <a:spcPts val="525"/>
              </a:spcBef>
              <a:buClr>
                <a:srgbClr val="4F80BC"/>
              </a:buClr>
              <a:buSzPct val="84090"/>
              <a:buFont typeface="Arial MT"/>
              <a:buChar char="•"/>
              <a:tabLst>
                <a:tab pos="195580" algn="l"/>
              </a:tabLst>
            </a:pPr>
            <a:r>
              <a:rPr sz="2200" spc="-15" dirty="0">
                <a:latin typeface="Calibri"/>
                <a:cs typeface="Calibri"/>
              </a:rPr>
              <a:t>Getting</a:t>
            </a:r>
            <a:r>
              <a:rPr sz="2200" spc="10" dirty="0">
                <a:latin typeface="Calibri"/>
                <a:cs typeface="Calibri"/>
              </a:rPr>
              <a:t> </a:t>
            </a:r>
            <a:r>
              <a:rPr sz="2200" spc="-10" dirty="0">
                <a:latin typeface="Calibri"/>
                <a:cs typeface="Calibri"/>
              </a:rPr>
              <a:t>value</a:t>
            </a:r>
            <a:r>
              <a:rPr sz="2200" spc="-15" dirty="0">
                <a:latin typeface="Calibri"/>
                <a:cs typeface="Calibri"/>
              </a:rPr>
              <a:t> from</a:t>
            </a:r>
            <a:r>
              <a:rPr sz="2200" spc="-5" dirty="0">
                <a:latin typeface="Calibri"/>
                <a:cs typeface="Calibri"/>
              </a:rPr>
              <a:t> </a:t>
            </a:r>
            <a:r>
              <a:rPr sz="2200" spc="-15" dirty="0">
                <a:latin typeface="Calibri"/>
                <a:cs typeface="Calibri"/>
              </a:rPr>
              <a:t>charge</a:t>
            </a:r>
            <a:r>
              <a:rPr sz="2200" spc="-10" dirty="0">
                <a:latin typeface="Calibri"/>
                <a:cs typeface="Calibri"/>
              </a:rPr>
              <a:t> </a:t>
            </a:r>
            <a:r>
              <a:rPr sz="2200" spc="-5" dirty="0">
                <a:latin typeface="Calibri"/>
                <a:cs typeface="Calibri"/>
              </a:rPr>
              <a:t>back</a:t>
            </a:r>
            <a:endParaRPr sz="2200">
              <a:latin typeface="Calibri"/>
              <a:cs typeface="Calibri"/>
            </a:endParaRPr>
          </a:p>
        </p:txBody>
      </p:sp>
      <p:sp>
        <p:nvSpPr>
          <p:cNvPr id="5" name="Footer Placeholder 4">
            <a:extLst>
              <a:ext uri="{FF2B5EF4-FFF2-40B4-BE49-F238E27FC236}">
                <a16:creationId xmlns:a16="http://schemas.microsoft.com/office/drawing/2014/main" id="{39E16C68-5008-8C1B-20DD-EF1F15EBD6C8}"/>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791279" cy="530631"/>
          </a:xfrm>
        </p:spPr>
        <p:txBody>
          <a:bodyPr>
            <a:normAutofit/>
          </a:bodyPr>
          <a:lstStyle/>
          <a:p>
            <a:pPr algn="ctr"/>
            <a:r>
              <a:rPr lang="en-IN" sz="2400" b="1" kern="0" dirty="0"/>
              <a:t>Summary</a:t>
            </a:r>
            <a:endParaRPr lang="en-IN" sz="24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nSpc>
                <a:spcPct val="150000"/>
              </a:lnSpc>
              <a:buBlip>
                <a:blip r:embed="rId2"/>
              </a:buBlip>
            </a:pPr>
            <a:r>
              <a:rPr lang="en-US" sz="1800" dirty="0"/>
              <a:t>Utility computing has revolutionized how organizations access and manage IT resources, offering significant flexibility, scalability, and cost benefits.</a:t>
            </a:r>
          </a:p>
          <a:p>
            <a:pPr>
              <a:lnSpc>
                <a:spcPct val="150000"/>
              </a:lnSpc>
              <a:buBlip>
                <a:blip r:embed="rId2"/>
              </a:buBlip>
            </a:pPr>
            <a:r>
              <a:rPr lang="en-US" sz="1800" dirty="0"/>
              <a:t> As technology continues to evolve, the model will adapt to incorporate newer innovations like edge and quantum computing, making it a cornerstone of modern IT infrastructure. </a:t>
            </a:r>
          </a:p>
          <a:p>
            <a:pPr>
              <a:lnSpc>
                <a:spcPct val="150000"/>
              </a:lnSpc>
              <a:buBlip>
                <a:blip r:embed="rId2"/>
              </a:buBlip>
            </a:pPr>
            <a:r>
              <a:rPr lang="en-US" sz="1800" dirty="0"/>
              <a:t>However, challenges related to security, reliability, and vendor lock-in must be carefully considered as businesses continue to embrace utility computing solutions.</a:t>
            </a:r>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17</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r>
              <a:rPr lang="en-IN" sz="2400" b="1" kern="0" dirty="0"/>
              <a:t>References</a:t>
            </a:r>
            <a:endParaRPr lang="en-IN" sz="24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18</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19</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TotalTime>
  <Words>1422</Words>
  <Application>Microsoft Office PowerPoint</Application>
  <PresentationFormat>On-screen Show (16:9)</PresentationFormat>
  <Paragraphs>185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“Utility” Computing ?</vt:lpstr>
      <vt:lpstr>“Utility” Computing ?</vt:lpstr>
      <vt:lpstr>“Utility” Computing ?</vt:lpstr>
      <vt:lpstr>Utility Computing Example</vt:lpstr>
      <vt:lpstr>Utility Solution – Your Perspective</vt:lpstr>
      <vt:lpstr>Utility Computing Payment Models</vt:lpstr>
      <vt:lpstr>Risks in a UC World</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9</cp:revision>
  <dcterms:created xsi:type="dcterms:W3CDTF">2024-12-06T17:10:37Z</dcterms:created>
  <dcterms:modified xsi:type="dcterms:W3CDTF">2024-12-08T15:14:12Z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