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5143500" cx="9144000"/>
  <p:notesSz cx="9144000" cy="51435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32" roundtripDataSignature="AMtx7mjJ1zimjnCkCVJsXeH/xc2VX7Zl+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9E9F78E-DB5C-43BE-81AA-82F7D45DABD9}">
  <a:tblStyle styleId="{89E9F78E-DB5C-43BE-81AA-82F7D45DABD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32"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2571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257175"/>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4886325"/>
            <a:ext cx="3962400" cy="257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4886325"/>
            <a:ext cx="3962400" cy="25717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2: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3: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4: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5: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6: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6: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7: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7: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8: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8: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9: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9: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0: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0: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1: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1: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2: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2: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3: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3: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4: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4: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5: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5: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6: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6: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7: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17: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8: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18: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9: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9: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0: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20: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1: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21: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2: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22: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3: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23: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4: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24: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5: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25: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27"/>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3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7"/>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9" name="Google Shape;19;p27"/>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7"/>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marR="0" algn="r">
              <a:lnSpc>
                <a:spcPct val="137777"/>
              </a:lnSpc>
              <a:spcBef>
                <a:spcPts val="0"/>
              </a:spcBef>
              <a:buNone/>
              <a:defRPr b="0" i="0" sz="900" u="none" cap="none" strike="noStrike">
                <a:solidFill>
                  <a:srgbClr val="888888"/>
                </a:solidFill>
                <a:latin typeface="Calibri"/>
                <a:ea typeface="Calibri"/>
                <a:cs typeface="Calibri"/>
                <a:sym typeface="Calibri"/>
              </a:defRPr>
            </a:lvl1pPr>
            <a:lvl2pPr indent="0" lvl="1" marL="38100" marR="0" algn="r">
              <a:lnSpc>
                <a:spcPct val="137777"/>
              </a:lnSpc>
              <a:spcBef>
                <a:spcPts val="0"/>
              </a:spcBef>
              <a:buNone/>
              <a:defRPr b="0" i="0" sz="900" u="none" cap="none" strike="noStrike">
                <a:solidFill>
                  <a:srgbClr val="888888"/>
                </a:solidFill>
                <a:latin typeface="Calibri"/>
                <a:ea typeface="Calibri"/>
                <a:cs typeface="Calibri"/>
                <a:sym typeface="Calibri"/>
              </a:defRPr>
            </a:lvl2pPr>
            <a:lvl3pPr indent="0" lvl="2" marL="38100" marR="0" algn="r">
              <a:lnSpc>
                <a:spcPct val="137777"/>
              </a:lnSpc>
              <a:spcBef>
                <a:spcPts val="0"/>
              </a:spcBef>
              <a:buNone/>
              <a:defRPr b="0" i="0" sz="900" u="none" cap="none" strike="noStrike">
                <a:solidFill>
                  <a:srgbClr val="888888"/>
                </a:solidFill>
                <a:latin typeface="Calibri"/>
                <a:ea typeface="Calibri"/>
                <a:cs typeface="Calibri"/>
                <a:sym typeface="Calibri"/>
              </a:defRPr>
            </a:lvl3pPr>
            <a:lvl4pPr indent="0" lvl="3" marL="38100" marR="0" algn="r">
              <a:lnSpc>
                <a:spcPct val="137777"/>
              </a:lnSpc>
              <a:spcBef>
                <a:spcPts val="0"/>
              </a:spcBef>
              <a:buNone/>
              <a:defRPr b="0" i="0" sz="900" u="none" cap="none" strike="noStrike">
                <a:solidFill>
                  <a:srgbClr val="888888"/>
                </a:solidFill>
                <a:latin typeface="Calibri"/>
                <a:ea typeface="Calibri"/>
                <a:cs typeface="Calibri"/>
                <a:sym typeface="Calibri"/>
              </a:defRPr>
            </a:lvl4pPr>
            <a:lvl5pPr indent="0" lvl="4" marL="38100" marR="0" algn="r">
              <a:lnSpc>
                <a:spcPct val="137777"/>
              </a:lnSpc>
              <a:spcBef>
                <a:spcPts val="0"/>
              </a:spcBef>
              <a:buNone/>
              <a:defRPr b="0" i="0" sz="900" u="none" cap="none" strike="noStrike">
                <a:solidFill>
                  <a:srgbClr val="888888"/>
                </a:solidFill>
                <a:latin typeface="Calibri"/>
                <a:ea typeface="Calibri"/>
                <a:cs typeface="Calibri"/>
                <a:sym typeface="Calibri"/>
              </a:defRPr>
            </a:lvl5pPr>
            <a:lvl6pPr indent="0" lvl="5" marL="38100" marR="0" algn="r">
              <a:lnSpc>
                <a:spcPct val="137777"/>
              </a:lnSpc>
              <a:spcBef>
                <a:spcPts val="0"/>
              </a:spcBef>
              <a:buNone/>
              <a:defRPr b="0" i="0" sz="900" u="none" cap="none" strike="noStrike">
                <a:solidFill>
                  <a:srgbClr val="888888"/>
                </a:solidFill>
                <a:latin typeface="Calibri"/>
                <a:ea typeface="Calibri"/>
                <a:cs typeface="Calibri"/>
                <a:sym typeface="Calibri"/>
              </a:defRPr>
            </a:lvl6pPr>
            <a:lvl7pPr indent="0" lvl="6" marL="38100" marR="0" algn="r">
              <a:lnSpc>
                <a:spcPct val="137777"/>
              </a:lnSpc>
              <a:spcBef>
                <a:spcPts val="0"/>
              </a:spcBef>
              <a:buNone/>
              <a:defRPr b="0" i="0" sz="900" u="none" cap="none" strike="noStrike">
                <a:solidFill>
                  <a:srgbClr val="888888"/>
                </a:solidFill>
                <a:latin typeface="Calibri"/>
                <a:ea typeface="Calibri"/>
                <a:cs typeface="Calibri"/>
                <a:sym typeface="Calibri"/>
              </a:defRPr>
            </a:lvl7pPr>
            <a:lvl8pPr indent="0" lvl="7" marL="38100" marR="0" algn="r">
              <a:lnSpc>
                <a:spcPct val="137777"/>
              </a:lnSpc>
              <a:spcBef>
                <a:spcPts val="0"/>
              </a:spcBef>
              <a:buNone/>
              <a:defRPr b="0" i="0" sz="900" u="none" cap="none" strike="noStrike">
                <a:solidFill>
                  <a:srgbClr val="888888"/>
                </a:solidFill>
                <a:latin typeface="Calibri"/>
                <a:ea typeface="Calibri"/>
                <a:cs typeface="Calibri"/>
                <a:sym typeface="Calibri"/>
              </a:defRPr>
            </a:lvl8pPr>
            <a:lvl9pPr indent="0" lvl="8" marL="38100" marR="0" algn="r">
              <a:lnSpc>
                <a:spcPct val="137777"/>
              </a:lnSpc>
              <a:spcBef>
                <a:spcPts val="0"/>
              </a:spcBef>
              <a:buNone/>
              <a:defRPr b="0" i="0" sz="900" u="none" cap="none" strike="noStrike">
                <a:solidFill>
                  <a:srgbClr val="888888"/>
                </a:solidFill>
                <a:latin typeface="Calibri"/>
                <a:ea typeface="Calibri"/>
                <a:cs typeface="Calibri"/>
                <a:sym typeface="Calibri"/>
              </a:defRPr>
            </a:lvl9pPr>
          </a:lstStyle>
          <a:p>
            <a:pPr indent="0" lvl="0" marL="38100" rtl="0" algn="r">
              <a:spcBef>
                <a:spcPts val="0"/>
              </a:spcBef>
              <a:spcAft>
                <a:spcPts val="0"/>
              </a:spcAft>
              <a:buNone/>
            </a:pPr>
            <a:r>
              <a:rPr lang="en-US"/>
              <a:t>12</a:t>
            </a:r>
            <a:endParaRPr/>
          </a:p>
        </p:txBody>
      </p:sp>
      <p:pic>
        <p:nvPicPr>
          <p:cNvPr id="21" name="Google Shape;21;p27"/>
          <p:cNvPicPr preferRelativeResize="0"/>
          <p:nvPr/>
        </p:nvPicPr>
        <p:blipFill rotWithShape="1">
          <a:blip r:embed="rId2">
            <a:alphaModFix/>
          </a:blip>
          <a:srcRect b="0" l="0" r="0" t="0"/>
          <a:stretch/>
        </p:blipFill>
        <p:spPr>
          <a:xfrm>
            <a:off x="112575" y="70037"/>
            <a:ext cx="2564258" cy="718788"/>
          </a:xfrm>
          <a:prstGeom prst="rect">
            <a:avLst/>
          </a:prstGeom>
          <a:noFill/>
          <a:ln>
            <a:noFill/>
          </a:ln>
        </p:spPr>
      </p:pic>
      <p:pic>
        <p:nvPicPr>
          <p:cNvPr id="22" name="Google Shape;22;p27"/>
          <p:cNvPicPr preferRelativeResize="0"/>
          <p:nvPr/>
        </p:nvPicPr>
        <p:blipFill rotWithShape="1">
          <a:blip r:embed="rId3">
            <a:alphaModFix/>
          </a:blip>
          <a:srcRect b="0" l="0" r="0" t="0"/>
          <a:stretch/>
        </p:blipFill>
        <p:spPr>
          <a:xfrm>
            <a:off x="7290715" y="72947"/>
            <a:ext cx="1782539" cy="53063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3" name="Shape 23"/>
        <p:cNvGrpSpPr/>
        <p:nvPr/>
      </p:nvGrpSpPr>
      <p:grpSpPr>
        <a:xfrm>
          <a:off x="0" y="0"/>
          <a:ext cx="0" cy="0"/>
          <a:chOff x="0" y="0"/>
          <a:chExt cx="0" cy="0"/>
        </a:xfrm>
      </p:grpSpPr>
      <p:sp>
        <p:nvSpPr>
          <p:cNvPr id="24" name="Google Shape;24;p28"/>
          <p:cNvSpPr txBox="1"/>
          <p:nvPr>
            <p:ph type="ctrTitle"/>
          </p:nvPr>
        </p:nvSpPr>
        <p:spPr>
          <a:xfrm>
            <a:off x="1143000" y="841772"/>
            <a:ext cx="6858000" cy="1790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8"/>
          <p:cNvSpPr txBox="1"/>
          <p:nvPr>
            <p:ph idx="1" type="subTitle"/>
          </p:nvPr>
        </p:nvSpPr>
        <p:spPr>
          <a:xfrm>
            <a:off x="1143000" y="2701528"/>
            <a:ext cx="6858000" cy="124182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26" name="Google Shape;26;p28"/>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7" name="Google Shape;27;p28"/>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8"/>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29"/>
          <p:cNvSpPr txBox="1"/>
          <p:nvPr>
            <p:ph type="title"/>
          </p:nvPr>
        </p:nvSpPr>
        <p:spPr>
          <a:xfrm>
            <a:off x="623888" y="1282304"/>
            <a:ext cx="7886700" cy="21395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9"/>
          <p:cNvSpPr txBox="1"/>
          <p:nvPr>
            <p:ph idx="1" type="body"/>
          </p:nvPr>
        </p:nvSpPr>
        <p:spPr>
          <a:xfrm>
            <a:off x="623888" y="3442098"/>
            <a:ext cx="7886700" cy="112514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32" name="Google Shape;32;p29"/>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9"/>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30"/>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30"/>
          <p:cNvSpPr txBox="1"/>
          <p:nvPr>
            <p:ph idx="1" type="body"/>
          </p:nvPr>
        </p:nvSpPr>
        <p:spPr>
          <a:xfrm>
            <a:off x="628650" y="1369219"/>
            <a:ext cx="38862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7" name="Google Shape;37;p30"/>
          <p:cNvSpPr txBox="1"/>
          <p:nvPr>
            <p:ph idx="2" type="body"/>
          </p:nvPr>
        </p:nvSpPr>
        <p:spPr>
          <a:xfrm>
            <a:off x="4629150" y="1369219"/>
            <a:ext cx="38862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8" name="Google Shape;38;p30"/>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30"/>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30"/>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31"/>
          <p:cNvSpPr txBox="1"/>
          <p:nvPr>
            <p:ph type="title"/>
          </p:nvPr>
        </p:nvSpPr>
        <p:spPr>
          <a:xfrm>
            <a:off x="629841"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31"/>
          <p:cNvSpPr txBox="1"/>
          <p:nvPr>
            <p:ph idx="1" type="body"/>
          </p:nvPr>
        </p:nvSpPr>
        <p:spPr>
          <a:xfrm>
            <a:off x="629842" y="1260872"/>
            <a:ext cx="3868340" cy="6179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4" name="Google Shape;44;p31"/>
          <p:cNvSpPr txBox="1"/>
          <p:nvPr>
            <p:ph idx="2" type="body"/>
          </p:nvPr>
        </p:nvSpPr>
        <p:spPr>
          <a:xfrm>
            <a:off x="629842" y="1878806"/>
            <a:ext cx="3868340" cy="276344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5" name="Google Shape;45;p31"/>
          <p:cNvSpPr txBox="1"/>
          <p:nvPr>
            <p:ph idx="3" type="body"/>
          </p:nvPr>
        </p:nvSpPr>
        <p:spPr>
          <a:xfrm>
            <a:off x="4629150" y="1260872"/>
            <a:ext cx="3887391" cy="6179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6" name="Google Shape;46;p31"/>
          <p:cNvSpPr txBox="1"/>
          <p:nvPr>
            <p:ph idx="4" type="body"/>
          </p:nvPr>
        </p:nvSpPr>
        <p:spPr>
          <a:xfrm>
            <a:off x="4629150" y="1878806"/>
            <a:ext cx="3887391" cy="276344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7" name="Google Shape;47;p31"/>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31"/>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32"/>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32"/>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3" name="Google Shape;53;p32"/>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2"/>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33"/>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7" name="Google Shape;57;p33"/>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33"/>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34"/>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34"/>
          <p:cNvSpPr txBox="1"/>
          <p:nvPr>
            <p:ph idx="1" type="body"/>
          </p:nvPr>
        </p:nvSpPr>
        <p:spPr>
          <a:xfrm>
            <a:off x="3887391" y="740569"/>
            <a:ext cx="4629150" cy="3655219"/>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2" name="Google Shape;62;p34"/>
          <p:cNvSpPr txBox="1"/>
          <p:nvPr>
            <p:ph idx="2" type="body"/>
          </p:nvPr>
        </p:nvSpPr>
        <p:spPr>
          <a:xfrm>
            <a:off x="629841" y="1543050"/>
            <a:ext cx="2949178" cy="285869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3" name="Google Shape;63;p34"/>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4" name="Google Shape;64;p34"/>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34"/>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35"/>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35"/>
          <p:cNvSpPr/>
          <p:nvPr>
            <p:ph idx="2" type="pic"/>
          </p:nvPr>
        </p:nvSpPr>
        <p:spPr>
          <a:xfrm>
            <a:off x="3887391" y="740569"/>
            <a:ext cx="4629150" cy="3655219"/>
          </a:xfrm>
          <a:prstGeom prst="rect">
            <a:avLst/>
          </a:prstGeom>
          <a:noFill/>
          <a:ln>
            <a:noFill/>
          </a:ln>
        </p:spPr>
      </p:sp>
      <p:sp>
        <p:nvSpPr>
          <p:cNvPr id="69" name="Google Shape;69;p35"/>
          <p:cNvSpPr txBox="1"/>
          <p:nvPr>
            <p:ph idx="1" type="body"/>
          </p:nvPr>
        </p:nvSpPr>
        <p:spPr>
          <a:xfrm>
            <a:off x="629841" y="1543050"/>
            <a:ext cx="2949178" cy="285869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70" name="Google Shape;70;p35"/>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1" name="Google Shape;71;p35"/>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5"/>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36"/>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36"/>
          <p:cNvSpPr txBox="1"/>
          <p:nvPr>
            <p:ph idx="1" type="body"/>
          </p:nvPr>
        </p:nvSpPr>
        <p:spPr>
          <a:xfrm rot="5400000">
            <a:off x="2940248" y="-942379"/>
            <a:ext cx="3263504"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6" name="Google Shape;76;p36"/>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36"/>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6"/>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37"/>
          <p:cNvSpPr txBox="1"/>
          <p:nvPr>
            <p:ph type="title"/>
          </p:nvPr>
        </p:nvSpPr>
        <p:spPr>
          <a:xfrm rot="5400000">
            <a:off x="5350073" y="1467446"/>
            <a:ext cx="4358879"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37"/>
          <p:cNvSpPr txBox="1"/>
          <p:nvPr>
            <p:ph idx="1" type="body"/>
          </p:nvPr>
        </p:nvSpPr>
        <p:spPr>
          <a:xfrm rot="5400000">
            <a:off x="1349573" y="-447079"/>
            <a:ext cx="4358879"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2" name="Google Shape;82;p37"/>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3" name="Google Shape;83;p37"/>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37"/>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4.jp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6"/>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26"/>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6"/>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1pPr>
            <a:lvl2pPr indent="0" lvl="1"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2pPr>
            <a:lvl3pPr indent="0" lvl="2"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3pPr>
            <a:lvl4pPr indent="0" lvl="3"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4pPr>
            <a:lvl5pPr indent="0" lvl="4"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5pPr>
            <a:lvl6pPr indent="0" lvl="5"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6pPr>
            <a:lvl7pPr indent="0" lvl="6"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7pPr>
            <a:lvl8pPr indent="0" lvl="7"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8pPr>
            <a:lvl9pPr indent="0" lvl="8"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9pPr>
          </a:lstStyle>
          <a:p>
            <a:pPr indent="0" lvl="0" marL="38100" rtl="0" algn="r">
              <a:spcBef>
                <a:spcPts val="0"/>
              </a:spcBef>
              <a:spcAft>
                <a:spcPts val="0"/>
              </a:spcAft>
              <a:buNone/>
            </a:pPr>
            <a:r>
              <a:rPr lang="en-US"/>
              <a:t>12</a:t>
            </a:r>
            <a:endParaRPr sz="1400">
              <a:solidFill>
                <a:srgbClr val="000000"/>
              </a:solidFill>
              <a:latin typeface="Arial"/>
              <a:ea typeface="Arial"/>
              <a:cs typeface="Arial"/>
              <a:sym typeface="Arial"/>
            </a:endParaRPr>
          </a:p>
        </p:txBody>
      </p:sp>
      <p:pic>
        <p:nvPicPr>
          <p:cNvPr id="14" name="Google Shape;14;p26"/>
          <p:cNvPicPr preferRelativeResize="0"/>
          <p:nvPr/>
        </p:nvPicPr>
        <p:blipFill rotWithShape="1">
          <a:blip r:embed="rId1">
            <a:alphaModFix/>
          </a:blip>
          <a:srcRect b="0" l="0" r="0" t="0"/>
          <a:stretch/>
        </p:blipFill>
        <p:spPr>
          <a:xfrm>
            <a:off x="112575" y="70037"/>
            <a:ext cx="2564258" cy="718788"/>
          </a:xfrm>
          <a:prstGeom prst="rect">
            <a:avLst/>
          </a:prstGeom>
          <a:noFill/>
          <a:ln>
            <a:noFill/>
          </a:ln>
        </p:spPr>
      </p:pic>
      <p:pic>
        <p:nvPicPr>
          <p:cNvPr id="15" name="Google Shape;15;p26"/>
          <p:cNvPicPr preferRelativeResize="0"/>
          <p:nvPr/>
        </p:nvPicPr>
        <p:blipFill rotWithShape="1">
          <a:blip r:embed="rId2">
            <a:alphaModFix/>
          </a:blip>
          <a:srcRect b="0" l="0" r="0" t="0"/>
          <a:stretch/>
        </p:blipFill>
        <p:spPr>
          <a:xfrm>
            <a:off x="7290715" y="72947"/>
            <a:ext cx="1782539" cy="53063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jp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jp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jp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jpg"/><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10"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hyperlink" Target="https://archive.org/details/cloudcomputingbi0000sosi" TargetMode="External"/><Relationship Id="rId4" Type="http://schemas.openxmlformats.org/officeDocument/2006/relationships/hyperlink" Target="https://www.youtube.com/@cloudcomputing351/videos" TargetMode="External"/><Relationship Id="rId9" Type="http://schemas.openxmlformats.org/officeDocument/2006/relationships/image" Target="../media/image4.jpg"/><Relationship Id="rId5" Type="http://schemas.openxmlformats.org/officeDocument/2006/relationships/hyperlink" Target="https://www.geeksforgeeks.org/cloud-computing/" TargetMode="External"/><Relationship Id="rId6" Type="http://schemas.openxmlformats.org/officeDocument/2006/relationships/hyperlink" Target="https://www.tutorialspoint.com/cloud_computing/index.htm" TargetMode="External"/><Relationship Id="rId7" Type="http://schemas.openxmlformats.org/officeDocument/2006/relationships/hyperlink" Target="https://nptel.ac.in/courses/106105167" TargetMode="External"/><Relationship Id="rId8" Type="http://schemas.openxmlformats.org/officeDocument/2006/relationships/hyperlink" Target="https://www.edx.org/learn/cloud-computing"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jp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nvSpPr>
        <p:spPr>
          <a:xfrm>
            <a:off x="6572250" y="4881563"/>
            <a:ext cx="2057400" cy="273844"/>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r>
              <a:t/>
            </a:r>
            <a:endParaRPr b="0" i="0" sz="900" u="none" cap="none" strike="noStrike">
              <a:solidFill>
                <a:srgbClr val="888888"/>
              </a:solidFill>
              <a:latin typeface="Calibri"/>
              <a:ea typeface="Calibri"/>
              <a:cs typeface="Calibri"/>
              <a:sym typeface="Calibri"/>
            </a:endParaRPr>
          </a:p>
        </p:txBody>
      </p:sp>
      <p:sp>
        <p:nvSpPr>
          <p:cNvPr id="90" name="Google Shape;90;p1"/>
          <p:cNvSpPr/>
          <p:nvPr/>
        </p:nvSpPr>
        <p:spPr>
          <a:xfrm flipH="1" rot="10800000">
            <a:off x="7130143" y="4454910"/>
            <a:ext cx="968829" cy="868205"/>
          </a:xfrm>
          <a:prstGeom prst="rtTriangle">
            <a:avLst/>
          </a:prstGeom>
          <a:solidFill>
            <a:srgbClr val="F2F2F2">
              <a:alpha val="16862"/>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rgbClr val="FFFFFF"/>
              </a:solidFill>
              <a:latin typeface="Calibri"/>
              <a:ea typeface="Calibri"/>
              <a:cs typeface="Calibri"/>
              <a:sym typeface="Calibri"/>
            </a:endParaRPr>
          </a:p>
        </p:txBody>
      </p:sp>
      <p:sp>
        <p:nvSpPr>
          <p:cNvPr id="91" name="Google Shape;91;p1"/>
          <p:cNvSpPr/>
          <p:nvPr/>
        </p:nvSpPr>
        <p:spPr>
          <a:xfrm>
            <a:off x="1593056" y="1519144"/>
            <a:ext cx="5122069" cy="1185509"/>
          </a:xfrm>
          <a:prstGeom prst="rect">
            <a:avLst/>
          </a:prstGeom>
          <a:gradFill>
            <a:gsLst>
              <a:gs pos="0">
                <a:srgbClr val="FFFFFF">
                  <a:alpha val="0"/>
                </a:srgbClr>
              </a:gs>
              <a:gs pos="2655">
                <a:srgbClr val="FFFFFF">
                  <a:alpha val="0"/>
                </a:srgbClr>
              </a:gs>
              <a:gs pos="15000">
                <a:srgbClr val="FFFFFF">
                  <a:alpha val="33725"/>
                </a:srgbClr>
              </a:gs>
              <a:gs pos="51000">
                <a:schemeClr val="lt1"/>
              </a:gs>
              <a:gs pos="94000">
                <a:srgbClr val="FFFFFF">
                  <a:alpha val="33725"/>
                </a:srgbClr>
              </a:gs>
              <a:gs pos="100000">
                <a:srgbClr val="FFFFFF">
                  <a:alpha val="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Calibri"/>
              <a:ea typeface="Calibri"/>
              <a:cs typeface="Calibri"/>
              <a:sym typeface="Calibri"/>
            </a:endParaRPr>
          </a:p>
        </p:txBody>
      </p:sp>
      <p:sp>
        <p:nvSpPr>
          <p:cNvPr id="92" name="Google Shape;92;p1"/>
          <p:cNvSpPr txBox="1"/>
          <p:nvPr/>
        </p:nvSpPr>
        <p:spPr>
          <a:xfrm>
            <a:off x="891849" y="1238027"/>
            <a:ext cx="72866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t/>
            </a:r>
            <a:endParaRPr b="1" i="0" sz="2400" u="none" cap="none" strike="noStrike">
              <a:solidFill>
                <a:srgbClr val="262626"/>
              </a:solidFill>
              <a:latin typeface="Calibri"/>
              <a:ea typeface="Calibri"/>
              <a:cs typeface="Calibri"/>
              <a:sym typeface="Calibri"/>
            </a:endParaRPr>
          </a:p>
          <a:p>
            <a:pPr indent="0" lvl="0" marL="0" marR="0" rtl="0" algn="ctr">
              <a:lnSpc>
                <a:spcPct val="90000"/>
              </a:lnSpc>
              <a:spcBef>
                <a:spcPts val="840"/>
              </a:spcBef>
              <a:spcAft>
                <a:spcPts val="0"/>
              </a:spcAft>
              <a:buNone/>
            </a:pPr>
            <a:r>
              <a:rPr b="1" i="0" lang="en-US" sz="2400" u="none" cap="none" strike="noStrike">
                <a:solidFill>
                  <a:srgbClr val="262626"/>
                </a:solidFill>
                <a:latin typeface="Calibri"/>
                <a:ea typeface="Calibri"/>
                <a:cs typeface="Calibri"/>
                <a:sym typeface="Calibri"/>
              </a:rPr>
              <a:t> </a:t>
            </a:r>
            <a:endParaRPr/>
          </a:p>
          <a:p>
            <a:pPr indent="0" lvl="0" marL="0" marR="0" rtl="0" algn="l">
              <a:spcBef>
                <a:spcPts val="84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93" name="Google Shape;93;p1"/>
          <p:cNvSpPr txBox="1"/>
          <p:nvPr/>
        </p:nvSpPr>
        <p:spPr>
          <a:xfrm>
            <a:off x="6749124" y="3774566"/>
            <a:ext cx="2191305" cy="948645"/>
          </a:xfrm>
          <a:prstGeom prst="rect">
            <a:avLst/>
          </a:prstGeom>
          <a:noFill/>
          <a:ln>
            <a:noFill/>
          </a:ln>
        </p:spPr>
        <p:txBody>
          <a:bodyPr anchorCtr="0" anchor="t" bIns="34275" lIns="68575" spcFirstLastPara="1" rIns="68575" wrap="square" tIns="34275">
            <a:normAutofit/>
          </a:bodyPr>
          <a:lstStyle/>
          <a:p>
            <a:pPr indent="0" lvl="0" marL="0" marR="0" rtl="0" algn="l">
              <a:spcBef>
                <a:spcPts val="0"/>
              </a:spcBef>
              <a:spcAft>
                <a:spcPts val="0"/>
              </a:spcAft>
              <a:buNone/>
            </a:pPr>
            <a:r>
              <a:rPr b="1" i="0" lang="en-US" sz="1050" u="none" cap="none" strike="noStrike">
                <a:solidFill>
                  <a:schemeClr val="dk1"/>
                </a:solidFill>
                <a:latin typeface="Calibri"/>
                <a:ea typeface="Calibri"/>
                <a:cs typeface="Calibri"/>
                <a:sym typeface="Calibri"/>
              </a:rPr>
              <a:t> </a:t>
            </a:r>
            <a:endParaRPr sz="1050">
              <a:solidFill>
                <a:schemeClr val="dk1"/>
              </a:solidFill>
              <a:latin typeface="Calibri"/>
              <a:ea typeface="Calibri"/>
              <a:cs typeface="Calibri"/>
              <a:sym typeface="Calibri"/>
            </a:endParaRPr>
          </a:p>
          <a:p>
            <a:pPr indent="0" lvl="0" marL="0" marR="0" rtl="0" algn="ctr">
              <a:spcBef>
                <a:spcPts val="210"/>
              </a:spcBef>
              <a:spcAft>
                <a:spcPts val="0"/>
              </a:spcAft>
              <a:buNone/>
            </a:pPr>
            <a:r>
              <a:t/>
            </a:r>
            <a:endParaRPr b="1" sz="1050">
              <a:solidFill>
                <a:schemeClr val="dk1"/>
              </a:solidFill>
              <a:latin typeface="Calibri"/>
              <a:ea typeface="Calibri"/>
              <a:cs typeface="Calibri"/>
              <a:sym typeface="Calibri"/>
            </a:endParaRPr>
          </a:p>
        </p:txBody>
      </p:sp>
      <p:sp>
        <p:nvSpPr>
          <p:cNvPr id="94" name="Google Shape;94;p1"/>
          <p:cNvSpPr txBox="1"/>
          <p:nvPr>
            <p:ph idx="1" type="body"/>
          </p:nvPr>
        </p:nvSpPr>
        <p:spPr>
          <a:xfrm>
            <a:off x="320375" y="1032638"/>
            <a:ext cx="8505000" cy="36204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700"/>
              <a:buNone/>
            </a:pPr>
            <a:r>
              <a:rPr b="1" lang="en-US" sz="2700"/>
              <a:t>Chandigarh School of Business, Jhanjeri</a:t>
            </a:r>
            <a:endParaRPr/>
          </a:p>
          <a:p>
            <a:pPr indent="0" lvl="0" marL="0" rtl="0" algn="ctr">
              <a:lnSpc>
                <a:spcPct val="90000"/>
              </a:lnSpc>
              <a:spcBef>
                <a:spcPts val="750"/>
              </a:spcBef>
              <a:spcAft>
                <a:spcPts val="0"/>
              </a:spcAft>
              <a:buClr>
                <a:schemeClr val="dk1"/>
              </a:buClr>
              <a:buSzPts val="2100"/>
              <a:buNone/>
            </a:pPr>
            <a:r>
              <a:rPr b="1" lang="en-US"/>
              <a:t>Department of Computer Application </a:t>
            </a:r>
            <a:endParaRPr/>
          </a:p>
          <a:p>
            <a:pPr indent="0" lvl="0" marL="0" rtl="0" algn="ctr">
              <a:lnSpc>
                <a:spcPct val="90000"/>
              </a:lnSpc>
              <a:spcBef>
                <a:spcPts val="750"/>
              </a:spcBef>
              <a:spcAft>
                <a:spcPts val="0"/>
              </a:spcAft>
              <a:buClr>
                <a:schemeClr val="dk1"/>
              </a:buClr>
              <a:buSzPts val="1800"/>
              <a:buNone/>
            </a:pPr>
            <a:r>
              <a:rPr b="1" lang="en-US" sz="1800"/>
              <a:t>Program Code: NA</a:t>
            </a:r>
            <a:endParaRPr b="1" sz="1800"/>
          </a:p>
          <a:p>
            <a:pPr indent="0" lvl="0" marL="0" rtl="0" algn="ctr">
              <a:lnSpc>
                <a:spcPct val="90000"/>
              </a:lnSpc>
              <a:spcBef>
                <a:spcPts val="750"/>
              </a:spcBef>
              <a:spcAft>
                <a:spcPts val="0"/>
              </a:spcAft>
              <a:buClr>
                <a:schemeClr val="dk1"/>
              </a:buClr>
              <a:buSzPts val="1800"/>
              <a:buNone/>
            </a:pPr>
            <a:r>
              <a:rPr b="1" lang="en-US" sz="1800"/>
              <a:t>Program Name: MCA</a:t>
            </a:r>
            <a:endParaRPr/>
          </a:p>
          <a:p>
            <a:pPr indent="0" lvl="0" marL="0" rtl="0" algn="ctr">
              <a:lnSpc>
                <a:spcPct val="90000"/>
              </a:lnSpc>
              <a:spcBef>
                <a:spcPts val="750"/>
              </a:spcBef>
              <a:spcAft>
                <a:spcPts val="0"/>
              </a:spcAft>
              <a:buClr>
                <a:schemeClr val="dk1"/>
              </a:buClr>
              <a:buSzPts val="1800"/>
              <a:buNone/>
            </a:pPr>
            <a:r>
              <a:rPr b="1" lang="en-US" sz="1800"/>
              <a:t>Course Code: </a:t>
            </a:r>
            <a:r>
              <a:rPr b="1" i="0" lang="en-US" sz="1800" u="none" strike="noStrike">
                <a:solidFill>
                  <a:srgbClr val="000000"/>
                </a:solidFill>
              </a:rPr>
              <a:t>PGCA1937</a:t>
            </a:r>
            <a:r>
              <a:rPr b="1" i="0" lang="en-US" sz="1800" u="none" strike="noStrike">
                <a:solidFill>
                  <a:srgbClr val="000000"/>
                </a:solidFill>
                <a:latin typeface="Times New Roman"/>
                <a:ea typeface="Times New Roman"/>
                <a:cs typeface="Times New Roman"/>
                <a:sym typeface="Times New Roman"/>
              </a:rPr>
              <a:t> </a:t>
            </a:r>
            <a:r>
              <a:rPr b="1" lang="en-US" sz="1800">
                <a:solidFill>
                  <a:srgbClr val="000000"/>
                </a:solidFill>
              </a:rPr>
              <a:t> </a:t>
            </a:r>
            <a:endParaRPr b="1" sz="1800"/>
          </a:p>
          <a:p>
            <a:pPr indent="0" lvl="0" marL="0" rtl="0" algn="ctr">
              <a:lnSpc>
                <a:spcPct val="90000"/>
              </a:lnSpc>
              <a:spcBef>
                <a:spcPts val="750"/>
              </a:spcBef>
              <a:spcAft>
                <a:spcPts val="0"/>
              </a:spcAft>
              <a:buClr>
                <a:schemeClr val="dk1"/>
              </a:buClr>
              <a:buSzPts val="1800"/>
              <a:buNone/>
            </a:pPr>
            <a:r>
              <a:rPr b="1" lang="en-US" sz="1800"/>
              <a:t>Course Name: </a:t>
            </a:r>
            <a:r>
              <a:rPr b="1" i="0" lang="en-US" sz="1800" u="none" strike="noStrike">
                <a:solidFill>
                  <a:srgbClr val="000000"/>
                </a:solidFill>
              </a:rPr>
              <a:t>Cloud Computing </a:t>
            </a:r>
            <a:endParaRPr b="1" sz="1800"/>
          </a:p>
          <a:p>
            <a:pPr indent="0" lvl="0" marL="0" rtl="0" algn="ctr">
              <a:lnSpc>
                <a:spcPct val="90000"/>
              </a:lnSpc>
              <a:spcBef>
                <a:spcPts val="750"/>
              </a:spcBef>
              <a:spcAft>
                <a:spcPts val="0"/>
              </a:spcAft>
              <a:buClr>
                <a:schemeClr val="dk1"/>
              </a:buClr>
              <a:buSzPts val="1500"/>
              <a:buNone/>
            </a:pPr>
            <a:r>
              <a:t/>
            </a:r>
            <a:endParaRPr b="1" sz="1500"/>
          </a:p>
          <a:p>
            <a:pPr indent="0" lvl="0" marL="0" rtl="0" algn="ctr">
              <a:lnSpc>
                <a:spcPct val="90000"/>
              </a:lnSpc>
              <a:spcBef>
                <a:spcPts val="750"/>
              </a:spcBef>
              <a:spcAft>
                <a:spcPts val="0"/>
              </a:spcAft>
              <a:buClr>
                <a:schemeClr val="dk1"/>
              </a:buClr>
              <a:buSzPts val="1500"/>
              <a:buNone/>
            </a:pPr>
            <a:r>
              <a:t/>
            </a:r>
            <a:endParaRPr b="1" sz="1500"/>
          </a:p>
          <a:p>
            <a:pPr indent="0" lvl="0" marL="0" rtl="0" algn="ctr">
              <a:lnSpc>
                <a:spcPct val="90000"/>
              </a:lnSpc>
              <a:spcBef>
                <a:spcPts val="750"/>
              </a:spcBef>
              <a:spcAft>
                <a:spcPts val="0"/>
              </a:spcAft>
              <a:buClr>
                <a:schemeClr val="dk1"/>
              </a:buClr>
              <a:buSzPts val="1500"/>
              <a:buNone/>
            </a:pPr>
            <a:r>
              <a:rPr b="1" lang="en-US" sz="1500"/>
              <a:t>Prepared by: Dr. Gurvir Kaur</a:t>
            </a:r>
            <a:endParaRPr b="1" sz="1500"/>
          </a:p>
          <a:p>
            <a:pPr indent="0" lvl="0" marL="0" rtl="0" algn="r">
              <a:lnSpc>
                <a:spcPct val="90000"/>
              </a:lnSpc>
              <a:spcBef>
                <a:spcPts val="750"/>
              </a:spcBef>
              <a:spcAft>
                <a:spcPts val="0"/>
              </a:spcAft>
              <a:buClr>
                <a:schemeClr val="dk1"/>
              </a:buClr>
              <a:buSzPts val="1500"/>
              <a:buNone/>
            </a:pPr>
            <a:r>
              <a:t/>
            </a:r>
            <a:endParaRPr b="1" sz="1500"/>
          </a:p>
        </p:txBody>
      </p:sp>
      <p:sp>
        <p:nvSpPr>
          <p:cNvPr id="95" name="Google Shape;95;p1"/>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96" name="Google Shape;96;p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97" name="Google Shape;97;p1"/>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
          <p:cNvSpPr txBox="1"/>
          <p:nvPr>
            <p:ph type="title"/>
          </p:nvPr>
        </p:nvSpPr>
        <p:spPr>
          <a:xfrm>
            <a:off x="2757197" y="102395"/>
            <a:ext cx="3491204" cy="53063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Font typeface="Calibri"/>
              <a:buNone/>
            </a:pPr>
            <a:r>
              <a:rPr b="1" lang="en-US" sz="2400">
                <a:latin typeface="Calibri"/>
                <a:ea typeface="Calibri"/>
                <a:cs typeface="Calibri"/>
                <a:sym typeface="Calibri"/>
              </a:rPr>
              <a:t>Outlines</a:t>
            </a:r>
            <a:endParaRPr sz="2400"/>
          </a:p>
        </p:txBody>
      </p:sp>
      <p:sp>
        <p:nvSpPr>
          <p:cNvPr id="103" name="Google Shape;103;p2"/>
          <p:cNvSpPr txBox="1"/>
          <p:nvPr>
            <p:ph idx="1" type="body"/>
          </p:nvPr>
        </p:nvSpPr>
        <p:spPr>
          <a:xfrm>
            <a:off x="628650" y="1024650"/>
            <a:ext cx="7886700" cy="3608100"/>
          </a:xfrm>
          <a:prstGeom prst="rect">
            <a:avLst/>
          </a:prstGeom>
          <a:noFill/>
          <a:ln>
            <a:noFill/>
          </a:ln>
        </p:spPr>
        <p:txBody>
          <a:bodyPr anchorCtr="0" anchor="t" bIns="45700" lIns="91425" spcFirstLastPara="1" rIns="91425" wrap="square" tIns="45700">
            <a:normAutofit/>
          </a:bodyPr>
          <a:lstStyle/>
          <a:p>
            <a:pPr indent="-196850" lvl="0" marL="171450" rtl="0" algn="l">
              <a:lnSpc>
                <a:spcPct val="90000"/>
              </a:lnSpc>
              <a:spcBef>
                <a:spcPts val="0"/>
              </a:spcBef>
              <a:spcAft>
                <a:spcPts val="0"/>
              </a:spcAft>
              <a:buClr>
                <a:schemeClr val="dk1"/>
              </a:buClr>
              <a:buSzPts val="2200"/>
              <a:buChar char="•"/>
            </a:pPr>
            <a:r>
              <a:rPr b="1" lang="en-US" sz="2200"/>
              <a:t>PTU Syllabus of Unit-I</a:t>
            </a:r>
            <a:endParaRPr sz="2500"/>
          </a:p>
          <a:p>
            <a:pPr indent="-196850" lvl="0" marL="171450" rtl="0" algn="l">
              <a:lnSpc>
                <a:spcPct val="90000"/>
              </a:lnSpc>
              <a:spcBef>
                <a:spcPts val="750"/>
              </a:spcBef>
              <a:spcAft>
                <a:spcPts val="0"/>
              </a:spcAft>
              <a:buClr>
                <a:schemeClr val="dk1"/>
              </a:buClr>
              <a:buSzPts val="2200"/>
              <a:buChar char="•"/>
            </a:pPr>
            <a:r>
              <a:rPr b="1" lang="en-US" sz="2200"/>
              <a:t>CO’s Introduction</a:t>
            </a:r>
            <a:endParaRPr sz="2500"/>
          </a:p>
          <a:p>
            <a:pPr indent="-196850" lvl="0" marL="171450" rtl="0" algn="l">
              <a:lnSpc>
                <a:spcPct val="90000"/>
              </a:lnSpc>
              <a:spcBef>
                <a:spcPts val="750"/>
              </a:spcBef>
              <a:spcAft>
                <a:spcPts val="0"/>
              </a:spcAft>
              <a:buClr>
                <a:schemeClr val="dk1"/>
              </a:buClr>
              <a:buSzPts val="2200"/>
              <a:buChar char="•"/>
            </a:pPr>
            <a:r>
              <a:rPr b="1" lang="en-US" sz="2200"/>
              <a:t>Topic Overview</a:t>
            </a:r>
            <a:endParaRPr sz="2500"/>
          </a:p>
          <a:p>
            <a:pPr indent="-196850" lvl="0" marL="171450" rtl="0" algn="l">
              <a:lnSpc>
                <a:spcPct val="90000"/>
              </a:lnSpc>
              <a:spcBef>
                <a:spcPts val="750"/>
              </a:spcBef>
              <a:spcAft>
                <a:spcPts val="0"/>
              </a:spcAft>
              <a:buClr>
                <a:schemeClr val="dk1"/>
              </a:buClr>
              <a:buSzPts val="2200"/>
              <a:buChar char="•"/>
            </a:pPr>
            <a:r>
              <a:rPr b="1" lang="en-US" sz="2200"/>
              <a:t>Brief description of what the presentation will cover</a:t>
            </a:r>
            <a:endParaRPr sz="2500"/>
          </a:p>
          <a:p>
            <a:pPr indent="-196850" lvl="0" marL="171450" rtl="0" algn="l">
              <a:lnSpc>
                <a:spcPct val="90000"/>
              </a:lnSpc>
              <a:spcBef>
                <a:spcPts val="750"/>
              </a:spcBef>
              <a:spcAft>
                <a:spcPts val="0"/>
              </a:spcAft>
              <a:buClr>
                <a:schemeClr val="dk1"/>
              </a:buClr>
              <a:buSzPts val="2200"/>
              <a:buChar char="•"/>
            </a:pPr>
            <a:r>
              <a:rPr b="1" lang="en-US" sz="2200"/>
              <a:t>Importance or relevance of the topic</a:t>
            </a:r>
            <a:endParaRPr sz="2500"/>
          </a:p>
          <a:p>
            <a:pPr indent="-196850" lvl="0" marL="171450" rtl="0" algn="l">
              <a:lnSpc>
                <a:spcPct val="90000"/>
              </a:lnSpc>
              <a:spcBef>
                <a:spcPts val="750"/>
              </a:spcBef>
              <a:spcAft>
                <a:spcPts val="0"/>
              </a:spcAft>
              <a:buClr>
                <a:schemeClr val="dk1"/>
              </a:buClr>
              <a:buSzPts val="2200"/>
              <a:buChar char="•"/>
            </a:pPr>
            <a:r>
              <a:rPr b="1" lang="en-US" sz="2200"/>
              <a:t>Key objectives or learning outcomes</a:t>
            </a:r>
            <a:endParaRPr sz="2500"/>
          </a:p>
          <a:p>
            <a:pPr indent="-196850" lvl="0" marL="171450" rtl="0" algn="l">
              <a:lnSpc>
                <a:spcPct val="90000"/>
              </a:lnSpc>
              <a:spcBef>
                <a:spcPts val="750"/>
              </a:spcBef>
              <a:spcAft>
                <a:spcPts val="0"/>
              </a:spcAft>
              <a:buClr>
                <a:schemeClr val="dk1"/>
              </a:buClr>
              <a:buSzPts val="2200"/>
              <a:buChar char="•"/>
            </a:pPr>
            <a:r>
              <a:rPr b="1" lang="en-US" sz="2200"/>
              <a:t>Summary</a:t>
            </a:r>
            <a:endParaRPr sz="2500"/>
          </a:p>
          <a:p>
            <a:pPr indent="-196850" lvl="0" marL="171450" rtl="0" algn="l">
              <a:lnSpc>
                <a:spcPct val="90000"/>
              </a:lnSpc>
              <a:spcBef>
                <a:spcPts val="750"/>
              </a:spcBef>
              <a:spcAft>
                <a:spcPts val="0"/>
              </a:spcAft>
              <a:buClr>
                <a:schemeClr val="dk1"/>
              </a:buClr>
              <a:buSzPts val="2200"/>
              <a:buChar char="•"/>
            </a:pPr>
            <a:r>
              <a:rPr b="1" lang="en-US" sz="2200"/>
              <a:t>References </a:t>
            </a:r>
            <a:endParaRPr sz="2500"/>
          </a:p>
          <a:p>
            <a:pPr indent="-57150" lvl="0" marL="171450" rtl="0" algn="l">
              <a:lnSpc>
                <a:spcPct val="90000"/>
              </a:lnSpc>
              <a:spcBef>
                <a:spcPts val="750"/>
              </a:spcBef>
              <a:spcAft>
                <a:spcPts val="0"/>
              </a:spcAft>
              <a:buClr>
                <a:schemeClr val="dk1"/>
              </a:buClr>
              <a:buSzPts val="1800"/>
              <a:buNone/>
            </a:pPr>
            <a:r>
              <a:t/>
            </a:r>
            <a:endParaRPr sz="1800"/>
          </a:p>
        </p:txBody>
      </p:sp>
      <p:sp>
        <p:nvSpPr>
          <p:cNvPr id="104" name="Google Shape;104;p2"/>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05" name="Google Shape;105;p2"/>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06" name="Google Shape;106;p2"/>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07" name="Google Shape;107;p2"/>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
          <p:cNvSpPr txBox="1"/>
          <p:nvPr>
            <p:ph type="title"/>
          </p:nvPr>
        </p:nvSpPr>
        <p:spPr>
          <a:xfrm>
            <a:off x="2676832" y="69056"/>
            <a:ext cx="4613882" cy="4798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b="1" lang="en-US" sz="2400">
                <a:latin typeface="Calibri"/>
                <a:ea typeface="Calibri"/>
                <a:cs typeface="Calibri"/>
                <a:sym typeface="Calibri"/>
              </a:rPr>
              <a:t>PTU Syllabus of Unit-I</a:t>
            </a:r>
            <a:endParaRPr b="1" sz="2400">
              <a:latin typeface="Calibri"/>
              <a:ea typeface="Calibri"/>
              <a:cs typeface="Calibri"/>
              <a:sym typeface="Calibri"/>
            </a:endParaRPr>
          </a:p>
        </p:txBody>
      </p:sp>
      <p:sp>
        <p:nvSpPr>
          <p:cNvPr id="113" name="Google Shape;113;p3"/>
          <p:cNvSpPr txBox="1"/>
          <p:nvPr>
            <p:ph idx="1" type="body"/>
          </p:nvPr>
        </p:nvSpPr>
        <p:spPr>
          <a:xfrm>
            <a:off x="628650" y="943075"/>
            <a:ext cx="8175300" cy="3689700"/>
          </a:xfrm>
          <a:prstGeom prst="rect">
            <a:avLst/>
          </a:prstGeom>
          <a:noFill/>
          <a:ln>
            <a:noFill/>
          </a:ln>
        </p:spPr>
        <p:txBody>
          <a:bodyPr anchorCtr="0" anchor="t" bIns="45700" lIns="91425" spcFirstLastPara="1" rIns="91425" wrap="square" tIns="45700">
            <a:normAutofit fontScale="40000" lnSpcReduction="20000"/>
          </a:bodyPr>
          <a:lstStyle/>
          <a:p>
            <a:pPr indent="0" lvl="0" marL="0" rtl="0" algn="ctr">
              <a:lnSpc>
                <a:spcPct val="90000"/>
              </a:lnSpc>
              <a:spcBef>
                <a:spcPts val="0"/>
              </a:spcBef>
              <a:spcAft>
                <a:spcPts val="0"/>
              </a:spcAft>
              <a:buClr>
                <a:srgbClr val="000000"/>
              </a:buClr>
              <a:buSzPct val="100000"/>
              <a:buNone/>
            </a:pPr>
            <a:r>
              <a:rPr b="1" lang="en-US" sz="3600">
                <a:solidFill>
                  <a:srgbClr val="000000"/>
                </a:solidFill>
              </a:rPr>
              <a:t>Part-A</a:t>
            </a:r>
            <a:endParaRPr sz="3600">
              <a:solidFill>
                <a:srgbClr val="000000"/>
              </a:solidFill>
            </a:endParaRPr>
          </a:p>
          <a:p>
            <a:pPr indent="-171450" lvl="0" marL="171450" rtl="0" algn="just">
              <a:lnSpc>
                <a:spcPct val="120000"/>
              </a:lnSpc>
              <a:spcBef>
                <a:spcPts val="750"/>
              </a:spcBef>
              <a:spcAft>
                <a:spcPts val="0"/>
              </a:spcAft>
              <a:buClr>
                <a:srgbClr val="000000"/>
              </a:buClr>
              <a:buSzPct val="100000"/>
              <a:buChar char="•"/>
            </a:pPr>
            <a:r>
              <a:rPr b="1" i="0" lang="en-US" sz="3600" u="none" strike="noStrike">
                <a:solidFill>
                  <a:srgbClr val="000000"/>
                </a:solidFill>
              </a:rPr>
              <a:t>Overview of Computing Paradigm: </a:t>
            </a:r>
            <a:r>
              <a:rPr b="0" i="0" lang="en-US" sz="3600" u="none" strike="noStrike">
                <a:solidFill>
                  <a:srgbClr val="000000"/>
                </a:solidFill>
              </a:rPr>
              <a:t>Recent trends in Computing -Grid Computing, Cluster Computing, Distributed Computing, Utility Computing, Cloud Computing. </a:t>
            </a:r>
            <a:endParaRPr/>
          </a:p>
          <a:p>
            <a:pPr indent="-171450" lvl="0" marL="171450" rtl="0" algn="just">
              <a:lnSpc>
                <a:spcPct val="120000"/>
              </a:lnSpc>
              <a:spcBef>
                <a:spcPts val="750"/>
              </a:spcBef>
              <a:spcAft>
                <a:spcPts val="0"/>
              </a:spcAft>
              <a:buClr>
                <a:srgbClr val="000000"/>
              </a:buClr>
              <a:buSzPct val="100000"/>
              <a:buChar char="•"/>
            </a:pPr>
            <a:r>
              <a:rPr b="1" i="0" lang="en-US" sz="3600" u="none" strike="noStrike">
                <a:solidFill>
                  <a:srgbClr val="000000"/>
                </a:solidFill>
              </a:rPr>
              <a:t>Introduction to Cloud Computing: </a:t>
            </a:r>
            <a:r>
              <a:rPr b="0" i="0" lang="en-US" sz="3600" u="none" strike="noStrike">
                <a:solidFill>
                  <a:srgbClr val="000000"/>
                </a:solidFill>
              </a:rPr>
              <a:t>Vision of Cloud Computing, Defining a Cloud, Cloud Reference Model, Deployment Model, Characteristics, Benefits of Cloud Computing, Challenges ahead. Cloud computing vs. Cluster computing vs. Grid computing. </a:t>
            </a:r>
            <a:endParaRPr/>
          </a:p>
          <a:p>
            <a:pPr indent="-171450" lvl="0" marL="171450" rtl="0" algn="just">
              <a:lnSpc>
                <a:spcPct val="120000"/>
              </a:lnSpc>
              <a:spcBef>
                <a:spcPts val="750"/>
              </a:spcBef>
              <a:spcAft>
                <a:spcPts val="0"/>
              </a:spcAft>
              <a:buClr>
                <a:srgbClr val="000000"/>
              </a:buClr>
              <a:buSzPct val="100000"/>
              <a:buChar char="•"/>
            </a:pPr>
            <a:r>
              <a:rPr b="1" i="0" lang="en-US" sz="3600" u="none" strike="noStrike">
                <a:solidFill>
                  <a:srgbClr val="000000"/>
                </a:solidFill>
              </a:rPr>
              <a:t>Migrating into a Cloud: </a:t>
            </a:r>
            <a:r>
              <a:rPr b="0" i="0" lang="en-US" sz="3600" u="none" strike="noStrike">
                <a:solidFill>
                  <a:srgbClr val="000000"/>
                </a:solidFill>
              </a:rPr>
              <a:t>Introduction, Broad approaches to Migrating into the Cloud, The Seven-Step Model of Migration Into a Cloud. </a:t>
            </a:r>
            <a:endParaRPr/>
          </a:p>
          <a:p>
            <a:pPr indent="-171450" lvl="0" marL="171450" rtl="0" algn="just">
              <a:lnSpc>
                <a:spcPct val="120000"/>
              </a:lnSpc>
              <a:spcBef>
                <a:spcPts val="750"/>
              </a:spcBef>
              <a:spcAft>
                <a:spcPts val="0"/>
              </a:spcAft>
              <a:buClr>
                <a:srgbClr val="000000"/>
              </a:buClr>
              <a:buSzPct val="100000"/>
              <a:buChar char="•"/>
            </a:pPr>
            <a:r>
              <a:rPr b="1" i="0" lang="en-US" sz="3600" u="none" strike="noStrike">
                <a:solidFill>
                  <a:srgbClr val="000000"/>
                </a:solidFill>
              </a:rPr>
              <a:t>Virtualization: </a:t>
            </a:r>
            <a:r>
              <a:rPr b="0" i="0" lang="en-US" sz="3600" u="none" strike="noStrike">
                <a:solidFill>
                  <a:srgbClr val="000000"/>
                </a:solidFill>
              </a:rPr>
              <a:t>Introduction, Characteristics of Virtualized environment, Taxonomy of Virtualization techniques, Virtualization and Cloud Computing, Pros and Cons of Virtualization, Technology Examples- Xen, VMware, Microsoft Hyper-V. </a:t>
            </a:r>
            <a:endParaRPr/>
          </a:p>
          <a:p>
            <a:pPr indent="-171450" lvl="0" marL="171450" rtl="0" algn="just">
              <a:lnSpc>
                <a:spcPct val="120000"/>
              </a:lnSpc>
              <a:spcBef>
                <a:spcPts val="750"/>
              </a:spcBef>
              <a:spcAft>
                <a:spcPts val="0"/>
              </a:spcAft>
              <a:buClr>
                <a:srgbClr val="000000"/>
              </a:buClr>
              <a:buSzPct val="100000"/>
              <a:buChar char="•"/>
            </a:pPr>
            <a:r>
              <a:rPr b="1" i="0" lang="en-US" sz="3600" u="none" strike="noStrike">
                <a:solidFill>
                  <a:srgbClr val="000000"/>
                </a:solidFill>
              </a:rPr>
              <a:t>Capacity Planning: </a:t>
            </a:r>
            <a:r>
              <a:rPr b="0" i="0" lang="en-US" sz="3600" u="none" strike="noStrike">
                <a:solidFill>
                  <a:srgbClr val="000000"/>
                </a:solidFill>
              </a:rPr>
              <a:t>Introduction, Defining Baseline and Metrics-Baseline Measurements, System Metrics, Load Testing, Resource Ceilings, Server and Instance types; Network Capacity, Scaling. 	</a:t>
            </a:r>
            <a:endParaRPr/>
          </a:p>
          <a:p>
            <a:pPr indent="0" lvl="0" marL="0" rtl="0" algn="l">
              <a:lnSpc>
                <a:spcPct val="90000"/>
              </a:lnSpc>
              <a:spcBef>
                <a:spcPts val="750"/>
              </a:spcBef>
              <a:spcAft>
                <a:spcPts val="0"/>
              </a:spcAft>
              <a:buClr>
                <a:schemeClr val="dk1"/>
              </a:buClr>
              <a:buSzPct val="100000"/>
              <a:buNone/>
            </a:pPr>
            <a:r>
              <a:t/>
            </a:r>
            <a:endParaRPr sz="1800"/>
          </a:p>
        </p:txBody>
      </p:sp>
      <p:sp>
        <p:nvSpPr>
          <p:cNvPr id="114" name="Google Shape;114;p3"/>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15" name="Google Shape;115;p3"/>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16" name="Google Shape;116;p3"/>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17" name="Google Shape;117;p3"/>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4"/>
          <p:cNvSpPr txBox="1"/>
          <p:nvPr>
            <p:ph type="title"/>
          </p:nvPr>
        </p:nvSpPr>
        <p:spPr>
          <a:xfrm>
            <a:off x="2771192" y="205979"/>
            <a:ext cx="4436707" cy="45183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2400"/>
              <a:buFont typeface="Calibri"/>
              <a:buNone/>
            </a:pPr>
            <a:r>
              <a:rPr b="1" lang="en-US" sz="3000">
                <a:latin typeface="Calibri"/>
                <a:ea typeface="Calibri"/>
                <a:cs typeface="Calibri"/>
                <a:sym typeface="Calibri"/>
              </a:rPr>
              <a:t>Key objectives or learning outcomes</a:t>
            </a:r>
            <a:endParaRPr sz="3000">
              <a:latin typeface="Calibri"/>
              <a:ea typeface="Calibri"/>
              <a:cs typeface="Calibri"/>
              <a:sym typeface="Calibri"/>
            </a:endParaRPr>
          </a:p>
        </p:txBody>
      </p:sp>
      <p:sp>
        <p:nvSpPr>
          <p:cNvPr id="123" name="Google Shape;123;p4"/>
          <p:cNvSpPr txBox="1"/>
          <p:nvPr>
            <p:ph idx="1" type="body"/>
          </p:nvPr>
        </p:nvSpPr>
        <p:spPr>
          <a:xfrm>
            <a:off x="495875" y="1016925"/>
            <a:ext cx="8534400" cy="3056400"/>
          </a:xfrm>
          <a:prstGeom prst="rect">
            <a:avLst/>
          </a:prstGeom>
          <a:noFill/>
          <a:ln>
            <a:noFill/>
          </a:ln>
        </p:spPr>
        <p:txBody>
          <a:bodyPr anchorCtr="0" anchor="t" bIns="45700" lIns="91425" spcFirstLastPara="1" rIns="91425" wrap="square" tIns="45700">
            <a:noAutofit/>
          </a:bodyPr>
          <a:lstStyle/>
          <a:p>
            <a:pPr indent="-184150" lvl="0" marL="171450" rtl="0" algn="just">
              <a:lnSpc>
                <a:spcPct val="90000"/>
              </a:lnSpc>
              <a:spcBef>
                <a:spcPts val="0"/>
              </a:spcBef>
              <a:spcAft>
                <a:spcPts val="0"/>
              </a:spcAft>
              <a:buClr>
                <a:srgbClr val="000000"/>
              </a:buClr>
              <a:buSzPts val="2000"/>
              <a:buChar char="•"/>
            </a:pPr>
            <a:r>
              <a:rPr b="0" i="0" lang="en-US" sz="2000" u="none" strike="noStrike">
                <a:solidFill>
                  <a:srgbClr val="000000"/>
                </a:solidFill>
              </a:rPr>
              <a:t>CO1 	Understand the basic concept and importance of cloud computing. 	</a:t>
            </a:r>
            <a:endParaRPr sz="2300"/>
          </a:p>
          <a:p>
            <a:pPr indent="-184150" lvl="0" marL="171450" rtl="0" algn="just">
              <a:lnSpc>
                <a:spcPct val="90000"/>
              </a:lnSpc>
              <a:spcBef>
                <a:spcPts val="750"/>
              </a:spcBef>
              <a:spcAft>
                <a:spcPts val="0"/>
              </a:spcAft>
              <a:buClr>
                <a:srgbClr val="000000"/>
              </a:buClr>
              <a:buSzPts val="2000"/>
              <a:buChar char="•"/>
            </a:pPr>
            <a:r>
              <a:rPr b="0" i="0" lang="en-US" sz="2000" u="none" strike="noStrike">
                <a:solidFill>
                  <a:srgbClr val="000000"/>
                </a:solidFill>
              </a:rPr>
              <a:t>CO2 	Access the suitability of migrating to a cloud solution for different applications.</a:t>
            </a:r>
            <a:endParaRPr sz="2300"/>
          </a:p>
          <a:p>
            <a:pPr indent="-184150" lvl="0" marL="171450" rtl="0" algn="just">
              <a:lnSpc>
                <a:spcPct val="90000"/>
              </a:lnSpc>
              <a:spcBef>
                <a:spcPts val="750"/>
              </a:spcBef>
              <a:spcAft>
                <a:spcPts val="0"/>
              </a:spcAft>
              <a:buClr>
                <a:srgbClr val="000000"/>
              </a:buClr>
              <a:buSzPts val="2000"/>
              <a:buChar char="•"/>
            </a:pPr>
            <a:r>
              <a:rPr b="0" i="0" lang="en-US" sz="2000" u="none" strike="noStrike">
                <a:solidFill>
                  <a:srgbClr val="000000"/>
                </a:solidFill>
              </a:rPr>
              <a:t>CO3 	Compare and evaluate the virtualization technologies. 	</a:t>
            </a:r>
            <a:endParaRPr sz="2300"/>
          </a:p>
          <a:p>
            <a:pPr indent="-184150" lvl="0" marL="171450" rtl="0" algn="just">
              <a:lnSpc>
                <a:spcPct val="90000"/>
              </a:lnSpc>
              <a:spcBef>
                <a:spcPts val="750"/>
              </a:spcBef>
              <a:spcAft>
                <a:spcPts val="0"/>
              </a:spcAft>
              <a:buClr>
                <a:srgbClr val="000000"/>
              </a:buClr>
              <a:buSzPts val="2000"/>
              <a:buChar char="•"/>
            </a:pPr>
            <a:r>
              <a:rPr b="0" i="0" lang="en-US" sz="2000" u="none" strike="noStrike">
                <a:solidFill>
                  <a:srgbClr val="000000"/>
                </a:solidFill>
              </a:rPr>
              <a:t>CO4 	Monitor and manage the cloud resources, applications and data while addressing </a:t>
            </a:r>
            <a:r>
              <a:rPr b="0" i="0" lang="en-US" sz="2000" u="none" strike="noStrike">
                <a:solidFill>
                  <a:srgbClr val="000000"/>
                </a:solidFill>
                <a:latin typeface="Times New Roman"/>
                <a:ea typeface="Times New Roman"/>
                <a:cs typeface="Times New Roman"/>
                <a:sym typeface="Times New Roman"/>
              </a:rPr>
              <a:t>	the </a:t>
            </a:r>
            <a:r>
              <a:rPr b="0" i="0" lang="en-US" sz="2000" u="none" strike="noStrike">
                <a:solidFill>
                  <a:srgbClr val="000000"/>
                </a:solidFill>
              </a:rPr>
              <a:t>security concerns. 	</a:t>
            </a:r>
            <a:endParaRPr sz="2000">
              <a:solidFill>
                <a:srgbClr val="000000"/>
              </a:solidFill>
            </a:endParaRPr>
          </a:p>
          <a:p>
            <a:pPr indent="-171450" lvl="0" marL="171450" rtl="0" algn="just">
              <a:lnSpc>
                <a:spcPct val="90000"/>
              </a:lnSpc>
              <a:spcBef>
                <a:spcPts val="750"/>
              </a:spcBef>
              <a:spcAft>
                <a:spcPts val="0"/>
              </a:spcAft>
              <a:buClr>
                <a:srgbClr val="000000"/>
              </a:buClr>
              <a:buSzPts val="1800"/>
              <a:buChar char="•"/>
            </a:pPr>
            <a:r>
              <a:rPr b="0" i="0" lang="en-US" sz="2000" u="none" strike="noStrike">
                <a:solidFill>
                  <a:srgbClr val="000000"/>
                </a:solidFill>
              </a:rPr>
              <a:t>CO5 	Use cloud solutions offered by industry leaders for various applications. </a:t>
            </a:r>
            <a:r>
              <a:rPr b="0" i="0" lang="en-US" sz="1800" u="none" strike="noStrike">
                <a:solidFill>
                  <a:srgbClr val="000000"/>
                </a:solidFill>
              </a:rPr>
              <a:t>	</a:t>
            </a:r>
            <a:endParaRPr/>
          </a:p>
          <a:p>
            <a:pPr indent="-69850" lvl="0" marL="171450" rtl="0" algn="just">
              <a:lnSpc>
                <a:spcPct val="90000"/>
              </a:lnSpc>
              <a:spcBef>
                <a:spcPts val="750"/>
              </a:spcBef>
              <a:spcAft>
                <a:spcPts val="0"/>
              </a:spcAft>
              <a:buClr>
                <a:schemeClr val="dk1"/>
              </a:buClr>
              <a:buSzPts val="1600"/>
              <a:buNone/>
            </a:pPr>
            <a:r>
              <a:t/>
            </a:r>
            <a:endParaRPr b="0" i="0" sz="1600" u="none" strike="noStrike">
              <a:solidFill>
                <a:srgbClr val="000000"/>
              </a:solidFill>
            </a:endParaRPr>
          </a:p>
        </p:txBody>
      </p:sp>
      <p:sp>
        <p:nvSpPr>
          <p:cNvPr id="124" name="Google Shape;124;p4"/>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25" name="Google Shape;125;p4"/>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26" name="Google Shape;126;p4"/>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27" name="Google Shape;127;p4"/>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5"/>
          <p:cNvSpPr txBox="1"/>
          <p:nvPr>
            <p:ph type="title"/>
          </p:nvPr>
        </p:nvSpPr>
        <p:spPr>
          <a:xfrm>
            <a:off x="2750198" y="102394"/>
            <a:ext cx="4457701" cy="74359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Font typeface="Calibri"/>
              <a:buNone/>
            </a:pPr>
            <a:r>
              <a:rPr b="1" lang="en-US" sz="2400">
                <a:latin typeface="Calibri"/>
                <a:ea typeface="Calibri"/>
                <a:cs typeface="Calibri"/>
                <a:sym typeface="Calibri"/>
              </a:rPr>
              <a:t>CO Introduction</a:t>
            </a:r>
            <a:endParaRPr sz="2400">
              <a:latin typeface="Calibri"/>
              <a:ea typeface="Calibri"/>
              <a:cs typeface="Calibri"/>
              <a:sym typeface="Calibri"/>
            </a:endParaRPr>
          </a:p>
        </p:txBody>
      </p:sp>
      <p:graphicFrame>
        <p:nvGraphicFramePr>
          <p:cNvPr id="133" name="Google Shape;133;p5"/>
          <p:cNvGraphicFramePr/>
          <p:nvPr/>
        </p:nvGraphicFramePr>
        <p:xfrm>
          <a:off x="635741" y="1056233"/>
          <a:ext cx="3000000" cy="3000000"/>
        </p:xfrm>
        <a:graphic>
          <a:graphicData uri="http://schemas.openxmlformats.org/drawingml/2006/table">
            <a:tbl>
              <a:tblPr bandRow="1" firstRow="1">
                <a:noFill/>
                <a:tableStyleId>{89E9F78E-DB5C-43BE-81AA-82F7D45DABD9}</a:tableStyleId>
              </a:tblPr>
              <a:tblGrid>
                <a:gridCol w="1360800"/>
                <a:gridCol w="5021700"/>
                <a:gridCol w="1381550"/>
              </a:tblGrid>
              <a:tr h="559100">
                <a:tc>
                  <a:txBody>
                    <a:bodyPr/>
                    <a:lstStyle/>
                    <a:p>
                      <a:pPr indent="0" lvl="0" marL="0" marR="0" rtl="0" algn="ctr">
                        <a:spcBef>
                          <a:spcPts val="0"/>
                        </a:spcBef>
                        <a:spcAft>
                          <a:spcPts val="0"/>
                        </a:spcAft>
                        <a:buNone/>
                      </a:pPr>
                      <a:r>
                        <a:rPr b="1" lang="en-US" sz="1800" u="none" cap="none" strike="noStrike"/>
                        <a:t>CO NUMBER </a:t>
                      </a:r>
                      <a:endParaRPr b="1" sz="1800" u="none" cap="none" strike="noStrike">
                        <a:latin typeface="Calibri"/>
                        <a:ea typeface="Calibri"/>
                        <a:cs typeface="Calibri"/>
                        <a:sym typeface="Calibri"/>
                      </a:endParaRPr>
                    </a:p>
                  </a:txBody>
                  <a:tcPr marT="34300" marB="34300" marR="68575" marL="68575"/>
                </a:tc>
                <a:tc>
                  <a:txBody>
                    <a:bodyPr/>
                    <a:lstStyle/>
                    <a:p>
                      <a:pPr indent="0" lvl="0" marL="0" marR="0" rtl="0" algn="ctr">
                        <a:spcBef>
                          <a:spcPts val="0"/>
                        </a:spcBef>
                        <a:spcAft>
                          <a:spcPts val="0"/>
                        </a:spcAft>
                        <a:buNone/>
                      </a:pPr>
                      <a:r>
                        <a:rPr b="1" lang="en-US" sz="1800" u="none" cap="none" strike="noStrike"/>
                        <a:t>TOPICS</a:t>
                      </a:r>
                      <a:endParaRPr/>
                    </a:p>
                  </a:txBody>
                  <a:tcPr marT="34300" marB="34300" marR="68575" marL="68575"/>
                </a:tc>
                <a:tc>
                  <a:txBody>
                    <a:bodyPr/>
                    <a:lstStyle/>
                    <a:p>
                      <a:pPr indent="0" lvl="0" marL="0" marR="0" rtl="0" algn="ctr">
                        <a:spcBef>
                          <a:spcPts val="0"/>
                        </a:spcBef>
                        <a:spcAft>
                          <a:spcPts val="0"/>
                        </a:spcAft>
                        <a:buNone/>
                      </a:pPr>
                      <a:r>
                        <a:rPr b="1" lang="en-US" sz="1800" u="none" cap="none" strike="noStrike"/>
                        <a:t>LEVEL</a:t>
                      </a:r>
                      <a:endParaRPr/>
                    </a:p>
                  </a:txBody>
                  <a:tcPr marT="34300" marB="34300" marR="68575" marL="68575"/>
                </a:tc>
              </a:tr>
              <a:tr h="590700">
                <a:tc>
                  <a:txBody>
                    <a:bodyPr/>
                    <a:lstStyle/>
                    <a:p>
                      <a:pPr indent="0" lvl="0" marL="0" marR="0" rtl="0" algn="ctr">
                        <a:spcBef>
                          <a:spcPts val="0"/>
                        </a:spcBef>
                        <a:spcAft>
                          <a:spcPts val="0"/>
                        </a:spcAft>
                        <a:buNone/>
                      </a:pPr>
                      <a:r>
                        <a:rPr b="1" lang="en-US" sz="1800" u="none" cap="none" strike="noStrike"/>
                        <a:t>CO1</a:t>
                      </a:r>
                      <a:endParaRPr b="1" sz="1800" u="none" cap="none" strike="noStrike">
                        <a:latin typeface="Calibri"/>
                        <a:ea typeface="Calibri"/>
                        <a:cs typeface="Calibri"/>
                        <a:sym typeface="Calibri"/>
                      </a:endParaRPr>
                    </a:p>
                  </a:txBody>
                  <a:tcPr marT="34300" marB="34300" marR="68575" marL="68575"/>
                </a:tc>
                <a:tc>
                  <a:txBody>
                    <a:bodyPr/>
                    <a:lstStyle/>
                    <a:p>
                      <a:pPr indent="0" lvl="0" marL="0" marR="0" rtl="0" algn="just">
                        <a:spcBef>
                          <a:spcPts val="0"/>
                        </a:spcBef>
                        <a:spcAft>
                          <a:spcPts val="0"/>
                        </a:spcAft>
                        <a:buNone/>
                      </a:pPr>
                      <a:r>
                        <a:rPr b="1" i="0" lang="en-US" sz="1800" u="none" cap="none" strike="noStrike">
                          <a:solidFill>
                            <a:schemeClr val="dk1"/>
                          </a:solidFill>
                          <a:latin typeface="Calibri"/>
                          <a:ea typeface="Calibri"/>
                          <a:cs typeface="Calibri"/>
                          <a:sym typeface="Calibri"/>
                        </a:rPr>
                        <a:t>Overview of Computing Paradigm: </a:t>
                      </a:r>
                      <a:r>
                        <a:rPr b="0" i="0" lang="en-US" sz="1800" u="none" cap="none" strike="noStrike">
                          <a:solidFill>
                            <a:schemeClr val="dk1"/>
                          </a:solidFill>
                          <a:latin typeface="Calibri"/>
                          <a:ea typeface="Calibri"/>
                          <a:cs typeface="Calibri"/>
                          <a:sym typeface="Calibri"/>
                        </a:rPr>
                        <a:t>Recent trends in Computing -Grid Computing, Cluster Computing, Distributed Computing, Utility Computing, Cloud Computing. </a:t>
                      </a:r>
                      <a:endParaRPr/>
                    </a:p>
                    <a:p>
                      <a:pPr indent="0" lvl="0" marL="0" marR="0" rtl="0" algn="just">
                        <a:spcBef>
                          <a:spcPts val="0"/>
                        </a:spcBef>
                        <a:spcAft>
                          <a:spcPts val="0"/>
                        </a:spcAft>
                        <a:buNone/>
                      </a:pPr>
                      <a:r>
                        <a:rPr b="1" i="0" lang="en-US" sz="1800" u="none" cap="none" strike="noStrike">
                          <a:solidFill>
                            <a:schemeClr val="dk1"/>
                          </a:solidFill>
                          <a:latin typeface="Calibri"/>
                          <a:ea typeface="Calibri"/>
                          <a:cs typeface="Calibri"/>
                          <a:sym typeface="Calibri"/>
                        </a:rPr>
                        <a:t>Introduction to Cloud Computing: </a:t>
                      </a:r>
                      <a:r>
                        <a:rPr b="0" i="0" lang="en-US" sz="1800" u="none" cap="none" strike="noStrike">
                          <a:solidFill>
                            <a:schemeClr val="dk1"/>
                          </a:solidFill>
                          <a:latin typeface="Calibri"/>
                          <a:ea typeface="Calibri"/>
                          <a:cs typeface="Calibri"/>
                          <a:sym typeface="Calibri"/>
                        </a:rPr>
                        <a:t>Vision of Cloud Computing, Defining a Cloud, Cloud Reference Model, Deployment Model, Characteristics, Benefits of Cloud Computing, Challenges ahead. Cloud computing vs. Cluster computing vs. Grid computing. </a:t>
                      </a:r>
                      <a:r>
                        <a:rPr b="0" i="0" lang="en-US" sz="1350" u="none" cap="none" strike="noStrike">
                          <a:solidFill>
                            <a:schemeClr val="dk1"/>
                          </a:solidFill>
                          <a:latin typeface="Calibri"/>
                          <a:ea typeface="Calibri"/>
                          <a:cs typeface="Calibri"/>
                          <a:sym typeface="Calibri"/>
                        </a:rPr>
                        <a:t>	</a:t>
                      </a:r>
                      <a:endParaRPr/>
                    </a:p>
                  </a:txBody>
                  <a:tcPr marT="34300" marB="34300" marR="68575" marL="68575"/>
                </a:tc>
                <a:tc>
                  <a:txBody>
                    <a:bodyPr/>
                    <a:lstStyle/>
                    <a:p>
                      <a:pPr indent="0" lvl="0" marL="0" marR="0" rtl="0" algn="l">
                        <a:spcBef>
                          <a:spcPts val="0"/>
                        </a:spcBef>
                        <a:spcAft>
                          <a:spcPts val="0"/>
                        </a:spcAft>
                        <a:buNone/>
                      </a:pPr>
                      <a:r>
                        <a:rPr b="1" lang="en-US" sz="1800" u="none" cap="none" strike="noStrike"/>
                        <a:t>2</a:t>
                      </a:r>
                      <a:endParaRPr/>
                    </a:p>
                  </a:txBody>
                  <a:tcPr marT="34300" marB="34300" marR="68575" marL="68575"/>
                </a:tc>
              </a:tr>
            </a:tbl>
          </a:graphicData>
        </a:graphic>
      </p:graphicFrame>
      <p:sp>
        <p:nvSpPr>
          <p:cNvPr id="134" name="Google Shape;134;p5"/>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35" name="Google Shape;135;p5"/>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36" name="Google Shape;136;p5"/>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37" name="Google Shape;137;p5"/>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6"/>
          <p:cNvSpPr txBox="1"/>
          <p:nvPr>
            <p:ph type="title"/>
          </p:nvPr>
        </p:nvSpPr>
        <p:spPr>
          <a:xfrm>
            <a:off x="3550791" y="0"/>
            <a:ext cx="2564259" cy="857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b="1" lang="en-US" sz="2400">
                <a:latin typeface="Calibri"/>
                <a:ea typeface="Calibri"/>
                <a:cs typeface="Calibri"/>
                <a:sym typeface="Calibri"/>
              </a:rPr>
              <a:t>Topic Overview</a:t>
            </a:r>
            <a:endParaRPr sz="2400">
              <a:latin typeface="Calibri"/>
              <a:ea typeface="Calibri"/>
              <a:cs typeface="Calibri"/>
              <a:sym typeface="Calibri"/>
            </a:endParaRPr>
          </a:p>
        </p:txBody>
      </p:sp>
      <p:sp>
        <p:nvSpPr>
          <p:cNvPr id="143" name="Google Shape;143;p6"/>
          <p:cNvSpPr txBox="1"/>
          <p:nvPr>
            <p:ph idx="1" type="body"/>
          </p:nvPr>
        </p:nvSpPr>
        <p:spPr>
          <a:xfrm>
            <a:off x="457200" y="1046748"/>
            <a:ext cx="8229600" cy="3547875"/>
          </a:xfrm>
          <a:prstGeom prst="rect">
            <a:avLst/>
          </a:prstGeom>
          <a:noFill/>
          <a:ln>
            <a:noFill/>
          </a:ln>
        </p:spPr>
        <p:txBody>
          <a:bodyPr anchorCtr="0" anchor="t" bIns="45700" lIns="91425" spcFirstLastPara="1" rIns="91425" wrap="square" tIns="45700">
            <a:normAutofit/>
          </a:bodyPr>
          <a:lstStyle/>
          <a:p>
            <a:pPr indent="-171450" lvl="0" marL="171450" rtl="0" algn="just">
              <a:lnSpc>
                <a:spcPct val="150000"/>
              </a:lnSpc>
              <a:spcBef>
                <a:spcPts val="0"/>
              </a:spcBef>
              <a:spcAft>
                <a:spcPts val="0"/>
              </a:spcAft>
              <a:buClr>
                <a:schemeClr val="dk1"/>
              </a:buClr>
              <a:buSzPts val="1800"/>
              <a:buChar char="•"/>
            </a:pPr>
            <a:r>
              <a:rPr lang="en-US" sz="1800"/>
              <a:t>Cloud computing is the delivery of computing services—such as servers, storage, databases, networking, software, and analytics—over the internet (the cloud). </a:t>
            </a:r>
            <a:endParaRPr/>
          </a:p>
          <a:p>
            <a:pPr indent="-171450" lvl="0" marL="171450" rtl="0" algn="just">
              <a:lnSpc>
                <a:spcPct val="150000"/>
              </a:lnSpc>
              <a:spcBef>
                <a:spcPts val="750"/>
              </a:spcBef>
              <a:spcAft>
                <a:spcPts val="0"/>
              </a:spcAft>
              <a:buClr>
                <a:schemeClr val="dk1"/>
              </a:buClr>
              <a:buSzPts val="1800"/>
              <a:buChar char="•"/>
            </a:pPr>
            <a:r>
              <a:rPr lang="en-US" sz="1800"/>
              <a:t>These services allow businesses and individuals to access and use technology resources on-demand, without the need to own or manage physical hardware and software infrastructure. </a:t>
            </a:r>
            <a:endParaRPr/>
          </a:p>
          <a:p>
            <a:pPr indent="-171450" lvl="0" marL="171450" rtl="0" algn="just">
              <a:lnSpc>
                <a:spcPct val="150000"/>
              </a:lnSpc>
              <a:spcBef>
                <a:spcPts val="750"/>
              </a:spcBef>
              <a:spcAft>
                <a:spcPts val="0"/>
              </a:spcAft>
              <a:buClr>
                <a:schemeClr val="dk1"/>
              </a:buClr>
              <a:buSzPts val="1800"/>
              <a:buChar char="•"/>
            </a:pPr>
            <a:r>
              <a:rPr lang="en-US" sz="1800"/>
              <a:t>Users pay for these services based on usage, making cloud computing a flexible and cost-effective solution.</a:t>
            </a:r>
            <a:endParaRPr/>
          </a:p>
        </p:txBody>
      </p:sp>
      <p:sp>
        <p:nvSpPr>
          <p:cNvPr id="144" name="Google Shape;144;p6"/>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45" name="Google Shape;145;p6"/>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46" name="Google Shape;146;p6"/>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47" name="Google Shape;147;p6"/>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7"/>
          <p:cNvSpPr txBox="1"/>
          <p:nvPr>
            <p:ph type="title"/>
          </p:nvPr>
        </p:nvSpPr>
        <p:spPr>
          <a:xfrm>
            <a:off x="2743200" y="205979"/>
            <a:ext cx="4436706" cy="85725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Calibri"/>
              <a:buNone/>
            </a:pPr>
            <a:r>
              <a:rPr b="1" lang="en-US" sz="2400"/>
              <a:t>Brief of what the presentation will</a:t>
            </a:r>
            <a:endParaRPr sz="2400"/>
          </a:p>
        </p:txBody>
      </p:sp>
      <p:sp>
        <p:nvSpPr>
          <p:cNvPr id="153" name="Google Shape;153;p7"/>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100"/>
              <a:buNone/>
            </a:pPr>
            <a:r>
              <a:rPr lang="en-US"/>
              <a:t>The presentation will cover the following points:</a:t>
            </a:r>
            <a:endParaRPr/>
          </a:p>
          <a:p>
            <a:pPr indent="-171450" lvl="0" marL="171450" rtl="0" algn="l">
              <a:lnSpc>
                <a:spcPct val="90000"/>
              </a:lnSpc>
              <a:spcBef>
                <a:spcPts val="750"/>
              </a:spcBef>
              <a:spcAft>
                <a:spcPts val="0"/>
              </a:spcAft>
              <a:buClr>
                <a:srgbClr val="000000"/>
              </a:buClr>
              <a:buSzPts val="2400"/>
              <a:buFont typeface="Calibri"/>
              <a:buAutoNum type="arabicPeriod"/>
            </a:pPr>
            <a:r>
              <a:rPr b="1" lang="en-US" sz="2400">
                <a:solidFill>
                  <a:srgbClr val="000000"/>
                </a:solidFill>
                <a:latin typeface="Calibri"/>
                <a:ea typeface="Calibri"/>
                <a:cs typeface="Calibri"/>
                <a:sym typeface="Calibri"/>
              </a:rPr>
              <a:t>Trends in Computing</a:t>
            </a:r>
            <a:endParaRPr/>
          </a:p>
          <a:p>
            <a:pPr indent="-171450" lvl="0" marL="171450" rtl="0" algn="l">
              <a:lnSpc>
                <a:spcPct val="90000"/>
              </a:lnSpc>
              <a:spcBef>
                <a:spcPts val="750"/>
              </a:spcBef>
              <a:spcAft>
                <a:spcPts val="0"/>
              </a:spcAft>
              <a:buClr>
                <a:schemeClr val="dk1"/>
              </a:buClr>
              <a:buSzPts val="2400"/>
              <a:buFont typeface="Calibri"/>
              <a:buAutoNum type="arabicPeriod"/>
            </a:pPr>
            <a:r>
              <a:rPr b="1" lang="en-US" sz="2400">
                <a:latin typeface="Calibri"/>
                <a:ea typeface="Calibri"/>
                <a:cs typeface="Calibri"/>
                <a:sym typeface="Calibri"/>
              </a:rPr>
              <a:t>Cloud Computing</a:t>
            </a:r>
            <a:endParaRPr/>
          </a:p>
          <a:p>
            <a:pPr indent="-171450" lvl="0" marL="171450" rtl="0" algn="l">
              <a:lnSpc>
                <a:spcPct val="90000"/>
              </a:lnSpc>
              <a:spcBef>
                <a:spcPts val="750"/>
              </a:spcBef>
              <a:spcAft>
                <a:spcPts val="0"/>
              </a:spcAft>
              <a:buClr>
                <a:schemeClr val="dk1"/>
              </a:buClr>
              <a:buSzPts val="2400"/>
              <a:buFont typeface="Calibri"/>
              <a:buAutoNum type="arabicPeriod"/>
            </a:pPr>
            <a:r>
              <a:rPr b="1" lang="en-US" sz="2400">
                <a:latin typeface="Calibri"/>
                <a:ea typeface="Calibri"/>
                <a:cs typeface="Calibri"/>
                <a:sym typeface="Calibri"/>
              </a:rPr>
              <a:t>Cloud-Sourcing</a:t>
            </a:r>
            <a:endParaRPr/>
          </a:p>
          <a:p>
            <a:pPr indent="-171450" lvl="0" marL="171450" rtl="0" algn="l">
              <a:lnSpc>
                <a:spcPct val="90000"/>
              </a:lnSpc>
              <a:spcBef>
                <a:spcPts val="750"/>
              </a:spcBef>
              <a:spcAft>
                <a:spcPts val="0"/>
              </a:spcAft>
              <a:buClr>
                <a:schemeClr val="dk1"/>
              </a:buClr>
              <a:buSzPts val="2400"/>
              <a:buFont typeface="Calibri"/>
              <a:buAutoNum type="arabicPeriod"/>
            </a:pPr>
            <a:r>
              <a:rPr b="1" lang="en-US" sz="2400">
                <a:latin typeface="Calibri"/>
                <a:ea typeface="Calibri"/>
                <a:cs typeface="Calibri"/>
                <a:sym typeface="Calibri"/>
              </a:rPr>
              <a:t>Storage</a:t>
            </a:r>
            <a:endParaRPr/>
          </a:p>
          <a:p>
            <a:pPr indent="-171450" lvl="0" marL="171450" rtl="0" algn="l">
              <a:lnSpc>
                <a:spcPct val="90000"/>
              </a:lnSpc>
              <a:spcBef>
                <a:spcPts val="750"/>
              </a:spcBef>
              <a:spcAft>
                <a:spcPts val="0"/>
              </a:spcAft>
              <a:buClr>
                <a:schemeClr val="dk1"/>
              </a:buClr>
              <a:buSzPts val="2400"/>
              <a:buFont typeface="Calibri"/>
              <a:buAutoNum type="arabicPeriod"/>
            </a:pPr>
            <a:r>
              <a:rPr b="1" lang="en-US" sz="2400">
                <a:latin typeface="Calibri"/>
                <a:ea typeface="Calibri"/>
                <a:cs typeface="Calibri"/>
                <a:sym typeface="Calibri"/>
              </a:rPr>
              <a:t>Advantages</a:t>
            </a:r>
            <a:endParaRPr/>
          </a:p>
          <a:p>
            <a:pPr indent="-171450" lvl="0" marL="171450" rtl="0" algn="l">
              <a:lnSpc>
                <a:spcPct val="90000"/>
              </a:lnSpc>
              <a:spcBef>
                <a:spcPts val="750"/>
              </a:spcBef>
              <a:spcAft>
                <a:spcPts val="0"/>
              </a:spcAft>
              <a:buClr>
                <a:schemeClr val="dk1"/>
              </a:buClr>
              <a:buSzPts val="2400"/>
              <a:buFont typeface="Calibri"/>
              <a:buAutoNum type="arabicPeriod"/>
            </a:pPr>
            <a:r>
              <a:rPr b="1" lang="en-US" sz="2400">
                <a:latin typeface="Calibri"/>
                <a:ea typeface="Calibri"/>
                <a:cs typeface="Calibri"/>
                <a:sym typeface="Calibri"/>
              </a:rPr>
              <a:t>Disadvantages</a:t>
            </a:r>
            <a:endParaRPr/>
          </a:p>
          <a:p>
            <a:pPr indent="-19050" lvl="0" marL="171450" rtl="0" algn="l">
              <a:lnSpc>
                <a:spcPct val="90000"/>
              </a:lnSpc>
              <a:spcBef>
                <a:spcPts val="750"/>
              </a:spcBef>
              <a:spcAft>
                <a:spcPts val="0"/>
              </a:spcAft>
              <a:buClr>
                <a:schemeClr val="dk1"/>
              </a:buClr>
              <a:buSzPts val="2400"/>
              <a:buFont typeface="Calibri"/>
              <a:buNone/>
            </a:pPr>
            <a:r>
              <a:t/>
            </a:r>
            <a:endParaRPr b="1" sz="2400">
              <a:latin typeface="Calibri"/>
              <a:ea typeface="Calibri"/>
              <a:cs typeface="Calibri"/>
              <a:sym typeface="Calibri"/>
            </a:endParaRPr>
          </a:p>
        </p:txBody>
      </p:sp>
      <p:sp>
        <p:nvSpPr>
          <p:cNvPr id="154" name="Google Shape;154;p7"/>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55" name="Google Shape;155;p7"/>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56" name="Google Shape;156;p7"/>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57" name="Google Shape;157;p7"/>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8"/>
          <p:cNvSpPr txBox="1"/>
          <p:nvPr>
            <p:ph type="title"/>
          </p:nvPr>
        </p:nvSpPr>
        <p:spPr>
          <a:xfrm>
            <a:off x="2744426" y="70037"/>
            <a:ext cx="4478695" cy="53063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Font typeface="Calibri"/>
              <a:buNone/>
            </a:pPr>
            <a:r>
              <a:rPr b="1" lang="en-US" sz="2400">
                <a:latin typeface="Calibri"/>
                <a:ea typeface="Calibri"/>
                <a:cs typeface="Calibri"/>
                <a:sym typeface="Calibri"/>
              </a:rPr>
              <a:t>Importance of the topic</a:t>
            </a:r>
            <a:endParaRPr sz="2400">
              <a:latin typeface="Calibri"/>
              <a:ea typeface="Calibri"/>
              <a:cs typeface="Calibri"/>
              <a:sym typeface="Calibri"/>
            </a:endParaRPr>
          </a:p>
        </p:txBody>
      </p:sp>
      <p:sp>
        <p:nvSpPr>
          <p:cNvPr id="163" name="Google Shape;163;p8"/>
          <p:cNvSpPr txBox="1"/>
          <p:nvPr>
            <p:ph idx="1" type="body"/>
          </p:nvPr>
        </p:nvSpPr>
        <p:spPr>
          <a:xfrm>
            <a:off x="457200" y="1046747"/>
            <a:ext cx="8229600" cy="3723425"/>
          </a:xfrm>
          <a:prstGeom prst="rect">
            <a:avLst/>
          </a:prstGeom>
          <a:noFill/>
          <a:ln>
            <a:noFill/>
          </a:ln>
        </p:spPr>
        <p:txBody>
          <a:bodyPr anchorCtr="0" anchor="t" bIns="45700" lIns="91425" spcFirstLastPara="1" rIns="91425" wrap="square" tIns="45700">
            <a:normAutofit/>
          </a:bodyPr>
          <a:lstStyle/>
          <a:p>
            <a:pPr indent="-171450" lvl="0" marL="171450" rtl="0" algn="just">
              <a:lnSpc>
                <a:spcPct val="90000"/>
              </a:lnSpc>
              <a:spcBef>
                <a:spcPts val="0"/>
              </a:spcBef>
              <a:spcAft>
                <a:spcPts val="0"/>
              </a:spcAft>
              <a:buClr>
                <a:schemeClr val="dk1"/>
              </a:buClr>
              <a:buSzPts val="2000"/>
              <a:buChar char="•"/>
            </a:pPr>
            <a:r>
              <a:rPr b="1" lang="en-US" sz="2000"/>
              <a:t>Scalability and Flexibility</a:t>
            </a:r>
            <a:r>
              <a:rPr lang="en-US" sz="2000"/>
              <a:t>: Cloud computing provides on-demand access to a vast range of resources, enabling businesses to scale up or down based on their needs.</a:t>
            </a:r>
            <a:endParaRPr/>
          </a:p>
          <a:p>
            <a:pPr indent="-171450" lvl="0" marL="171450" rtl="0" algn="just">
              <a:lnSpc>
                <a:spcPct val="90000"/>
              </a:lnSpc>
              <a:spcBef>
                <a:spcPts val="750"/>
              </a:spcBef>
              <a:spcAft>
                <a:spcPts val="0"/>
              </a:spcAft>
              <a:buClr>
                <a:schemeClr val="dk1"/>
              </a:buClr>
              <a:buSzPts val="2000"/>
              <a:buChar char="•"/>
            </a:pPr>
            <a:r>
              <a:rPr b="1" lang="en-US" sz="2000"/>
              <a:t>Cost Efficiency</a:t>
            </a:r>
            <a:r>
              <a:rPr lang="en-US" sz="2000"/>
              <a:t>: By using cloud services, businesses can significantly reduce costs associated with maintaining and upgrading physical hardware.</a:t>
            </a:r>
            <a:endParaRPr/>
          </a:p>
          <a:p>
            <a:pPr indent="-171450" lvl="0" marL="171450" rtl="0" algn="just">
              <a:lnSpc>
                <a:spcPct val="90000"/>
              </a:lnSpc>
              <a:spcBef>
                <a:spcPts val="750"/>
              </a:spcBef>
              <a:spcAft>
                <a:spcPts val="0"/>
              </a:spcAft>
              <a:buClr>
                <a:schemeClr val="dk1"/>
              </a:buClr>
              <a:buSzPts val="2000"/>
              <a:buChar char="•"/>
            </a:pPr>
            <a:r>
              <a:rPr b="1" lang="en-US" sz="2000"/>
              <a:t>Accessibility and Collaboration</a:t>
            </a:r>
            <a:r>
              <a:rPr lang="en-US" sz="2000"/>
              <a:t>: Cloud computing allows users to access data and applications from any device with an internet connection, facilitating remote work and global collaboration. This enhances productivity, supports flexible work environments, and enables real-time collaboration across teams and locations.</a:t>
            </a:r>
            <a:endParaRPr sz="2000"/>
          </a:p>
        </p:txBody>
      </p:sp>
      <p:sp>
        <p:nvSpPr>
          <p:cNvPr id="164" name="Google Shape;164;p8"/>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65" name="Google Shape;165;p8"/>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66" name="Google Shape;166;p8"/>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67" name="Google Shape;167;p8"/>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9"/>
          <p:cNvSpPr txBox="1"/>
          <p:nvPr>
            <p:ph type="title"/>
          </p:nvPr>
        </p:nvSpPr>
        <p:spPr>
          <a:xfrm>
            <a:off x="2744426" y="70036"/>
            <a:ext cx="4478695" cy="59477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Font typeface="Calibri"/>
              <a:buNone/>
            </a:pPr>
            <a:r>
              <a:rPr b="1" lang="en-US" sz="2400">
                <a:latin typeface="Calibri"/>
                <a:ea typeface="Calibri"/>
                <a:cs typeface="Calibri"/>
                <a:sym typeface="Calibri"/>
              </a:rPr>
              <a:t>Detail Topics</a:t>
            </a:r>
            <a:endParaRPr sz="2400">
              <a:latin typeface="Calibri"/>
              <a:ea typeface="Calibri"/>
              <a:cs typeface="Calibri"/>
              <a:sym typeface="Calibri"/>
            </a:endParaRPr>
          </a:p>
        </p:txBody>
      </p:sp>
      <p:sp>
        <p:nvSpPr>
          <p:cNvPr id="173" name="Google Shape;173;p9"/>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fontScale="55000" lnSpcReduction="20000"/>
          </a:bodyPr>
          <a:lstStyle/>
          <a:p>
            <a:pPr indent="0" lvl="0" marL="12065" rtl="0" algn="l">
              <a:lnSpc>
                <a:spcPct val="100000"/>
              </a:lnSpc>
              <a:spcBef>
                <a:spcPts val="0"/>
              </a:spcBef>
              <a:spcAft>
                <a:spcPts val="0"/>
              </a:spcAft>
              <a:buClr>
                <a:schemeClr val="dk1"/>
              </a:buClr>
              <a:buSzPct val="100000"/>
              <a:buNone/>
            </a:pPr>
            <a:r>
              <a:rPr lang="en-US" sz="2800">
                <a:latin typeface="Calibri"/>
                <a:ea typeface="Calibri"/>
                <a:cs typeface="Calibri"/>
                <a:sym typeface="Calibri"/>
              </a:rPr>
              <a:t>The ACM </a:t>
            </a:r>
            <a:r>
              <a:rPr i="1" lang="en-US" sz="2800">
                <a:latin typeface="Calibri"/>
                <a:ea typeface="Calibri"/>
                <a:cs typeface="Calibri"/>
                <a:sym typeface="Calibri"/>
              </a:rPr>
              <a:t>Computing Curricula 2005 </a:t>
            </a:r>
            <a:r>
              <a:rPr lang="en-US" sz="2800">
                <a:latin typeface="Calibri"/>
                <a:ea typeface="Calibri"/>
                <a:cs typeface="Calibri"/>
                <a:sym typeface="Calibri"/>
              </a:rPr>
              <a:t>defined "computing" as</a:t>
            </a:r>
            <a:endParaRPr sz="2800">
              <a:latin typeface="Calibri"/>
              <a:ea typeface="Calibri"/>
              <a:cs typeface="Calibri"/>
              <a:sym typeface="Calibri"/>
            </a:endParaRPr>
          </a:p>
          <a:p>
            <a:pPr indent="-59689" lvl="0" marL="171450" rtl="0" algn="l">
              <a:lnSpc>
                <a:spcPct val="100000"/>
              </a:lnSpc>
              <a:spcBef>
                <a:spcPts val="55"/>
              </a:spcBef>
              <a:spcAft>
                <a:spcPts val="0"/>
              </a:spcAft>
              <a:buClr>
                <a:schemeClr val="dk1"/>
              </a:buClr>
              <a:buSzPct val="100000"/>
              <a:buNone/>
            </a:pPr>
            <a:r>
              <a:t/>
            </a:r>
            <a:endParaRPr sz="3200">
              <a:latin typeface="Calibri"/>
              <a:ea typeface="Calibri"/>
              <a:cs typeface="Calibri"/>
              <a:sym typeface="Calibri"/>
            </a:endParaRPr>
          </a:p>
          <a:p>
            <a:pPr indent="-12700" lvl="0" marL="12700" marR="5080" rtl="0" algn="just">
              <a:lnSpc>
                <a:spcPct val="170000"/>
              </a:lnSpc>
              <a:spcBef>
                <a:spcPts val="750"/>
              </a:spcBef>
              <a:spcAft>
                <a:spcPts val="0"/>
              </a:spcAft>
              <a:buClr>
                <a:schemeClr val="dk1"/>
              </a:buClr>
              <a:buSzPct val="100000"/>
              <a:buChar char="•"/>
            </a:pPr>
            <a:r>
              <a:rPr lang="en-US" sz="2800"/>
              <a:t>"In a general way, we can define computing to mean any goal-oriented  activity requiring, benefiting from, or creating computers. Thus,  computing includes designing and building hardware and software  systems for a wide range of purposes; processing, structuring, and  managing various kinds of information; doing scientific studies using  computers; making computer systems behave intelligently; creating  and using communications and entertainment media; finding and  gathering information relevant to any particular purpose, and so on.  The list is virtually endless, and the possibilities are vast."</a:t>
            </a:r>
            <a:endParaRPr sz="2800"/>
          </a:p>
          <a:p>
            <a:pPr indent="-108585" lvl="0" marL="171450" rtl="0" algn="l">
              <a:lnSpc>
                <a:spcPct val="90000"/>
              </a:lnSpc>
              <a:spcBef>
                <a:spcPts val="750"/>
              </a:spcBef>
              <a:spcAft>
                <a:spcPts val="0"/>
              </a:spcAft>
              <a:buClr>
                <a:schemeClr val="dk1"/>
              </a:buClr>
              <a:buSzPct val="100000"/>
              <a:buNone/>
            </a:pPr>
            <a:r>
              <a:t/>
            </a:r>
            <a:endParaRPr sz="1800"/>
          </a:p>
        </p:txBody>
      </p:sp>
      <p:sp>
        <p:nvSpPr>
          <p:cNvPr id="174" name="Google Shape;174;p9"/>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75" name="Google Shape;175;p9"/>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76" name="Google Shape;176;p9"/>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77" name="Google Shape;177;p9"/>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0"/>
          <p:cNvSpPr txBox="1"/>
          <p:nvPr>
            <p:ph type="title"/>
          </p:nvPr>
        </p:nvSpPr>
        <p:spPr>
          <a:xfrm>
            <a:off x="2744426" y="70036"/>
            <a:ext cx="4478695" cy="59477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Font typeface="Calibri"/>
              <a:buNone/>
            </a:pPr>
            <a:r>
              <a:rPr b="1" lang="en-US" sz="2400">
                <a:latin typeface="Calibri"/>
                <a:ea typeface="Calibri"/>
                <a:cs typeface="Calibri"/>
                <a:sym typeface="Calibri"/>
              </a:rPr>
              <a:t>Detail Topics</a:t>
            </a:r>
            <a:endParaRPr sz="2400">
              <a:latin typeface="Calibri"/>
              <a:ea typeface="Calibri"/>
              <a:cs typeface="Calibri"/>
              <a:sym typeface="Calibri"/>
            </a:endParaRPr>
          </a:p>
        </p:txBody>
      </p:sp>
      <p:sp>
        <p:nvSpPr>
          <p:cNvPr id="183" name="Google Shape;183;p10"/>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fontScale="85000" lnSpcReduction="20000"/>
          </a:bodyPr>
          <a:lstStyle/>
          <a:p>
            <a:pPr indent="0" lvl="0" marL="12065" rtl="0" algn="l">
              <a:lnSpc>
                <a:spcPct val="100000"/>
              </a:lnSpc>
              <a:spcBef>
                <a:spcPts val="0"/>
              </a:spcBef>
              <a:spcAft>
                <a:spcPts val="0"/>
              </a:spcAft>
              <a:buClr>
                <a:schemeClr val="dk1"/>
              </a:buClr>
              <a:buSzPct val="100000"/>
              <a:buNone/>
            </a:pPr>
            <a:r>
              <a:rPr lang="en-US" sz="2800">
                <a:latin typeface="Calibri"/>
                <a:ea typeface="Calibri"/>
                <a:cs typeface="Calibri"/>
                <a:sym typeface="Calibri"/>
              </a:rPr>
              <a:t>Cloud Computing</a:t>
            </a:r>
            <a:endParaRPr sz="2800">
              <a:latin typeface="Calibri"/>
              <a:ea typeface="Calibri"/>
              <a:cs typeface="Calibri"/>
              <a:sym typeface="Calibri"/>
            </a:endParaRPr>
          </a:p>
          <a:p>
            <a:pPr indent="0" lvl="0" marL="171450" rtl="0" algn="l">
              <a:lnSpc>
                <a:spcPct val="100000"/>
              </a:lnSpc>
              <a:spcBef>
                <a:spcPts val="55"/>
              </a:spcBef>
              <a:spcAft>
                <a:spcPts val="0"/>
              </a:spcAft>
              <a:buClr>
                <a:schemeClr val="dk1"/>
              </a:buClr>
              <a:buSzPct val="100000"/>
              <a:buNone/>
            </a:pPr>
            <a:r>
              <a:t/>
            </a:r>
            <a:endParaRPr sz="3200">
              <a:latin typeface="Calibri"/>
              <a:ea typeface="Calibri"/>
              <a:cs typeface="Calibri"/>
              <a:sym typeface="Calibri"/>
            </a:endParaRPr>
          </a:p>
          <a:p>
            <a:pPr indent="-12700" lvl="0" marL="12700" marR="5080" rtl="0" algn="just">
              <a:lnSpc>
                <a:spcPct val="170000"/>
              </a:lnSpc>
              <a:spcBef>
                <a:spcPts val="750"/>
              </a:spcBef>
              <a:spcAft>
                <a:spcPts val="0"/>
              </a:spcAft>
              <a:buClr>
                <a:schemeClr val="dk1"/>
              </a:buClr>
              <a:buSzPct val="100000"/>
              <a:buChar char="•"/>
            </a:pPr>
            <a:r>
              <a:rPr lang="en-US" sz="2000"/>
              <a:t>Cloud computing is a transformative technology that enables users to access, store, and manage data and applications over the internet, rather than relying on local servers or personal computers. It provides a variety of computing services—such as computing power, storage, databases, and software—through the internet, allowing businesses and individuals to use these resources on-demand without the need to invest heavily in infrastructure or hardware.</a:t>
            </a:r>
            <a:endParaRPr sz="1800"/>
          </a:p>
        </p:txBody>
      </p:sp>
      <p:sp>
        <p:nvSpPr>
          <p:cNvPr id="184" name="Google Shape;184;p10"/>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85" name="Google Shape;185;p10"/>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86" name="Google Shape;186;p10"/>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87" name="Google Shape;187;p10"/>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1"/>
          <p:cNvSpPr txBox="1"/>
          <p:nvPr>
            <p:ph type="title"/>
          </p:nvPr>
        </p:nvSpPr>
        <p:spPr>
          <a:xfrm>
            <a:off x="2971800" y="259772"/>
            <a:ext cx="2885440" cy="382156"/>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chemeClr val="dk1"/>
              </a:buClr>
              <a:buSzPts val="2400"/>
              <a:buFont typeface="Calibri"/>
              <a:buNone/>
            </a:pPr>
            <a:r>
              <a:rPr b="1" lang="en-US" sz="2400"/>
              <a:t>Cloud-Sourcing</a:t>
            </a:r>
            <a:endParaRPr b="1" sz="2400"/>
          </a:p>
        </p:txBody>
      </p:sp>
      <p:sp>
        <p:nvSpPr>
          <p:cNvPr id="193" name="Google Shape;193;p11"/>
          <p:cNvSpPr txBox="1"/>
          <p:nvPr>
            <p:ph idx="12" type="sldNum"/>
          </p:nvPr>
        </p:nvSpPr>
        <p:spPr>
          <a:xfrm>
            <a:off x="6457950" y="4767263"/>
            <a:ext cx="2057400" cy="273844"/>
          </a:xfrm>
          <a:prstGeom prst="rect">
            <a:avLst/>
          </a:prstGeom>
          <a:noFill/>
          <a:ln>
            <a:noFill/>
          </a:ln>
        </p:spPr>
        <p:txBody>
          <a:bodyPr anchorCtr="0" anchor="ctr" bIns="0" lIns="0" spcFirstLastPara="1" rIns="0" wrap="square" tIns="5700">
            <a:spAutoFit/>
          </a:bodyPr>
          <a:lstStyle/>
          <a:p>
            <a:pPr indent="0" lvl="0" marL="38100" rtl="0" algn="r">
              <a:lnSpc>
                <a:spcPct val="100000"/>
              </a:lnSpc>
              <a:spcBef>
                <a:spcPts val="0"/>
              </a:spcBef>
              <a:spcAft>
                <a:spcPts val="0"/>
              </a:spcAft>
              <a:buNone/>
            </a:pPr>
            <a:r>
              <a:rPr lang="en-US"/>
              <a:t>14</a:t>
            </a:r>
            <a:endParaRPr/>
          </a:p>
        </p:txBody>
      </p:sp>
      <p:sp>
        <p:nvSpPr>
          <p:cNvPr id="194" name="Google Shape;194;p11"/>
          <p:cNvSpPr txBox="1"/>
          <p:nvPr/>
        </p:nvSpPr>
        <p:spPr>
          <a:xfrm>
            <a:off x="521017" y="971550"/>
            <a:ext cx="5015865" cy="3721100"/>
          </a:xfrm>
          <a:prstGeom prst="rect">
            <a:avLst/>
          </a:prstGeom>
          <a:noFill/>
          <a:ln>
            <a:noFill/>
          </a:ln>
        </p:spPr>
        <p:txBody>
          <a:bodyPr anchorCtr="0" anchor="t" bIns="0" lIns="0" spcFirstLastPara="1" rIns="0" wrap="square" tIns="76825">
            <a:spAutoFit/>
          </a:bodyPr>
          <a:lstStyle/>
          <a:p>
            <a:pPr indent="-342900" lvl="0" marL="355600" marR="0" rtl="0" algn="l">
              <a:lnSpc>
                <a:spcPct val="100000"/>
              </a:lnSpc>
              <a:spcBef>
                <a:spcPts val="0"/>
              </a:spcBef>
              <a:spcAft>
                <a:spcPts val="0"/>
              </a:spcAft>
              <a:buClr>
                <a:schemeClr val="dk1"/>
              </a:buClr>
              <a:buSzPts val="1600"/>
              <a:buFont typeface="Arial"/>
              <a:buChar char="•"/>
            </a:pPr>
            <a:r>
              <a:rPr b="1" lang="en-US" sz="1600">
                <a:solidFill>
                  <a:schemeClr val="dk1"/>
                </a:solidFill>
                <a:latin typeface="Calibri"/>
                <a:ea typeface="Calibri"/>
                <a:cs typeface="Calibri"/>
                <a:sym typeface="Calibri"/>
              </a:rPr>
              <a:t>Why is it becoming important ?</a:t>
            </a:r>
            <a:endParaRPr sz="1600">
              <a:solidFill>
                <a:schemeClr val="dk1"/>
              </a:solidFill>
              <a:latin typeface="Calibri"/>
              <a:ea typeface="Calibri"/>
              <a:cs typeface="Calibri"/>
              <a:sym typeface="Calibri"/>
            </a:endParaRPr>
          </a:p>
          <a:p>
            <a:pPr indent="-287019" lvl="1" marL="756285" marR="0" rtl="0" algn="l">
              <a:lnSpc>
                <a:spcPct val="100000"/>
              </a:lnSpc>
              <a:spcBef>
                <a:spcPts val="509"/>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Using high-scale/low-cost providers,</a:t>
            </a:r>
            <a:endParaRPr b="0" i="0" sz="1600" u="none" cap="none" strike="noStrike">
              <a:solidFill>
                <a:schemeClr val="dk1"/>
              </a:solidFill>
              <a:latin typeface="Calibri"/>
              <a:ea typeface="Calibri"/>
              <a:cs typeface="Calibri"/>
              <a:sym typeface="Calibri"/>
            </a:endParaRPr>
          </a:p>
          <a:p>
            <a:pPr indent="-287019" lvl="1" marL="756285" marR="0" rtl="0" algn="l">
              <a:lnSpc>
                <a:spcPct val="100000"/>
              </a:lnSpc>
              <a:spcBef>
                <a:spcPts val="500"/>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Any time/place access via web browser,</a:t>
            </a:r>
            <a:endParaRPr b="0" i="0" sz="1600" u="none" cap="none" strike="noStrike">
              <a:solidFill>
                <a:schemeClr val="dk1"/>
              </a:solidFill>
              <a:latin typeface="Calibri"/>
              <a:ea typeface="Calibri"/>
              <a:cs typeface="Calibri"/>
              <a:sym typeface="Calibri"/>
            </a:endParaRPr>
          </a:p>
          <a:p>
            <a:pPr indent="-287019" lvl="1" marL="756285" marR="0" rtl="0" algn="l">
              <a:lnSpc>
                <a:spcPct val="100000"/>
              </a:lnSpc>
              <a:spcBef>
                <a:spcPts val="505"/>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Rapid scalability; incremental cost and load sharing,</a:t>
            </a:r>
            <a:endParaRPr b="0" i="0" sz="1600" u="none" cap="none" strike="noStrike">
              <a:solidFill>
                <a:schemeClr val="dk1"/>
              </a:solidFill>
              <a:latin typeface="Calibri"/>
              <a:ea typeface="Calibri"/>
              <a:cs typeface="Calibri"/>
              <a:sym typeface="Calibri"/>
            </a:endParaRPr>
          </a:p>
          <a:p>
            <a:pPr indent="-287019" lvl="1" marL="756285" marR="0" rtl="0" algn="l">
              <a:lnSpc>
                <a:spcPct val="100000"/>
              </a:lnSpc>
              <a:spcBef>
                <a:spcPts val="505"/>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Can forget need to focus on local IT.</a:t>
            </a:r>
            <a:endParaRPr b="0" i="0" sz="1600" u="none" cap="none" strike="noStrike">
              <a:solidFill>
                <a:schemeClr val="dk1"/>
              </a:solidFill>
              <a:latin typeface="Calibri"/>
              <a:ea typeface="Calibri"/>
              <a:cs typeface="Calibri"/>
              <a:sym typeface="Calibri"/>
            </a:endParaRPr>
          </a:p>
          <a:p>
            <a:pPr indent="-342900" lvl="0" marL="355600" marR="0" rtl="0" algn="l">
              <a:lnSpc>
                <a:spcPct val="100000"/>
              </a:lnSpc>
              <a:spcBef>
                <a:spcPts val="505"/>
              </a:spcBef>
              <a:spcAft>
                <a:spcPts val="0"/>
              </a:spcAft>
              <a:buClr>
                <a:schemeClr val="dk1"/>
              </a:buClr>
              <a:buSzPts val="1600"/>
              <a:buFont typeface="Arial"/>
              <a:buChar char="•"/>
            </a:pPr>
            <a:r>
              <a:rPr b="1" lang="en-US" sz="1600">
                <a:solidFill>
                  <a:schemeClr val="dk1"/>
                </a:solidFill>
                <a:latin typeface="Calibri"/>
                <a:ea typeface="Calibri"/>
                <a:cs typeface="Calibri"/>
                <a:sym typeface="Calibri"/>
              </a:rPr>
              <a:t>Concerns:</a:t>
            </a:r>
            <a:endParaRPr sz="1600">
              <a:solidFill>
                <a:schemeClr val="dk1"/>
              </a:solidFill>
              <a:latin typeface="Calibri"/>
              <a:ea typeface="Calibri"/>
              <a:cs typeface="Calibri"/>
              <a:sym typeface="Calibri"/>
            </a:endParaRPr>
          </a:p>
          <a:p>
            <a:pPr indent="-287019" lvl="1" marL="756285" marR="0" rtl="0" algn="l">
              <a:lnSpc>
                <a:spcPct val="100000"/>
              </a:lnSpc>
              <a:spcBef>
                <a:spcPts val="505"/>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Performance, reliability, and SLAs,</a:t>
            </a:r>
            <a:endParaRPr b="0" i="0" sz="1600" u="none" cap="none" strike="noStrike">
              <a:solidFill>
                <a:schemeClr val="dk1"/>
              </a:solidFill>
              <a:latin typeface="Calibri"/>
              <a:ea typeface="Calibri"/>
              <a:cs typeface="Calibri"/>
              <a:sym typeface="Calibri"/>
            </a:endParaRPr>
          </a:p>
          <a:p>
            <a:pPr indent="-287019" lvl="1" marL="756285" marR="0" rtl="0" algn="l">
              <a:lnSpc>
                <a:spcPct val="100000"/>
              </a:lnSpc>
              <a:spcBef>
                <a:spcPts val="505"/>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Control of data, and service parameters,</a:t>
            </a:r>
            <a:endParaRPr b="0" i="0" sz="1600" u="none" cap="none" strike="noStrike">
              <a:solidFill>
                <a:schemeClr val="dk1"/>
              </a:solidFill>
              <a:latin typeface="Calibri"/>
              <a:ea typeface="Calibri"/>
              <a:cs typeface="Calibri"/>
              <a:sym typeface="Calibri"/>
            </a:endParaRPr>
          </a:p>
          <a:p>
            <a:pPr indent="-287019" lvl="1" marL="756285" marR="0" rtl="0" algn="l">
              <a:lnSpc>
                <a:spcPct val="100000"/>
              </a:lnSpc>
              <a:spcBef>
                <a:spcPts val="505"/>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Application features and choices,</a:t>
            </a:r>
            <a:endParaRPr b="0" i="0" sz="1600" u="none" cap="none" strike="noStrike">
              <a:solidFill>
                <a:schemeClr val="dk1"/>
              </a:solidFill>
              <a:latin typeface="Calibri"/>
              <a:ea typeface="Calibri"/>
              <a:cs typeface="Calibri"/>
              <a:sym typeface="Calibri"/>
            </a:endParaRPr>
          </a:p>
          <a:p>
            <a:pPr indent="-287019" lvl="1" marL="756285" marR="0" rtl="0" algn="l">
              <a:lnSpc>
                <a:spcPct val="100000"/>
              </a:lnSpc>
              <a:spcBef>
                <a:spcPts val="505"/>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Interaction between Cloud providers,</a:t>
            </a:r>
            <a:endParaRPr b="0" i="0" sz="1600" u="none" cap="none" strike="noStrike">
              <a:solidFill>
                <a:schemeClr val="dk1"/>
              </a:solidFill>
              <a:latin typeface="Calibri"/>
              <a:ea typeface="Calibri"/>
              <a:cs typeface="Calibri"/>
              <a:sym typeface="Calibri"/>
            </a:endParaRPr>
          </a:p>
          <a:p>
            <a:pPr indent="-287019" lvl="1" marL="756285" marR="0" rtl="0" algn="l">
              <a:lnSpc>
                <a:spcPct val="100000"/>
              </a:lnSpc>
              <a:spcBef>
                <a:spcPts val="505"/>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No standard API – mix of SOAP and REST!</a:t>
            </a:r>
            <a:endParaRPr b="0" i="0" sz="1600" u="none" cap="none" strike="noStrike">
              <a:solidFill>
                <a:schemeClr val="dk1"/>
              </a:solidFill>
              <a:latin typeface="Calibri"/>
              <a:ea typeface="Calibri"/>
              <a:cs typeface="Calibri"/>
              <a:sym typeface="Calibri"/>
            </a:endParaRPr>
          </a:p>
          <a:p>
            <a:pPr indent="-287654" lvl="1" marL="756285" marR="0" rtl="0" algn="l">
              <a:lnSpc>
                <a:spcPct val="100000"/>
              </a:lnSpc>
              <a:spcBef>
                <a:spcPts val="505"/>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Privacy, security, compliance, trust…</a:t>
            </a:r>
            <a:endParaRPr b="0" i="0" sz="1600" u="none" cap="none" strike="noStrike">
              <a:solidFill>
                <a:schemeClr val="dk1"/>
              </a:solidFill>
              <a:latin typeface="Calibri"/>
              <a:ea typeface="Calibri"/>
              <a:cs typeface="Calibri"/>
              <a:sym typeface="Calibri"/>
            </a:endParaRPr>
          </a:p>
        </p:txBody>
      </p:sp>
      <p:sp>
        <p:nvSpPr>
          <p:cNvPr id="195" name="Google Shape;195;p11"/>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2"/>
          <p:cNvSpPr txBox="1"/>
          <p:nvPr>
            <p:ph type="title"/>
          </p:nvPr>
        </p:nvSpPr>
        <p:spPr>
          <a:xfrm>
            <a:off x="2908554" y="415235"/>
            <a:ext cx="2943225" cy="381515"/>
          </a:xfrm>
          <a:prstGeom prst="rect">
            <a:avLst/>
          </a:prstGeom>
          <a:noFill/>
          <a:ln>
            <a:noFill/>
          </a:ln>
        </p:spPr>
        <p:txBody>
          <a:bodyPr anchorCtr="0" anchor="ctr" bIns="0" lIns="0" spcFirstLastPara="1" rIns="0" wrap="square" tIns="12050">
            <a:spAutoFit/>
          </a:bodyPr>
          <a:lstStyle/>
          <a:p>
            <a:pPr indent="0" lvl="0" marL="12700" rtl="0" algn="l">
              <a:lnSpc>
                <a:spcPct val="100000"/>
              </a:lnSpc>
              <a:spcBef>
                <a:spcPts val="0"/>
              </a:spcBef>
              <a:spcAft>
                <a:spcPts val="0"/>
              </a:spcAft>
              <a:buClr>
                <a:schemeClr val="dk1"/>
              </a:buClr>
              <a:buSzPts val="2400"/>
              <a:buFont typeface="Calibri"/>
              <a:buNone/>
            </a:pPr>
            <a:r>
              <a:rPr b="1" lang="en-US" sz="2400"/>
              <a:t>Cloud Storage</a:t>
            </a:r>
            <a:endParaRPr b="1" sz="2400"/>
          </a:p>
        </p:txBody>
      </p:sp>
      <p:sp>
        <p:nvSpPr>
          <p:cNvPr id="201" name="Google Shape;201;p12"/>
          <p:cNvSpPr txBox="1"/>
          <p:nvPr>
            <p:ph idx="12" type="sldNum"/>
          </p:nvPr>
        </p:nvSpPr>
        <p:spPr>
          <a:xfrm>
            <a:off x="6457950" y="4767263"/>
            <a:ext cx="2057400" cy="273844"/>
          </a:xfrm>
          <a:prstGeom prst="rect">
            <a:avLst/>
          </a:prstGeom>
          <a:noFill/>
          <a:ln>
            <a:noFill/>
          </a:ln>
        </p:spPr>
        <p:txBody>
          <a:bodyPr anchorCtr="0" anchor="ctr" bIns="0" lIns="0" spcFirstLastPara="1" rIns="0" wrap="square" tIns="5700">
            <a:spAutoFit/>
          </a:bodyPr>
          <a:lstStyle/>
          <a:p>
            <a:pPr indent="0" lvl="0" marL="38100" rtl="0" algn="r">
              <a:lnSpc>
                <a:spcPct val="100000"/>
              </a:lnSpc>
              <a:spcBef>
                <a:spcPts val="0"/>
              </a:spcBef>
              <a:spcAft>
                <a:spcPts val="0"/>
              </a:spcAft>
              <a:buNone/>
            </a:pPr>
            <a:r>
              <a:rPr lang="en-US"/>
              <a:t>15</a:t>
            </a:r>
            <a:endParaRPr/>
          </a:p>
        </p:txBody>
      </p:sp>
      <p:sp>
        <p:nvSpPr>
          <p:cNvPr id="202" name="Google Shape;202;p12"/>
          <p:cNvSpPr txBox="1"/>
          <p:nvPr/>
        </p:nvSpPr>
        <p:spPr>
          <a:xfrm>
            <a:off x="307340" y="1064208"/>
            <a:ext cx="8599805" cy="2477770"/>
          </a:xfrm>
          <a:prstGeom prst="rect">
            <a:avLst/>
          </a:prstGeom>
          <a:noFill/>
          <a:ln>
            <a:noFill/>
          </a:ln>
        </p:spPr>
        <p:txBody>
          <a:bodyPr anchorCtr="0" anchor="t" bIns="0" lIns="0" spcFirstLastPara="1" rIns="0" wrap="square" tIns="13325">
            <a:spAutoFit/>
          </a:bodyPr>
          <a:lstStyle/>
          <a:p>
            <a:pPr indent="-342900" lvl="0" marL="355600" marR="0" rtl="0" algn="l">
              <a:lnSpc>
                <a:spcPct val="100000"/>
              </a:lnSpc>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Several large Web companies are now exploiting the fact that they have data</a:t>
            </a:r>
            <a:endParaRPr sz="2000">
              <a:solidFill>
                <a:schemeClr val="dk1"/>
              </a:solidFill>
              <a:latin typeface="Calibri"/>
              <a:ea typeface="Calibri"/>
              <a:cs typeface="Calibri"/>
              <a:sym typeface="Calibri"/>
            </a:endParaRPr>
          </a:p>
          <a:p>
            <a:pPr indent="0" lvl="0" marL="355600" marR="0" rtl="0" algn="l">
              <a:lnSpc>
                <a:spcPct val="100000"/>
              </a:lnSpc>
              <a:spcBef>
                <a:spcPts val="0"/>
              </a:spcBef>
              <a:spcAft>
                <a:spcPts val="0"/>
              </a:spcAft>
              <a:buNone/>
            </a:pPr>
            <a:r>
              <a:rPr lang="en-US" sz="2000">
                <a:solidFill>
                  <a:schemeClr val="dk1"/>
                </a:solidFill>
                <a:latin typeface="Calibri"/>
                <a:ea typeface="Calibri"/>
                <a:cs typeface="Calibri"/>
                <a:sym typeface="Calibri"/>
              </a:rPr>
              <a:t>storage capacity that can be hired out to others.</a:t>
            </a:r>
            <a:endParaRPr sz="2000">
              <a:solidFill>
                <a:schemeClr val="dk1"/>
              </a:solidFill>
              <a:latin typeface="Calibri"/>
              <a:ea typeface="Calibri"/>
              <a:cs typeface="Calibri"/>
              <a:sym typeface="Calibri"/>
            </a:endParaRPr>
          </a:p>
          <a:p>
            <a:pPr indent="-287019" lvl="0" marL="756285" marR="483869" rtl="0" algn="l">
              <a:lnSpc>
                <a:spcPct val="100000"/>
              </a:lnSpc>
              <a:spcBef>
                <a:spcPts val="550"/>
              </a:spcBef>
              <a:spcAft>
                <a:spcPts val="0"/>
              </a:spcAft>
              <a:buNone/>
            </a:pPr>
            <a:r>
              <a:rPr lang="en-US" sz="2400">
                <a:solidFill>
                  <a:schemeClr val="dk1"/>
                </a:solidFill>
                <a:latin typeface="Arial"/>
                <a:ea typeface="Arial"/>
                <a:cs typeface="Arial"/>
                <a:sym typeface="Arial"/>
              </a:rPr>
              <a:t>– </a:t>
            </a:r>
            <a:r>
              <a:rPr lang="en-US" sz="2400">
                <a:solidFill>
                  <a:schemeClr val="dk1"/>
                </a:solidFill>
                <a:latin typeface="Calibri"/>
                <a:ea typeface="Calibri"/>
                <a:cs typeface="Calibri"/>
                <a:sym typeface="Calibri"/>
              </a:rPr>
              <a:t>Allows data stored remotely to be temporarily cached on  desktop computers, mobile phones or other Internet-linked  devices.</a:t>
            </a:r>
            <a:endParaRPr sz="2400">
              <a:solidFill>
                <a:schemeClr val="dk1"/>
              </a:solidFill>
              <a:latin typeface="Calibri"/>
              <a:ea typeface="Calibri"/>
              <a:cs typeface="Calibri"/>
              <a:sym typeface="Calibri"/>
            </a:endParaRPr>
          </a:p>
          <a:p>
            <a:pPr indent="-342900" lvl="0" marL="355600" marR="0" rtl="0" algn="l">
              <a:lnSpc>
                <a:spcPct val="100000"/>
              </a:lnSpc>
              <a:spcBef>
                <a:spcPts val="509"/>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Amazon’s Elastic Compute Cloud (EC2) and Simple Storage Solution (S3) are well</a:t>
            </a:r>
            <a:endParaRPr sz="2000">
              <a:solidFill>
                <a:schemeClr val="dk1"/>
              </a:solidFill>
              <a:latin typeface="Calibri"/>
              <a:ea typeface="Calibri"/>
              <a:cs typeface="Calibri"/>
              <a:sym typeface="Calibri"/>
            </a:endParaRPr>
          </a:p>
          <a:p>
            <a:pPr indent="0" lvl="0" marL="355600" marR="0" rtl="0" algn="l">
              <a:lnSpc>
                <a:spcPct val="100000"/>
              </a:lnSpc>
              <a:spcBef>
                <a:spcPts val="0"/>
              </a:spcBef>
              <a:spcAft>
                <a:spcPts val="0"/>
              </a:spcAft>
              <a:buNone/>
            </a:pPr>
            <a:r>
              <a:rPr lang="en-US" sz="2000">
                <a:solidFill>
                  <a:schemeClr val="dk1"/>
                </a:solidFill>
                <a:latin typeface="Calibri"/>
                <a:ea typeface="Calibri"/>
                <a:cs typeface="Calibri"/>
                <a:sym typeface="Calibri"/>
              </a:rPr>
              <a:t>known examples</a:t>
            </a:r>
            <a:endParaRPr sz="2000">
              <a:solidFill>
                <a:schemeClr val="dk1"/>
              </a:solidFill>
              <a:latin typeface="Calibri"/>
              <a:ea typeface="Calibri"/>
              <a:cs typeface="Calibri"/>
              <a:sym typeface="Calibri"/>
            </a:endParaRPr>
          </a:p>
        </p:txBody>
      </p:sp>
      <p:sp>
        <p:nvSpPr>
          <p:cNvPr id="203" name="Google Shape;203;p12"/>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3"/>
          <p:cNvSpPr txBox="1"/>
          <p:nvPr>
            <p:ph type="title"/>
          </p:nvPr>
        </p:nvSpPr>
        <p:spPr>
          <a:xfrm>
            <a:off x="2819400" y="338958"/>
            <a:ext cx="4279899" cy="381515"/>
          </a:xfrm>
          <a:prstGeom prst="rect">
            <a:avLst/>
          </a:prstGeom>
          <a:noFill/>
          <a:ln>
            <a:noFill/>
          </a:ln>
        </p:spPr>
        <p:txBody>
          <a:bodyPr anchorCtr="0" anchor="ctr" bIns="0" lIns="0" spcFirstLastPara="1" rIns="0" wrap="square" tIns="12050">
            <a:spAutoFit/>
          </a:bodyPr>
          <a:lstStyle/>
          <a:p>
            <a:pPr indent="0" lvl="0" marL="12700" rtl="0" algn="l">
              <a:lnSpc>
                <a:spcPct val="100000"/>
              </a:lnSpc>
              <a:spcBef>
                <a:spcPts val="0"/>
              </a:spcBef>
              <a:spcAft>
                <a:spcPts val="0"/>
              </a:spcAft>
              <a:buClr>
                <a:schemeClr val="dk1"/>
              </a:buClr>
              <a:buSzPts val="2400"/>
              <a:buFont typeface="Calibri"/>
              <a:buNone/>
            </a:pPr>
            <a:r>
              <a:rPr b="1" lang="en-US" sz="2400"/>
              <a:t>Advantages of Cloud Computing</a:t>
            </a:r>
            <a:endParaRPr b="1" sz="2400"/>
          </a:p>
        </p:txBody>
      </p:sp>
      <p:sp>
        <p:nvSpPr>
          <p:cNvPr id="209" name="Google Shape;209;p13"/>
          <p:cNvSpPr txBox="1"/>
          <p:nvPr>
            <p:ph idx="12" type="sldNum"/>
          </p:nvPr>
        </p:nvSpPr>
        <p:spPr>
          <a:xfrm>
            <a:off x="6457950" y="4767263"/>
            <a:ext cx="2057400" cy="273844"/>
          </a:xfrm>
          <a:prstGeom prst="rect">
            <a:avLst/>
          </a:prstGeom>
          <a:noFill/>
          <a:ln>
            <a:noFill/>
          </a:ln>
        </p:spPr>
        <p:txBody>
          <a:bodyPr anchorCtr="0" anchor="ctr" bIns="0" lIns="0" spcFirstLastPara="1" rIns="0" wrap="square" tIns="5700">
            <a:spAutoFit/>
          </a:bodyPr>
          <a:lstStyle/>
          <a:p>
            <a:pPr indent="0" lvl="0" marL="38100" rtl="0" algn="r">
              <a:lnSpc>
                <a:spcPct val="100000"/>
              </a:lnSpc>
              <a:spcBef>
                <a:spcPts val="0"/>
              </a:spcBef>
              <a:spcAft>
                <a:spcPts val="0"/>
              </a:spcAft>
              <a:buNone/>
            </a:pPr>
            <a:r>
              <a:rPr lang="en-US"/>
              <a:t>16</a:t>
            </a:r>
            <a:endParaRPr/>
          </a:p>
        </p:txBody>
      </p:sp>
      <p:sp>
        <p:nvSpPr>
          <p:cNvPr id="210" name="Google Shape;210;p13"/>
          <p:cNvSpPr txBox="1"/>
          <p:nvPr/>
        </p:nvSpPr>
        <p:spPr>
          <a:xfrm>
            <a:off x="231140" y="1016013"/>
            <a:ext cx="8599170" cy="3121025"/>
          </a:xfrm>
          <a:prstGeom prst="rect">
            <a:avLst/>
          </a:prstGeom>
          <a:noFill/>
          <a:ln>
            <a:noFill/>
          </a:ln>
        </p:spPr>
        <p:txBody>
          <a:bodyPr anchorCtr="0" anchor="t" bIns="0" lIns="0" spcFirstLastPara="1" rIns="0" wrap="square" tIns="81900">
            <a:spAutoFit/>
          </a:bodyPr>
          <a:lstStyle/>
          <a:p>
            <a:pPr indent="-342900" lvl="0" marL="355600" marR="0" rtl="0" algn="l">
              <a:lnSpc>
                <a:spcPct val="100000"/>
              </a:lnSpc>
              <a:spcBef>
                <a:spcPts val="0"/>
              </a:spcBef>
              <a:spcAft>
                <a:spcPts val="0"/>
              </a:spcAft>
              <a:buClr>
                <a:schemeClr val="dk1"/>
              </a:buClr>
              <a:buSzPts val="2200"/>
              <a:buFont typeface="Arial"/>
              <a:buChar char="•"/>
            </a:pPr>
            <a:r>
              <a:rPr b="1" lang="en-US" sz="2200">
                <a:solidFill>
                  <a:schemeClr val="dk1"/>
                </a:solidFill>
                <a:latin typeface="Calibri"/>
                <a:ea typeface="Calibri"/>
                <a:cs typeface="Calibri"/>
                <a:sym typeface="Calibri"/>
              </a:rPr>
              <a:t>Lower computer costs</a:t>
            </a:r>
            <a:r>
              <a:rPr lang="en-US" sz="2200">
                <a:solidFill>
                  <a:schemeClr val="dk1"/>
                </a:solidFill>
                <a:latin typeface="Calibri"/>
                <a:ea typeface="Calibri"/>
                <a:cs typeface="Calibri"/>
                <a:sym typeface="Calibri"/>
              </a:rPr>
              <a:t>:</a:t>
            </a:r>
            <a:endParaRPr sz="2200">
              <a:solidFill>
                <a:schemeClr val="dk1"/>
              </a:solidFill>
              <a:latin typeface="Calibri"/>
              <a:ea typeface="Calibri"/>
              <a:cs typeface="Calibri"/>
              <a:sym typeface="Calibri"/>
            </a:endParaRPr>
          </a:p>
          <a:p>
            <a:pPr indent="-287019" lvl="1" marL="756285" marR="445769" rtl="0" algn="l">
              <a:lnSpc>
                <a:spcPct val="100000"/>
              </a:lnSpc>
              <a:spcBef>
                <a:spcPts val="445"/>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No need of a high-powered and high-priced computer to run cloud computing's  web-based applications.</a:t>
            </a:r>
            <a:endParaRPr b="0" i="0" sz="1800" u="none" cap="none" strike="noStrike">
              <a:solidFill>
                <a:schemeClr val="dk1"/>
              </a:solidFill>
              <a:latin typeface="Calibri"/>
              <a:ea typeface="Calibri"/>
              <a:cs typeface="Calibri"/>
              <a:sym typeface="Calibri"/>
            </a:endParaRPr>
          </a:p>
          <a:p>
            <a:pPr indent="-287019" lvl="1" marL="756285" marR="5080" rtl="0" algn="l">
              <a:lnSpc>
                <a:spcPct val="100000"/>
              </a:lnSpc>
              <a:spcBef>
                <a:spcPts val="434"/>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Since applications run in the cloud, not on the desktop PC, your desktop PC does not  need the processing power or hard disk space demanded by traditional desktop  software.</a:t>
            </a:r>
            <a:endParaRPr b="0" i="0" sz="1800" u="none" cap="none" strike="noStrike">
              <a:solidFill>
                <a:schemeClr val="dk1"/>
              </a:solidFill>
              <a:latin typeface="Calibri"/>
              <a:ea typeface="Calibri"/>
              <a:cs typeface="Calibri"/>
              <a:sym typeface="Calibri"/>
            </a:endParaRPr>
          </a:p>
          <a:p>
            <a:pPr indent="-287654" lvl="1" marL="756285" marR="0" rtl="0" algn="l">
              <a:lnSpc>
                <a:spcPct val="100000"/>
              </a:lnSpc>
              <a:spcBef>
                <a:spcPts val="434"/>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When you are using web-based applications, your PC can be less expensive, with a</a:t>
            </a:r>
            <a:endParaRPr b="0" i="0" sz="1800" u="none" cap="none" strike="noStrike">
              <a:solidFill>
                <a:schemeClr val="dk1"/>
              </a:solidFill>
              <a:latin typeface="Calibri"/>
              <a:ea typeface="Calibri"/>
              <a:cs typeface="Calibri"/>
              <a:sym typeface="Calibri"/>
            </a:endParaRPr>
          </a:p>
          <a:p>
            <a:pPr indent="0" lvl="0" marL="756285" marR="0" rtl="0" algn="l">
              <a:lnSpc>
                <a:spcPct val="100000"/>
              </a:lnSpc>
              <a:spcBef>
                <a:spcPts val="0"/>
              </a:spcBef>
              <a:spcAft>
                <a:spcPts val="0"/>
              </a:spcAft>
              <a:buNone/>
            </a:pPr>
            <a:r>
              <a:rPr lang="en-US" sz="1800">
                <a:solidFill>
                  <a:schemeClr val="dk1"/>
                </a:solidFill>
                <a:latin typeface="Calibri"/>
                <a:ea typeface="Calibri"/>
                <a:cs typeface="Calibri"/>
                <a:sym typeface="Calibri"/>
              </a:rPr>
              <a:t>smaller hard disk, less memory, more efficient processor...</a:t>
            </a:r>
            <a:endParaRPr sz="1800">
              <a:solidFill>
                <a:schemeClr val="dk1"/>
              </a:solidFill>
              <a:latin typeface="Calibri"/>
              <a:ea typeface="Calibri"/>
              <a:cs typeface="Calibri"/>
              <a:sym typeface="Calibri"/>
            </a:endParaRPr>
          </a:p>
          <a:p>
            <a:pPr indent="-287019" lvl="1" marL="756285" marR="541020" rtl="0" algn="l">
              <a:lnSpc>
                <a:spcPct val="100000"/>
              </a:lnSpc>
              <a:spcBef>
                <a:spcPts val="43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In fact, your PC in this scenario does not even need a CD or DVD drive, as no  software programs have to be loaded and no document files need to be saved.</a:t>
            </a:r>
            <a:endParaRPr b="0" i="0" sz="1800" u="none" cap="none" strike="noStrike">
              <a:solidFill>
                <a:schemeClr val="dk1"/>
              </a:solidFill>
              <a:latin typeface="Calibri"/>
              <a:ea typeface="Calibri"/>
              <a:cs typeface="Calibri"/>
              <a:sym typeface="Calibri"/>
            </a:endParaRPr>
          </a:p>
        </p:txBody>
      </p:sp>
      <p:sp>
        <p:nvSpPr>
          <p:cNvPr id="211" name="Google Shape;211;p13"/>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4"/>
          <p:cNvSpPr txBox="1"/>
          <p:nvPr>
            <p:ph type="title"/>
          </p:nvPr>
        </p:nvSpPr>
        <p:spPr>
          <a:xfrm>
            <a:off x="2590800" y="453258"/>
            <a:ext cx="4089399" cy="381515"/>
          </a:xfrm>
          <a:prstGeom prst="rect">
            <a:avLst/>
          </a:prstGeom>
          <a:noFill/>
          <a:ln>
            <a:noFill/>
          </a:ln>
        </p:spPr>
        <p:txBody>
          <a:bodyPr anchorCtr="0" anchor="ctr" bIns="0" lIns="0" spcFirstLastPara="1" rIns="0" wrap="square" tIns="12050">
            <a:spAutoFit/>
          </a:bodyPr>
          <a:lstStyle/>
          <a:p>
            <a:pPr indent="0" lvl="0" marL="12700" rtl="0" algn="l">
              <a:lnSpc>
                <a:spcPct val="100000"/>
              </a:lnSpc>
              <a:spcBef>
                <a:spcPts val="0"/>
              </a:spcBef>
              <a:spcAft>
                <a:spcPts val="0"/>
              </a:spcAft>
              <a:buClr>
                <a:schemeClr val="dk1"/>
              </a:buClr>
              <a:buSzPts val="2400"/>
              <a:buFont typeface="Calibri"/>
              <a:buNone/>
            </a:pPr>
            <a:r>
              <a:rPr b="1" lang="en-US" sz="2400"/>
              <a:t>Advantages of Cloud Computing</a:t>
            </a:r>
            <a:endParaRPr b="1" sz="2400"/>
          </a:p>
        </p:txBody>
      </p:sp>
      <p:sp>
        <p:nvSpPr>
          <p:cNvPr id="217" name="Google Shape;217;p14"/>
          <p:cNvSpPr txBox="1"/>
          <p:nvPr>
            <p:ph idx="12" type="sldNum"/>
          </p:nvPr>
        </p:nvSpPr>
        <p:spPr>
          <a:xfrm>
            <a:off x="6457950" y="4767263"/>
            <a:ext cx="2057400" cy="273844"/>
          </a:xfrm>
          <a:prstGeom prst="rect">
            <a:avLst/>
          </a:prstGeom>
          <a:noFill/>
          <a:ln>
            <a:noFill/>
          </a:ln>
        </p:spPr>
        <p:txBody>
          <a:bodyPr anchorCtr="0" anchor="ctr" bIns="0" lIns="0" spcFirstLastPara="1" rIns="0" wrap="square" tIns="5700">
            <a:spAutoFit/>
          </a:bodyPr>
          <a:lstStyle/>
          <a:p>
            <a:pPr indent="0" lvl="0" marL="38100" rtl="0" algn="r">
              <a:lnSpc>
                <a:spcPct val="100000"/>
              </a:lnSpc>
              <a:spcBef>
                <a:spcPts val="0"/>
              </a:spcBef>
              <a:spcAft>
                <a:spcPts val="0"/>
              </a:spcAft>
              <a:buNone/>
            </a:pPr>
            <a:r>
              <a:rPr lang="en-US"/>
              <a:t>17</a:t>
            </a:r>
            <a:endParaRPr/>
          </a:p>
        </p:txBody>
      </p:sp>
      <p:sp>
        <p:nvSpPr>
          <p:cNvPr id="218" name="Google Shape;218;p14"/>
          <p:cNvSpPr txBox="1"/>
          <p:nvPr/>
        </p:nvSpPr>
        <p:spPr>
          <a:xfrm>
            <a:off x="535938" y="931082"/>
            <a:ext cx="7788275" cy="3069590"/>
          </a:xfrm>
          <a:prstGeom prst="rect">
            <a:avLst/>
          </a:prstGeom>
          <a:noFill/>
          <a:ln>
            <a:noFill/>
          </a:ln>
        </p:spPr>
        <p:txBody>
          <a:bodyPr anchorCtr="0" anchor="t" bIns="0" lIns="0" spcFirstLastPara="1" rIns="0" wrap="square" tIns="71100">
            <a:spAutoFit/>
          </a:bodyPr>
          <a:lstStyle/>
          <a:p>
            <a:pPr indent="-343535" lvl="0" marL="355600" marR="0" rtl="0" algn="l">
              <a:lnSpc>
                <a:spcPct val="100000"/>
              </a:lnSpc>
              <a:spcBef>
                <a:spcPts val="0"/>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Improved performance:</a:t>
            </a:r>
            <a:endParaRPr sz="1800">
              <a:solidFill>
                <a:schemeClr val="dk1"/>
              </a:solidFill>
              <a:latin typeface="Calibri"/>
              <a:ea typeface="Calibri"/>
              <a:cs typeface="Calibri"/>
              <a:sym typeface="Calibri"/>
            </a:endParaRPr>
          </a:p>
          <a:p>
            <a:pPr indent="-287019" lvl="1" marL="756285" marR="552450" rtl="0" algn="l">
              <a:lnSpc>
                <a:spcPct val="100000"/>
              </a:lnSpc>
              <a:spcBef>
                <a:spcPts val="405"/>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With few large programs hogging your computer's memory, you will see better  performance from your PC.</a:t>
            </a:r>
            <a:endParaRPr b="0" i="0" sz="1600" u="none" cap="none" strike="noStrike">
              <a:solidFill>
                <a:schemeClr val="dk1"/>
              </a:solidFill>
              <a:latin typeface="Calibri"/>
              <a:ea typeface="Calibri"/>
              <a:cs typeface="Calibri"/>
              <a:sym typeface="Calibri"/>
            </a:endParaRPr>
          </a:p>
          <a:p>
            <a:pPr indent="-287019" lvl="1" marL="756285" marR="5080" rtl="0" algn="l">
              <a:lnSpc>
                <a:spcPct val="100000"/>
              </a:lnSpc>
              <a:spcBef>
                <a:spcPts val="385"/>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Computers in a cloud computing system boot and run faster because they have fewer  programs and processes loaded into memory.</a:t>
            </a:r>
            <a:endParaRPr b="0" i="0" sz="1600" u="none" cap="none" strike="noStrike">
              <a:solidFill>
                <a:schemeClr val="dk1"/>
              </a:solidFill>
              <a:latin typeface="Calibri"/>
              <a:ea typeface="Calibri"/>
              <a:cs typeface="Calibri"/>
              <a:sym typeface="Calibri"/>
            </a:endParaRPr>
          </a:p>
          <a:p>
            <a:pPr indent="-343535" lvl="0" marL="355600" marR="0" rtl="0" algn="l">
              <a:lnSpc>
                <a:spcPct val="100000"/>
              </a:lnSpc>
              <a:spcBef>
                <a:spcPts val="414"/>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Reduced software costs:</a:t>
            </a:r>
            <a:endParaRPr sz="1800">
              <a:solidFill>
                <a:schemeClr val="dk1"/>
              </a:solidFill>
              <a:latin typeface="Calibri"/>
              <a:ea typeface="Calibri"/>
              <a:cs typeface="Calibri"/>
              <a:sym typeface="Calibri"/>
            </a:endParaRPr>
          </a:p>
          <a:p>
            <a:pPr indent="-287019" lvl="1" marL="756285" marR="60960" rtl="0" algn="l">
              <a:lnSpc>
                <a:spcPct val="100000"/>
              </a:lnSpc>
              <a:spcBef>
                <a:spcPts val="400"/>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Instead of purchasing expensive software applications, you can get most of what you  need for free.</a:t>
            </a:r>
            <a:endParaRPr b="0" i="0" sz="1600" u="none" cap="none" strike="noStrike">
              <a:solidFill>
                <a:schemeClr val="dk1"/>
              </a:solidFill>
              <a:latin typeface="Calibri"/>
              <a:ea typeface="Calibri"/>
              <a:cs typeface="Calibri"/>
              <a:sym typeface="Calibri"/>
            </a:endParaRPr>
          </a:p>
          <a:p>
            <a:pPr indent="-229235" lvl="2" marL="1155700" marR="0" rtl="0" algn="l">
              <a:lnSpc>
                <a:spcPct val="100000"/>
              </a:lnSpc>
              <a:spcBef>
                <a:spcPts val="345"/>
              </a:spcBef>
              <a:spcAft>
                <a:spcPts val="0"/>
              </a:spcAft>
              <a:buClr>
                <a:schemeClr val="dk1"/>
              </a:buClr>
              <a:buSzPts val="1200"/>
              <a:buFont typeface="Arial"/>
              <a:buChar char="•"/>
            </a:pPr>
            <a:r>
              <a:rPr b="0" i="0" lang="en-US" sz="1200" u="none" cap="none" strike="noStrike">
                <a:solidFill>
                  <a:schemeClr val="dk1"/>
                </a:solidFill>
                <a:latin typeface="Calibri"/>
                <a:ea typeface="Calibri"/>
                <a:cs typeface="Calibri"/>
                <a:sym typeface="Calibri"/>
              </a:rPr>
              <a:t>most cloud computing applications today, such as the Google Docs suite</a:t>
            </a:r>
            <a:r>
              <a:rPr b="0" i="0" lang="en-US" sz="1400" u="none" cap="none" strike="noStrike">
                <a:solidFill>
                  <a:schemeClr val="dk1"/>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a:p>
            <a:pPr indent="-287019" lvl="1" marL="756285" marR="0" rtl="0" algn="l">
              <a:lnSpc>
                <a:spcPct val="100000"/>
              </a:lnSpc>
              <a:spcBef>
                <a:spcPts val="340"/>
              </a:spcBef>
              <a:spcAft>
                <a:spcPts val="0"/>
              </a:spcAft>
              <a:buClr>
                <a:schemeClr val="dk1"/>
              </a:buClr>
              <a:buSzPts val="1400"/>
              <a:buFont typeface="Arial"/>
              <a:buChar char="–"/>
            </a:pPr>
            <a:r>
              <a:rPr b="0" i="0" lang="en-US" sz="1400" u="none" cap="none" strike="noStrike">
                <a:solidFill>
                  <a:schemeClr val="dk1"/>
                </a:solidFill>
                <a:latin typeface="Calibri"/>
                <a:ea typeface="Calibri"/>
                <a:cs typeface="Calibri"/>
                <a:sym typeface="Calibri"/>
              </a:rPr>
              <a:t>better than paying for similar commercial software</a:t>
            </a:r>
            <a:endParaRPr b="0" i="0" sz="1400" u="none" cap="none" strike="noStrike">
              <a:solidFill>
                <a:schemeClr val="dk1"/>
              </a:solidFill>
              <a:latin typeface="Calibri"/>
              <a:ea typeface="Calibri"/>
              <a:cs typeface="Calibri"/>
              <a:sym typeface="Calibri"/>
            </a:endParaRPr>
          </a:p>
          <a:p>
            <a:pPr indent="-229235" lvl="2" marL="1155700" marR="0" rtl="0" algn="l">
              <a:lnSpc>
                <a:spcPct val="100000"/>
              </a:lnSpc>
              <a:spcBef>
                <a:spcPts val="335"/>
              </a:spcBef>
              <a:spcAft>
                <a:spcPts val="0"/>
              </a:spcAft>
              <a:buClr>
                <a:schemeClr val="dk1"/>
              </a:buClr>
              <a:buSzPts val="1200"/>
              <a:buFont typeface="Arial"/>
              <a:buChar char="•"/>
            </a:pPr>
            <a:r>
              <a:rPr b="0" i="0" lang="en-US" sz="1200" u="none" cap="none" strike="noStrike">
                <a:solidFill>
                  <a:schemeClr val="dk1"/>
                </a:solidFill>
                <a:latin typeface="Calibri"/>
                <a:ea typeface="Calibri"/>
                <a:cs typeface="Calibri"/>
                <a:sym typeface="Calibri"/>
              </a:rPr>
              <a:t>which alone may be justification for switching to cloud applications</a:t>
            </a:r>
            <a:r>
              <a:rPr b="0" i="0" lang="en-US" sz="1400" u="none" cap="none" strike="noStrike">
                <a:solidFill>
                  <a:schemeClr val="dk1"/>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219" name="Google Shape;219;p14"/>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5"/>
          <p:cNvSpPr txBox="1"/>
          <p:nvPr>
            <p:ph type="title"/>
          </p:nvPr>
        </p:nvSpPr>
        <p:spPr>
          <a:xfrm>
            <a:off x="2667000" y="348483"/>
            <a:ext cx="4419600" cy="381515"/>
          </a:xfrm>
          <a:prstGeom prst="rect">
            <a:avLst/>
          </a:prstGeom>
          <a:noFill/>
          <a:ln>
            <a:noFill/>
          </a:ln>
        </p:spPr>
        <p:txBody>
          <a:bodyPr anchorCtr="0" anchor="ctr" bIns="0" lIns="0" spcFirstLastPara="1" rIns="0" wrap="square" tIns="12050">
            <a:spAutoFit/>
          </a:bodyPr>
          <a:lstStyle/>
          <a:p>
            <a:pPr indent="0" lvl="0" marL="12700" rtl="0" algn="ctr">
              <a:lnSpc>
                <a:spcPct val="100000"/>
              </a:lnSpc>
              <a:spcBef>
                <a:spcPts val="0"/>
              </a:spcBef>
              <a:spcAft>
                <a:spcPts val="0"/>
              </a:spcAft>
              <a:buClr>
                <a:schemeClr val="dk1"/>
              </a:buClr>
              <a:buSzPts val="2400"/>
              <a:buFont typeface="Calibri"/>
              <a:buNone/>
            </a:pPr>
            <a:r>
              <a:rPr b="1" lang="en-US" sz="2400"/>
              <a:t>Advantages of Cloud Computing</a:t>
            </a:r>
            <a:endParaRPr b="1" sz="2400"/>
          </a:p>
        </p:txBody>
      </p:sp>
      <p:sp>
        <p:nvSpPr>
          <p:cNvPr id="225" name="Google Shape;225;p15"/>
          <p:cNvSpPr txBox="1"/>
          <p:nvPr>
            <p:ph idx="12" type="sldNum"/>
          </p:nvPr>
        </p:nvSpPr>
        <p:spPr>
          <a:xfrm>
            <a:off x="6457950" y="4767263"/>
            <a:ext cx="2057400" cy="273844"/>
          </a:xfrm>
          <a:prstGeom prst="rect">
            <a:avLst/>
          </a:prstGeom>
          <a:noFill/>
          <a:ln>
            <a:noFill/>
          </a:ln>
        </p:spPr>
        <p:txBody>
          <a:bodyPr anchorCtr="0" anchor="ctr" bIns="0" lIns="0" spcFirstLastPara="1" rIns="0" wrap="square" tIns="5700">
            <a:spAutoFit/>
          </a:bodyPr>
          <a:lstStyle/>
          <a:p>
            <a:pPr indent="0" lvl="0" marL="38100" rtl="0" algn="r">
              <a:lnSpc>
                <a:spcPct val="100000"/>
              </a:lnSpc>
              <a:spcBef>
                <a:spcPts val="0"/>
              </a:spcBef>
              <a:spcAft>
                <a:spcPts val="0"/>
              </a:spcAft>
              <a:buNone/>
            </a:pPr>
            <a:r>
              <a:rPr lang="en-US"/>
              <a:t>18</a:t>
            </a:r>
            <a:endParaRPr/>
          </a:p>
        </p:txBody>
      </p:sp>
      <p:sp>
        <p:nvSpPr>
          <p:cNvPr id="226" name="Google Shape;226;p15"/>
          <p:cNvSpPr txBox="1"/>
          <p:nvPr/>
        </p:nvSpPr>
        <p:spPr>
          <a:xfrm>
            <a:off x="535938" y="702421"/>
            <a:ext cx="8143240" cy="3641725"/>
          </a:xfrm>
          <a:prstGeom prst="rect">
            <a:avLst/>
          </a:prstGeom>
          <a:noFill/>
          <a:ln>
            <a:noFill/>
          </a:ln>
        </p:spPr>
        <p:txBody>
          <a:bodyPr anchorCtr="0" anchor="t" bIns="0" lIns="0" spcFirstLastPara="1" rIns="0" wrap="square" tIns="71100">
            <a:spAutoFit/>
          </a:bodyPr>
          <a:lstStyle/>
          <a:p>
            <a:pPr indent="-343535" lvl="0" marL="355600" marR="0" rtl="0" algn="l">
              <a:lnSpc>
                <a:spcPct val="100000"/>
              </a:lnSpc>
              <a:spcBef>
                <a:spcPts val="0"/>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Instant software updates</a:t>
            </a:r>
            <a:endParaRPr sz="1800">
              <a:solidFill>
                <a:schemeClr val="dk1"/>
              </a:solidFill>
              <a:latin typeface="Calibri"/>
              <a:ea typeface="Calibri"/>
              <a:cs typeface="Calibri"/>
              <a:sym typeface="Calibri"/>
            </a:endParaRPr>
          </a:p>
          <a:p>
            <a:pPr indent="-287019" lvl="1" marL="756285" marR="0" rtl="0" algn="l">
              <a:lnSpc>
                <a:spcPct val="100000"/>
              </a:lnSpc>
              <a:spcBef>
                <a:spcPts val="405"/>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Another advantage to cloud computing is that you are no longer faced with choosing</a:t>
            </a:r>
            <a:endParaRPr b="0" i="0" sz="1600" u="none" cap="none" strike="noStrike">
              <a:solidFill>
                <a:schemeClr val="dk1"/>
              </a:solidFill>
              <a:latin typeface="Calibri"/>
              <a:ea typeface="Calibri"/>
              <a:cs typeface="Calibri"/>
              <a:sym typeface="Calibri"/>
            </a:endParaRPr>
          </a:p>
          <a:p>
            <a:pPr indent="0" lvl="0" marL="756285" marR="0" rtl="0" algn="l">
              <a:lnSpc>
                <a:spcPct val="100000"/>
              </a:lnSpc>
              <a:spcBef>
                <a:spcPts val="0"/>
              </a:spcBef>
              <a:spcAft>
                <a:spcPts val="0"/>
              </a:spcAft>
              <a:buNone/>
            </a:pPr>
            <a:r>
              <a:rPr lang="en-US" sz="1600">
                <a:solidFill>
                  <a:schemeClr val="dk1"/>
                </a:solidFill>
                <a:latin typeface="Calibri"/>
                <a:ea typeface="Calibri"/>
                <a:cs typeface="Calibri"/>
                <a:sym typeface="Calibri"/>
              </a:rPr>
              <a:t>between obsolete software and high upgrade costs.</a:t>
            </a:r>
            <a:endParaRPr sz="1600">
              <a:solidFill>
                <a:schemeClr val="dk1"/>
              </a:solidFill>
              <a:latin typeface="Calibri"/>
              <a:ea typeface="Calibri"/>
              <a:cs typeface="Calibri"/>
              <a:sym typeface="Calibri"/>
            </a:endParaRPr>
          </a:p>
          <a:p>
            <a:pPr indent="-287019" lvl="1" marL="756285" marR="198755" rtl="0" algn="l">
              <a:lnSpc>
                <a:spcPct val="100000"/>
              </a:lnSpc>
              <a:spcBef>
                <a:spcPts val="385"/>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When the application is web-based, updates happen automatically </a:t>
            </a:r>
            <a:r>
              <a:rPr b="0" i="0" lang="en-US" sz="1400" u="none" cap="none" strike="noStrike">
                <a:solidFill>
                  <a:schemeClr val="dk1"/>
                </a:solidFill>
                <a:latin typeface="Calibri"/>
                <a:ea typeface="Calibri"/>
                <a:cs typeface="Calibri"/>
                <a:sym typeface="Calibri"/>
              </a:rPr>
              <a:t>available the next time  you log into the cloud.</a:t>
            </a:r>
            <a:endParaRPr b="0" i="0" sz="1400" u="none" cap="none" strike="noStrike">
              <a:solidFill>
                <a:schemeClr val="dk1"/>
              </a:solidFill>
              <a:latin typeface="Calibri"/>
              <a:ea typeface="Calibri"/>
              <a:cs typeface="Calibri"/>
              <a:sym typeface="Calibri"/>
            </a:endParaRPr>
          </a:p>
          <a:p>
            <a:pPr indent="-287019" lvl="1" marL="756285" marR="5080" rtl="0" algn="l">
              <a:lnSpc>
                <a:spcPct val="100000"/>
              </a:lnSpc>
              <a:spcBef>
                <a:spcPts val="385"/>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When you access a web-based application, you get the latest version </a:t>
            </a:r>
            <a:r>
              <a:rPr b="0" i="0" lang="en-US" sz="1400" u="none" cap="none" strike="noStrike">
                <a:solidFill>
                  <a:schemeClr val="dk1"/>
                </a:solidFill>
                <a:latin typeface="Calibri"/>
                <a:ea typeface="Calibri"/>
                <a:cs typeface="Calibri"/>
                <a:sym typeface="Calibri"/>
              </a:rPr>
              <a:t>without needing to pay  for or download an upgrade.</a:t>
            </a:r>
            <a:endParaRPr b="0" i="0" sz="1400" u="none" cap="none" strike="noStrike">
              <a:solidFill>
                <a:schemeClr val="dk1"/>
              </a:solidFill>
              <a:latin typeface="Calibri"/>
              <a:ea typeface="Calibri"/>
              <a:cs typeface="Calibri"/>
              <a:sym typeface="Calibri"/>
            </a:endParaRPr>
          </a:p>
          <a:p>
            <a:pPr indent="0" lvl="1" marL="45720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Calibri"/>
              <a:ea typeface="Calibri"/>
              <a:cs typeface="Calibri"/>
              <a:sym typeface="Calibri"/>
            </a:endParaRPr>
          </a:p>
          <a:p>
            <a:pPr indent="0" lvl="1" marL="457200" marR="0" rtl="0" algn="l">
              <a:lnSpc>
                <a:spcPct val="100000"/>
              </a:lnSpc>
              <a:spcBef>
                <a:spcPts val="15"/>
              </a:spcBef>
              <a:spcAft>
                <a:spcPts val="0"/>
              </a:spcAft>
              <a:buClr>
                <a:schemeClr val="dk1"/>
              </a:buClr>
              <a:buSzPts val="1050"/>
              <a:buFont typeface="Arial"/>
              <a:buNone/>
            </a:pPr>
            <a:r>
              <a:t/>
            </a:r>
            <a:endParaRPr b="0" i="0" sz="1050" u="none" cap="none" strike="noStrike">
              <a:solidFill>
                <a:schemeClr val="dk1"/>
              </a:solidFill>
              <a:latin typeface="Calibri"/>
              <a:ea typeface="Calibri"/>
              <a:cs typeface="Calibri"/>
              <a:sym typeface="Calibri"/>
            </a:endParaRPr>
          </a:p>
          <a:p>
            <a:pPr indent="-343535" lvl="0" marL="355600" marR="0" rtl="0" algn="l">
              <a:lnSpc>
                <a:spcPct val="100000"/>
              </a:lnSpc>
              <a:spcBef>
                <a:spcPts val="0"/>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Improved document format compatibility.</a:t>
            </a:r>
            <a:endParaRPr sz="1800">
              <a:solidFill>
                <a:schemeClr val="dk1"/>
              </a:solidFill>
              <a:latin typeface="Calibri"/>
              <a:ea typeface="Calibri"/>
              <a:cs typeface="Calibri"/>
              <a:sym typeface="Calibri"/>
            </a:endParaRPr>
          </a:p>
          <a:p>
            <a:pPr indent="-287019" lvl="1" marL="756285" marR="632460" rtl="0" algn="l">
              <a:lnSpc>
                <a:spcPct val="100000"/>
              </a:lnSpc>
              <a:spcBef>
                <a:spcPts val="405"/>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You do not have to worry about the documents you create on your machine being  compatible with other users' applications or OS.</a:t>
            </a:r>
            <a:endParaRPr b="0" i="0" sz="1600" u="none" cap="none" strike="noStrike">
              <a:solidFill>
                <a:schemeClr val="dk1"/>
              </a:solidFill>
              <a:latin typeface="Calibri"/>
              <a:ea typeface="Calibri"/>
              <a:cs typeface="Calibri"/>
              <a:sym typeface="Calibri"/>
            </a:endParaRPr>
          </a:p>
          <a:p>
            <a:pPr indent="-287019" lvl="1" marL="756285" marR="758190" rtl="0" algn="l">
              <a:lnSpc>
                <a:spcPct val="100000"/>
              </a:lnSpc>
              <a:spcBef>
                <a:spcPts val="385"/>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There are less format incompatibilities when everyone is sharing documents and  applications in the cloud.</a:t>
            </a:r>
            <a:endParaRPr b="0" i="0" sz="1600" u="none" cap="none" strike="noStrike">
              <a:solidFill>
                <a:schemeClr val="dk1"/>
              </a:solidFill>
              <a:latin typeface="Calibri"/>
              <a:ea typeface="Calibri"/>
              <a:cs typeface="Calibri"/>
              <a:sym typeface="Calibri"/>
            </a:endParaRPr>
          </a:p>
        </p:txBody>
      </p:sp>
      <p:sp>
        <p:nvSpPr>
          <p:cNvPr id="227" name="Google Shape;227;p15"/>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6"/>
          <p:cNvSpPr txBox="1"/>
          <p:nvPr>
            <p:ph type="title"/>
          </p:nvPr>
        </p:nvSpPr>
        <p:spPr>
          <a:xfrm>
            <a:off x="2057400" y="500883"/>
            <a:ext cx="4876800" cy="381515"/>
          </a:xfrm>
          <a:prstGeom prst="rect">
            <a:avLst/>
          </a:prstGeom>
          <a:noFill/>
          <a:ln>
            <a:noFill/>
          </a:ln>
        </p:spPr>
        <p:txBody>
          <a:bodyPr anchorCtr="0" anchor="ctr" bIns="0" lIns="0" spcFirstLastPara="1" rIns="0" wrap="square" tIns="12050">
            <a:spAutoFit/>
          </a:bodyPr>
          <a:lstStyle/>
          <a:p>
            <a:pPr indent="0" lvl="0" marL="12700" rtl="0" algn="ctr">
              <a:lnSpc>
                <a:spcPct val="100000"/>
              </a:lnSpc>
              <a:spcBef>
                <a:spcPts val="0"/>
              </a:spcBef>
              <a:spcAft>
                <a:spcPts val="0"/>
              </a:spcAft>
              <a:buClr>
                <a:schemeClr val="dk1"/>
              </a:buClr>
              <a:buSzPts val="2400"/>
              <a:buFont typeface="Calibri"/>
              <a:buNone/>
            </a:pPr>
            <a:r>
              <a:rPr b="1" lang="en-US" sz="2400"/>
              <a:t>Advantages of Cloud Computing</a:t>
            </a:r>
            <a:endParaRPr b="1" sz="2400"/>
          </a:p>
        </p:txBody>
      </p:sp>
      <p:sp>
        <p:nvSpPr>
          <p:cNvPr id="233" name="Google Shape;233;p16"/>
          <p:cNvSpPr txBox="1"/>
          <p:nvPr>
            <p:ph idx="12" type="sldNum"/>
          </p:nvPr>
        </p:nvSpPr>
        <p:spPr>
          <a:xfrm>
            <a:off x="6457950" y="4767263"/>
            <a:ext cx="2057400" cy="273844"/>
          </a:xfrm>
          <a:prstGeom prst="rect">
            <a:avLst/>
          </a:prstGeom>
          <a:noFill/>
          <a:ln>
            <a:noFill/>
          </a:ln>
        </p:spPr>
        <p:txBody>
          <a:bodyPr anchorCtr="0" anchor="ctr" bIns="0" lIns="0" spcFirstLastPara="1" rIns="0" wrap="square" tIns="5700">
            <a:spAutoFit/>
          </a:bodyPr>
          <a:lstStyle/>
          <a:p>
            <a:pPr indent="0" lvl="0" marL="38100" rtl="0" algn="r">
              <a:lnSpc>
                <a:spcPct val="100000"/>
              </a:lnSpc>
              <a:spcBef>
                <a:spcPts val="0"/>
              </a:spcBef>
              <a:spcAft>
                <a:spcPts val="0"/>
              </a:spcAft>
              <a:buNone/>
            </a:pPr>
            <a:r>
              <a:rPr lang="en-US"/>
              <a:t>19</a:t>
            </a:r>
            <a:endParaRPr/>
          </a:p>
        </p:txBody>
      </p:sp>
      <p:sp>
        <p:nvSpPr>
          <p:cNvPr id="234" name="Google Shape;234;p16"/>
          <p:cNvSpPr txBox="1"/>
          <p:nvPr/>
        </p:nvSpPr>
        <p:spPr>
          <a:xfrm>
            <a:off x="383540" y="931082"/>
            <a:ext cx="8212455" cy="2848610"/>
          </a:xfrm>
          <a:prstGeom prst="rect">
            <a:avLst/>
          </a:prstGeom>
          <a:noFill/>
          <a:ln>
            <a:noFill/>
          </a:ln>
        </p:spPr>
        <p:txBody>
          <a:bodyPr anchorCtr="0" anchor="t" bIns="0" lIns="0" spcFirstLastPara="1" rIns="0" wrap="square" tIns="71100">
            <a:spAutoFit/>
          </a:bodyPr>
          <a:lstStyle/>
          <a:p>
            <a:pPr indent="-342900" lvl="0" marL="355600" marR="0" rtl="0" algn="l">
              <a:lnSpc>
                <a:spcPct val="100000"/>
              </a:lnSpc>
              <a:spcBef>
                <a:spcPts val="0"/>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Unlimited storage capacity</a:t>
            </a:r>
            <a:endParaRPr sz="1800">
              <a:solidFill>
                <a:schemeClr val="dk1"/>
              </a:solidFill>
              <a:latin typeface="Calibri"/>
              <a:ea typeface="Calibri"/>
              <a:cs typeface="Calibri"/>
              <a:sym typeface="Calibri"/>
            </a:endParaRPr>
          </a:p>
          <a:p>
            <a:pPr indent="-287019" lvl="1" marL="756285" marR="0" rtl="0" algn="l">
              <a:lnSpc>
                <a:spcPct val="100000"/>
              </a:lnSpc>
              <a:spcBef>
                <a:spcPts val="405"/>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Cloud computing offers virtually limitless storage.</a:t>
            </a:r>
            <a:endParaRPr b="0" i="0" sz="1600" u="none" cap="none" strike="noStrike">
              <a:solidFill>
                <a:schemeClr val="dk1"/>
              </a:solidFill>
              <a:latin typeface="Calibri"/>
              <a:ea typeface="Calibri"/>
              <a:cs typeface="Calibri"/>
              <a:sym typeface="Calibri"/>
            </a:endParaRPr>
          </a:p>
          <a:p>
            <a:pPr indent="-287019" lvl="1" marL="756285" marR="5080" rtl="0" algn="l">
              <a:lnSpc>
                <a:spcPct val="100000"/>
              </a:lnSpc>
              <a:spcBef>
                <a:spcPts val="385"/>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Your computer's current 1 Tera Bytes hard drive is small compared to the hundreds of Peta  Bytes available in the cloud.</a:t>
            </a:r>
            <a:endParaRPr b="0" i="0" sz="1600" u="none" cap="none" strike="noStrike">
              <a:solidFill>
                <a:schemeClr val="dk1"/>
              </a:solidFill>
              <a:latin typeface="Calibri"/>
              <a:ea typeface="Calibri"/>
              <a:cs typeface="Calibri"/>
              <a:sym typeface="Calibri"/>
            </a:endParaRPr>
          </a:p>
          <a:p>
            <a:pPr indent="-342900" lvl="0" marL="355600" marR="0" rtl="0" algn="l">
              <a:lnSpc>
                <a:spcPct val="100000"/>
              </a:lnSpc>
              <a:spcBef>
                <a:spcPts val="414"/>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Increased data reliability</a:t>
            </a:r>
            <a:endParaRPr sz="1800">
              <a:solidFill>
                <a:schemeClr val="dk1"/>
              </a:solidFill>
              <a:latin typeface="Calibri"/>
              <a:ea typeface="Calibri"/>
              <a:cs typeface="Calibri"/>
              <a:sym typeface="Calibri"/>
            </a:endParaRPr>
          </a:p>
          <a:p>
            <a:pPr indent="-287019" lvl="1" marL="756285" marR="343535" rtl="0" algn="l">
              <a:lnSpc>
                <a:spcPct val="100000"/>
              </a:lnSpc>
              <a:spcBef>
                <a:spcPts val="400"/>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Unlike desktop computing, in which if a hard disk crashes and destroy all your valuable  data, a computer crashing in the cloud should not affect the storage of your data.</a:t>
            </a:r>
            <a:endParaRPr b="0" i="0" sz="1600" u="none" cap="none" strike="noStrike">
              <a:solidFill>
                <a:schemeClr val="dk1"/>
              </a:solidFill>
              <a:latin typeface="Calibri"/>
              <a:ea typeface="Calibri"/>
              <a:cs typeface="Calibri"/>
              <a:sym typeface="Calibri"/>
            </a:endParaRPr>
          </a:p>
          <a:p>
            <a:pPr indent="-229235" lvl="2" marL="1155700" marR="0" rtl="0" algn="l">
              <a:lnSpc>
                <a:spcPct val="100000"/>
              </a:lnSpc>
              <a:spcBef>
                <a:spcPts val="345"/>
              </a:spcBef>
              <a:spcAft>
                <a:spcPts val="0"/>
              </a:spcAft>
              <a:buClr>
                <a:schemeClr val="dk1"/>
              </a:buClr>
              <a:buSzPts val="1400"/>
              <a:buFont typeface="Arial"/>
              <a:buChar char="•"/>
            </a:pPr>
            <a:r>
              <a:rPr b="0" i="0" lang="en-US" sz="1400" u="none" cap="none" strike="noStrike">
                <a:solidFill>
                  <a:schemeClr val="dk1"/>
                </a:solidFill>
                <a:latin typeface="Calibri"/>
                <a:ea typeface="Calibri"/>
                <a:cs typeface="Calibri"/>
                <a:sym typeface="Calibri"/>
              </a:rPr>
              <a:t>if your personal computer crashes, all your data is still out there in the cloud, still accessible</a:t>
            </a:r>
            <a:endParaRPr b="0" i="0" sz="1400" u="none" cap="none" strike="noStrike">
              <a:solidFill>
                <a:schemeClr val="dk1"/>
              </a:solidFill>
              <a:latin typeface="Calibri"/>
              <a:ea typeface="Calibri"/>
              <a:cs typeface="Calibri"/>
              <a:sym typeface="Calibri"/>
            </a:endParaRPr>
          </a:p>
          <a:p>
            <a:pPr indent="-287019" lvl="1" marL="756285" marR="343535" rtl="0" algn="l">
              <a:lnSpc>
                <a:spcPct val="100000"/>
              </a:lnSpc>
              <a:spcBef>
                <a:spcPts val="380"/>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In a world where few individual desktop PC users back up their data on a regular basis,  cloud computing is a data-safe computing platform. For e.g. Dropbox, Skydrive</a:t>
            </a:r>
            <a:endParaRPr b="0" i="0" sz="1600" u="none" cap="none" strike="noStrike">
              <a:solidFill>
                <a:schemeClr val="dk1"/>
              </a:solidFill>
              <a:latin typeface="Calibri"/>
              <a:ea typeface="Calibri"/>
              <a:cs typeface="Calibri"/>
              <a:sym typeface="Calibri"/>
            </a:endParaRPr>
          </a:p>
        </p:txBody>
      </p:sp>
      <p:sp>
        <p:nvSpPr>
          <p:cNvPr id="235" name="Google Shape;235;p16"/>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7"/>
          <p:cNvSpPr txBox="1"/>
          <p:nvPr>
            <p:ph type="title"/>
          </p:nvPr>
        </p:nvSpPr>
        <p:spPr>
          <a:xfrm>
            <a:off x="2514600" y="424683"/>
            <a:ext cx="4317999" cy="381515"/>
          </a:xfrm>
          <a:prstGeom prst="rect">
            <a:avLst/>
          </a:prstGeom>
          <a:noFill/>
          <a:ln>
            <a:noFill/>
          </a:ln>
        </p:spPr>
        <p:txBody>
          <a:bodyPr anchorCtr="0" anchor="ctr" bIns="0" lIns="0" spcFirstLastPara="1" rIns="0" wrap="square" tIns="12050">
            <a:spAutoFit/>
          </a:bodyPr>
          <a:lstStyle/>
          <a:p>
            <a:pPr indent="0" lvl="0" marL="12700" rtl="0" algn="ctr">
              <a:lnSpc>
                <a:spcPct val="100000"/>
              </a:lnSpc>
              <a:spcBef>
                <a:spcPts val="0"/>
              </a:spcBef>
              <a:spcAft>
                <a:spcPts val="0"/>
              </a:spcAft>
              <a:buClr>
                <a:schemeClr val="dk1"/>
              </a:buClr>
              <a:buSzPts val="2400"/>
              <a:buFont typeface="Calibri"/>
              <a:buNone/>
            </a:pPr>
            <a:r>
              <a:rPr b="1" lang="en-US" sz="2400"/>
              <a:t>Advantages of Cloud Computing</a:t>
            </a:r>
            <a:endParaRPr b="1" sz="2400"/>
          </a:p>
        </p:txBody>
      </p:sp>
      <p:sp>
        <p:nvSpPr>
          <p:cNvPr id="241" name="Google Shape;241;p17"/>
          <p:cNvSpPr txBox="1"/>
          <p:nvPr>
            <p:ph idx="12" type="sldNum"/>
          </p:nvPr>
        </p:nvSpPr>
        <p:spPr>
          <a:xfrm>
            <a:off x="6457950" y="4767263"/>
            <a:ext cx="2057400" cy="273844"/>
          </a:xfrm>
          <a:prstGeom prst="rect">
            <a:avLst/>
          </a:prstGeom>
          <a:noFill/>
          <a:ln>
            <a:noFill/>
          </a:ln>
        </p:spPr>
        <p:txBody>
          <a:bodyPr anchorCtr="0" anchor="ctr" bIns="0" lIns="0" spcFirstLastPara="1" rIns="0" wrap="square" tIns="5700">
            <a:spAutoFit/>
          </a:bodyPr>
          <a:lstStyle/>
          <a:p>
            <a:pPr indent="0" lvl="0" marL="38100" rtl="0" algn="r">
              <a:lnSpc>
                <a:spcPct val="100000"/>
              </a:lnSpc>
              <a:spcBef>
                <a:spcPts val="0"/>
              </a:spcBef>
              <a:spcAft>
                <a:spcPts val="0"/>
              </a:spcAft>
              <a:buNone/>
            </a:pPr>
            <a:r>
              <a:rPr lang="en-US"/>
              <a:t>20</a:t>
            </a:r>
            <a:endParaRPr/>
          </a:p>
        </p:txBody>
      </p:sp>
      <p:sp>
        <p:nvSpPr>
          <p:cNvPr id="242" name="Google Shape;242;p17"/>
          <p:cNvSpPr txBox="1"/>
          <p:nvPr/>
        </p:nvSpPr>
        <p:spPr>
          <a:xfrm>
            <a:off x="307340" y="793615"/>
            <a:ext cx="8038465" cy="3292475"/>
          </a:xfrm>
          <a:prstGeom prst="rect">
            <a:avLst/>
          </a:prstGeom>
          <a:noFill/>
          <a:ln>
            <a:noFill/>
          </a:ln>
        </p:spPr>
        <p:txBody>
          <a:bodyPr anchorCtr="0" anchor="t" bIns="0" lIns="0" spcFirstLastPara="1" rIns="0" wrap="square" tIns="58400">
            <a:spAutoFit/>
          </a:bodyPr>
          <a:lstStyle/>
          <a:p>
            <a:pPr indent="-342900" lvl="0" marL="355600" marR="0" rtl="0" algn="l">
              <a:lnSpc>
                <a:spcPct val="100000"/>
              </a:lnSpc>
              <a:spcBef>
                <a:spcPts val="0"/>
              </a:spcBef>
              <a:spcAft>
                <a:spcPts val="0"/>
              </a:spcAft>
              <a:buClr>
                <a:schemeClr val="dk1"/>
              </a:buClr>
              <a:buSzPts val="1600"/>
              <a:buFont typeface="Arial"/>
              <a:buChar char="•"/>
            </a:pPr>
            <a:r>
              <a:rPr b="1" lang="en-US" sz="1600">
                <a:solidFill>
                  <a:schemeClr val="dk1"/>
                </a:solidFill>
                <a:latin typeface="Calibri"/>
                <a:ea typeface="Calibri"/>
                <a:cs typeface="Calibri"/>
                <a:sym typeface="Calibri"/>
              </a:rPr>
              <a:t>Universal information access</a:t>
            </a:r>
            <a:endParaRPr sz="1600">
              <a:solidFill>
                <a:schemeClr val="dk1"/>
              </a:solidFill>
              <a:latin typeface="Calibri"/>
              <a:ea typeface="Calibri"/>
              <a:cs typeface="Calibri"/>
              <a:sym typeface="Calibri"/>
            </a:endParaRPr>
          </a:p>
          <a:p>
            <a:pPr indent="-287019" lvl="1" marL="756285" marR="0" rtl="0" algn="l">
              <a:lnSpc>
                <a:spcPct val="100000"/>
              </a:lnSpc>
              <a:spcBef>
                <a:spcPts val="415"/>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That is not a problem with cloud computing, because you do not take your</a:t>
            </a:r>
            <a:endParaRPr b="0" i="0" sz="1800" u="none" cap="none" strike="noStrike">
              <a:solidFill>
                <a:schemeClr val="dk1"/>
              </a:solidFill>
              <a:latin typeface="Calibri"/>
              <a:ea typeface="Calibri"/>
              <a:cs typeface="Calibri"/>
              <a:sym typeface="Calibri"/>
            </a:endParaRPr>
          </a:p>
          <a:p>
            <a:pPr indent="0" lvl="0" marL="756285" marR="0" rtl="0" algn="l">
              <a:lnSpc>
                <a:spcPct val="100000"/>
              </a:lnSpc>
              <a:spcBef>
                <a:spcPts val="0"/>
              </a:spcBef>
              <a:spcAft>
                <a:spcPts val="0"/>
              </a:spcAft>
              <a:buNone/>
            </a:pPr>
            <a:r>
              <a:rPr lang="en-US" sz="1800">
                <a:solidFill>
                  <a:schemeClr val="dk1"/>
                </a:solidFill>
                <a:latin typeface="Calibri"/>
                <a:ea typeface="Calibri"/>
                <a:cs typeface="Calibri"/>
                <a:sym typeface="Calibri"/>
              </a:rPr>
              <a:t>documents with you.</a:t>
            </a:r>
            <a:endParaRPr sz="1800">
              <a:solidFill>
                <a:schemeClr val="dk1"/>
              </a:solidFill>
              <a:latin typeface="Calibri"/>
              <a:ea typeface="Calibri"/>
              <a:cs typeface="Calibri"/>
              <a:sym typeface="Calibri"/>
            </a:endParaRPr>
          </a:p>
          <a:p>
            <a:pPr indent="-287019" lvl="1" marL="756285" marR="43815" rtl="0" algn="l">
              <a:lnSpc>
                <a:spcPct val="100000"/>
              </a:lnSpc>
              <a:spcBef>
                <a:spcPts val="434"/>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Instead, they stay in the cloud, and you can access them whenever you have a  computer and an Internet connection</a:t>
            </a:r>
            <a:endParaRPr b="0" i="0" sz="1800" u="none" cap="none" strike="noStrike">
              <a:solidFill>
                <a:schemeClr val="dk1"/>
              </a:solidFill>
              <a:latin typeface="Calibri"/>
              <a:ea typeface="Calibri"/>
              <a:cs typeface="Calibri"/>
              <a:sym typeface="Calibri"/>
            </a:endParaRPr>
          </a:p>
          <a:p>
            <a:pPr indent="-287019" lvl="1" marL="756285" marR="0" rtl="0" algn="l">
              <a:lnSpc>
                <a:spcPct val="100000"/>
              </a:lnSpc>
              <a:spcBef>
                <a:spcPts val="43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Documents are instantly available from wherever you are.</a:t>
            </a:r>
            <a:endParaRPr b="0" i="0" sz="1800" u="none" cap="none" strike="noStrike">
              <a:solidFill>
                <a:schemeClr val="dk1"/>
              </a:solidFill>
              <a:latin typeface="Calibri"/>
              <a:ea typeface="Calibri"/>
              <a:cs typeface="Calibri"/>
              <a:sym typeface="Calibri"/>
            </a:endParaRPr>
          </a:p>
          <a:p>
            <a:pPr indent="-342900" lvl="0" marL="355600" marR="0" rtl="0" algn="l">
              <a:lnSpc>
                <a:spcPct val="100000"/>
              </a:lnSpc>
              <a:spcBef>
                <a:spcPts val="405"/>
              </a:spcBef>
              <a:spcAft>
                <a:spcPts val="0"/>
              </a:spcAft>
              <a:buClr>
                <a:schemeClr val="dk1"/>
              </a:buClr>
              <a:buSzPts val="1600"/>
              <a:buFont typeface="Arial"/>
              <a:buChar char="•"/>
            </a:pPr>
            <a:r>
              <a:rPr b="1" lang="en-US" sz="1600">
                <a:solidFill>
                  <a:schemeClr val="dk1"/>
                </a:solidFill>
                <a:latin typeface="Calibri"/>
                <a:ea typeface="Calibri"/>
                <a:cs typeface="Calibri"/>
                <a:sym typeface="Calibri"/>
              </a:rPr>
              <a:t>Latest version availability</a:t>
            </a:r>
            <a:endParaRPr sz="1600">
              <a:solidFill>
                <a:schemeClr val="dk1"/>
              </a:solidFill>
              <a:latin typeface="Calibri"/>
              <a:ea typeface="Calibri"/>
              <a:cs typeface="Calibri"/>
              <a:sym typeface="Calibri"/>
            </a:endParaRPr>
          </a:p>
          <a:p>
            <a:pPr indent="-287019" lvl="1" marL="756285" marR="0" rtl="0" algn="l">
              <a:lnSpc>
                <a:spcPct val="100000"/>
              </a:lnSpc>
              <a:spcBef>
                <a:spcPts val="414"/>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When you edit a document at home, that edited version is what you see when</a:t>
            </a:r>
            <a:endParaRPr b="0" i="0" sz="1800" u="none" cap="none" strike="noStrike">
              <a:solidFill>
                <a:schemeClr val="dk1"/>
              </a:solidFill>
              <a:latin typeface="Calibri"/>
              <a:ea typeface="Calibri"/>
              <a:cs typeface="Calibri"/>
              <a:sym typeface="Calibri"/>
            </a:endParaRPr>
          </a:p>
          <a:p>
            <a:pPr indent="0" lvl="0" marL="756285" marR="0" rtl="0" algn="l">
              <a:lnSpc>
                <a:spcPct val="100000"/>
              </a:lnSpc>
              <a:spcBef>
                <a:spcPts val="0"/>
              </a:spcBef>
              <a:spcAft>
                <a:spcPts val="0"/>
              </a:spcAft>
              <a:buNone/>
            </a:pPr>
            <a:r>
              <a:rPr lang="en-US" sz="1800">
                <a:solidFill>
                  <a:schemeClr val="dk1"/>
                </a:solidFill>
                <a:latin typeface="Calibri"/>
                <a:ea typeface="Calibri"/>
                <a:cs typeface="Calibri"/>
                <a:sym typeface="Calibri"/>
              </a:rPr>
              <a:t>you access the document at work.</a:t>
            </a:r>
            <a:endParaRPr sz="1800">
              <a:solidFill>
                <a:schemeClr val="dk1"/>
              </a:solidFill>
              <a:latin typeface="Calibri"/>
              <a:ea typeface="Calibri"/>
              <a:cs typeface="Calibri"/>
              <a:sym typeface="Calibri"/>
            </a:endParaRPr>
          </a:p>
          <a:p>
            <a:pPr indent="-287019" lvl="1" marL="756285" marR="351790" rtl="0" algn="l">
              <a:lnSpc>
                <a:spcPct val="101299"/>
              </a:lnSpc>
              <a:spcBef>
                <a:spcPts val="405"/>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The cloud always hosts the latest version of your documents </a:t>
            </a:r>
            <a:r>
              <a:rPr b="0" i="0" lang="en-US" sz="1400" u="none" cap="none" strike="noStrike">
                <a:solidFill>
                  <a:schemeClr val="dk1"/>
                </a:solidFill>
                <a:latin typeface="Calibri"/>
                <a:ea typeface="Calibri"/>
                <a:cs typeface="Calibri"/>
                <a:sym typeface="Calibri"/>
              </a:rPr>
              <a:t>as long as you are  connected, you are not in danger of having an outdated version.</a:t>
            </a:r>
            <a:endParaRPr b="0" i="0" sz="1400" u="none" cap="none" strike="noStrike">
              <a:solidFill>
                <a:schemeClr val="dk1"/>
              </a:solidFill>
              <a:latin typeface="Calibri"/>
              <a:ea typeface="Calibri"/>
              <a:cs typeface="Calibri"/>
              <a:sym typeface="Calibri"/>
            </a:endParaRPr>
          </a:p>
        </p:txBody>
      </p:sp>
      <p:sp>
        <p:nvSpPr>
          <p:cNvPr id="243" name="Google Shape;243;p17"/>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8"/>
          <p:cNvSpPr txBox="1"/>
          <p:nvPr>
            <p:ph type="title"/>
          </p:nvPr>
        </p:nvSpPr>
        <p:spPr>
          <a:xfrm>
            <a:off x="2514600" y="424683"/>
            <a:ext cx="4343400" cy="381515"/>
          </a:xfrm>
          <a:prstGeom prst="rect">
            <a:avLst/>
          </a:prstGeom>
          <a:noFill/>
          <a:ln>
            <a:noFill/>
          </a:ln>
        </p:spPr>
        <p:txBody>
          <a:bodyPr anchorCtr="0" anchor="ctr" bIns="0" lIns="0" spcFirstLastPara="1" rIns="0" wrap="square" tIns="12050">
            <a:spAutoFit/>
          </a:bodyPr>
          <a:lstStyle/>
          <a:p>
            <a:pPr indent="0" lvl="0" marL="12700" rtl="0" algn="ctr">
              <a:lnSpc>
                <a:spcPct val="100000"/>
              </a:lnSpc>
              <a:spcBef>
                <a:spcPts val="0"/>
              </a:spcBef>
              <a:spcAft>
                <a:spcPts val="0"/>
              </a:spcAft>
              <a:buClr>
                <a:schemeClr val="dk1"/>
              </a:buClr>
              <a:buSzPts val="2400"/>
              <a:buFont typeface="Calibri"/>
              <a:buNone/>
            </a:pPr>
            <a:r>
              <a:rPr b="1" lang="en-US" sz="2400"/>
              <a:t>Advantages of Cloud Computing</a:t>
            </a:r>
            <a:endParaRPr b="1" sz="2400"/>
          </a:p>
        </p:txBody>
      </p:sp>
      <p:sp>
        <p:nvSpPr>
          <p:cNvPr id="249" name="Google Shape;249;p18"/>
          <p:cNvSpPr txBox="1"/>
          <p:nvPr>
            <p:ph idx="12" type="sldNum"/>
          </p:nvPr>
        </p:nvSpPr>
        <p:spPr>
          <a:xfrm>
            <a:off x="6457950" y="4767263"/>
            <a:ext cx="2057400" cy="273844"/>
          </a:xfrm>
          <a:prstGeom prst="rect">
            <a:avLst/>
          </a:prstGeom>
          <a:noFill/>
          <a:ln>
            <a:noFill/>
          </a:ln>
        </p:spPr>
        <p:txBody>
          <a:bodyPr anchorCtr="0" anchor="ctr" bIns="0" lIns="0" spcFirstLastPara="1" rIns="0" wrap="square" tIns="5700">
            <a:spAutoFit/>
          </a:bodyPr>
          <a:lstStyle/>
          <a:p>
            <a:pPr indent="0" lvl="0" marL="38100" rtl="0" algn="r">
              <a:lnSpc>
                <a:spcPct val="100000"/>
              </a:lnSpc>
              <a:spcBef>
                <a:spcPts val="0"/>
              </a:spcBef>
              <a:spcAft>
                <a:spcPts val="0"/>
              </a:spcAft>
              <a:buNone/>
            </a:pPr>
            <a:r>
              <a:rPr lang="en-US"/>
              <a:t>21</a:t>
            </a:r>
            <a:endParaRPr/>
          </a:p>
        </p:txBody>
      </p:sp>
      <p:sp>
        <p:nvSpPr>
          <p:cNvPr id="250" name="Google Shape;250;p18"/>
          <p:cNvSpPr txBox="1"/>
          <p:nvPr/>
        </p:nvSpPr>
        <p:spPr>
          <a:xfrm>
            <a:off x="231140" y="927647"/>
            <a:ext cx="8504555" cy="3403600"/>
          </a:xfrm>
          <a:prstGeom prst="rect">
            <a:avLst/>
          </a:prstGeom>
          <a:noFill/>
          <a:ln>
            <a:noFill/>
          </a:ln>
        </p:spPr>
        <p:txBody>
          <a:bodyPr anchorCtr="0" anchor="t" bIns="0" lIns="0" spcFirstLastPara="1" rIns="0" wrap="square" tIns="73650">
            <a:spAutoFit/>
          </a:bodyPr>
          <a:lstStyle/>
          <a:p>
            <a:pPr indent="-342900" lvl="0" marL="355600" marR="0" rtl="0" algn="l">
              <a:lnSpc>
                <a:spcPct val="100000"/>
              </a:lnSpc>
              <a:spcBef>
                <a:spcPts val="0"/>
              </a:spcBef>
              <a:spcAft>
                <a:spcPts val="0"/>
              </a:spcAft>
              <a:buClr>
                <a:schemeClr val="dk1"/>
              </a:buClr>
              <a:buSzPts val="2000"/>
              <a:buFont typeface="Arial"/>
              <a:buChar char="•"/>
            </a:pPr>
            <a:r>
              <a:rPr b="1" lang="en-US" sz="2000">
                <a:solidFill>
                  <a:schemeClr val="dk1"/>
                </a:solidFill>
                <a:latin typeface="Calibri"/>
                <a:ea typeface="Calibri"/>
                <a:cs typeface="Calibri"/>
                <a:sym typeface="Calibri"/>
              </a:rPr>
              <a:t>Easier group collaboration</a:t>
            </a:r>
            <a:endParaRPr sz="2000">
              <a:solidFill>
                <a:schemeClr val="dk1"/>
              </a:solidFill>
              <a:latin typeface="Calibri"/>
              <a:ea typeface="Calibri"/>
              <a:cs typeface="Calibri"/>
              <a:sym typeface="Calibri"/>
            </a:endParaRPr>
          </a:p>
          <a:p>
            <a:pPr indent="-287019" lvl="1" marL="756285" marR="0" rtl="0" algn="l">
              <a:lnSpc>
                <a:spcPct val="100000"/>
              </a:lnSpc>
              <a:spcBef>
                <a:spcPts val="48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Sharing documents leads directly to better collaboration.</a:t>
            </a:r>
            <a:endParaRPr b="0" i="0" sz="2000" u="none" cap="none" strike="noStrike">
              <a:solidFill>
                <a:schemeClr val="dk1"/>
              </a:solidFill>
              <a:latin typeface="Calibri"/>
              <a:ea typeface="Calibri"/>
              <a:cs typeface="Calibri"/>
              <a:sym typeface="Calibri"/>
            </a:endParaRPr>
          </a:p>
          <a:p>
            <a:pPr indent="-287019" lvl="1" marL="756285" marR="0" rtl="0" algn="l">
              <a:lnSpc>
                <a:spcPct val="100000"/>
              </a:lnSpc>
              <a:spcBef>
                <a:spcPts val="48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Many users do this as it is an important advantages of cloud computing</a:t>
            </a:r>
            <a:endParaRPr b="0" i="0" sz="2000" u="none" cap="none" strike="noStrike">
              <a:solidFill>
                <a:schemeClr val="dk1"/>
              </a:solidFill>
              <a:latin typeface="Calibri"/>
              <a:ea typeface="Calibri"/>
              <a:cs typeface="Calibri"/>
              <a:sym typeface="Calibri"/>
            </a:endParaRPr>
          </a:p>
          <a:p>
            <a:pPr indent="0" lvl="0" marL="756285" marR="0" rtl="0" algn="l">
              <a:lnSpc>
                <a:spcPct val="100000"/>
              </a:lnSpc>
              <a:spcBef>
                <a:spcPts val="30"/>
              </a:spcBef>
              <a:spcAft>
                <a:spcPts val="0"/>
              </a:spcAft>
              <a:buNone/>
            </a:pPr>
            <a:r>
              <a:rPr lang="en-US" sz="1600">
                <a:solidFill>
                  <a:schemeClr val="dk1"/>
                </a:solidFill>
                <a:latin typeface="Calibri"/>
                <a:ea typeface="Calibri"/>
                <a:cs typeface="Calibri"/>
                <a:sym typeface="Calibri"/>
              </a:rPr>
              <a:t>multiple users can collaborate easily on documents and projects</a:t>
            </a:r>
            <a:endParaRPr sz="1600">
              <a:solidFill>
                <a:schemeClr val="dk1"/>
              </a:solidFill>
              <a:latin typeface="Calibri"/>
              <a:ea typeface="Calibri"/>
              <a:cs typeface="Calibri"/>
              <a:sym typeface="Calibri"/>
            </a:endParaRPr>
          </a:p>
          <a:p>
            <a:pPr indent="-342900" lvl="0" marL="355600" marR="0" rtl="0" algn="l">
              <a:lnSpc>
                <a:spcPct val="100000"/>
              </a:lnSpc>
              <a:spcBef>
                <a:spcPts val="409"/>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Device independence</a:t>
            </a:r>
            <a:endParaRPr sz="1800">
              <a:solidFill>
                <a:schemeClr val="dk1"/>
              </a:solidFill>
              <a:latin typeface="Calibri"/>
              <a:ea typeface="Calibri"/>
              <a:cs typeface="Calibri"/>
              <a:sym typeface="Calibri"/>
            </a:endParaRPr>
          </a:p>
          <a:p>
            <a:pPr indent="-287019" lvl="1" marL="756285" marR="0" rtl="0" algn="l">
              <a:lnSpc>
                <a:spcPct val="100000"/>
              </a:lnSpc>
              <a:spcBef>
                <a:spcPts val="475"/>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You are no longer tethered to a single computer or network.</a:t>
            </a:r>
            <a:endParaRPr b="0" i="0" sz="2000" u="none" cap="none" strike="noStrike">
              <a:solidFill>
                <a:schemeClr val="dk1"/>
              </a:solidFill>
              <a:latin typeface="Calibri"/>
              <a:ea typeface="Calibri"/>
              <a:cs typeface="Calibri"/>
              <a:sym typeface="Calibri"/>
            </a:endParaRPr>
          </a:p>
          <a:p>
            <a:pPr indent="-287019" lvl="1" marL="756285" marR="0" rtl="0" algn="l">
              <a:lnSpc>
                <a:spcPct val="100000"/>
              </a:lnSpc>
              <a:spcBef>
                <a:spcPts val="48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Changes to computers, applications and documents follow you through the</a:t>
            </a:r>
            <a:endParaRPr/>
          </a:p>
          <a:p>
            <a:pPr indent="0" lvl="0" marL="756285" marR="0" rtl="0" algn="l">
              <a:lnSpc>
                <a:spcPct val="100000"/>
              </a:lnSpc>
              <a:spcBef>
                <a:spcPts val="0"/>
              </a:spcBef>
              <a:spcAft>
                <a:spcPts val="0"/>
              </a:spcAft>
              <a:buNone/>
            </a:pPr>
            <a:r>
              <a:rPr lang="en-US" sz="2000">
                <a:solidFill>
                  <a:schemeClr val="dk1"/>
                </a:solidFill>
                <a:latin typeface="Calibri"/>
                <a:ea typeface="Calibri"/>
                <a:cs typeface="Calibri"/>
                <a:sym typeface="Calibri"/>
              </a:rPr>
              <a:t>cloud.</a:t>
            </a:r>
            <a:endParaRPr sz="2000">
              <a:solidFill>
                <a:schemeClr val="dk1"/>
              </a:solidFill>
              <a:latin typeface="Calibri"/>
              <a:ea typeface="Calibri"/>
              <a:cs typeface="Calibri"/>
              <a:sym typeface="Calibri"/>
            </a:endParaRPr>
          </a:p>
          <a:p>
            <a:pPr indent="-287019" lvl="1" marL="756285" marR="241300" rtl="0" algn="l">
              <a:lnSpc>
                <a:spcPct val="100000"/>
              </a:lnSpc>
              <a:spcBef>
                <a:spcPts val="48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Move to a portable device, and your applications and documents are still  available.</a:t>
            </a:r>
            <a:endParaRPr b="0" i="0" sz="2000" u="none" cap="none" strike="noStrike">
              <a:solidFill>
                <a:schemeClr val="dk1"/>
              </a:solidFill>
              <a:latin typeface="Calibri"/>
              <a:ea typeface="Calibri"/>
              <a:cs typeface="Calibri"/>
              <a:sym typeface="Calibri"/>
            </a:endParaRPr>
          </a:p>
        </p:txBody>
      </p:sp>
      <p:sp>
        <p:nvSpPr>
          <p:cNvPr id="251" name="Google Shape;251;p18"/>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9"/>
          <p:cNvSpPr txBox="1"/>
          <p:nvPr>
            <p:ph type="title"/>
          </p:nvPr>
        </p:nvSpPr>
        <p:spPr>
          <a:xfrm>
            <a:off x="2362200" y="345112"/>
            <a:ext cx="5044566" cy="382797"/>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chemeClr val="dk1"/>
              </a:buClr>
              <a:buSzPts val="2400"/>
              <a:buFont typeface="Calibri"/>
              <a:buNone/>
            </a:pPr>
            <a:r>
              <a:rPr b="1" lang="en-US" sz="2400"/>
              <a:t>Disadvantages of Cloud Computing</a:t>
            </a:r>
            <a:endParaRPr/>
          </a:p>
        </p:txBody>
      </p:sp>
      <p:sp>
        <p:nvSpPr>
          <p:cNvPr id="257" name="Google Shape;257;p19"/>
          <p:cNvSpPr txBox="1"/>
          <p:nvPr>
            <p:ph idx="12" type="sldNum"/>
          </p:nvPr>
        </p:nvSpPr>
        <p:spPr>
          <a:xfrm>
            <a:off x="6457950" y="4767263"/>
            <a:ext cx="2057400" cy="273844"/>
          </a:xfrm>
          <a:prstGeom prst="rect">
            <a:avLst/>
          </a:prstGeom>
          <a:noFill/>
          <a:ln>
            <a:noFill/>
          </a:ln>
        </p:spPr>
        <p:txBody>
          <a:bodyPr anchorCtr="0" anchor="ctr" bIns="0" lIns="0" spcFirstLastPara="1" rIns="0" wrap="square" tIns="5700">
            <a:spAutoFit/>
          </a:bodyPr>
          <a:lstStyle/>
          <a:p>
            <a:pPr indent="0" lvl="0" marL="38100" rtl="0" algn="r">
              <a:lnSpc>
                <a:spcPct val="100000"/>
              </a:lnSpc>
              <a:spcBef>
                <a:spcPts val="0"/>
              </a:spcBef>
              <a:spcAft>
                <a:spcPts val="0"/>
              </a:spcAft>
              <a:buNone/>
            </a:pPr>
            <a:r>
              <a:rPr lang="en-US"/>
              <a:t>22</a:t>
            </a:r>
            <a:endParaRPr/>
          </a:p>
        </p:txBody>
      </p:sp>
      <p:sp>
        <p:nvSpPr>
          <p:cNvPr id="258" name="Google Shape;258;p19"/>
          <p:cNvSpPr txBox="1"/>
          <p:nvPr/>
        </p:nvSpPr>
        <p:spPr>
          <a:xfrm>
            <a:off x="231140" y="851045"/>
            <a:ext cx="8597265" cy="2922905"/>
          </a:xfrm>
          <a:prstGeom prst="rect">
            <a:avLst/>
          </a:prstGeom>
          <a:noFill/>
          <a:ln>
            <a:noFill/>
          </a:ln>
        </p:spPr>
        <p:txBody>
          <a:bodyPr anchorCtr="0" anchor="t" bIns="0" lIns="0" spcFirstLastPara="1" rIns="0" wrap="square" tIns="74275">
            <a:spAutoFit/>
          </a:bodyPr>
          <a:lstStyle/>
          <a:p>
            <a:pPr indent="-342900" lvl="0" marL="355600" marR="0" rtl="0" algn="l">
              <a:lnSpc>
                <a:spcPct val="100000"/>
              </a:lnSpc>
              <a:spcBef>
                <a:spcPts val="0"/>
              </a:spcBef>
              <a:spcAft>
                <a:spcPts val="0"/>
              </a:spcAft>
              <a:buClr>
                <a:schemeClr val="dk1"/>
              </a:buClr>
              <a:buSzPts val="1900"/>
              <a:buFont typeface="Arial"/>
              <a:buChar char="•"/>
            </a:pPr>
            <a:r>
              <a:rPr b="1" lang="en-US" sz="1900">
                <a:solidFill>
                  <a:schemeClr val="dk1"/>
                </a:solidFill>
                <a:latin typeface="Calibri"/>
                <a:ea typeface="Calibri"/>
                <a:cs typeface="Calibri"/>
                <a:sym typeface="Calibri"/>
              </a:rPr>
              <a:t>Requires a constant internet connection</a:t>
            </a:r>
            <a:endParaRPr sz="1900">
              <a:solidFill>
                <a:schemeClr val="dk1"/>
              </a:solidFill>
              <a:latin typeface="Calibri"/>
              <a:ea typeface="Calibri"/>
              <a:cs typeface="Calibri"/>
              <a:sym typeface="Calibri"/>
            </a:endParaRPr>
          </a:p>
          <a:p>
            <a:pPr indent="-287019" lvl="1" marL="756285" marR="0" rtl="0" algn="l">
              <a:lnSpc>
                <a:spcPct val="100000"/>
              </a:lnSpc>
              <a:spcBef>
                <a:spcPts val="409"/>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Cloud computing is impossible if you cannot connect to the Internet.</a:t>
            </a:r>
            <a:endParaRPr b="0" i="0" sz="1600" u="none" cap="none" strike="noStrike">
              <a:solidFill>
                <a:schemeClr val="dk1"/>
              </a:solidFill>
              <a:latin typeface="Calibri"/>
              <a:ea typeface="Calibri"/>
              <a:cs typeface="Calibri"/>
              <a:sym typeface="Calibri"/>
            </a:endParaRPr>
          </a:p>
          <a:p>
            <a:pPr indent="-287019" lvl="1" marL="756285" marR="181610" rtl="0" algn="l">
              <a:lnSpc>
                <a:spcPct val="100000"/>
              </a:lnSpc>
              <a:spcBef>
                <a:spcPts val="385"/>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Since you use the Internet to connect to both your applications and documents, if you do not  have an Internet connection you cannot access anything, even your own documents.</a:t>
            </a:r>
            <a:endParaRPr b="0" i="0" sz="1600" u="none" cap="none" strike="noStrike">
              <a:solidFill>
                <a:schemeClr val="dk1"/>
              </a:solidFill>
              <a:latin typeface="Calibri"/>
              <a:ea typeface="Calibri"/>
              <a:cs typeface="Calibri"/>
              <a:sym typeface="Calibri"/>
            </a:endParaRPr>
          </a:p>
          <a:p>
            <a:pPr indent="-287019" lvl="1" marL="756285" marR="5080" rtl="0" algn="l">
              <a:lnSpc>
                <a:spcPct val="100000"/>
              </a:lnSpc>
              <a:spcBef>
                <a:spcPts val="384"/>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A dead Internet connection means no work and in areas where Internet connections are few or  inherently unreliable, this could be a deal-breaker.</a:t>
            </a:r>
            <a:endParaRPr b="0" i="0" sz="1600" u="none" cap="none" strike="noStrike">
              <a:solidFill>
                <a:schemeClr val="dk1"/>
              </a:solidFill>
              <a:latin typeface="Calibri"/>
              <a:ea typeface="Calibri"/>
              <a:cs typeface="Calibri"/>
              <a:sym typeface="Calibri"/>
            </a:endParaRPr>
          </a:p>
          <a:p>
            <a:pPr indent="-342900" lvl="0" marL="355600" marR="0" rtl="0" algn="l">
              <a:lnSpc>
                <a:spcPct val="100000"/>
              </a:lnSpc>
              <a:spcBef>
                <a:spcPts val="430"/>
              </a:spcBef>
              <a:spcAft>
                <a:spcPts val="0"/>
              </a:spcAft>
              <a:buClr>
                <a:schemeClr val="dk1"/>
              </a:buClr>
              <a:buSzPts val="1900"/>
              <a:buFont typeface="Arial"/>
              <a:buChar char="•"/>
            </a:pPr>
            <a:r>
              <a:rPr b="1" lang="en-US" sz="1900">
                <a:solidFill>
                  <a:schemeClr val="dk1"/>
                </a:solidFill>
                <a:latin typeface="Calibri"/>
                <a:ea typeface="Calibri"/>
                <a:cs typeface="Calibri"/>
                <a:sym typeface="Calibri"/>
              </a:rPr>
              <a:t>Does not work well with low-speed connections</a:t>
            </a:r>
            <a:endParaRPr sz="1900">
              <a:solidFill>
                <a:schemeClr val="dk1"/>
              </a:solidFill>
              <a:latin typeface="Calibri"/>
              <a:ea typeface="Calibri"/>
              <a:cs typeface="Calibri"/>
              <a:sym typeface="Calibri"/>
            </a:endParaRPr>
          </a:p>
          <a:p>
            <a:pPr indent="-287019" lvl="1" marL="756285" marR="401320" rtl="0" algn="l">
              <a:lnSpc>
                <a:spcPct val="100000"/>
              </a:lnSpc>
              <a:spcBef>
                <a:spcPts val="409"/>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Similarly, a low-speed Internet connection, such as that found with dial-up services, makes  cloud computing painful at best and often impossible.</a:t>
            </a:r>
            <a:endParaRPr b="0" i="0" sz="1600" u="none" cap="none" strike="noStrike">
              <a:solidFill>
                <a:schemeClr val="dk1"/>
              </a:solidFill>
              <a:latin typeface="Calibri"/>
              <a:ea typeface="Calibri"/>
              <a:cs typeface="Calibri"/>
              <a:sym typeface="Calibri"/>
            </a:endParaRPr>
          </a:p>
          <a:p>
            <a:pPr indent="-287019" lvl="1" marL="756285" marR="0" rtl="0" algn="l">
              <a:lnSpc>
                <a:spcPct val="100000"/>
              </a:lnSpc>
              <a:spcBef>
                <a:spcPts val="385"/>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Web-based applications require a lot of bandwidth to download, as do large documents.</a:t>
            </a:r>
            <a:endParaRPr b="0" i="0" sz="1600" u="none" cap="none" strike="noStrike">
              <a:solidFill>
                <a:schemeClr val="dk1"/>
              </a:solidFill>
              <a:latin typeface="Calibri"/>
              <a:ea typeface="Calibri"/>
              <a:cs typeface="Calibri"/>
              <a:sym typeface="Calibri"/>
            </a:endParaRPr>
          </a:p>
        </p:txBody>
      </p:sp>
      <p:sp>
        <p:nvSpPr>
          <p:cNvPr id="259" name="Google Shape;259;p19"/>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0"/>
          <p:cNvSpPr txBox="1"/>
          <p:nvPr>
            <p:ph type="title"/>
          </p:nvPr>
        </p:nvSpPr>
        <p:spPr>
          <a:xfrm>
            <a:off x="2438400" y="424683"/>
            <a:ext cx="4648200" cy="381515"/>
          </a:xfrm>
          <a:prstGeom prst="rect">
            <a:avLst/>
          </a:prstGeom>
          <a:noFill/>
          <a:ln>
            <a:noFill/>
          </a:ln>
        </p:spPr>
        <p:txBody>
          <a:bodyPr anchorCtr="0" anchor="ctr" bIns="0" lIns="0" spcFirstLastPara="1" rIns="0" wrap="square" tIns="12050">
            <a:spAutoFit/>
          </a:bodyPr>
          <a:lstStyle/>
          <a:p>
            <a:pPr indent="0" lvl="0" marL="12700" rtl="0" algn="ctr">
              <a:lnSpc>
                <a:spcPct val="100000"/>
              </a:lnSpc>
              <a:spcBef>
                <a:spcPts val="0"/>
              </a:spcBef>
              <a:spcAft>
                <a:spcPts val="0"/>
              </a:spcAft>
              <a:buClr>
                <a:schemeClr val="dk1"/>
              </a:buClr>
              <a:buSzPts val="2400"/>
              <a:buFont typeface="Calibri"/>
              <a:buNone/>
            </a:pPr>
            <a:r>
              <a:rPr b="1" lang="en-US" sz="2400"/>
              <a:t>Disadvantages of Cloud Computing</a:t>
            </a:r>
            <a:endParaRPr b="1" sz="2400"/>
          </a:p>
        </p:txBody>
      </p:sp>
      <p:sp>
        <p:nvSpPr>
          <p:cNvPr id="265" name="Google Shape;265;p20"/>
          <p:cNvSpPr txBox="1"/>
          <p:nvPr>
            <p:ph idx="12" type="sldNum"/>
          </p:nvPr>
        </p:nvSpPr>
        <p:spPr>
          <a:xfrm>
            <a:off x="6457950" y="4767263"/>
            <a:ext cx="2057400" cy="273844"/>
          </a:xfrm>
          <a:prstGeom prst="rect">
            <a:avLst/>
          </a:prstGeom>
          <a:noFill/>
          <a:ln>
            <a:noFill/>
          </a:ln>
        </p:spPr>
        <p:txBody>
          <a:bodyPr anchorCtr="0" anchor="ctr" bIns="0" lIns="0" spcFirstLastPara="1" rIns="0" wrap="square" tIns="5700">
            <a:spAutoFit/>
          </a:bodyPr>
          <a:lstStyle/>
          <a:p>
            <a:pPr indent="0" lvl="0" marL="38100" rtl="0" algn="r">
              <a:lnSpc>
                <a:spcPct val="100000"/>
              </a:lnSpc>
              <a:spcBef>
                <a:spcPts val="0"/>
              </a:spcBef>
              <a:spcAft>
                <a:spcPts val="0"/>
              </a:spcAft>
              <a:buNone/>
            </a:pPr>
            <a:r>
              <a:rPr lang="en-US"/>
              <a:t>23</a:t>
            </a:r>
            <a:endParaRPr/>
          </a:p>
        </p:txBody>
      </p:sp>
      <p:sp>
        <p:nvSpPr>
          <p:cNvPr id="266" name="Google Shape;266;p20"/>
          <p:cNvSpPr txBox="1"/>
          <p:nvPr/>
        </p:nvSpPr>
        <p:spPr>
          <a:xfrm>
            <a:off x="535938" y="929401"/>
            <a:ext cx="8059420" cy="3430904"/>
          </a:xfrm>
          <a:prstGeom prst="rect">
            <a:avLst/>
          </a:prstGeom>
          <a:noFill/>
          <a:ln>
            <a:noFill/>
          </a:ln>
        </p:spPr>
        <p:txBody>
          <a:bodyPr anchorCtr="0" anchor="t" bIns="0" lIns="0" spcFirstLastPara="1" rIns="0" wrap="square" tIns="43175">
            <a:spAutoFit/>
          </a:bodyPr>
          <a:lstStyle/>
          <a:p>
            <a:pPr indent="-343535" lvl="0" marL="355600" marR="0" rtl="0" algn="l">
              <a:lnSpc>
                <a:spcPct val="100000"/>
              </a:lnSpc>
              <a:spcBef>
                <a:spcPts val="0"/>
              </a:spcBef>
              <a:spcAft>
                <a:spcPts val="0"/>
              </a:spcAft>
              <a:buClr>
                <a:schemeClr val="dk1"/>
              </a:buClr>
              <a:buSzPts val="1900"/>
              <a:buFont typeface="Arial"/>
              <a:buChar char="•"/>
            </a:pPr>
            <a:r>
              <a:rPr b="1" lang="en-US" sz="1900">
                <a:solidFill>
                  <a:schemeClr val="dk1"/>
                </a:solidFill>
                <a:latin typeface="Calibri"/>
                <a:ea typeface="Calibri"/>
                <a:cs typeface="Calibri"/>
                <a:sym typeface="Calibri"/>
              </a:rPr>
              <a:t>Features might be limited</a:t>
            </a:r>
            <a:endParaRPr sz="1900">
              <a:solidFill>
                <a:schemeClr val="dk1"/>
              </a:solidFill>
              <a:latin typeface="Calibri"/>
              <a:ea typeface="Calibri"/>
              <a:cs typeface="Calibri"/>
              <a:sym typeface="Calibri"/>
            </a:endParaRPr>
          </a:p>
          <a:p>
            <a:pPr indent="-287019" lvl="1" marL="756285" marR="208279" rtl="0" algn="l">
              <a:lnSpc>
                <a:spcPct val="108176"/>
              </a:lnSpc>
              <a:spcBef>
                <a:spcPts val="455"/>
              </a:spcBef>
              <a:spcAft>
                <a:spcPts val="0"/>
              </a:spcAft>
              <a:buClr>
                <a:schemeClr val="dk1"/>
              </a:buClr>
              <a:buSzPts val="1700"/>
              <a:buFont typeface="Arial"/>
              <a:buChar char="–"/>
            </a:pPr>
            <a:r>
              <a:rPr b="0" i="0" lang="en-US" sz="1700" u="none" cap="none" strike="noStrike">
                <a:solidFill>
                  <a:schemeClr val="dk1"/>
                </a:solidFill>
                <a:latin typeface="Calibri"/>
                <a:ea typeface="Calibri"/>
                <a:cs typeface="Calibri"/>
                <a:sym typeface="Calibri"/>
              </a:rPr>
              <a:t>This situation is bound to change, but today many web-based applications simply  are not as full-featured as their desktop-based applications.</a:t>
            </a:r>
            <a:endParaRPr b="0" i="0" sz="1700" u="none" cap="none" strike="noStrike">
              <a:solidFill>
                <a:schemeClr val="dk1"/>
              </a:solidFill>
              <a:latin typeface="Calibri"/>
              <a:ea typeface="Calibri"/>
              <a:cs typeface="Calibri"/>
              <a:sym typeface="Calibri"/>
            </a:endParaRPr>
          </a:p>
          <a:p>
            <a:pPr indent="-228600" lvl="2" marL="1155700" marR="688340" rtl="0" algn="l">
              <a:lnSpc>
                <a:spcPct val="108000"/>
              </a:lnSpc>
              <a:spcBef>
                <a:spcPts val="360"/>
              </a:spcBef>
              <a:spcAft>
                <a:spcPts val="0"/>
              </a:spcAft>
              <a:buClr>
                <a:schemeClr val="dk1"/>
              </a:buClr>
              <a:buSzPts val="1500"/>
              <a:buFont typeface="Arial"/>
              <a:buChar char="•"/>
            </a:pPr>
            <a:r>
              <a:rPr b="0" i="0" lang="en-US" sz="1500" u="none" cap="none" strike="noStrike">
                <a:solidFill>
                  <a:schemeClr val="dk1"/>
                </a:solidFill>
                <a:latin typeface="Calibri"/>
                <a:ea typeface="Calibri"/>
                <a:cs typeface="Calibri"/>
                <a:sym typeface="Calibri"/>
              </a:rPr>
              <a:t>For example, you can do a lot more with Microsoft PowerPoint than with Google  Presentation's web-based offering</a:t>
            </a:r>
            <a:endParaRPr b="0" i="0" sz="1500" u="none" cap="none" strike="noStrike">
              <a:solidFill>
                <a:schemeClr val="dk1"/>
              </a:solidFill>
              <a:latin typeface="Calibri"/>
              <a:ea typeface="Calibri"/>
              <a:cs typeface="Calibri"/>
              <a:sym typeface="Calibri"/>
            </a:endParaRPr>
          </a:p>
          <a:p>
            <a:pPr indent="-343535" lvl="0" marL="355600" marR="0" rtl="0" algn="just">
              <a:lnSpc>
                <a:spcPct val="100000"/>
              </a:lnSpc>
              <a:spcBef>
                <a:spcPts val="175"/>
              </a:spcBef>
              <a:spcAft>
                <a:spcPts val="0"/>
              </a:spcAft>
              <a:buClr>
                <a:schemeClr val="dk1"/>
              </a:buClr>
              <a:buSzPts val="1900"/>
              <a:buFont typeface="Arial"/>
              <a:buChar char="•"/>
            </a:pPr>
            <a:r>
              <a:rPr b="1" lang="en-US" sz="1900">
                <a:solidFill>
                  <a:schemeClr val="dk1"/>
                </a:solidFill>
                <a:latin typeface="Calibri"/>
                <a:ea typeface="Calibri"/>
                <a:cs typeface="Calibri"/>
                <a:sym typeface="Calibri"/>
              </a:rPr>
              <a:t>Can be slow</a:t>
            </a:r>
            <a:endParaRPr sz="1900">
              <a:solidFill>
                <a:schemeClr val="dk1"/>
              </a:solidFill>
              <a:latin typeface="Calibri"/>
              <a:ea typeface="Calibri"/>
              <a:cs typeface="Calibri"/>
              <a:sym typeface="Calibri"/>
            </a:endParaRPr>
          </a:p>
          <a:p>
            <a:pPr indent="-287019" lvl="1" marL="756285" marR="5080" rtl="0" algn="just">
              <a:lnSpc>
                <a:spcPct val="108176"/>
              </a:lnSpc>
              <a:spcBef>
                <a:spcPts val="455"/>
              </a:spcBef>
              <a:spcAft>
                <a:spcPts val="0"/>
              </a:spcAft>
              <a:buClr>
                <a:schemeClr val="dk1"/>
              </a:buClr>
              <a:buSzPts val="1700"/>
              <a:buFont typeface="Arial"/>
              <a:buChar char="–"/>
            </a:pPr>
            <a:r>
              <a:rPr b="0" i="0" lang="en-US" sz="1700" u="none" cap="none" strike="noStrike">
                <a:solidFill>
                  <a:schemeClr val="dk1"/>
                </a:solidFill>
                <a:latin typeface="Calibri"/>
                <a:ea typeface="Calibri"/>
                <a:cs typeface="Calibri"/>
                <a:sym typeface="Calibri"/>
              </a:rPr>
              <a:t>Even with a fast connection, web-based applications can sometimes be slower than  accessing a similar software program on your desktop PC.</a:t>
            </a:r>
            <a:endParaRPr/>
          </a:p>
          <a:p>
            <a:pPr indent="-287019" lvl="1" marL="756285" marR="0" rtl="0" algn="just">
              <a:lnSpc>
                <a:spcPct val="114058"/>
              </a:lnSpc>
              <a:spcBef>
                <a:spcPts val="170"/>
              </a:spcBef>
              <a:spcAft>
                <a:spcPts val="0"/>
              </a:spcAft>
              <a:buClr>
                <a:schemeClr val="dk1"/>
              </a:buClr>
              <a:buSzPts val="1700"/>
              <a:buFont typeface="Arial"/>
              <a:buChar char="–"/>
            </a:pPr>
            <a:r>
              <a:rPr b="0" i="0" lang="en-US" sz="1700" u="none" cap="none" strike="noStrike">
                <a:solidFill>
                  <a:schemeClr val="dk1"/>
                </a:solidFill>
                <a:latin typeface="Calibri"/>
                <a:ea typeface="Calibri"/>
                <a:cs typeface="Calibri"/>
                <a:sym typeface="Calibri"/>
              </a:rPr>
              <a:t>Everything about the program, from the interface to the current document, has to</a:t>
            </a:r>
            <a:endParaRPr b="0" i="0" sz="1700" u="none" cap="none" strike="noStrike">
              <a:solidFill>
                <a:schemeClr val="dk1"/>
              </a:solidFill>
              <a:latin typeface="Calibri"/>
              <a:ea typeface="Calibri"/>
              <a:cs typeface="Calibri"/>
              <a:sym typeface="Calibri"/>
            </a:endParaRPr>
          </a:p>
          <a:p>
            <a:pPr indent="0" lvl="0" marL="756285" marR="0" rtl="0" algn="just">
              <a:lnSpc>
                <a:spcPct val="114058"/>
              </a:lnSpc>
              <a:spcBef>
                <a:spcPts val="0"/>
              </a:spcBef>
              <a:spcAft>
                <a:spcPts val="0"/>
              </a:spcAft>
              <a:buNone/>
            </a:pPr>
            <a:r>
              <a:rPr lang="en-US" sz="1700">
                <a:solidFill>
                  <a:schemeClr val="dk1"/>
                </a:solidFill>
                <a:latin typeface="Calibri"/>
                <a:ea typeface="Calibri"/>
                <a:cs typeface="Calibri"/>
                <a:sym typeface="Calibri"/>
              </a:rPr>
              <a:t>be sent back and forth from your computer to the computers in the cloud.</a:t>
            </a:r>
            <a:endParaRPr/>
          </a:p>
          <a:p>
            <a:pPr indent="-287019" lvl="1" marL="756285" marR="284480" rtl="0" algn="just">
              <a:lnSpc>
                <a:spcPct val="108176"/>
              </a:lnSpc>
              <a:spcBef>
                <a:spcPts val="434"/>
              </a:spcBef>
              <a:spcAft>
                <a:spcPts val="0"/>
              </a:spcAft>
              <a:buClr>
                <a:schemeClr val="dk1"/>
              </a:buClr>
              <a:buSzPts val="1700"/>
              <a:buFont typeface="Arial"/>
              <a:buChar char="–"/>
            </a:pPr>
            <a:r>
              <a:rPr b="0" i="0" lang="en-US" sz="1700" u="none" cap="none" strike="noStrike">
                <a:solidFill>
                  <a:schemeClr val="dk1"/>
                </a:solidFill>
                <a:latin typeface="Calibri"/>
                <a:ea typeface="Calibri"/>
                <a:cs typeface="Calibri"/>
                <a:sym typeface="Calibri"/>
              </a:rPr>
              <a:t>If the cloud servers happen to be backed up at that moment, or if the Internet is  having a slow day, you would not get the instantaneous access you might expect  from desktop applications.</a:t>
            </a:r>
            <a:endParaRPr b="0" i="0" sz="1700" u="none" cap="none" strike="noStrike">
              <a:solidFill>
                <a:schemeClr val="dk1"/>
              </a:solidFill>
              <a:latin typeface="Calibri"/>
              <a:ea typeface="Calibri"/>
              <a:cs typeface="Calibri"/>
              <a:sym typeface="Calibri"/>
            </a:endParaRPr>
          </a:p>
        </p:txBody>
      </p:sp>
      <p:sp>
        <p:nvSpPr>
          <p:cNvPr id="267" name="Google Shape;267;p20"/>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1"/>
          <p:cNvSpPr txBox="1"/>
          <p:nvPr>
            <p:ph type="title"/>
          </p:nvPr>
        </p:nvSpPr>
        <p:spPr>
          <a:xfrm>
            <a:off x="2514600" y="424683"/>
            <a:ext cx="4724400" cy="381515"/>
          </a:xfrm>
          <a:prstGeom prst="rect">
            <a:avLst/>
          </a:prstGeom>
          <a:noFill/>
          <a:ln>
            <a:noFill/>
          </a:ln>
        </p:spPr>
        <p:txBody>
          <a:bodyPr anchorCtr="0" anchor="ctr" bIns="0" lIns="0" spcFirstLastPara="1" rIns="0" wrap="square" tIns="12050">
            <a:spAutoFit/>
          </a:bodyPr>
          <a:lstStyle/>
          <a:p>
            <a:pPr indent="0" lvl="0" marL="12700" rtl="0" algn="ctr">
              <a:lnSpc>
                <a:spcPct val="100000"/>
              </a:lnSpc>
              <a:spcBef>
                <a:spcPts val="0"/>
              </a:spcBef>
              <a:spcAft>
                <a:spcPts val="0"/>
              </a:spcAft>
              <a:buClr>
                <a:schemeClr val="dk1"/>
              </a:buClr>
              <a:buSzPts val="2400"/>
              <a:buFont typeface="Calibri"/>
              <a:buNone/>
            </a:pPr>
            <a:r>
              <a:rPr b="1" lang="en-US" sz="2400"/>
              <a:t>Disadvantages of Cloud Computing</a:t>
            </a:r>
            <a:endParaRPr b="1" sz="2400"/>
          </a:p>
        </p:txBody>
      </p:sp>
      <p:sp>
        <p:nvSpPr>
          <p:cNvPr id="273" name="Google Shape;273;p21"/>
          <p:cNvSpPr txBox="1"/>
          <p:nvPr>
            <p:ph idx="12" type="sldNum"/>
          </p:nvPr>
        </p:nvSpPr>
        <p:spPr>
          <a:xfrm>
            <a:off x="6457950" y="4767263"/>
            <a:ext cx="2057400" cy="273844"/>
          </a:xfrm>
          <a:prstGeom prst="rect">
            <a:avLst/>
          </a:prstGeom>
          <a:noFill/>
          <a:ln>
            <a:noFill/>
          </a:ln>
        </p:spPr>
        <p:txBody>
          <a:bodyPr anchorCtr="0" anchor="ctr" bIns="0" lIns="0" spcFirstLastPara="1" rIns="0" wrap="square" tIns="5700">
            <a:spAutoFit/>
          </a:bodyPr>
          <a:lstStyle/>
          <a:p>
            <a:pPr indent="0" lvl="0" marL="38100" rtl="0" algn="r">
              <a:lnSpc>
                <a:spcPct val="100000"/>
              </a:lnSpc>
              <a:spcBef>
                <a:spcPts val="0"/>
              </a:spcBef>
              <a:spcAft>
                <a:spcPts val="0"/>
              </a:spcAft>
              <a:buNone/>
            </a:pPr>
            <a:r>
              <a:rPr lang="en-US"/>
              <a:t>24</a:t>
            </a:r>
            <a:endParaRPr/>
          </a:p>
        </p:txBody>
      </p:sp>
      <p:sp>
        <p:nvSpPr>
          <p:cNvPr id="274" name="Google Shape;274;p21"/>
          <p:cNvSpPr txBox="1"/>
          <p:nvPr/>
        </p:nvSpPr>
        <p:spPr>
          <a:xfrm>
            <a:off x="307340" y="1096521"/>
            <a:ext cx="7981950" cy="2738755"/>
          </a:xfrm>
          <a:prstGeom prst="rect">
            <a:avLst/>
          </a:prstGeom>
          <a:noFill/>
          <a:ln>
            <a:noFill/>
          </a:ln>
        </p:spPr>
        <p:txBody>
          <a:bodyPr anchorCtr="0" anchor="t" bIns="0" lIns="0" spcFirstLastPara="1" rIns="0" wrap="square" tIns="67300">
            <a:spAutoFit/>
          </a:bodyPr>
          <a:lstStyle/>
          <a:p>
            <a:pPr indent="-342900" lvl="0" marL="355600" marR="0" rtl="0" algn="l">
              <a:lnSpc>
                <a:spcPct val="100000"/>
              </a:lnSpc>
              <a:spcBef>
                <a:spcPts val="0"/>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Stored data might not be secured</a:t>
            </a:r>
            <a:endParaRPr sz="1800">
              <a:solidFill>
                <a:schemeClr val="dk1"/>
              </a:solidFill>
              <a:latin typeface="Calibri"/>
              <a:ea typeface="Calibri"/>
              <a:cs typeface="Calibri"/>
              <a:sym typeface="Calibri"/>
            </a:endParaRPr>
          </a:p>
          <a:p>
            <a:pPr indent="-287019" lvl="1" marL="756285" marR="0" rtl="0" algn="l">
              <a:lnSpc>
                <a:spcPct val="100000"/>
              </a:lnSpc>
              <a:spcBef>
                <a:spcPts val="43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With cloud computing, all your data is stored on the cloud.</a:t>
            </a:r>
            <a:endParaRPr b="0" i="0" sz="1800" u="none" cap="none" strike="noStrike">
              <a:solidFill>
                <a:schemeClr val="dk1"/>
              </a:solidFill>
              <a:latin typeface="Calibri"/>
              <a:ea typeface="Calibri"/>
              <a:cs typeface="Calibri"/>
              <a:sym typeface="Calibri"/>
            </a:endParaRPr>
          </a:p>
          <a:p>
            <a:pPr indent="-229235" lvl="2" marL="1155700" marR="0" rtl="0" algn="l">
              <a:lnSpc>
                <a:spcPct val="100000"/>
              </a:lnSpc>
              <a:spcBef>
                <a:spcPts val="365"/>
              </a:spcBef>
              <a:spcAft>
                <a:spcPts val="0"/>
              </a:spcAft>
              <a:buClr>
                <a:schemeClr val="dk1"/>
              </a:buClr>
              <a:buSzPts val="1400"/>
              <a:buFont typeface="Arial"/>
              <a:buChar char="•"/>
            </a:pPr>
            <a:r>
              <a:rPr b="0" i="0" lang="en-US" sz="1400" u="none" cap="none" strike="noStrike">
                <a:solidFill>
                  <a:schemeClr val="dk1"/>
                </a:solidFill>
                <a:latin typeface="Calibri"/>
                <a:ea typeface="Calibri"/>
                <a:cs typeface="Calibri"/>
                <a:sym typeface="Calibri"/>
              </a:rPr>
              <a:t>The questions is How secure is the cloud?</a:t>
            </a:r>
            <a:endParaRPr b="0" i="0" sz="1400" u="none" cap="none" strike="noStrike">
              <a:solidFill>
                <a:schemeClr val="dk1"/>
              </a:solidFill>
              <a:latin typeface="Calibri"/>
              <a:ea typeface="Calibri"/>
              <a:cs typeface="Calibri"/>
              <a:sym typeface="Calibri"/>
            </a:endParaRPr>
          </a:p>
          <a:p>
            <a:pPr indent="-287019" lvl="1" marL="756285" marR="0" rtl="0" algn="l">
              <a:lnSpc>
                <a:spcPct val="100000"/>
              </a:lnSpc>
              <a:spcBef>
                <a:spcPts val="405"/>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Can unauthorized users gain access to your confidential data ?</a:t>
            </a:r>
            <a:endParaRPr b="0" i="0" sz="1800" u="none" cap="none" strike="noStrike">
              <a:solidFill>
                <a:schemeClr val="dk1"/>
              </a:solidFill>
              <a:latin typeface="Calibri"/>
              <a:ea typeface="Calibri"/>
              <a:cs typeface="Calibri"/>
              <a:sym typeface="Calibri"/>
            </a:endParaRPr>
          </a:p>
          <a:p>
            <a:pPr indent="0" lvl="1" marL="457200" marR="0" rtl="0" algn="l">
              <a:lnSpc>
                <a:spcPct val="100000"/>
              </a:lnSpc>
              <a:spcBef>
                <a:spcPts val="35"/>
              </a:spcBef>
              <a:spcAft>
                <a:spcPts val="0"/>
              </a:spcAft>
              <a:buClr>
                <a:schemeClr val="dk1"/>
              </a:buClr>
              <a:buSzPts val="2450"/>
              <a:buFont typeface="Calibri"/>
              <a:buNone/>
            </a:pPr>
            <a:r>
              <a:t/>
            </a:r>
            <a:endParaRPr b="0" i="0" sz="2450" u="none" cap="none" strike="noStrike">
              <a:solidFill>
                <a:schemeClr val="dk1"/>
              </a:solidFill>
              <a:latin typeface="Calibri"/>
              <a:ea typeface="Calibri"/>
              <a:cs typeface="Calibri"/>
              <a:sym typeface="Calibri"/>
            </a:endParaRPr>
          </a:p>
          <a:p>
            <a:pPr indent="-342900" lvl="0" marL="355600" marR="0" rtl="0" algn="l">
              <a:lnSpc>
                <a:spcPct val="100000"/>
              </a:lnSpc>
              <a:spcBef>
                <a:spcPts val="0"/>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Stored data can be lost!</a:t>
            </a:r>
            <a:endParaRPr sz="1800">
              <a:solidFill>
                <a:schemeClr val="dk1"/>
              </a:solidFill>
              <a:latin typeface="Calibri"/>
              <a:ea typeface="Calibri"/>
              <a:cs typeface="Calibri"/>
              <a:sym typeface="Calibri"/>
            </a:endParaRPr>
          </a:p>
          <a:p>
            <a:pPr indent="-287019" lvl="1" marL="756285" marR="0" rtl="0" algn="l">
              <a:lnSpc>
                <a:spcPct val="100000"/>
              </a:lnSpc>
              <a:spcBef>
                <a:spcPts val="405"/>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Theoretically, data stored in the cloud is safe, replicated across multiple machines.</a:t>
            </a:r>
            <a:endParaRPr b="0" i="0" sz="1600" u="none" cap="none" strike="noStrike">
              <a:solidFill>
                <a:schemeClr val="dk1"/>
              </a:solidFill>
              <a:latin typeface="Calibri"/>
              <a:ea typeface="Calibri"/>
              <a:cs typeface="Calibri"/>
              <a:sym typeface="Calibri"/>
            </a:endParaRPr>
          </a:p>
          <a:p>
            <a:pPr indent="-287019" lvl="1" marL="756285" marR="0" rtl="0" algn="l">
              <a:lnSpc>
                <a:spcPct val="100000"/>
              </a:lnSpc>
              <a:spcBef>
                <a:spcPts val="385"/>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But on the off chance that your data goes missing, you have no physical or local backup.</a:t>
            </a:r>
            <a:endParaRPr b="0" i="0" sz="1600" u="none" cap="none" strike="noStrike">
              <a:solidFill>
                <a:schemeClr val="dk1"/>
              </a:solidFill>
              <a:latin typeface="Calibri"/>
              <a:ea typeface="Calibri"/>
              <a:cs typeface="Calibri"/>
              <a:sym typeface="Calibri"/>
            </a:endParaRPr>
          </a:p>
          <a:p>
            <a:pPr indent="-229235" lvl="2" marL="1155700" marR="0" rtl="0" algn="l">
              <a:lnSpc>
                <a:spcPct val="100000"/>
              </a:lnSpc>
              <a:spcBef>
                <a:spcPts val="315"/>
              </a:spcBef>
              <a:spcAft>
                <a:spcPts val="0"/>
              </a:spcAft>
              <a:buClr>
                <a:schemeClr val="dk1"/>
              </a:buClr>
              <a:buSzPts val="1200"/>
              <a:buFont typeface="Arial"/>
              <a:buChar char="•"/>
            </a:pPr>
            <a:r>
              <a:rPr b="0" i="0" lang="en-US" sz="1200" u="none" cap="none" strike="noStrike">
                <a:solidFill>
                  <a:schemeClr val="dk1"/>
                </a:solidFill>
                <a:latin typeface="Calibri"/>
                <a:ea typeface="Calibri"/>
                <a:cs typeface="Calibri"/>
                <a:sym typeface="Calibri"/>
              </a:rPr>
              <a:t>Put simply, relying on the cloud puts you at risk if the cloud lets you down.</a:t>
            </a:r>
            <a:endParaRPr b="0" i="0" sz="1200" u="none" cap="none" strike="noStrike">
              <a:solidFill>
                <a:schemeClr val="dk1"/>
              </a:solidFill>
              <a:latin typeface="Calibri"/>
              <a:ea typeface="Calibri"/>
              <a:cs typeface="Calibri"/>
              <a:sym typeface="Calibri"/>
            </a:endParaRPr>
          </a:p>
        </p:txBody>
      </p:sp>
      <p:sp>
        <p:nvSpPr>
          <p:cNvPr id="275" name="Google Shape;275;p21"/>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2"/>
          <p:cNvSpPr txBox="1"/>
          <p:nvPr>
            <p:ph type="title"/>
          </p:nvPr>
        </p:nvSpPr>
        <p:spPr>
          <a:xfrm>
            <a:off x="2514600" y="460428"/>
            <a:ext cx="4756150" cy="382797"/>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chemeClr val="dk1"/>
              </a:buClr>
              <a:buSzPts val="2400"/>
              <a:buFont typeface="Calibri"/>
              <a:buNone/>
            </a:pPr>
            <a:r>
              <a:rPr b="1" lang="en-US" sz="2400"/>
              <a:t>Disadvantages of Cloud Computing</a:t>
            </a:r>
            <a:endParaRPr/>
          </a:p>
        </p:txBody>
      </p:sp>
      <p:sp>
        <p:nvSpPr>
          <p:cNvPr id="281" name="Google Shape;281;p22"/>
          <p:cNvSpPr txBox="1"/>
          <p:nvPr>
            <p:ph idx="12" type="sldNum"/>
          </p:nvPr>
        </p:nvSpPr>
        <p:spPr>
          <a:xfrm>
            <a:off x="6457950" y="4767263"/>
            <a:ext cx="2057400" cy="273844"/>
          </a:xfrm>
          <a:prstGeom prst="rect">
            <a:avLst/>
          </a:prstGeom>
          <a:noFill/>
          <a:ln>
            <a:noFill/>
          </a:ln>
        </p:spPr>
        <p:txBody>
          <a:bodyPr anchorCtr="0" anchor="ctr" bIns="0" lIns="0" spcFirstLastPara="1" rIns="0" wrap="square" tIns="5700">
            <a:spAutoFit/>
          </a:bodyPr>
          <a:lstStyle/>
          <a:p>
            <a:pPr indent="0" lvl="0" marL="38100" rtl="0" algn="r">
              <a:lnSpc>
                <a:spcPct val="100000"/>
              </a:lnSpc>
              <a:spcBef>
                <a:spcPts val="0"/>
              </a:spcBef>
              <a:spcAft>
                <a:spcPts val="0"/>
              </a:spcAft>
              <a:buNone/>
            </a:pPr>
            <a:r>
              <a:rPr lang="en-US"/>
              <a:t>25</a:t>
            </a:r>
            <a:endParaRPr/>
          </a:p>
        </p:txBody>
      </p:sp>
      <p:sp>
        <p:nvSpPr>
          <p:cNvPr id="282" name="Google Shape;282;p22"/>
          <p:cNvSpPr txBox="1"/>
          <p:nvPr/>
        </p:nvSpPr>
        <p:spPr>
          <a:xfrm>
            <a:off x="307340" y="908684"/>
            <a:ext cx="1645285" cy="299720"/>
          </a:xfrm>
          <a:prstGeom prst="rect">
            <a:avLst/>
          </a:prstGeom>
          <a:noFill/>
          <a:ln>
            <a:noFill/>
          </a:ln>
        </p:spPr>
        <p:txBody>
          <a:bodyPr anchorCtr="0" anchor="t" bIns="0" lIns="0" spcFirstLastPara="1" rIns="0" wrap="square" tIns="12700">
            <a:spAutoFit/>
          </a:bodyPr>
          <a:lstStyle/>
          <a:p>
            <a:pPr indent="-411480" lvl="0" marL="424180" marR="0" rtl="0" algn="l">
              <a:lnSpc>
                <a:spcPct val="100000"/>
              </a:lnSpc>
              <a:spcBef>
                <a:spcPts val="0"/>
              </a:spcBef>
              <a:spcAft>
                <a:spcPts val="0"/>
              </a:spcAft>
              <a:buClr>
                <a:schemeClr val="dk1"/>
              </a:buClr>
              <a:buSzPts val="2400"/>
              <a:buFont typeface="Arial"/>
              <a:buChar char="•"/>
            </a:pPr>
            <a:r>
              <a:rPr b="1" lang="en-US" sz="1800">
                <a:solidFill>
                  <a:schemeClr val="dk1"/>
                </a:solidFill>
                <a:latin typeface="Calibri"/>
                <a:ea typeface="Calibri"/>
                <a:cs typeface="Calibri"/>
                <a:sym typeface="Calibri"/>
              </a:rPr>
              <a:t>HPC Systems</a:t>
            </a:r>
            <a:endParaRPr sz="1800">
              <a:solidFill>
                <a:schemeClr val="dk1"/>
              </a:solidFill>
              <a:latin typeface="Calibri"/>
              <a:ea typeface="Calibri"/>
              <a:cs typeface="Calibri"/>
              <a:sym typeface="Calibri"/>
            </a:endParaRPr>
          </a:p>
        </p:txBody>
      </p:sp>
      <p:sp>
        <p:nvSpPr>
          <p:cNvPr id="283" name="Google Shape;283;p22"/>
          <p:cNvSpPr txBox="1"/>
          <p:nvPr/>
        </p:nvSpPr>
        <p:spPr>
          <a:xfrm>
            <a:off x="307340" y="1205640"/>
            <a:ext cx="8296909" cy="2861945"/>
          </a:xfrm>
          <a:prstGeom prst="rect">
            <a:avLst/>
          </a:prstGeom>
          <a:noFill/>
          <a:ln>
            <a:noFill/>
          </a:ln>
        </p:spPr>
        <p:txBody>
          <a:bodyPr anchorCtr="0" anchor="t" bIns="0" lIns="0" spcFirstLastPara="1" rIns="0" wrap="square" tIns="61575">
            <a:spAutoFit/>
          </a:bodyPr>
          <a:lstStyle/>
          <a:p>
            <a:pPr indent="-287654" lvl="0" marL="756285" marR="0" rtl="0" algn="l">
              <a:lnSpc>
                <a:spcPct val="100000"/>
              </a:lnSpc>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Not clear that you can run compute-intensive HPC applications that use MPI/OpenMP!</a:t>
            </a:r>
            <a:endParaRPr sz="1600">
              <a:solidFill>
                <a:schemeClr val="dk1"/>
              </a:solidFill>
              <a:latin typeface="Calibri"/>
              <a:ea typeface="Calibri"/>
              <a:cs typeface="Calibri"/>
              <a:sym typeface="Calibri"/>
            </a:endParaRPr>
          </a:p>
          <a:p>
            <a:pPr indent="-287654" lvl="0" marL="756285" marR="0" rtl="0" algn="l">
              <a:lnSpc>
                <a:spcPct val="100000"/>
              </a:lnSpc>
              <a:spcBef>
                <a:spcPts val="38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Scheduling is important with this type of application</a:t>
            </a:r>
            <a:endParaRPr sz="1600">
              <a:solidFill>
                <a:schemeClr val="dk1"/>
              </a:solidFill>
              <a:latin typeface="Calibri"/>
              <a:ea typeface="Calibri"/>
              <a:cs typeface="Calibri"/>
              <a:sym typeface="Calibri"/>
            </a:endParaRPr>
          </a:p>
          <a:p>
            <a:pPr indent="-229235" lvl="1" marL="1155700" marR="0" rtl="0" algn="l">
              <a:lnSpc>
                <a:spcPct val="100000"/>
              </a:lnSpc>
              <a:spcBef>
                <a:spcPts val="345"/>
              </a:spcBef>
              <a:spcAft>
                <a:spcPts val="0"/>
              </a:spcAft>
              <a:buClr>
                <a:schemeClr val="dk1"/>
              </a:buClr>
              <a:buSzPts val="1400"/>
              <a:buFont typeface="Arial"/>
              <a:buChar char="•"/>
            </a:pPr>
            <a:r>
              <a:rPr b="0" i="0" lang="en-US" sz="1400" u="none" cap="none" strike="noStrike">
                <a:solidFill>
                  <a:schemeClr val="dk1"/>
                </a:solidFill>
                <a:latin typeface="Calibri"/>
                <a:ea typeface="Calibri"/>
                <a:cs typeface="Calibri"/>
                <a:sym typeface="Calibri"/>
              </a:rPr>
              <a:t>as you want all the VM to be co-located to minimize communication latency!</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40"/>
              </a:spcBef>
              <a:spcAft>
                <a:spcPts val="0"/>
              </a:spcAft>
              <a:buNone/>
            </a:pPr>
            <a:r>
              <a:t/>
            </a:r>
            <a:endParaRPr sz="1950">
              <a:solidFill>
                <a:schemeClr val="dk1"/>
              </a:solidFill>
              <a:latin typeface="Calibri"/>
              <a:ea typeface="Calibri"/>
              <a:cs typeface="Calibri"/>
              <a:sym typeface="Calibri"/>
            </a:endParaRPr>
          </a:p>
          <a:p>
            <a:pPr indent="-342900" lvl="0" marL="355600" marR="0" rtl="0" algn="l">
              <a:lnSpc>
                <a:spcPct val="100000"/>
              </a:lnSpc>
              <a:spcBef>
                <a:spcPts val="5"/>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General Concerns</a:t>
            </a:r>
            <a:endParaRPr sz="1800">
              <a:solidFill>
                <a:schemeClr val="dk1"/>
              </a:solidFill>
              <a:latin typeface="Calibri"/>
              <a:ea typeface="Calibri"/>
              <a:cs typeface="Calibri"/>
              <a:sym typeface="Calibri"/>
            </a:endParaRPr>
          </a:p>
          <a:p>
            <a:pPr indent="-287019" lvl="1" marL="756285" marR="0" rtl="0" algn="l">
              <a:lnSpc>
                <a:spcPct val="100000"/>
              </a:lnSpc>
              <a:spcBef>
                <a:spcPts val="400"/>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Each cloud systems uses different protocols and different APIs</a:t>
            </a:r>
            <a:endParaRPr b="0" i="0" sz="1600" u="none" cap="none" strike="noStrike">
              <a:solidFill>
                <a:schemeClr val="dk1"/>
              </a:solidFill>
              <a:latin typeface="Calibri"/>
              <a:ea typeface="Calibri"/>
              <a:cs typeface="Calibri"/>
              <a:sym typeface="Calibri"/>
            </a:endParaRPr>
          </a:p>
          <a:p>
            <a:pPr indent="-229235" lvl="2" marL="1155700" marR="0" rtl="0" algn="l">
              <a:lnSpc>
                <a:spcPct val="100000"/>
              </a:lnSpc>
              <a:spcBef>
                <a:spcPts val="345"/>
              </a:spcBef>
              <a:spcAft>
                <a:spcPts val="0"/>
              </a:spcAft>
              <a:buClr>
                <a:schemeClr val="dk1"/>
              </a:buClr>
              <a:buSzPts val="1400"/>
              <a:buFont typeface="Arial"/>
              <a:buChar char="•"/>
            </a:pPr>
            <a:r>
              <a:rPr b="0" i="0" lang="en-US" sz="1400" u="none" cap="none" strike="noStrike">
                <a:solidFill>
                  <a:schemeClr val="dk1"/>
                </a:solidFill>
                <a:latin typeface="Calibri"/>
                <a:ea typeface="Calibri"/>
                <a:cs typeface="Calibri"/>
                <a:sym typeface="Calibri"/>
              </a:rPr>
              <a:t>may not be possible to run applications between cloud based systems</a:t>
            </a:r>
            <a:endParaRPr b="0" i="0" sz="1400" u="none" cap="none" strike="noStrike">
              <a:solidFill>
                <a:schemeClr val="dk1"/>
              </a:solidFill>
              <a:latin typeface="Calibri"/>
              <a:ea typeface="Calibri"/>
              <a:cs typeface="Calibri"/>
              <a:sym typeface="Calibri"/>
            </a:endParaRPr>
          </a:p>
          <a:p>
            <a:pPr indent="-287019" lvl="1" marL="756285" marR="5080" rtl="0" algn="l">
              <a:lnSpc>
                <a:spcPct val="100000"/>
              </a:lnSpc>
              <a:spcBef>
                <a:spcPts val="405"/>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Amazon has created its own DB system (not SQL 92), and workflow system (many  popular workflow systems out there)</a:t>
            </a:r>
            <a:endParaRPr b="0" i="0" sz="1800" u="none" cap="none" strike="noStrike">
              <a:solidFill>
                <a:schemeClr val="dk1"/>
              </a:solidFill>
              <a:latin typeface="Calibri"/>
              <a:ea typeface="Calibri"/>
              <a:cs typeface="Calibri"/>
              <a:sym typeface="Calibri"/>
            </a:endParaRPr>
          </a:p>
          <a:p>
            <a:pPr indent="-229235" lvl="2" marL="1155700" marR="0" rtl="0" algn="l">
              <a:lnSpc>
                <a:spcPct val="100000"/>
              </a:lnSpc>
              <a:spcBef>
                <a:spcPts val="365"/>
              </a:spcBef>
              <a:spcAft>
                <a:spcPts val="0"/>
              </a:spcAft>
              <a:buClr>
                <a:schemeClr val="dk1"/>
              </a:buClr>
              <a:buSzPts val="1400"/>
              <a:buFont typeface="Arial"/>
              <a:buChar char="•"/>
            </a:pPr>
            <a:r>
              <a:rPr b="0" i="0" lang="en-US" sz="1400" u="none" cap="none" strike="noStrike">
                <a:solidFill>
                  <a:schemeClr val="dk1"/>
                </a:solidFill>
                <a:latin typeface="Calibri"/>
                <a:ea typeface="Calibri"/>
                <a:cs typeface="Calibri"/>
                <a:sym typeface="Calibri"/>
              </a:rPr>
              <a:t>so your normal applications will have to be adapted to execute on these platforms.</a:t>
            </a:r>
            <a:endParaRPr b="0" i="0" sz="1400" u="none" cap="none" strike="noStrike">
              <a:solidFill>
                <a:schemeClr val="dk1"/>
              </a:solidFill>
              <a:latin typeface="Calibri"/>
              <a:ea typeface="Calibri"/>
              <a:cs typeface="Calibri"/>
              <a:sym typeface="Calibri"/>
            </a:endParaRPr>
          </a:p>
        </p:txBody>
      </p:sp>
      <p:sp>
        <p:nvSpPr>
          <p:cNvPr id="284" name="Google Shape;284;p22"/>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3"/>
          <p:cNvSpPr txBox="1"/>
          <p:nvPr>
            <p:ph type="title"/>
          </p:nvPr>
        </p:nvSpPr>
        <p:spPr>
          <a:xfrm>
            <a:off x="2761921" y="101066"/>
            <a:ext cx="4019879" cy="53063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Font typeface="Calibri"/>
              <a:buNone/>
            </a:pPr>
            <a:r>
              <a:rPr b="1" lang="en-US" sz="2400"/>
              <a:t>Summary</a:t>
            </a:r>
            <a:endParaRPr sz="2400"/>
          </a:p>
        </p:txBody>
      </p:sp>
      <p:sp>
        <p:nvSpPr>
          <p:cNvPr id="290" name="Google Shape;290;p23"/>
          <p:cNvSpPr txBox="1"/>
          <p:nvPr>
            <p:ph idx="1" type="body"/>
          </p:nvPr>
        </p:nvSpPr>
        <p:spPr>
          <a:xfrm>
            <a:off x="457200" y="1082842"/>
            <a:ext cx="8229600" cy="3404937"/>
          </a:xfrm>
          <a:prstGeom prst="rect">
            <a:avLst/>
          </a:prstGeom>
          <a:noFill/>
          <a:ln>
            <a:noFill/>
          </a:ln>
        </p:spPr>
        <p:txBody>
          <a:bodyPr anchorCtr="0" anchor="t" bIns="45700" lIns="91425" spcFirstLastPara="1" rIns="91425" wrap="square" tIns="45700">
            <a:noAutofit/>
          </a:bodyPr>
          <a:lstStyle/>
          <a:p>
            <a:pPr indent="-171450" lvl="0" marL="171450" rtl="0" algn="l">
              <a:lnSpc>
                <a:spcPct val="150000"/>
              </a:lnSpc>
              <a:spcBef>
                <a:spcPts val="0"/>
              </a:spcBef>
              <a:spcAft>
                <a:spcPts val="0"/>
              </a:spcAft>
              <a:buClr>
                <a:schemeClr val="dk1"/>
              </a:buClr>
              <a:buSzPts val="1600"/>
              <a:buChar char="•"/>
            </a:pPr>
            <a:r>
              <a:rPr lang="en-US" sz="1600"/>
              <a:t>Cloud computing has transformed how organizations access and manage computing resources. </a:t>
            </a:r>
            <a:endParaRPr/>
          </a:p>
          <a:p>
            <a:pPr indent="-171450" lvl="0" marL="171450" rtl="0" algn="l">
              <a:lnSpc>
                <a:spcPct val="150000"/>
              </a:lnSpc>
              <a:spcBef>
                <a:spcPts val="750"/>
              </a:spcBef>
              <a:spcAft>
                <a:spcPts val="0"/>
              </a:spcAft>
              <a:buClr>
                <a:schemeClr val="dk1"/>
              </a:buClr>
              <a:buSzPts val="1600"/>
              <a:buChar char="•"/>
            </a:pPr>
            <a:r>
              <a:rPr lang="en-US" sz="1600"/>
              <a:t>By providing flexible, scalable, and cost-effective solutions, it enables businesses to focus on core activities while leaving infrastructure management to cloud service providers. </a:t>
            </a:r>
            <a:endParaRPr/>
          </a:p>
          <a:p>
            <a:pPr indent="-171450" lvl="0" marL="171450" rtl="0" algn="l">
              <a:lnSpc>
                <a:spcPct val="150000"/>
              </a:lnSpc>
              <a:spcBef>
                <a:spcPts val="750"/>
              </a:spcBef>
              <a:spcAft>
                <a:spcPts val="0"/>
              </a:spcAft>
              <a:buClr>
                <a:schemeClr val="dk1"/>
              </a:buClr>
              <a:buSzPts val="1600"/>
              <a:buChar char="•"/>
            </a:pPr>
            <a:r>
              <a:rPr lang="en-US" sz="1600"/>
              <a:t>As cloud technology evolves, new innovations like edge computing, serverless architectures, and quantum computing will further enhance its capabilities, making cloud computing an essential element in the future of IT infrastructure.</a:t>
            </a:r>
            <a:endParaRPr/>
          </a:p>
          <a:p>
            <a:pPr indent="-171450" lvl="0" marL="171450" rtl="0" algn="l">
              <a:lnSpc>
                <a:spcPct val="150000"/>
              </a:lnSpc>
              <a:spcBef>
                <a:spcPts val="750"/>
              </a:spcBef>
              <a:spcAft>
                <a:spcPts val="0"/>
              </a:spcAft>
              <a:buClr>
                <a:schemeClr val="dk1"/>
              </a:buClr>
              <a:buSzPts val="1600"/>
              <a:buChar char="•"/>
            </a:pPr>
            <a:r>
              <a:rPr lang="en-US" sz="1600"/>
              <a:t>The future of cloud computing is exciting, with innovations like edge computing, artificial intelligence (AI), machine learning, and quantum computing being integrated into cloud services.</a:t>
            </a:r>
            <a:endParaRPr/>
          </a:p>
        </p:txBody>
      </p:sp>
      <p:sp>
        <p:nvSpPr>
          <p:cNvPr id="291" name="Google Shape;291;p23"/>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a:t>
            </a:r>
            <a:endParaRPr/>
          </a:p>
        </p:txBody>
      </p:sp>
      <p:sp>
        <p:nvSpPr>
          <p:cNvPr id="292" name="Google Shape;292;p23"/>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93" name="Google Shape;293;p23"/>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294" name="Google Shape;294;p23"/>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4"/>
          <p:cNvSpPr txBox="1"/>
          <p:nvPr>
            <p:ph type="title"/>
          </p:nvPr>
        </p:nvSpPr>
        <p:spPr>
          <a:xfrm>
            <a:off x="2711250" y="70016"/>
            <a:ext cx="4545000" cy="7188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2400"/>
              <a:buFont typeface="Calibri"/>
              <a:buNone/>
            </a:pPr>
            <a:r>
              <a:rPr b="1" lang="en-US" sz="3200"/>
              <a:t>References</a:t>
            </a:r>
            <a:endParaRPr sz="3200"/>
          </a:p>
        </p:txBody>
      </p:sp>
      <p:sp>
        <p:nvSpPr>
          <p:cNvPr id="300" name="Google Shape;300;p24"/>
          <p:cNvSpPr txBox="1"/>
          <p:nvPr>
            <p:ph idx="1" type="body"/>
          </p:nvPr>
        </p:nvSpPr>
        <p:spPr>
          <a:xfrm>
            <a:off x="628650" y="1009175"/>
            <a:ext cx="8175300" cy="3623400"/>
          </a:xfrm>
          <a:prstGeom prst="rect">
            <a:avLst/>
          </a:prstGeom>
          <a:noFill/>
          <a:ln>
            <a:noFill/>
          </a:ln>
        </p:spPr>
        <p:txBody>
          <a:bodyPr anchorCtr="0" anchor="t" bIns="45700" lIns="91425" spcFirstLastPara="1" rIns="91425" wrap="square" tIns="45700">
            <a:normAutofit fontScale="85000" lnSpcReduction="10000"/>
          </a:bodyPr>
          <a:lstStyle/>
          <a:p>
            <a:pPr indent="-205225" lvl="0" marL="171450" rtl="0" algn="l">
              <a:lnSpc>
                <a:spcPct val="90000"/>
              </a:lnSpc>
              <a:spcBef>
                <a:spcPts val="0"/>
              </a:spcBef>
              <a:spcAft>
                <a:spcPts val="0"/>
              </a:spcAft>
              <a:buClr>
                <a:schemeClr val="dk1"/>
              </a:buClr>
              <a:buSzPct val="100000"/>
              <a:buChar char="•"/>
            </a:pPr>
            <a:r>
              <a:rPr lang="en-US" sz="2108"/>
              <a:t>Books References</a:t>
            </a:r>
            <a:endParaRPr sz="2408"/>
          </a:p>
          <a:p>
            <a:pPr indent="0" lvl="0" marL="171450" rtl="0" algn="l">
              <a:lnSpc>
                <a:spcPct val="90000"/>
              </a:lnSpc>
              <a:spcBef>
                <a:spcPts val="750"/>
              </a:spcBef>
              <a:spcAft>
                <a:spcPts val="0"/>
              </a:spcAft>
              <a:buNone/>
            </a:pPr>
            <a:r>
              <a:rPr lang="en-US" sz="1958">
                <a:solidFill>
                  <a:srgbClr val="000000"/>
                </a:solidFill>
              </a:rPr>
              <a:t>Mastering Cloud Computing, Rajkumar Buyya, Christian Vecchiola, and ThamaraiSelvi, Tata McGraw Hill, ISBN-13: 978-1-25-902995-0, New Delhi, India,Feb 2013. </a:t>
            </a:r>
            <a:endParaRPr sz="2108"/>
          </a:p>
          <a:p>
            <a:pPr indent="-205225" lvl="0" marL="171450" rtl="0" algn="l">
              <a:lnSpc>
                <a:spcPct val="90000"/>
              </a:lnSpc>
              <a:spcBef>
                <a:spcPts val="750"/>
              </a:spcBef>
              <a:spcAft>
                <a:spcPts val="0"/>
              </a:spcAft>
              <a:buClr>
                <a:schemeClr val="dk1"/>
              </a:buClr>
              <a:buSzPct val="100000"/>
              <a:buChar char="•"/>
            </a:pPr>
            <a:r>
              <a:rPr lang="en-US" sz="2108"/>
              <a:t>E-book link</a:t>
            </a:r>
            <a:endParaRPr sz="2408"/>
          </a:p>
          <a:p>
            <a:pPr indent="0" lvl="0" marL="171450" rtl="0" algn="l">
              <a:lnSpc>
                <a:spcPct val="90000"/>
              </a:lnSpc>
              <a:spcBef>
                <a:spcPts val="750"/>
              </a:spcBef>
              <a:spcAft>
                <a:spcPts val="0"/>
              </a:spcAft>
              <a:buNone/>
            </a:pPr>
            <a:r>
              <a:rPr lang="en-US" sz="2108">
                <a:solidFill>
                  <a:schemeClr val="hlink"/>
                </a:solidFill>
                <a:uFill>
                  <a:noFill/>
                </a:uFill>
                <a:hlinkClick r:id="rId3"/>
              </a:rPr>
              <a:t>https://archive.org/details/cloudcomputingbi0000sosi</a:t>
            </a:r>
            <a:endParaRPr sz="2108"/>
          </a:p>
          <a:p>
            <a:pPr indent="-205225" lvl="0" marL="171450" rtl="0" algn="l">
              <a:lnSpc>
                <a:spcPct val="90000"/>
              </a:lnSpc>
              <a:spcBef>
                <a:spcPts val="750"/>
              </a:spcBef>
              <a:spcAft>
                <a:spcPts val="0"/>
              </a:spcAft>
              <a:buClr>
                <a:schemeClr val="dk1"/>
              </a:buClr>
              <a:buSzPct val="100000"/>
              <a:buChar char="•"/>
            </a:pPr>
            <a:r>
              <a:rPr lang="en-US" sz="2108"/>
              <a:t>YouTube link</a:t>
            </a:r>
            <a:endParaRPr sz="2408"/>
          </a:p>
          <a:p>
            <a:pPr indent="0" lvl="0" marL="171450" rtl="0" algn="l">
              <a:lnSpc>
                <a:spcPct val="90000"/>
              </a:lnSpc>
              <a:spcBef>
                <a:spcPts val="750"/>
              </a:spcBef>
              <a:spcAft>
                <a:spcPts val="0"/>
              </a:spcAft>
              <a:buNone/>
            </a:pPr>
            <a:r>
              <a:rPr lang="en-US" sz="2108">
                <a:solidFill>
                  <a:schemeClr val="hlink"/>
                </a:solidFill>
                <a:uFill>
                  <a:noFill/>
                </a:uFill>
                <a:hlinkClick r:id="rId4"/>
              </a:rPr>
              <a:t>https://www.youtube.com/@cloudcomputing351/videos</a:t>
            </a:r>
            <a:endParaRPr sz="2108"/>
          </a:p>
          <a:p>
            <a:pPr indent="0" lvl="0" marL="171450" rtl="0" algn="l">
              <a:lnSpc>
                <a:spcPct val="90000"/>
              </a:lnSpc>
              <a:spcBef>
                <a:spcPts val="750"/>
              </a:spcBef>
              <a:spcAft>
                <a:spcPts val="0"/>
              </a:spcAft>
              <a:buNone/>
            </a:pPr>
            <a:r>
              <a:rPr lang="en-US" sz="2108">
                <a:solidFill>
                  <a:schemeClr val="hlink"/>
                </a:solidFill>
                <a:uFill>
                  <a:noFill/>
                </a:uFill>
                <a:hlinkClick r:id="rId5"/>
              </a:rPr>
              <a:t>https://www.geeksforgeeks.org/cloud-computing/</a:t>
            </a:r>
            <a:endParaRPr sz="2108"/>
          </a:p>
          <a:p>
            <a:pPr indent="0" lvl="0" marL="171450" rtl="0" algn="l">
              <a:lnSpc>
                <a:spcPct val="90000"/>
              </a:lnSpc>
              <a:spcBef>
                <a:spcPts val="750"/>
              </a:spcBef>
              <a:spcAft>
                <a:spcPts val="0"/>
              </a:spcAft>
              <a:buNone/>
            </a:pPr>
            <a:r>
              <a:rPr lang="en-US" sz="2108">
                <a:solidFill>
                  <a:schemeClr val="hlink"/>
                </a:solidFill>
                <a:uFill>
                  <a:noFill/>
                </a:uFill>
                <a:hlinkClick r:id="rId6"/>
              </a:rPr>
              <a:t>https://www.tutorialspoint.com/cloud_computing/index.htm</a:t>
            </a:r>
            <a:endParaRPr sz="2108"/>
          </a:p>
          <a:p>
            <a:pPr indent="0" lvl="0" marL="171450" rtl="0" algn="l">
              <a:lnSpc>
                <a:spcPct val="90000"/>
              </a:lnSpc>
              <a:spcBef>
                <a:spcPts val="750"/>
              </a:spcBef>
              <a:spcAft>
                <a:spcPts val="0"/>
              </a:spcAft>
              <a:buNone/>
            </a:pPr>
            <a:r>
              <a:rPr lang="en-US" sz="2108">
                <a:solidFill>
                  <a:schemeClr val="hlink"/>
                </a:solidFill>
                <a:uFill>
                  <a:noFill/>
                </a:uFill>
                <a:hlinkClick r:id="rId7"/>
              </a:rPr>
              <a:t>https://nptel.ac.in/courses/106105167</a:t>
            </a:r>
            <a:endParaRPr sz="2108"/>
          </a:p>
          <a:p>
            <a:pPr indent="0" lvl="0" marL="171450" rtl="0" algn="l">
              <a:lnSpc>
                <a:spcPct val="90000"/>
              </a:lnSpc>
              <a:spcBef>
                <a:spcPts val="750"/>
              </a:spcBef>
              <a:spcAft>
                <a:spcPts val="0"/>
              </a:spcAft>
              <a:buNone/>
            </a:pPr>
            <a:r>
              <a:rPr lang="en-US" sz="2108">
                <a:solidFill>
                  <a:schemeClr val="hlink"/>
                </a:solidFill>
                <a:uFill>
                  <a:noFill/>
                </a:uFill>
                <a:hlinkClick r:id="rId8"/>
              </a:rPr>
              <a:t>https://www.edx.org/learn/cloud-computing</a:t>
            </a:r>
            <a:endParaRPr sz="2108"/>
          </a:p>
          <a:p>
            <a:pPr indent="-91440" lvl="0" marL="171450" rtl="0" algn="l">
              <a:lnSpc>
                <a:spcPct val="90000"/>
              </a:lnSpc>
              <a:spcBef>
                <a:spcPts val="750"/>
              </a:spcBef>
              <a:spcAft>
                <a:spcPts val="0"/>
              </a:spcAft>
              <a:buClr>
                <a:schemeClr val="dk1"/>
              </a:buClr>
              <a:buSzPct val="100000"/>
              <a:buFont typeface="Noto Sans Symbols"/>
              <a:buNone/>
            </a:pPr>
            <a:r>
              <a:t/>
            </a:r>
            <a:endParaRPr sz="1800"/>
          </a:p>
        </p:txBody>
      </p:sp>
      <p:sp>
        <p:nvSpPr>
          <p:cNvPr id="301" name="Google Shape;301;p24"/>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a:t>
            </a:r>
            <a:endParaRPr/>
          </a:p>
        </p:txBody>
      </p:sp>
      <p:sp>
        <p:nvSpPr>
          <p:cNvPr id="302" name="Google Shape;302;p24"/>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03" name="Google Shape;303;p24"/>
          <p:cNvPicPr preferRelativeResize="0"/>
          <p:nvPr/>
        </p:nvPicPr>
        <p:blipFill rotWithShape="1">
          <a:blip r:embed="rId9">
            <a:alphaModFix/>
          </a:blip>
          <a:srcRect b="0" l="0" r="0" t="0"/>
          <a:stretch/>
        </p:blipFill>
        <p:spPr>
          <a:xfrm>
            <a:off x="112575" y="70037"/>
            <a:ext cx="2564258" cy="718788"/>
          </a:xfrm>
          <a:prstGeom prst="rect">
            <a:avLst/>
          </a:prstGeom>
          <a:noFill/>
          <a:ln>
            <a:noFill/>
          </a:ln>
        </p:spPr>
      </p:pic>
      <p:pic>
        <p:nvPicPr>
          <p:cNvPr id="304" name="Google Shape;304;p24"/>
          <p:cNvPicPr preferRelativeResize="0"/>
          <p:nvPr/>
        </p:nvPicPr>
        <p:blipFill rotWithShape="1">
          <a:blip r:embed="rId10">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5"/>
          <p:cNvSpPr/>
          <p:nvPr/>
        </p:nvSpPr>
        <p:spPr>
          <a:xfrm>
            <a:off x="555172" y="1493556"/>
            <a:ext cx="8229600" cy="2961536"/>
          </a:xfrm>
          <a:prstGeom prst="rect">
            <a:avLst/>
          </a:prstGeom>
          <a:solidFill>
            <a:srgbClr val="385623">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sp>
        <p:nvSpPr>
          <p:cNvPr id="310" name="Google Shape;310;p25"/>
          <p:cNvSpPr txBox="1"/>
          <p:nvPr/>
        </p:nvSpPr>
        <p:spPr>
          <a:xfrm>
            <a:off x="1100139" y="2236198"/>
            <a:ext cx="8043861" cy="115416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6000"/>
              <a:buFont typeface="Arial"/>
              <a:buNone/>
            </a:pPr>
            <a:r>
              <a:rPr lang="en-US" sz="6000">
                <a:solidFill>
                  <a:srgbClr val="FFFFFF"/>
                </a:solidFill>
                <a:latin typeface="Arial"/>
                <a:ea typeface="Arial"/>
                <a:cs typeface="Arial"/>
                <a:sym typeface="Arial"/>
              </a:rPr>
              <a:t>THANK YOU</a:t>
            </a:r>
            <a:endParaRPr/>
          </a:p>
          <a:p>
            <a:pPr indent="0" lvl="0" marL="0" marR="0" rtl="0" algn="ctr">
              <a:lnSpc>
                <a:spcPct val="100000"/>
              </a:lnSpc>
              <a:spcBef>
                <a:spcPts val="0"/>
              </a:spcBef>
              <a:spcAft>
                <a:spcPts val="0"/>
              </a:spcAft>
              <a:buClr>
                <a:srgbClr val="FFFFFF"/>
              </a:buClr>
              <a:buSzPts val="1500"/>
              <a:buFont typeface="Arial"/>
              <a:buNone/>
            </a:pPr>
            <a:r>
              <a:rPr lang="en-US" sz="1500">
                <a:solidFill>
                  <a:srgbClr val="FFFFFF"/>
                </a:solidFill>
                <a:latin typeface="Arial"/>
                <a:ea typeface="Arial"/>
                <a:cs typeface="Arial"/>
                <a:sym typeface="Arial"/>
              </a:rPr>
              <a:t>     </a:t>
            </a:r>
            <a:endParaRPr/>
          </a:p>
        </p:txBody>
      </p:sp>
      <p:sp>
        <p:nvSpPr>
          <p:cNvPr id="311" name="Google Shape;311;p25"/>
          <p:cNvSpPr/>
          <p:nvPr/>
        </p:nvSpPr>
        <p:spPr>
          <a:xfrm>
            <a:off x="1765409" y="1678802"/>
            <a:ext cx="1822847" cy="2419350"/>
          </a:xfrm>
          <a:custGeom>
            <a:rect b="b" l="l" r="r" t="t"/>
            <a:pathLst>
              <a:path extrusionOk="0" h="3225800" w="2430463">
                <a:moveTo>
                  <a:pt x="2430463" y="2413000"/>
                </a:moveTo>
                <a:lnTo>
                  <a:pt x="1612900" y="3225800"/>
                </a:lnTo>
                <a:lnTo>
                  <a:pt x="0" y="1612900"/>
                </a:lnTo>
                <a:lnTo>
                  <a:pt x="1612900" y="0"/>
                </a:lnTo>
                <a:lnTo>
                  <a:pt x="2430463" y="817563"/>
                </a:lnTo>
              </a:path>
            </a:pathLst>
          </a:custGeom>
          <a:noFill/>
          <a:ln cap="flat" cmpd="sng" w="381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312" name="Google Shape;312;p25"/>
          <p:cNvSpPr/>
          <p:nvPr/>
        </p:nvSpPr>
        <p:spPr>
          <a:xfrm>
            <a:off x="1981199" y="1663837"/>
            <a:ext cx="1822847" cy="2419350"/>
          </a:xfrm>
          <a:custGeom>
            <a:rect b="b" l="l" r="r" t="t"/>
            <a:pathLst>
              <a:path extrusionOk="0" h="3225800" w="2430463">
                <a:moveTo>
                  <a:pt x="2430463" y="2413000"/>
                </a:moveTo>
                <a:lnTo>
                  <a:pt x="1612900" y="3225800"/>
                </a:lnTo>
                <a:lnTo>
                  <a:pt x="0" y="1612900"/>
                </a:lnTo>
                <a:lnTo>
                  <a:pt x="1612900" y="0"/>
                </a:lnTo>
                <a:lnTo>
                  <a:pt x="2430463" y="817563"/>
                </a:lnTo>
              </a:path>
            </a:pathLst>
          </a:custGeom>
          <a:no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313" name="Google Shape;313;p25"/>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br>
              <a:rPr lang="en-US"/>
            </a:br>
            <a:br>
              <a:rPr lang="en-US"/>
            </a:br>
            <a:endParaRPr/>
          </a:p>
        </p:txBody>
      </p:sp>
      <p:sp>
        <p:nvSpPr>
          <p:cNvPr id="314" name="Google Shape;314;p25"/>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a:t>
            </a:r>
            <a:endParaRPr/>
          </a:p>
        </p:txBody>
      </p:sp>
      <p:sp>
        <p:nvSpPr>
          <p:cNvPr id="315" name="Google Shape;315;p25"/>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050">
                <a:solidFill>
                  <a:schemeClr val="dk1"/>
                </a:solidFill>
              </a:rPr>
              <a:t>‹#›</a:t>
            </a:fld>
            <a:endParaRPr b="1" sz="1050">
              <a:solidFill>
                <a:schemeClr val="dk1"/>
              </a:solidFill>
            </a:endParaRPr>
          </a:p>
        </p:txBody>
      </p:sp>
      <p:pic>
        <p:nvPicPr>
          <p:cNvPr id="316" name="Google Shape;316;p25"/>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317" name="Google Shape;317;p25"/>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2024-12-06T17:10:37Z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2019-10-25T00:00:00Z</vt:filetime>
  </property>
  <property fmtid="{D5CDD505-2E9C-101B-9397-08002B2CF9AE}" pid="3" name="LastSaved">
    <vt:filetime>2024-12-06T00:00:00Z</vt:filetime>
  </property>
</Properties>
</file>