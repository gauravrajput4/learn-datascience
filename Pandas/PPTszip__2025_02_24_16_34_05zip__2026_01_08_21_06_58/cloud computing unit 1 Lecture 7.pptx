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9144000" cy="5143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5" roundtripDataSignature="AMtx7miICKjWfGbLXs4CXsUtcALogPaJ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5ADA428-A796-4EFC-8AB4-D7CDD4B9807E}">
  <a:tblStyle styleId="{C5ADA428-A796-4EFC-8AB4-D7CDD4B9807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2571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2571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4886325"/>
            <a:ext cx="3962400" cy="257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7: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8: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9: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0: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6: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7: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8: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8: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20"/>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3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0"/>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 name="Google Shape;19;p2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marR="0" algn="r">
              <a:lnSpc>
                <a:spcPct val="137777"/>
              </a:lnSpc>
              <a:spcBef>
                <a:spcPts val="0"/>
              </a:spcBef>
              <a:buNone/>
              <a:defRPr b="0" i="0" sz="900" u="none" cap="none" strike="noStrike">
                <a:solidFill>
                  <a:srgbClr val="888888"/>
                </a:solidFill>
                <a:latin typeface="Calibri"/>
                <a:ea typeface="Calibri"/>
                <a:cs typeface="Calibri"/>
                <a:sym typeface="Calibri"/>
              </a:defRPr>
            </a:lvl1pPr>
            <a:lvl2pPr indent="0" lvl="1" marL="38100" marR="0" algn="r">
              <a:lnSpc>
                <a:spcPct val="137777"/>
              </a:lnSpc>
              <a:spcBef>
                <a:spcPts val="0"/>
              </a:spcBef>
              <a:buNone/>
              <a:defRPr b="0" i="0" sz="900" u="none" cap="none" strike="noStrike">
                <a:solidFill>
                  <a:srgbClr val="888888"/>
                </a:solidFill>
                <a:latin typeface="Calibri"/>
                <a:ea typeface="Calibri"/>
                <a:cs typeface="Calibri"/>
                <a:sym typeface="Calibri"/>
              </a:defRPr>
            </a:lvl2pPr>
            <a:lvl3pPr indent="0" lvl="2" marL="38100" marR="0" algn="r">
              <a:lnSpc>
                <a:spcPct val="137777"/>
              </a:lnSpc>
              <a:spcBef>
                <a:spcPts val="0"/>
              </a:spcBef>
              <a:buNone/>
              <a:defRPr b="0" i="0" sz="900" u="none" cap="none" strike="noStrike">
                <a:solidFill>
                  <a:srgbClr val="888888"/>
                </a:solidFill>
                <a:latin typeface="Calibri"/>
                <a:ea typeface="Calibri"/>
                <a:cs typeface="Calibri"/>
                <a:sym typeface="Calibri"/>
              </a:defRPr>
            </a:lvl3pPr>
            <a:lvl4pPr indent="0" lvl="3" marL="38100" marR="0" algn="r">
              <a:lnSpc>
                <a:spcPct val="137777"/>
              </a:lnSpc>
              <a:spcBef>
                <a:spcPts val="0"/>
              </a:spcBef>
              <a:buNone/>
              <a:defRPr b="0" i="0" sz="900" u="none" cap="none" strike="noStrike">
                <a:solidFill>
                  <a:srgbClr val="888888"/>
                </a:solidFill>
                <a:latin typeface="Calibri"/>
                <a:ea typeface="Calibri"/>
                <a:cs typeface="Calibri"/>
                <a:sym typeface="Calibri"/>
              </a:defRPr>
            </a:lvl4pPr>
            <a:lvl5pPr indent="0" lvl="4" marL="38100" marR="0" algn="r">
              <a:lnSpc>
                <a:spcPct val="137777"/>
              </a:lnSpc>
              <a:spcBef>
                <a:spcPts val="0"/>
              </a:spcBef>
              <a:buNone/>
              <a:defRPr b="0" i="0" sz="900" u="none" cap="none" strike="noStrike">
                <a:solidFill>
                  <a:srgbClr val="888888"/>
                </a:solidFill>
                <a:latin typeface="Calibri"/>
                <a:ea typeface="Calibri"/>
                <a:cs typeface="Calibri"/>
                <a:sym typeface="Calibri"/>
              </a:defRPr>
            </a:lvl5pPr>
            <a:lvl6pPr indent="0" lvl="5" marL="38100" marR="0" algn="r">
              <a:lnSpc>
                <a:spcPct val="137777"/>
              </a:lnSpc>
              <a:spcBef>
                <a:spcPts val="0"/>
              </a:spcBef>
              <a:buNone/>
              <a:defRPr b="0" i="0" sz="900" u="none" cap="none" strike="noStrike">
                <a:solidFill>
                  <a:srgbClr val="888888"/>
                </a:solidFill>
                <a:latin typeface="Calibri"/>
                <a:ea typeface="Calibri"/>
                <a:cs typeface="Calibri"/>
                <a:sym typeface="Calibri"/>
              </a:defRPr>
            </a:lvl6pPr>
            <a:lvl7pPr indent="0" lvl="6" marL="38100" marR="0" algn="r">
              <a:lnSpc>
                <a:spcPct val="137777"/>
              </a:lnSpc>
              <a:spcBef>
                <a:spcPts val="0"/>
              </a:spcBef>
              <a:buNone/>
              <a:defRPr b="0" i="0" sz="900" u="none" cap="none" strike="noStrike">
                <a:solidFill>
                  <a:srgbClr val="888888"/>
                </a:solidFill>
                <a:latin typeface="Calibri"/>
                <a:ea typeface="Calibri"/>
                <a:cs typeface="Calibri"/>
                <a:sym typeface="Calibri"/>
              </a:defRPr>
            </a:lvl7pPr>
            <a:lvl8pPr indent="0" lvl="7" marL="38100" marR="0" algn="r">
              <a:lnSpc>
                <a:spcPct val="137777"/>
              </a:lnSpc>
              <a:spcBef>
                <a:spcPts val="0"/>
              </a:spcBef>
              <a:buNone/>
              <a:defRPr b="0" i="0" sz="900" u="none" cap="none" strike="noStrike">
                <a:solidFill>
                  <a:srgbClr val="888888"/>
                </a:solidFill>
                <a:latin typeface="Calibri"/>
                <a:ea typeface="Calibri"/>
                <a:cs typeface="Calibri"/>
                <a:sym typeface="Calibri"/>
              </a:defRPr>
            </a:lvl8pPr>
            <a:lvl9pPr indent="0" lvl="8" marL="38100" marR="0" algn="r">
              <a:lnSpc>
                <a:spcPct val="137777"/>
              </a:lnSpc>
              <a:spcBef>
                <a:spcPts val="0"/>
              </a:spcBef>
              <a:buNone/>
              <a:defRPr b="0" i="0" sz="9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r>
              <a:rPr lang="en-US"/>
              <a:t>12</a:t>
            </a:r>
            <a:endParaRPr/>
          </a:p>
        </p:txBody>
      </p:sp>
      <p:pic>
        <p:nvPicPr>
          <p:cNvPr id="21" name="Google Shape;21;p20"/>
          <p:cNvPicPr preferRelativeResize="0"/>
          <p:nvPr/>
        </p:nvPicPr>
        <p:blipFill rotWithShape="1">
          <a:blip r:embed="rId2">
            <a:alphaModFix/>
          </a:blip>
          <a:srcRect b="0" l="0" r="0" t="0"/>
          <a:stretch/>
        </p:blipFill>
        <p:spPr>
          <a:xfrm>
            <a:off x="112575" y="70037"/>
            <a:ext cx="2564258" cy="718788"/>
          </a:xfrm>
          <a:prstGeom prst="rect">
            <a:avLst/>
          </a:prstGeom>
          <a:noFill/>
          <a:ln>
            <a:noFill/>
          </a:ln>
        </p:spPr>
      </p:pic>
      <p:pic>
        <p:nvPicPr>
          <p:cNvPr id="22" name="Google Shape;22;p20"/>
          <p:cNvPicPr preferRelativeResize="0"/>
          <p:nvPr/>
        </p:nvPicPr>
        <p:blipFill rotWithShape="1">
          <a:blip r:embed="rId3">
            <a:alphaModFix/>
          </a:blip>
          <a:srcRect b="0" l="0" r="0" t="0"/>
          <a:stretch/>
        </p:blipFill>
        <p:spPr>
          <a:xfrm>
            <a:off x="7290715" y="72947"/>
            <a:ext cx="1782539" cy="53063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3" name="Shape 23"/>
        <p:cNvGrpSpPr/>
        <p:nvPr/>
      </p:nvGrpSpPr>
      <p:grpSpPr>
        <a:xfrm>
          <a:off x="0" y="0"/>
          <a:ext cx="0" cy="0"/>
          <a:chOff x="0" y="0"/>
          <a:chExt cx="0" cy="0"/>
        </a:xfrm>
      </p:grpSpPr>
      <p:sp>
        <p:nvSpPr>
          <p:cNvPr id="24" name="Google Shape;24;p21"/>
          <p:cNvSpPr txBox="1"/>
          <p:nvPr>
            <p:ph type="title"/>
          </p:nvPr>
        </p:nvSpPr>
        <p:spPr>
          <a:xfrm>
            <a:off x="628650" y="273844"/>
            <a:ext cx="7886700" cy="994172"/>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rgbClr val="C00000"/>
              </a:buClr>
              <a:buSzPts val="3200"/>
              <a:buFont typeface="Calibri"/>
              <a:buNone/>
              <a:defRPr b="1" i="0" sz="3200">
                <a:solidFill>
                  <a:srgbClr val="C000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1"/>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361950" lvl="0" marL="457200" algn="l">
              <a:lnSpc>
                <a:spcPct val="90000"/>
              </a:lnSpc>
              <a:spcBef>
                <a:spcPts val="750"/>
              </a:spcBef>
              <a:spcAft>
                <a:spcPts val="0"/>
              </a:spcAft>
              <a:buClr>
                <a:schemeClr val="dk1"/>
              </a:buClr>
              <a:buSzPts val="21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6" name="Google Shape;26;p21"/>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361950" lvl="0" marL="457200" algn="l">
              <a:lnSpc>
                <a:spcPct val="90000"/>
              </a:lnSpc>
              <a:spcBef>
                <a:spcPts val="750"/>
              </a:spcBef>
              <a:spcAft>
                <a:spcPts val="0"/>
              </a:spcAft>
              <a:buClr>
                <a:schemeClr val="dk1"/>
              </a:buClr>
              <a:buSzPts val="21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7" name="Google Shape;27;p21"/>
          <p:cNvSpPr txBox="1"/>
          <p:nvPr>
            <p:ph idx="11" type="ftr"/>
          </p:nvPr>
        </p:nvSpPr>
        <p:spPr>
          <a:xfrm>
            <a:off x="3028950" y="4767263"/>
            <a:ext cx="3086100" cy="273844"/>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1"/>
          <p:cNvSpPr txBox="1"/>
          <p:nvPr>
            <p:ph idx="10" type="dt"/>
          </p:nvPr>
        </p:nvSpPr>
        <p:spPr>
          <a:xfrm>
            <a:off x="628650" y="4767263"/>
            <a:ext cx="2057400" cy="273844"/>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21"/>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noAutofit/>
          </a:bodyPr>
          <a:lstStyle>
            <a:lvl1pPr indent="0" lvl="0" marL="38100" marR="0" algn="r">
              <a:lnSpc>
                <a:spcPct val="103333"/>
              </a:lnSpc>
              <a:spcBef>
                <a:spcPts val="0"/>
              </a:spcBef>
              <a:buNone/>
              <a:defRPr b="0" i="0" sz="1200">
                <a:solidFill>
                  <a:srgbClr val="888888"/>
                </a:solidFill>
                <a:latin typeface="Calibri"/>
                <a:ea typeface="Calibri"/>
                <a:cs typeface="Calibri"/>
                <a:sym typeface="Calibri"/>
              </a:defRPr>
            </a:lvl1pPr>
            <a:lvl2pPr indent="0" lvl="1" marL="38100" marR="0" algn="r">
              <a:lnSpc>
                <a:spcPct val="103333"/>
              </a:lnSpc>
              <a:spcBef>
                <a:spcPts val="0"/>
              </a:spcBef>
              <a:buNone/>
              <a:defRPr b="0" i="0" sz="1200">
                <a:solidFill>
                  <a:srgbClr val="888888"/>
                </a:solidFill>
                <a:latin typeface="Calibri"/>
                <a:ea typeface="Calibri"/>
                <a:cs typeface="Calibri"/>
                <a:sym typeface="Calibri"/>
              </a:defRPr>
            </a:lvl2pPr>
            <a:lvl3pPr indent="0" lvl="2" marL="38100" marR="0" algn="r">
              <a:lnSpc>
                <a:spcPct val="103333"/>
              </a:lnSpc>
              <a:spcBef>
                <a:spcPts val="0"/>
              </a:spcBef>
              <a:buNone/>
              <a:defRPr b="0" i="0" sz="1200">
                <a:solidFill>
                  <a:srgbClr val="888888"/>
                </a:solidFill>
                <a:latin typeface="Calibri"/>
                <a:ea typeface="Calibri"/>
                <a:cs typeface="Calibri"/>
                <a:sym typeface="Calibri"/>
              </a:defRPr>
            </a:lvl3pPr>
            <a:lvl4pPr indent="0" lvl="3" marL="38100" marR="0" algn="r">
              <a:lnSpc>
                <a:spcPct val="103333"/>
              </a:lnSpc>
              <a:spcBef>
                <a:spcPts val="0"/>
              </a:spcBef>
              <a:buNone/>
              <a:defRPr b="0" i="0" sz="1200">
                <a:solidFill>
                  <a:srgbClr val="888888"/>
                </a:solidFill>
                <a:latin typeface="Calibri"/>
                <a:ea typeface="Calibri"/>
                <a:cs typeface="Calibri"/>
                <a:sym typeface="Calibri"/>
              </a:defRPr>
            </a:lvl4pPr>
            <a:lvl5pPr indent="0" lvl="4" marL="38100" marR="0" algn="r">
              <a:lnSpc>
                <a:spcPct val="103333"/>
              </a:lnSpc>
              <a:spcBef>
                <a:spcPts val="0"/>
              </a:spcBef>
              <a:buNone/>
              <a:defRPr b="0" i="0" sz="1200">
                <a:solidFill>
                  <a:srgbClr val="888888"/>
                </a:solidFill>
                <a:latin typeface="Calibri"/>
                <a:ea typeface="Calibri"/>
                <a:cs typeface="Calibri"/>
                <a:sym typeface="Calibri"/>
              </a:defRPr>
            </a:lvl5pPr>
            <a:lvl6pPr indent="0" lvl="5" marL="38100" marR="0" algn="r">
              <a:lnSpc>
                <a:spcPct val="103333"/>
              </a:lnSpc>
              <a:spcBef>
                <a:spcPts val="0"/>
              </a:spcBef>
              <a:buNone/>
              <a:defRPr b="0" i="0" sz="1200">
                <a:solidFill>
                  <a:srgbClr val="888888"/>
                </a:solidFill>
                <a:latin typeface="Calibri"/>
                <a:ea typeface="Calibri"/>
                <a:cs typeface="Calibri"/>
                <a:sym typeface="Calibri"/>
              </a:defRPr>
            </a:lvl6pPr>
            <a:lvl7pPr indent="0" lvl="6" marL="38100" marR="0" algn="r">
              <a:lnSpc>
                <a:spcPct val="103333"/>
              </a:lnSpc>
              <a:spcBef>
                <a:spcPts val="0"/>
              </a:spcBef>
              <a:buNone/>
              <a:defRPr b="0" i="0" sz="1200">
                <a:solidFill>
                  <a:srgbClr val="888888"/>
                </a:solidFill>
                <a:latin typeface="Calibri"/>
                <a:ea typeface="Calibri"/>
                <a:cs typeface="Calibri"/>
                <a:sym typeface="Calibri"/>
              </a:defRPr>
            </a:lvl7pPr>
            <a:lvl8pPr indent="0" lvl="7" marL="38100" marR="0" algn="r">
              <a:lnSpc>
                <a:spcPct val="103333"/>
              </a:lnSpc>
              <a:spcBef>
                <a:spcPts val="0"/>
              </a:spcBef>
              <a:buNone/>
              <a:defRPr b="0" i="0" sz="1200">
                <a:solidFill>
                  <a:srgbClr val="888888"/>
                </a:solidFill>
                <a:latin typeface="Calibri"/>
                <a:ea typeface="Calibri"/>
                <a:cs typeface="Calibri"/>
                <a:sym typeface="Calibri"/>
              </a:defRPr>
            </a:lvl8pPr>
            <a:lvl9pPr indent="0" lvl="8" marL="38100" marR="0" algn="r">
              <a:lnSpc>
                <a:spcPct val="103333"/>
              </a:lnSpc>
              <a:spcBef>
                <a:spcPts val="0"/>
              </a:spcBef>
              <a:buNone/>
              <a:defRPr b="0" i="0" sz="1200">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22"/>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2"/>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2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 name="Shape 35"/>
        <p:cNvGrpSpPr/>
        <p:nvPr/>
      </p:nvGrpSpPr>
      <p:grpSpPr>
        <a:xfrm>
          <a:off x="0" y="0"/>
          <a:ext cx="0" cy="0"/>
          <a:chOff x="0" y="0"/>
          <a:chExt cx="0" cy="0"/>
        </a:xfrm>
      </p:grpSpPr>
      <p:sp>
        <p:nvSpPr>
          <p:cNvPr id="36" name="Google Shape;36;p23"/>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3"/>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38" name="Google Shape;38;p23"/>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2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24"/>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4"/>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44" name="Google Shape;44;p2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25"/>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5"/>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9" name="Google Shape;49;p25"/>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 name="Google Shape;50;p25"/>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 name="Google Shape;51;p2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26"/>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6"/>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6" name="Google Shape;56;p26"/>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7" name="Google Shape;57;p26"/>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8" name="Google Shape;58;p26"/>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9" name="Google Shape;59;p26"/>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0" name="Google Shape;60;p2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27"/>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p2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28"/>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8"/>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9" name="Google Shape;69;p28"/>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0" name="Google Shape;70;p28"/>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29"/>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9"/>
          <p:cNvSpPr/>
          <p:nvPr>
            <p:ph idx="2" type="pic"/>
          </p:nvPr>
        </p:nvSpPr>
        <p:spPr>
          <a:xfrm>
            <a:off x="3887391" y="740569"/>
            <a:ext cx="4629150" cy="3655219"/>
          </a:xfrm>
          <a:prstGeom prst="rect">
            <a:avLst/>
          </a:prstGeom>
          <a:noFill/>
          <a:ln>
            <a:noFill/>
          </a:ln>
        </p:spPr>
      </p:sp>
      <p:sp>
        <p:nvSpPr>
          <p:cNvPr id="76" name="Google Shape;76;p29"/>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7" name="Google Shape;77;p29"/>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2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30"/>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30"/>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3" name="Google Shape;83;p30"/>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p3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31"/>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31"/>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9" name="Google Shape;89;p31"/>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0" name="Google Shape;90;p3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3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3.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1pPr>
            <a:lvl2pPr indent="0" lvl="1"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2pPr>
            <a:lvl3pPr indent="0" lvl="2"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3pPr>
            <a:lvl4pPr indent="0" lvl="3"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4pPr>
            <a:lvl5pPr indent="0" lvl="4"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5pPr>
            <a:lvl6pPr indent="0" lvl="5"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6pPr>
            <a:lvl7pPr indent="0" lvl="6"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7pPr>
            <a:lvl8pPr indent="0" lvl="7"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8pPr>
            <a:lvl9pPr indent="0" lvl="8"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r>
              <a:rPr lang="en-US"/>
              <a:t>12</a:t>
            </a:r>
            <a:endParaRPr sz="1400">
              <a:solidFill>
                <a:srgbClr val="000000"/>
              </a:solidFill>
              <a:latin typeface="Arial"/>
              <a:ea typeface="Arial"/>
              <a:cs typeface="Arial"/>
              <a:sym typeface="Arial"/>
            </a:endParaRPr>
          </a:p>
        </p:txBody>
      </p:sp>
      <p:pic>
        <p:nvPicPr>
          <p:cNvPr id="14" name="Google Shape;14;p19"/>
          <p:cNvPicPr preferRelativeResize="0"/>
          <p:nvPr/>
        </p:nvPicPr>
        <p:blipFill rotWithShape="1">
          <a:blip r:embed="rId1">
            <a:alphaModFix/>
          </a:blip>
          <a:srcRect b="0" l="0" r="0" t="0"/>
          <a:stretch/>
        </p:blipFill>
        <p:spPr>
          <a:xfrm>
            <a:off x="112575" y="70037"/>
            <a:ext cx="2564258" cy="718788"/>
          </a:xfrm>
          <a:prstGeom prst="rect">
            <a:avLst/>
          </a:prstGeom>
          <a:noFill/>
          <a:ln>
            <a:noFill/>
          </a:ln>
        </p:spPr>
      </p:pic>
      <p:pic>
        <p:nvPicPr>
          <p:cNvPr id="15" name="Google Shape;15;p19"/>
          <p:cNvPicPr preferRelativeResize="0"/>
          <p:nvPr/>
        </p:nvPicPr>
        <p:blipFill rotWithShape="1">
          <a:blip r:embed="rId2">
            <a:alphaModFix/>
          </a:blip>
          <a:srcRect b="0" l="0" r="0" t="0"/>
          <a:stretch/>
        </p:blipFill>
        <p:spPr>
          <a:xfrm>
            <a:off x="7290715" y="72947"/>
            <a:ext cx="1782539" cy="53063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jp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0"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archive.org/details/cloudcomputingbi0000sosi" TargetMode="External"/><Relationship Id="rId4" Type="http://schemas.openxmlformats.org/officeDocument/2006/relationships/hyperlink" Target="https://www.youtube.com/@cloudcomputing351/videos" TargetMode="External"/><Relationship Id="rId9" Type="http://schemas.openxmlformats.org/officeDocument/2006/relationships/image" Target="../media/image3.jpg"/><Relationship Id="rId5" Type="http://schemas.openxmlformats.org/officeDocument/2006/relationships/hyperlink" Target="https://www.geeksforgeeks.org/cloud-computing/" TargetMode="External"/><Relationship Id="rId6" Type="http://schemas.openxmlformats.org/officeDocument/2006/relationships/hyperlink" Target="https://www.tutorialspoint.com/cloud_computing/index.htm" TargetMode="External"/><Relationship Id="rId7" Type="http://schemas.openxmlformats.org/officeDocument/2006/relationships/hyperlink" Target="https://nptel.ac.in/courses/106105167" TargetMode="External"/><Relationship Id="rId8" Type="http://schemas.openxmlformats.org/officeDocument/2006/relationships/hyperlink" Target="https://www.edx.org/learn/cloud-computin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nvSpPr>
        <p:spPr>
          <a:xfrm>
            <a:off x="6572250" y="4881563"/>
            <a:ext cx="2057400" cy="273844"/>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r>
              <a:t/>
            </a:r>
            <a:endParaRPr b="0" i="0" sz="900" u="none" cap="none" strike="noStrike">
              <a:solidFill>
                <a:srgbClr val="888888"/>
              </a:solidFill>
              <a:latin typeface="Calibri"/>
              <a:ea typeface="Calibri"/>
              <a:cs typeface="Calibri"/>
              <a:sym typeface="Calibri"/>
            </a:endParaRPr>
          </a:p>
        </p:txBody>
      </p:sp>
      <p:sp>
        <p:nvSpPr>
          <p:cNvPr id="97" name="Google Shape;97;p1"/>
          <p:cNvSpPr/>
          <p:nvPr/>
        </p:nvSpPr>
        <p:spPr>
          <a:xfrm flipH="1" rot="10800000">
            <a:off x="7130143" y="4454910"/>
            <a:ext cx="968829" cy="868205"/>
          </a:xfrm>
          <a:prstGeom prst="rtTriangle">
            <a:avLst/>
          </a:prstGeom>
          <a:solidFill>
            <a:srgbClr val="F2F2F2">
              <a:alpha val="1686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rgbClr val="FFFFFF"/>
              </a:solidFill>
              <a:latin typeface="Calibri"/>
              <a:ea typeface="Calibri"/>
              <a:cs typeface="Calibri"/>
              <a:sym typeface="Calibri"/>
            </a:endParaRPr>
          </a:p>
        </p:txBody>
      </p:sp>
      <p:sp>
        <p:nvSpPr>
          <p:cNvPr id="98" name="Google Shape;98;p1"/>
          <p:cNvSpPr/>
          <p:nvPr/>
        </p:nvSpPr>
        <p:spPr>
          <a:xfrm>
            <a:off x="1593056" y="1519144"/>
            <a:ext cx="5122069" cy="1185509"/>
          </a:xfrm>
          <a:prstGeom prst="rect">
            <a:avLst/>
          </a:prstGeom>
          <a:gradFill>
            <a:gsLst>
              <a:gs pos="0">
                <a:srgbClr val="FFFFFF">
                  <a:alpha val="0"/>
                </a:srgbClr>
              </a:gs>
              <a:gs pos="2655">
                <a:srgbClr val="FFFFFF">
                  <a:alpha val="0"/>
                </a:srgbClr>
              </a:gs>
              <a:gs pos="15000">
                <a:srgbClr val="FFFFFF">
                  <a:alpha val="33725"/>
                </a:srgbClr>
              </a:gs>
              <a:gs pos="51000">
                <a:schemeClr val="lt1"/>
              </a:gs>
              <a:gs pos="94000">
                <a:srgbClr val="FFFFFF">
                  <a:alpha val="33725"/>
                </a:srgbClr>
              </a:gs>
              <a:gs pos="100000">
                <a:srgbClr val="FFFFFF">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sp>
        <p:nvSpPr>
          <p:cNvPr id="99" name="Google Shape;99;p1"/>
          <p:cNvSpPr txBox="1"/>
          <p:nvPr/>
        </p:nvSpPr>
        <p:spPr>
          <a:xfrm>
            <a:off x="891849" y="1238027"/>
            <a:ext cx="72866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t/>
            </a:r>
            <a:endParaRPr b="1" i="0" sz="2400" u="none" cap="none" strike="noStrike">
              <a:solidFill>
                <a:srgbClr val="262626"/>
              </a:solidFill>
              <a:latin typeface="Calibri"/>
              <a:ea typeface="Calibri"/>
              <a:cs typeface="Calibri"/>
              <a:sym typeface="Calibri"/>
            </a:endParaRPr>
          </a:p>
          <a:p>
            <a:pPr indent="0" lvl="0" marL="0" marR="0" rtl="0" algn="ctr">
              <a:lnSpc>
                <a:spcPct val="90000"/>
              </a:lnSpc>
              <a:spcBef>
                <a:spcPts val="840"/>
              </a:spcBef>
              <a:spcAft>
                <a:spcPts val="0"/>
              </a:spcAft>
              <a:buNone/>
            </a:pPr>
            <a:r>
              <a:rPr b="1" i="0" lang="en-US" sz="2400" u="none" cap="none" strike="noStrike">
                <a:solidFill>
                  <a:srgbClr val="262626"/>
                </a:solidFill>
                <a:latin typeface="Calibri"/>
                <a:ea typeface="Calibri"/>
                <a:cs typeface="Calibri"/>
                <a:sym typeface="Calibri"/>
              </a:rPr>
              <a:t> </a:t>
            </a:r>
            <a:endParaRPr/>
          </a:p>
          <a:p>
            <a:pPr indent="0" lvl="0" marL="0" marR="0" rtl="0" algn="l">
              <a:spcBef>
                <a:spcPts val="84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00" name="Google Shape;100;p1"/>
          <p:cNvSpPr txBox="1"/>
          <p:nvPr/>
        </p:nvSpPr>
        <p:spPr>
          <a:xfrm>
            <a:off x="6749124" y="3774566"/>
            <a:ext cx="2191305" cy="948645"/>
          </a:xfrm>
          <a:prstGeom prst="rect">
            <a:avLst/>
          </a:prstGeom>
          <a:noFill/>
          <a:ln>
            <a:noFill/>
          </a:ln>
        </p:spPr>
        <p:txBody>
          <a:bodyPr anchorCtr="0" anchor="t" bIns="34275" lIns="68575" spcFirstLastPara="1" rIns="68575" wrap="square" tIns="34275">
            <a:normAutofit/>
          </a:bodyPr>
          <a:lstStyle/>
          <a:p>
            <a:pPr indent="0" lvl="0" marL="0" marR="0" rtl="0" algn="l">
              <a:spcBef>
                <a:spcPts val="0"/>
              </a:spcBef>
              <a:spcAft>
                <a:spcPts val="0"/>
              </a:spcAft>
              <a:buNone/>
            </a:pPr>
            <a:r>
              <a:rPr b="1" i="0" lang="en-US" sz="1050" u="none" cap="none" strike="noStrike">
                <a:solidFill>
                  <a:schemeClr val="dk1"/>
                </a:solidFill>
                <a:latin typeface="Calibri"/>
                <a:ea typeface="Calibri"/>
                <a:cs typeface="Calibri"/>
                <a:sym typeface="Calibri"/>
              </a:rPr>
              <a:t> </a:t>
            </a:r>
            <a:endParaRPr sz="1050">
              <a:solidFill>
                <a:schemeClr val="dk1"/>
              </a:solidFill>
              <a:latin typeface="Calibri"/>
              <a:ea typeface="Calibri"/>
              <a:cs typeface="Calibri"/>
              <a:sym typeface="Calibri"/>
            </a:endParaRPr>
          </a:p>
          <a:p>
            <a:pPr indent="0" lvl="0" marL="0" marR="0" rtl="0" algn="ctr">
              <a:spcBef>
                <a:spcPts val="210"/>
              </a:spcBef>
              <a:spcAft>
                <a:spcPts val="0"/>
              </a:spcAft>
              <a:buNone/>
            </a:pPr>
            <a:r>
              <a:t/>
            </a:r>
            <a:endParaRPr b="1" sz="1050">
              <a:solidFill>
                <a:schemeClr val="dk1"/>
              </a:solidFill>
              <a:latin typeface="Calibri"/>
              <a:ea typeface="Calibri"/>
              <a:cs typeface="Calibri"/>
              <a:sym typeface="Calibri"/>
            </a:endParaRPr>
          </a:p>
        </p:txBody>
      </p:sp>
      <p:sp>
        <p:nvSpPr>
          <p:cNvPr id="101" name="Google Shape;101;p1"/>
          <p:cNvSpPr txBox="1"/>
          <p:nvPr>
            <p:ph idx="1" type="body"/>
          </p:nvPr>
        </p:nvSpPr>
        <p:spPr>
          <a:xfrm>
            <a:off x="320374" y="1136326"/>
            <a:ext cx="8504921" cy="351663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700"/>
              <a:buNone/>
            </a:pPr>
            <a:r>
              <a:rPr b="1" lang="en-US" sz="2700"/>
              <a:t>Chandigarh School of Business, Jhanjeri</a:t>
            </a:r>
            <a:endParaRPr/>
          </a:p>
          <a:p>
            <a:pPr indent="0" lvl="0" marL="0" rtl="0" algn="ctr">
              <a:lnSpc>
                <a:spcPct val="90000"/>
              </a:lnSpc>
              <a:spcBef>
                <a:spcPts val="750"/>
              </a:spcBef>
              <a:spcAft>
                <a:spcPts val="0"/>
              </a:spcAft>
              <a:buClr>
                <a:schemeClr val="dk1"/>
              </a:buClr>
              <a:buSzPts val="2100"/>
              <a:buNone/>
            </a:pPr>
            <a:r>
              <a:rPr b="1" lang="en-US"/>
              <a:t>Department of Computer Application </a:t>
            </a:r>
            <a:endParaRPr/>
          </a:p>
          <a:p>
            <a:pPr indent="0" lvl="0" marL="0" rtl="0" algn="ctr">
              <a:lnSpc>
                <a:spcPct val="90000"/>
              </a:lnSpc>
              <a:spcBef>
                <a:spcPts val="750"/>
              </a:spcBef>
              <a:spcAft>
                <a:spcPts val="0"/>
              </a:spcAft>
              <a:buClr>
                <a:schemeClr val="dk1"/>
              </a:buClr>
              <a:buSzPts val="1800"/>
              <a:buNone/>
            </a:pPr>
            <a:r>
              <a:rPr b="1" lang="en-US" sz="1800"/>
              <a:t>Program Code: NA</a:t>
            </a:r>
            <a:endParaRPr/>
          </a:p>
          <a:p>
            <a:pPr indent="0" lvl="0" marL="0" rtl="0" algn="ctr">
              <a:lnSpc>
                <a:spcPct val="90000"/>
              </a:lnSpc>
              <a:spcBef>
                <a:spcPts val="750"/>
              </a:spcBef>
              <a:spcAft>
                <a:spcPts val="0"/>
              </a:spcAft>
              <a:buClr>
                <a:schemeClr val="dk1"/>
              </a:buClr>
              <a:buSzPts val="1800"/>
              <a:buNone/>
            </a:pPr>
            <a:r>
              <a:rPr b="1" lang="en-US" sz="1800"/>
              <a:t>Program Name: MCA</a:t>
            </a:r>
            <a:endParaRPr/>
          </a:p>
          <a:p>
            <a:pPr indent="0" lvl="0" marL="0" rtl="0" algn="ctr">
              <a:lnSpc>
                <a:spcPct val="90000"/>
              </a:lnSpc>
              <a:spcBef>
                <a:spcPts val="750"/>
              </a:spcBef>
              <a:spcAft>
                <a:spcPts val="0"/>
              </a:spcAft>
              <a:buClr>
                <a:schemeClr val="dk1"/>
              </a:buClr>
              <a:buSzPts val="1800"/>
              <a:buNone/>
            </a:pPr>
            <a:r>
              <a:rPr b="1" lang="en-US" sz="1800"/>
              <a:t>Course Code: </a:t>
            </a:r>
            <a:r>
              <a:rPr b="1" i="0" lang="en-US" sz="1800" u="none" strike="noStrike">
                <a:solidFill>
                  <a:srgbClr val="000000"/>
                </a:solidFill>
              </a:rPr>
              <a:t>PGCA1937</a:t>
            </a:r>
            <a:r>
              <a:rPr b="1" i="0" lang="en-US" sz="1800" u="none" strike="noStrike">
                <a:solidFill>
                  <a:srgbClr val="000000"/>
                </a:solidFill>
                <a:latin typeface="Times New Roman"/>
                <a:ea typeface="Times New Roman"/>
                <a:cs typeface="Times New Roman"/>
                <a:sym typeface="Times New Roman"/>
              </a:rPr>
              <a:t> </a:t>
            </a:r>
            <a:r>
              <a:rPr b="1" lang="en-US" sz="1800">
                <a:solidFill>
                  <a:srgbClr val="000000"/>
                </a:solidFill>
              </a:rPr>
              <a:t> </a:t>
            </a:r>
            <a:endParaRPr b="1" sz="1800"/>
          </a:p>
          <a:p>
            <a:pPr indent="0" lvl="0" marL="0" rtl="0" algn="ctr">
              <a:lnSpc>
                <a:spcPct val="90000"/>
              </a:lnSpc>
              <a:spcBef>
                <a:spcPts val="750"/>
              </a:spcBef>
              <a:spcAft>
                <a:spcPts val="0"/>
              </a:spcAft>
              <a:buClr>
                <a:schemeClr val="dk1"/>
              </a:buClr>
              <a:buSzPts val="1800"/>
              <a:buNone/>
            </a:pPr>
            <a:r>
              <a:rPr b="1" lang="en-US" sz="1800"/>
              <a:t>Course Name: </a:t>
            </a:r>
            <a:r>
              <a:rPr b="1" i="0" lang="en-US" sz="1800" u="none" strike="noStrike">
                <a:solidFill>
                  <a:srgbClr val="000000"/>
                </a:solidFill>
              </a:rPr>
              <a:t>Cloud Computing </a:t>
            </a:r>
            <a:endParaRPr b="1" sz="1800"/>
          </a:p>
          <a:p>
            <a:pPr indent="0" lvl="0" marL="0" rtl="0" algn="ctr">
              <a:lnSpc>
                <a:spcPct val="90000"/>
              </a:lnSpc>
              <a:spcBef>
                <a:spcPts val="750"/>
              </a:spcBef>
              <a:spcAft>
                <a:spcPts val="0"/>
              </a:spcAft>
              <a:buClr>
                <a:schemeClr val="dk1"/>
              </a:buClr>
              <a:buSzPts val="1500"/>
              <a:buNone/>
            </a:pPr>
            <a:r>
              <a:t/>
            </a:r>
            <a:endParaRPr b="1" sz="1500"/>
          </a:p>
          <a:p>
            <a:pPr indent="0" lvl="0" marL="0" rtl="0" algn="ctr">
              <a:lnSpc>
                <a:spcPct val="90000"/>
              </a:lnSpc>
              <a:spcBef>
                <a:spcPts val="750"/>
              </a:spcBef>
              <a:spcAft>
                <a:spcPts val="0"/>
              </a:spcAft>
              <a:buClr>
                <a:schemeClr val="dk1"/>
              </a:buClr>
              <a:buSzPts val="1500"/>
              <a:buNone/>
            </a:pPr>
            <a:r>
              <a:t/>
            </a:r>
            <a:endParaRPr b="1" sz="1500"/>
          </a:p>
          <a:p>
            <a:pPr indent="0" lvl="0" marL="0" rtl="0" algn="ctr">
              <a:lnSpc>
                <a:spcPct val="90000"/>
              </a:lnSpc>
              <a:spcBef>
                <a:spcPts val="750"/>
              </a:spcBef>
              <a:spcAft>
                <a:spcPts val="0"/>
              </a:spcAft>
              <a:buClr>
                <a:schemeClr val="dk1"/>
              </a:buClr>
              <a:buSzPts val="1500"/>
              <a:buNone/>
            </a:pPr>
            <a:r>
              <a:rPr b="1" lang="en-US" sz="1500"/>
              <a:t>Prepared by: Dr. Gurvir Kaur</a:t>
            </a:r>
            <a:endParaRPr b="1" sz="1500"/>
          </a:p>
          <a:p>
            <a:pPr indent="0" lvl="0" marL="0" rtl="0" algn="r">
              <a:lnSpc>
                <a:spcPct val="90000"/>
              </a:lnSpc>
              <a:spcBef>
                <a:spcPts val="750"/>
              </a:spcBef>
              <a:spcAft>
                <a:spcPts val="0"/>
              </a:spcAft>
              <a:buClr>
                <a:schemeClr val="dk1"/>
              </a:buClr>
              <a:buSzPts val="1500"/>
              <a:buNone/>
            </a:pPr>
            <a:r>
              <a:t/>
            </a:r>
            <a:endParaRPr b="1" sz="1500"/>
          </a:p>
        </p:txBody>
      </p:sp>
      <p:sp>
        <p:nvSpPr>
          <p:cNvPr id="102" name="Google Shape;102;p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03" name="Google Shape;103;p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4" name="Google Shape;104;p1"/>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
          <p:cNvSpPr txBox="1"/>
          <p:nvPr>
            <p:ph type="title"/>
          </p:nvPr>
        </p:nvSpPr>
        <p:spPr>
          <a:xfrm>
            <a:off x="2757197" y="102395"/>
            <a:ext cx="3491204" cy="53063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Outlines</a:t>
            </a:r>
            <a:endParaRPr sz="2400"/>
          </a:p>
        </p:txBody>
      </p:sp>
      <p:sp>
        <p:nvSpPr>
          <p:cNvPr id="110" name="Google Shape;110;p2"/>
          <p:cNvSpPr txBox="1"/>
          <p:nvPr>
            <p:ph idx="1" type="body"/>
          </p:nvPr>
        </p:nvSpPr>
        <p:spPr>
          <a:xfrm>
            <a:off x="628650" y="993700"/>
            <a:ext cx="7886700" cy="3639000"/>
          </a:xfrm>
          <a:prstGeom prst="rect">
            <a:avLst/>
          </a:prstGeom>
          <a:noFill/>
          <a:ln>
            <a:noFill/>
          </a:ln>
        </p:spPr>
        <p:txBody>
          <a:bodyPr anchorCtr="0" anchor="t" bIns="45700" lIns="91425" spcFirstLastPara="1" rIns="91425" wrap="square" tIns="45700">
            <a:normAutofit/>
          </a:bodyPr>
          <a:lstStyle/>
          <a:p>
            <a:pPr indent="-203200" lvl="0" marL="171450" rtl="0" algn="l">
              <a:lnSpc>
                <a:spcPct val="90000"/>
              </a:lnSpc>
              <a:spcBef>
                <a:spcPts val="0"/>
              </a:spcBef>
              <a:spcAft>
                <a:spcPts val="0"/>
              </a:spcAft>
              <a:buClr>
                <a:schemeClr val="dk1"/>
              </a:buClr>
              <a:buSzPts val="2300"/>
              <a:buChar char="•"/>
            </a:pPr>
            <a:r>
              <a:rPr b="1" lang="en-US" sz="2300"/>
              <a:t>PTU Syllabus of Unit-I</a:t>
            </a:r>
            <a:endParaRPr sz="2600"/>
          </a:p>
          <a:p>
            <a:pPr indent="-203200" lvl="0" marL="171450" rtl="0" algn="l">
              <a:lnSpc>
                <a:spcPct val="90000"/>
              </a:lnSpc>
              <a:spcBef>
                <a:spcPts val="750"/>
              </a:spcBef>
              <a:spcAft>
                <a:spcPts val="0"/>
              </a:spcAft>
              <a:buClr>
                <a:schemeClr val="dk1"/>
              </a:buClr>
              <a:buSzPts val="2300"/>
              <a:buChar char="•"/>
            </a:pPr>
            <a:r>
              <a:rPr b="1" lang="en-US" sz="2300"/>
              <a:t>CO’s Introduction</a:t>
            </a:r>
            <a:endParaRPr sz="2600"/>
          </a:p>
          <a:p>
            <a:pPr indent="-203200" lvl="0" marL="171450" rtl="0" algn="l">
              <a:lnSpc>
                <a:spcPct val="90000"/>
              </a:lnSpc>
              <a:spcBef>
                <a:spcPts val="750"/>
              </a:spcBef>
              <a:spcAft>
                <a:spcPts val="0"/>
              </a:spcAft>
              <a:buClr>
                <a:schemeClr val="dk1"/>
              </a:buClr>
              <a:buSzPts val="2300"/>
              <a:buChar char="•"/>
            </a:pPr>
            <a:r>
              <a:rPr b="1" lang="en-US" sz="2300"/>
              <a:t>Topic Overview</a:t>
            </a:r>
            <a:endParaRPr sz="2600"/>
          </a:p>
          <a:p>
            <a:pPr indent="-203200" lvl="0" marL="171450" rtl="0" algn="l">
              <a:lnSpc>
                <a:spcPct val="90000"/>
              </a:lnSpc>
              <a:spcBef>
                <a:spcPts val="750"/>
              </a:spcBef>
              <a:spcAft>
                <a:spcPts val="0"/>
              </a:spcAft>
              <a:buClr>
                <a:schemeClr val="dk1"/>
              </a:buClr>
              <a:buSzPts val="2300"/>
              <a:buChar char="•"/>
            </a:pPr>
            <a:r>
              <a:rPr b="1" lang="en-US" sz="2300"/>
              <a:t>Brief description of what the presentation will cover</a:t>
            </a:r>
            <a:endParaRPr sz="2600"/>
          </a:p>
          <a:p>
            <a:pPr indent="-203200" lvl="0" marL="171450" rtl="0" algn="l">
              <a:lnSpc>
                <a:spcPct val="90000"/>
              </a:lnSpc>
              <a:spcBef>
                <a:spcPts val="750"/>
              </a:spcBef>
              <a:spcAft>
                <a:spcPts val="0"/>
              </a:spcAft>
              <a:buClr>
                <a:schemeClr val="dk1"/>
              </a:buClr>
              <a:buSzPts val="2300"/>
              <a:buChar char="•"/>
            </a:pPr>
            <a:r>
              <a:rPr b="1" lang="en-US" sz="2300"/>
              <a:t>Importance or relevance of the topic</a:t>
            </a:r>
            <a:endParaRPr sz="2600"/>
          </a:p>
          <a:p>
            <a:pPr indent="-203200" lvl="0" marL="171450" rtl="0" algn="l">
              <a:lnSpc>
                <a:spcPct val="90000"/>
              </a:lnSpc>
              <a:spcBef>
                <a:spcPts val="750"/>
              </a:spcBef>
              <a:spcAft>
                <a:spcPts val="0"/>
              </a:spcAft>
              <a:buClr>
                <a:schemeClr val="dk1"/>
              </a:buClr>
              <a:buSzPts val="2300"/>
              <a:buChar char="•"/>
            </a:pPr>
            <a:r>
              <a:rPr b="1" lang="en-US" sz="2300"/>
              <a:t>Key objectives or learning outcomes</a:t>
            </a:r>
            <a:endParaRPr sz="2600"/>
          </a:p>
          <a:p>
            <a:pPr indent="-203200" lvl="0" marL="171450" rtl="0" algn="l">
              <a:lnSpc>
                <a:spcPct val="90000"/>
              </a:lnSpc>
              <a:spcBef>
                <a:spcPts val="750"/>
              </a:spcBef>
              <a:spcAft>
                <a:spcPts val="0"/>
              </a:spcAft>
              <a:buClr>
                <a:schemeClr val="dk1"/>
              </a:buClr>
              <a:buSzPts val="2300"/>
              <a:buChar char="•"/>
            </a:pPr>
            <a:r>
              <a:rPr b="1" lang="en-US" sz="2300"/>
              <a:t>Summary</a:t>
            </a:r>
            <a:endParaRPr sz="2600"/>
          </a:p>
          <a:p>
            <a:pPr indent="-203200" lvl="0" marL="171450" rtl="0" algn="l">
              <a:lnSpc>
                <a:spcPct val="90000"/>
              </a:lnSpc>
              <a:spcBef>
                <a:spcPts val="750"/>
              </a:spcBef>
              <a:spcAft>
                <a:spcPts val="0"/>
              </a:spcAft>
              <a:buClr>
                <a:schemeClr val="dk1"/>
              </a:buClr>
              <a:buSzPts val="2300"/>
              <a:buChar char="•"/>
            </a:pPr>
            <a:r>
              <a:rPr b="1" lang="en-US" sz="2300"/>
              <a:t>References </a:t>
            </a:r>
            <a:endParaRPr sz="2600"/>
          </a:p>
          <a:p>
            <a:pPr indent="-57150" lvl="0" marL="171450" rtl="0" algn="l">
              <a:lnSpc>
                <a:spcPct val="90000"/>
              </a:lnSpc>
              <a:spcBef>
                <a:spcPts val="750"/>
              </a:spcBef>
              <a:spcAft>
                <a:spcPts val="0"/>
              </a:spcAft>
              <a:buClr>
                <a:schemeClr val="dk1"/>
              </a:buClr>
              <a:buSzPts val="1800"/>
              <a:buNone/>
            </a:pPr>
            <a:r>
              <a:t/>
            </a:r>
            <a:endParaRPr sz="1800"/>
          </a:p>
        </p:txBody>
      </p:sp>
      <p:sp>
        <p:nvSpPr>
          <p:cNvPr id="111" name="Google Shape;111;p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12" name="Google Shape;112;p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3" name="Google Shape;113;p2"/>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14" name="Google Shape;114;p2"/>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ph type="title"/>
          </p:nvPr>
        </p:nvSpPr>
        <p:spPr>
          <a:xfrm>
            <a:off x="2676832" y="69056"/>
            <a:ext cx="4613882" cy="47982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PTU Syllabus of Unit-I</a:t>
            </a:r>
            <a:endParaRPr b="1" sz="2400">
              <a:latin typeface="Calibri"/>
              <a:ea typeface="Calibri"/>
              <a:cs typeface="Calibri"/>
              <a:sym typeface="Calibri"/>
            </a:endParaRPr>
          </a:p>
        </p:txBody>
      </p:sp>
      <p:sp>
        <p:nvSpPr>
          <p:cNvPr id="120" name="Google Shape;120;p3"/>
          <p:cNvSpPr txBox="1"/>
          <p:nvPr>
            <p:ph idx="1" type="body"/>
          </p:nvPr>
        </p:nvSpPr>
        <p:spPr>
          <a:xfrm>
            <a:off x="373100" y="854500"/>
            <a:ext cx="8415300" cy="3778200"/>
          </a:xfrm>
          <a:prstGeom prst="rect">
            <a:avLst/>
          </a:prstGeom>
          <a:noFill/>
          <a:ln>
            <a:noFill/>
          </a:ln>
        </p:spPr>
        <p:txBody>
          <a:bodyPr anchorCtr="0" anchor="t" bIns="45700" lIns="91425" spcFirstLastPara="1" rIns="91425" wrap="square" tIns="45700">
            <a:normAutofit fontScale="40000" lnSpcReduction="20000"/>
          </a:bodyPr>
          <a:lstStyle/>
          <a:p>
            <a:pPr indent="0" lvl="0" marL="0" rtl="0" algn="ctr">
              <a:lnSpc>
                <a:spcPct val="100000"/>
              </a:lnSpc>
              <a:spcBef>
                <a:spcPts val="0"/>
              </a:spcBef>
              <a:spcAft>
                <a:spcPts val="0"/>
              </a:spcAft>
              <a:buClr>
                <a:srgbClr val="000000"/>
              </a:buClr>
              <a:buSzPct val="86586"/>
              <a:buNone/>
            </a:pPr>
            <a:r>
              <a:rPr b="1" lang="en-US" sz="4157">
                <a:solidFill>
                  <a:srgbClr val="000000"/>
                </a:solidFill>
              </a:rPr>
              <a:t>Part-A</a:t>
            </a:r>
            <a:endParaRPr sz="4157">
              <a:solidFill>
                <a:srgbClr val="000000"/>
              </a:solidFill>
            </a:endParaRPr>
          </a:p>
          <a:p>
            <a:pPr indent="-185615" lvl="0" marL="171450" rtl="0" algn="just">
              <a:lnSpc>
                <a:spcPct val="100000"/>
              </a:lnSpc>
              <a:spcBef>
                <a:spcPts val="750"/>
              </a:spcBef>
              <a:spcAft>
                <a:spcPts val="0"/>
              </a:spcAft>
              <a:buClr>
                <a:srgbClr val="000000"/>
              </a:buClr>
              <a:buSzPct val="100000"/>
              <a:buChar char="•"/>
            </a:pPr>
            <a:r>
              <a:rPr b="1" i="0" lang="en-US" sz="4157" u="none" strike="noStrike">
                <a:solidFill>
                  <a:srgbClr val="000000"/>
                </a:solidFill>
              </a:rPr>
              <a:t>Overview of Computing Paradigm: </a:t>
            </a:r>
            <a:r>
              <a:rPr b="0" i="0" lang="en-US" sz="4157" u="none" strike="noStrike">
                <a:solidFill>
                  <a:srgbClr val="000000"/>
                </a:solidFill>
              </a:rPr>
              <a:t>Recent trends in Computing -Grid Computing, Cluster Computing, Distributed Computing, Utility Computing, Cloud Computing. </a:t>
            </a:r>
            <a:endParaRPr sz="2657"/>
          </a:p>
          <a:p>
            <a:pPr indent="-185615" lvl="0" marL="171450" rtl="0" algn="just">
              <a:lnSpc>
                <a:spcPct val="100000"/>
              </a:lnSpc>
              <a:spcBef>
                <a:spcPts val="750"/>
              </a:spcBef>
              <a:spcAft>
                <a:spcPts val="0"/>
              </a:spcAft>
              <a:buClr>
                <a:srgbClr val="000000"/>
              </a:buClr>
              <a:buSzPct val="100000"/>
              <a:buChar char="•"/>
            </a:pPr>
            <a:r>
              <a:rPr b="1" i="0" lang="en-US" sz="4157" u="none" strike="noStrike">
                <a:solidFill>
                  <a:srgbClr val="000000"/>
                </a:solidFill>
              </a:rPr>
              <a:t>Introduction to Cloud Computing: </a:t>
            </a:r>
            <a:r>
              <a:rPr b="0" i="0" lang="en-US" sz="4157" u="none" strike="noStrike">
                <a:solidFill>
                  <a:srgbClr val="000000"/>
                </a:solidFill>
              </a:rPr>
              <a:t>Vision of Cloud Computing, Defining a Cloud, Cloud Reference Model, Deployment Model, Characteristics, Benefits of Cloud Computing, Challenges ahead. Cloud computing vs. Cluster computing vs. Grid computing. </a:t>
            </a:r>
            <a:endParaRPr sz="2657"/>
          </a:p>
          <a:p>
            <a:pPr indent="-185615" lvl="0" marL="171450" rtl="0" algn="just">
              <a:lnSpc>
                <a:spcPct val="100000"/>
              </a:lnSpc>
              <a:spcBef>
                <a:spcPts val="750"/>
              </a:spcBef>
              <a:spcAft>
                <a:spcPts val="0"/>
              </a:spcAft>
              <a:buClr>
                <a:srgbClr val="000000"/>
              </a:buClr>
              <a:buSzPct val="100000"/>
              <a:buChar char="•"/>
            </a:pPr>
            <a:r>
              <a:rPr b="1" i="0" lang="en-US" sz="4157" u="none" strike="noStrike">
                <a:solidFill>
                  <a:srgbClr val="000000"/>
                </a:solidFill>
              </a:rPr>
              <a:t>Migrating into a Cloud: </a:t>
            </a:r>
            <a:r>
              <a:rPr b="0" i="0" lang="en-US" sz="4157" u="none" strike="noStrike">
                <a:solidFill>
                  <a:srgbClr val="000000"/>
                </a:solidFill>
              </a:rPr>
              <a:t>Introduction, Broad approaches to Migrating into the Cloud, The Seven-Step Model of Migration Into a Cloud. </a:t>
            </a:r>
            <a:endParaRPr sz="2657"/>
          </a:p>
          <a:p>
            <a:pPr indent="-185615" lvl="0" marL="171450" rtl="0" algn="just">
              <a:lnSpc>
                <a:spcPct val="100000"/>
              </a:lnSpc>
              <a:spcBef>
                <a:spcPts val="750"/>
              </a:spcBef>
              <a:spcAft>
                <a:spcPts val="0"/>
              </a:spcAft>
              <a:buClr>
                <a:srgbClr val="000000"/>
              </a:buClr>
              <a:buSzPct val="100000"/>
              <a:buChar char="•"/>
            </a:pPr>
            <a:r>
              <a:rPr b="1" i="0" lang="en-US" sz="4157" u="none" strike="noStrike">
                <a:solidFill>
                  <a:srgbClr val="000000"/>
                </a:solidFill>
              </a:rPr>
              <a:t>Virtualization: </a:t>
            </a:r>
            <a:r>
              <a:rPr b="0" i="0" lang="en-US" sz="4157" u="none" strike="noStrike">
                <a:solidFill>
                  <a:srgbClr val="000000"/>
                </a:solidFill>
              </a:rPr>
              <a:t>Introduction, Characteristics of Virtualized environment, Taxonomy of Virtualization techniques, Virtualization and Cloud Computing, Pros and Cons of Virtualization, Technology Examples- Xen, VMware, Microsoft Hyper-V. </a:t>
            </a:r>
            <a:endParaRPr sz="2657"/>
          </a:p>
          <a:p>
            <a:pPr indent="-185615" lvl="0" marL="171450" rtl="0" algn="just">
              <a:lnSpc>
                <a:spcPct val="100000"/>
              </a:lnSpc>
              <a:spcBef>
                <a:spcPts val="750"/>
              </a:spcBef>
              <a:spcAft>
                <a:spcPts val="0"/>
              </a:spcAft>
              <a:buClr>
                <a:srgbClr val="000000"/>
              </a:buClr>
              <a:buSzPct val="100000"/>
              <a:buChar char="•"/>
            </a:pPr>
            <a:r>
              <a:rPr b="1" i="0" lang="en-US" sz="4157" u="none" strike="noStrike">
                <a:solidFill>
                  <a:srgbClr val="000000"/>
                </a:solidFill>
              </a:rPr>
              <a:t>Capacity Planning: </a:t>
            </a:r>
            <a:r>
              <a:rPr b="0" i="0" lang="en-US" sz="4157" u="none" strike="noStrike">
                <a:solidFill>
                  <a:srgbClr val="000000"/>
                </a:solidFill>
              </a:rPr>
              <a:t>Introduction, Defining Baseline and Metrics-Baseline Measurements, System Metrics, Load Testing, Resource Ceilings, Server and Instance types; Network Capacity, Scaling. 	</a:t>
            </a:r>
            <a:endParaRPr sz="2657"/>
          </a:p>
          <a:p>
            <a:pPr indent="0" lvl="0" marL="0" rtl="0" algn="l">
              <a:lnSpc>
                <a:spcPct val="90000"/>
              </a:lnSpc>
              <a:spcBef>
                <a:spcPts val="750"/>
              </a:spcBef>
              <a:spcAft>
                <a:spcPts val="0"/>
              </a:spcAft>
              <a:buClr>
                <a:schemeClr val="dk1"/>
              </a:buClr>
              <a:buSzPct val="100000"/>
              <a:buNone/>
            </a:pPr>
            <a:r>
              <a:t/>
            </a:r>
            <a:endParaRPr sz="1800"/>
          </a:p>
        </p:txBody>
      </p:sp>
      <p:sp>
        <p:nvSpPr>
          <p:cNvPr id="121" name="Google Shape;121;p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22" name="Google Shape;122;p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3" name="Google Shape;123;p3"/>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24" name="Google Shape;124;p3"/>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txBox="1"/>
          <p:nvPr>
            <p:ph type="title"/>
          </p:nvPr>
        </p:nvSpPr>
        <p:spPr>
          <a:xfrm>
            <a:off x="2771200" y="70025"/>
            <a:ext cx="4436700" cy="823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Key objectives or learning outcomes</a:t>
            </a:r>
            <a:endParaRPr sz="2400">
              <a:latin typeface="Calibri"/>
              <a:ea typeface="Calibri"/>
              <a:cs typeface="Calibri"/>
              <a:sym typeface="Calibri"/>
            </a:endParaRPr>
          </a:p>
        </p:txBody>
      </p:sp>
      <p:sp>
        <p:nvSpPr>
          <p:cNvPr id="130" name="Google Shape;130;p4"/>
          <p:cNvSpPr txBox="1"/>
          <p:nvPr>
            <p:ph idx="1" type="body"/>
          </p:nvPr>
        </p:nvSpPr>
        <p:spPr>
          <a:xfrm>
            <a:off x="457200" y="962775"/>
            <a:ext cx="8393100" cy="3609300"/>
          </a:xfrm>
          <a:prstGeom prst="rect">
            <a:avLst/>
          </a:prstGeom>
          <a:noFill/>
          <a:ln>
            <a:noFill/>
          </a:ln>
        </p:spPr>
        <p:txBody>
          <a:bodyPr anchorCtr="0" anchor="t" bIns="45700" lIns="91425" spcFirstLastPara="1" rIns="91425" wrap="square" tIns="45700">
            <a:noAutofit/>
          </a:bodyPr>
          <a:lstStyle/>
          <a:p>
            <a:pPr indent="-184150" lvl="0" marL="171450" rtl="0" algn="just">
              <a:lnSpc>
                <a:spcPct val="90000"/>
              </a:lnSpc>
              <a:spcBef>
                <a:spcPts val="0"/>
              </a:spcBef>
              <a:spcAft>
                <a:spcPts val="0"/>
              </a:spcAft>
              <a:buClr>
                <a:srgbClr val="000000"/>
              </a:buClr>
              <a:buSzPts val="2000"/>
              <a:buChar char="•"/>
            </a:pPr>
            <a:r>
              <a:rPr b="0" i="0" lang="en-US" sz="2000" u="none" strike="noStrike">
                <a:solidFill>
                  <a:srgbClr val="000000"/>
                </a:solidFill>
              </a:rPr>
              <a:t>CO1 	Understand the basic concept and importance of cloud computing. 	</a:t>
            </a:r>
            <a:endParaRPr sz="2300"/>
          </a:p>
          <a:p>
            <a:pPr indent="-184150" lvl="0" marL="171450" rtl="0" algn="just">
              <a:lnSpc>
                <a:spcPct val="90000"/>
              </a:lnSpc>
              <a:spcBef>
                <a:spcPts val="750"/>
              </a:spcBef>
              <a:spcAft>
                <a:spcPts val="0"/>
              </a:spcAft>
              <a:buClr>
                <a:srgbClr val="000000"/>
              </a:buClr>
              <a:buSzPts val="2000"/>
              <a:buChar char="•"/>
            </a:pPr>
            <a:r>
              <a:rPr b="0" i="0" lang="en-US" sz="2000" u="none" strike="noStrike">
                <a:solidFill>
                  <a:srgbClr val="000000"/>
                </a:solidFill>
              </a:rPr>
              <a:t>CO2 	Access the suitability of migrating to a cloud solution for different applications.</a:t>
            </a:r>
            <a:endParaRPr sz="2300"/>
          </a:p>
          <a:p>
            <a:pPr indent="-184150" lvl="0" marL="171450" rtl="0" algn="just">
              <a:lnSpc>
                <a:spcPct val="90000"/>
              </a:lnSpc>
              <a:spcBef>
                <a:spcPts val="750"/>
              </a:spcBef>
              <a:spcAft>
                <a:spcPts val="0"/>
              </a:spcAft>
              <a:buClr>
                <a:srgbClr val="000000"/>
              </a:buClr>
              <a:buSzPts val="2000"/>
              <a:buChar char="•"/>
            </a:pPr>
            <a:r>
              <a:rPr b="0" i="0" lang="en-US" sz="2000" u="none" strike="noStrike">
                <a:solidFill>
                  <a:srgbClr val="000000"/>
                </a:solidFill>
              </a:rPr>
              <a:t>CO3 	Compare and evaluate the virtualization technologies. 	</a:t>
            </a:r>
            <a:endParaRPr sz="2300"/>
          </a:p>
          <a:p>
            <a:pPr indent="-184150" lvl="0" marL="171450" rtl="0" algn="just">
              <a:lnSpc>
                <a:spcPct val="90000"/>
              </a:lnSpc>
              <a:spcBef>
                <a:spcPts val="750"/>
              </a:spcBef>
              <a:spcAft>
                <a:spcPts val="0"/>
              </a:spcAft>
              <a:buClr>
                <a:srgbClr val="000000"/>
              </a:buClr>
              <a:buSzPts val="2000"/>
              <a:buChar char="•"/>
            </a:pPr>
            <a:r>
              <a:rPr b="0" i="0" lang="en-US" sz="2000" u="none" strike="noStrike">
                <a:solidFill>
                  <a:srgbClr val="000000"/>
                </a:solidFill>
              </a:rPr>
              <a:t>CO4 	Monitor and manage the cloud resources, applications and data while   addressing </a:t>
            </a:r>
            <a:r>
              <a:rPr b="0" i="0" lang="en-US" sz="2000" u="none" strike="noStrike">
                <a:solidFill>
                  <a:srgbClr val="000000"/>
                </a:solidFill>
                <a:latin typeface="Times New Roman"/>
                <a:ea typeface="Times New Roman"/>
                <a:cs typeface="Times New Roman"/>
                <a:sym typeface="Times New Roman"/>
              </a:rPr>
              <a:t>	the </a:t>
            </a:r>
            <a:r>
              <a:rPr b="0" i="0" lang="en-US" sz="2000" u="none" strike="noStrike">
                <a:solidFill>
                  <a:srgbClr val="000000"/>
                </a:solidFill>
              </a:rPr>
              <a:t>security concerns. 	</a:t>
            </a:r>
            <a:endParaRPr sz="2000">
              <a:solidFill>
                <a:srgbClr val="000000"/>
              </a:solidFill>
            </a:endParaRPr>
          </a:p>
          <a:p>
            <a:pPr indent="-184150" lvl="0" marL="171450" rtl="0" algn="just">
              <a:lnSpc>
                <a:spcPct val="90000"/>
              </a:lnSpc>
              <a:spcBef>
                <a:spcPts val="750"/>
              </a:spcBef>
              <a:spcAft>
                <a:spcPts val="0"/>
              </a:spcAft>
              <a:buClr>
                <a:srgbClr val="000000"/>
              </a:buClr>
              <a:buSzPts val="2000"/>
              <a:buChar char="•"/>
            </a:pPr>
            <a:r>
              <a:rPr b="0" i="0" lang="en-US" sz="2000" u="none" strike="noStrike">
                <a:solidFill>
                  <a:srgbClr val="000000"/>
                </a:solidFill>
              </a:rPr>
              <a:t>CO5 	Use cloud solutions offered by industry leaders for various applications. 	</a:t>
            </a:r>
            <a:endParaRPr sz="2300"/>
          </a:p>
          <a:p>
            <a:pPr indent="-69850" lvl="0" marL="171450" rtl="0" algn="just">
              <a:lnSpc>
                <a:spcPct val="90000"/>
              </a:lnSpc>
              <a:spcBef>
                <a:spcPts val="750"/>
              </a:spcBef>
              <a:spcAft>
                <a:spcPts val="0"/>
              </a:spcAft>
              <a:buClr>
                <a:schemeClr val="dk1"/>
              </a:buClr>
              <a:buSzPts val="1600"/>
              <a:buNone/>
            </a:pPr>
            <a:r>
              <a:t/>
            </a:r>
            <a:endParaRPr b="0" i="0" sz="1600" u="none" strike="noStrike">
              <a:solidFill>
                <a:srgbClr val="000000"/>
              </a:solidFill>
            </a:endParaRPr>
          </a:p>
        </p:txBody>
      </p:sp>
      <p:sp>
        <p:nvSpPr>
          <p:cNvPr id="131" name="Google Shape;131;p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32" name="Google Shape;132;p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3" name="Google Shape;133;p4"/>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34" name="Google Shape;134;p4"/>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5"/>
          <p:cNvSpPr txBox="1"/>
          <p:nvPr>
            <p:ph type="title"/>
          </p:nvPr>
        </p:nvSpPr>
        <p:spPr>
          <a:xfrm>
            <a:off x="2750198" y="102394"/>
            <a:ext cx="4457701" cy="74359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CO Introduction</a:t>
            </a:r>
            <a:endParaRPr sz="2400">
              <a:latin typeface="Calibri"/>
              <a:ea typeface="Calibri"/>
              <a:cs typeface="Calibri"/>
              <a:sym typeface="Calibri"/>
            </a:endParaRPr>
          </a:p>
        </p:txBody>
      </p:sp>
      <p:graphicFrame>
        <p:nvGraphicFramePr>
          <p:cNvPr id="140" name="Google Shape;140;p5"/>
          <p:cNvGraphicFramePr/>
          <p:nvPr/>
        </p:nvGraphicFramePr>
        <p:xfrm>
          <a:off x="411466" y="1056233"/>
          <a:ext cx="3000000" cy="3000000"/>
        </p:xfrm>
        <a:graphic>
          <a:graphicData uri="http://schemas.openxmlformats.org/drawingml/2006/table">
            <a:tbl>
              <a:tblPr bandRow="1" firstRow="1">
                <a:noFill/>
                <a:tableStyleId>{C5ADA428-A796-4EFC-8AB4-D7CDD4B9807E}</a:tableStyleId>
              </a:tblPr>
              <a:tblGrid>
                <a:gridCol w="1398925"/>
                <a:gridCol w="5162425"/>
                <a:gridCol w="1666750"/>
              </a:tblGrid>
              <a:tr h="559100">
                <a:tc>
                  <a:txBody>
                    <a:bodyPr/>
                    <a:lstStyle/>
                    <a:p>
                      <a:pPr indent="0" lvl="0" marL="0" marR="0" rtl="0" algn="ctr">
                        <a:spcBef>
                          <a:spcPts val="0"/>
                        </a:spcBef>
                        <a:spcAft>
                          <a:spcPts val="0"/>
                        </a:spcAft>
                        <a:buNone/>
                      </a:pPr>
                      <a:r>
                        <a:rPr b="1" lang="en-US" sz="1800" u="none" cap="none" strike="noStrike"/>
                        <a:t>CO NUMBER </a:t>
                      </a:r>
                      <a:endParaRPr b="1" sz="1800" u="none" cap="none" strike="noStrike">
                        <a:latin typeface="Calibri"/>
                        <a:ea typeface="Calibri"/>
                        <a:cs typeface="Calibri"/>
                        <a:sym typeface="Calibri"/>
                      </a:endParaRPr>
                    </a:p>
                  </a:txBody>
                  <a:tcPr marT="34300" marB="34300" marR="68575" marL="68575"/>
                </a:tc>
                <a:tc>
                  <a:txBody>
                    <a:bodyPr/>
                    <a:lstStyle/>
                    <a:p>
                      <a:pPr indent="0" lvl="0" marL="0" marR="0" rtl="0" algn="ctr">
                        <a:spcBef>
                          <a:spcPts val="0"/>
                        </a:spcBef>
                        <a:spcAft>
                          <a:spcPts val="0"/>
                        </a:spcAft>
                        <a:buNone/>
                      </a:pPr>
                      <a:r>
                        <a:rPr b="1" lang="en-US" sz="1800" u="none" cap="none" strike="noStrike"/>
                        <a:t>TOPICS</a:t>
                      </a:r>
                      <a:endParaRPr/>
                    </a:p>
                  </a:txBody>
                  <a:tcPr marT="34300" marB="34300" marR="68575" marL="68575"/>
                </a:tc>
                <a:tc>
                  <a:txBody>
                    <a:bodyPr/>
                    <a:lstStyle/>
                    <a:p>
                      <a:pPr indent="0" lvl="0" marL="0" marR="0" rtl="0" algn="ctr">
                        <a:spcBef>
                          <a:spcPts val="0"/>
                        </a:spcBef>
                        <a:spcAft>
                          <a:spcPts val="0"/>
                        </a:spcAft>
                        <a:buNone/>
                      </a:pPr>
                      <a:r>
                        <a:rPr b="1" lang="en-US" sz="1800" u="none" cap="none" strike="noStrike"/>
                        <a:t>LEVEL</a:t>
                      </a:r>
                      <a:endParaRPr/>
                    </a:p>
                  </a:txBody>
                  <a:tcPr marT="34300" marB="34300" marR="68575" marL="68575"/>
                </a:tc>
              </a:tr>
              <a:tr h="590700">
                <a:tc>
                  <a:txBody>
                    <a:bodyPr/>
                    <a:lstStyle/>
                    <a:p>
                      <a:pPr indent="0" lvl="0" marL="0" marR="0" rtl="0" algn="ctr">
                        <a:spcBef>
                          <a:spcPts val="0"/>
                        </a:spcBef>
                        <a:spcAft>
                          <a:spcPts val="0"/>
                        </a:spcAft>
                        <a:buNone/>
                      </a:pPr>
                      <a:r>
                        <a:rPr b="1" lang="en-US" sz="1800" u="none" cap="none" strike="noStrike"/>
                        <a:t>CO1</a:t>
                      </a:r>
                      <a:endParaRPr b="1" sz="1800" u="none" cap="none" strike="noStrike">
                        <a:latin typeface="Calibri"/>
                        <a:ea typeface="Calibri"/>
                        <a:cs typeface="Calibri"/>
                        <a:sym typeface="Calibri"/>
                      </a:endParaRPr>
                    </a:p>
                  </a:txBody>
                  <a:tcPr marT="34300" marB="34300" marR="68575" marL="68575"/>
                </a:tc>
                <a:tc>
                  <a:txBody>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Overview of Computing Paradigm: </a:t>
                      </a:r>
                      <a:r>
                        <a:rPr b="0" i="0" lang="en-US" sz="1800" u="none" cap="none" strike="noStrike">
                          <a:solidFill>
                            <a:schemeClr val="dk1"/>
                          </a:solidFill>
                          <a:latin typeface="Calibri"/>
                          <a:ea typeface="Calibri"/>
                          <a:cs typeface="Calibri"/>
                          <a:sym typeface="Calibri"/>
                        </a:rPr>
                        <a:t>Recent trends in Computing -Grid Computing, Cluster Computing, Distributed Computing, Utility Computing, Cloud Computing. </a:t>
                      </a:r>
                      <a:endParaRPr/>
                    </a:p>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Introduction to Cloud Computing: </a:t>
                      </a:r>
                      <a:r>
                        <a:rPr b="0" i="0" lang="en-US" sz="1800" u="none" cap="none" strike="noStrike">
                          <a:solidFill>
                            <a:schemeClr val="dk1"/>
                          </a:solidFill>
                          <a:latin typeface="Calibri"/>
                          <a:ea typeface="Calibri"/>
                          <a:cs typeface="Calibri"/>
                          <a:sym typeface="Calibri"/>
                        </a:rPr>
                        <a:t>Vision of Cloud Computing, Defining a Cloud, Cloud Reference Model, Deployment Model, Characteristics, Benefits of Cloud Computing, Challenges ahead. Cloud computing vs. Cluster computing vs. Grid computing. </a:t>
                      </a:r>
                      <a:r>
                        <a:rPr b="0" i="0" lang="en-US" sz="1350" u="none" cap="none" strike="noStrike">
                          <a:solidFill>
                            <a:schemeClr val="dk1"/>
                          </a:solidFill>
                          <a:latin typeface="Calibri"/>
                          <a:ea typeface="Calibri"/>
                          <a:cs typeface="Calibri"/>
                          <a:sym typeface="Calibri"/>
                        </a:rPr>
                        <a:t>	</a:t>
                      </a:r>
                      <a:endParaRPr/>
                    </a:p>
                  </a:txBody>
                  <a:tcPr marT="34300" marB="34300" marR="68575" marL="68575"/>
                </a:tc>
                <a:tc>
                  <a:txBody>
                    <a:bodyPr/>
                    <a:lstStyle/>
                    <a:p>
                      <a:pPr indent="0" lvl="0" marL="0" marR="0" rtl="0" algn="ctr">
                        <a:spcBef>
                          <a:spcPts val="0"/>
                        </a:spcBef>
                        <a:spcAft>
                          <a:spcPts val="0"/>
                        </a:spcAft>
                        <a:buNone/>
                      </a:pPr>
                      <a:r>
                        <a:rPr b="1" lang="en-US" sz="1800" u="none" cap="none" strike="noStrike"/>
                        <a:t>2</a:t>
                      </a:r>
                      <a:endParaRPr/>
                    </a:p>
                  </a:txBody>
                  <a:tcPr marT="34300" marB="34300" marR="68575" marL="68575"/>
                </a:tc>
              </a:tr>
            </a:tbl>
          </a:graphicData>
        </a:graphic>
      </p:graphicFrame>
      <p:sp>
        <p:nvSpPr>
          <p:cNvPr id="141" name="Google Shape;141;p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42" name="Google Shape;142;p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3" name="Google Shape;143;p5"/>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44" name="Google Shape;144;p5"/>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6"/>
          <p:cNvSpPr txBox="1"/>
          <p:nvPr>
            <p:ph type="title"/>
          </p:nvPr>
        </p:nvSpPr>
        <p:spPr>
          <a:xfrm>
            <a:off x="2871375" y="0"/>
            <a:ext cx="4153500" cy="857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3200">
                <a:latin typeface="Calibri"/>
                <a:ea typeface="Calibri"/>
                <a:cs typeface="Calibri"/>
                <a:sym typeface="Calibri"/>
              </a:rPr>
              <a:t>Topic Overview</a:t>
            </a:r>
            <a:endParaRPr sz="3200">
              <a:latin typeface="Calibri"/>
              <a:ea typeface="Calibri"/>
              <a:cs typeface="Calibri"/>
              <a:sym typeface="Calibri"/>
            </a:endParaRPr>
          </a:p>
        </p:txBody>
      </p:sp>
      <p:sp>
        <p:nvSpPr>
          <p:cNvPr id="150" name="Google Shape;150;p6"/>
          <p:cNvSpPr txBox="1"/>
          <p:nvPr>
            <p:ph idx="1" type="body"/>
          </p:nvPr>
        </p:nvSpPr>
        <p:spPr>
          <a:xfrm>
            <a:off x="457200" y="1046748"/>
            <a:ext cx="8229600" cy="3547875"/>
          </a:xfrm>
          <a:prstGeom prst="rect">
            <a:avLst/>
          </a:prstGeom>
          <a:noFill/>
          <a:ln>
            <a:noFill/>
          </a:ln>
        </p:spPr>
        <p:txBody>
          <a:bodyPr anchorCtr="0" anchor="t" bIns="45700" lIns="91425" spcFirstLastPara="1" rIns="91425" wrap="square" tIns="45700">
            <a:normAutofit/>
          </a:bodyPr>
          <a:lstStyle/>
          <a:p>
            <a:pPr indent="-190500" lvl="0" marL="171450" rtl="0" algn="just">
              <a:lnSpc>
                <a:spcPct val="100000"/>
              </a:lnSpc>
              <a:spcBef>
                <a:spcPts val="0"/>
              </a:spcBef>
              <a:spcAft>
                <a:spcPts val="0"/>
              </a:spcAft>
              <a:buClr>
                <a:schemeClr val="dk1"/>
              </a:buClr>
              <a:buSzPts val="2100"/>
              <a:buChar char="•"/>
            </a:pPr>
            <a:r>
              <a:rPr b="1" lang="en-US"/>
              <a:t>Evolution and Integration</a:t>
            </a:r>
            <a:r>
              <a:rPr lang="en-US"/>
              <a:t>: Recent trends in computing, such as Grid Computing, Cluster Computing, and Distributed Computing, focus on optimizing resource utilization across multiple systems. </a:t>
            </a:r>
            <a:endParaRPr sz="2400"/>
          </a:p>
          <a:p>
            <a:pPr indent="-190500" lvl="0" marL="171450" rtl="0" algn="just">
              <a:lnSpc>
                <a:spcPct val="100000"/>
              </a:lnSpc>
              <a:spcBef>
                <a:spcPts val="750"/>
              </a:spcBef>
              <a:spcAft>
                <a:spcPts val="0"/>
              </a:spcAft>
              <a:buClr>
                <a:schemeClr val="dk1"/>
              </a:buClr>
              <a:buSzPts val="2100"/>
              <a:buChar char="•"/>
            </a:pPr>
            <a:r>
              <a:rPr lang="en-US"/>
              <a:t>These paradigms enable parallel processing and resource sharing, improving performance, scalability, and fault tolerance. </a:t>
            </a:r>
            <a:endParaRPr sz="2400"/>
          </a:p>
          <a:p>
            <a:pPr indent="-190500" lvl="0" marL="171450" rtl="0" algn="just">
              <a:lnSpc>
                <a:spcPct val="100000"/>
              </a:lnSpc>
              <a:spcBef>
                <a:spcPts val="750"/>
              </a:spcBef>
              <a:spcAft>
                <a:spcPts val="0"/>
              </a:spcAft>
              <a:buClr>
                <a:schemeClr val="dk1"/>
              </a:buClr>
              <a:buSzPts val="2100"/>
              <a:buChar char="•"/>
            </a:pPr>
            <a:r>
              <a:rPr lang="en-US"/>
              <a:t>Grid Computing uses distributed resources to solve complex tasks, Cluster Computing groups tightly coupled systems for enhanced performance, and Distributed Computing splits workloads across geographically dispersed networks.</a:t>
            </a:r>
            <a:endParaRPr sz="2400"/>
          </a:p>
        </p:txBody>
      </p:sp>
      <p:sp>
        <p:nvSpPr>
          <p:cNvPr id="151" name="Google Shape;151;p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52" name="Google Shape;152;p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53" name="Google Shape;153;p6"/>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54" name="Google Shape;154;p6"/>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7"/>
          <p:cNvSpPr txBox="1"/>
          <p:nvPr>
            <p:ph type="title"/>
          </p:nvPr>
        </p:nvSpPr>
        <p:spPr>
          <a:xfrm>
            <a:off x="2743200" y="205979"/>
            <a:ext cx="4436706" cy="85725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Font typeface="Calibri"/>
              <a:buNone/>
            </a:pPr>
            <a:r>
              <a:rPr b="1" lang="en-US" sz="2600"/>
              <a:t>Brief of what the presentation will</a:t>
            </a:r>
            <a:endParaRPr sz="2600"/>
          </a:p>
        </p:txBody>
      </p:sp>
      <p:sp>
        <p:nvSpPr>
          <p:cNvPr id="160" name="Google Shape;160;p7"/>
          <p:cNvSpPr txBox="1"/>
          <p:nvPr>
            <p:ph idx="1" type="body"/>
          </p:nvPr>
        </p:nvSpPr>
        <p:spPr>
          <a:xfrm>
            <a:off x="628650" y="1169225"/>
            <a:ext cx="7886700" cy="3463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100"/>
              <a:buNone/>
            </a:pPr>
            <a:r>
              <a:rPr lang="en-US" sz="2600"/>
              <a:t>The presentation will cover the following points:</a:t>
            </a:r>
            <a:endParaRPr sz="2600"/>
          </a:p>
          <a:p>
            <a:pPr indent="-374650" lvl="0" marL="342900" rtl="0" algn="l">
              <a:lnSpc>
                <a:spcPct val="90000"/>
              </a:lnSpc>
              <a:spcBef>
                <a:spcPts val="750"/>
              </a:spcBef>
              <a:spcAft>
                <a:spcPts val="0"/>
              </a:spcAft>
              <a:buClr>
                <a:srgbClr val="000000"/>
              </a:buClr>
              <a:buSzPts val="2300"/>
              <a:buFont typeface="Calibri"/>
              <a:buAutoNum type="arabicPeriod"/>
            </a:pPr>
            <a:r>
              <a:rPr i="0" lang="en-US" sz="2300" u="none" strike="noStrike">
                <a:solidFill>
                  <a:srgbClr val="000000"/>
                </a:solidFill>
              </a:rPr>
              <a:t>Introduction to Cloud Computing 	</a:t>
            </a:r>
            <a:endParaRPr sz="2600"/>
          </a:p>
          <a:p>
            <a:pPr indent="-374650" lvl="0" marL="342900" rtl="0" algn="l">
              <a:lnSpc>
                <a:spcPct val="90000"/>
              </a:lnSpc>
              <a:spcBef>
                <a:spcPts val="750"/>
              </a:spcBef>
              <a:spcAft>
                <a:spcPts val="0"/>
              </a:spcAft>
              <a:buClr>
                <a:srgbClr val="000000"/>
              </a:buClr>
              <a:buSzPts val="2300"/>
              <a:buFont typeface="Calibri"/>
              <a:buAutoNum type="arabicPeriod"/>
            </a:pPr>
            <a:r>
              <a:rPr i="0" lang="en-US" sz="2300" u="none" strike="noStrike">
                <a:solidFill>
                  <a:srgbClr val="000000"/>
                </a:solidFill>
              </a:rPr>
              <a:t>Grid vs. Cloud computing  </a:t>
            </a:r>
            <a:endParaRPr sz="2600"/>
          </a:p>
          <a:p>
            <a:pPr indent="-374650" lvl="0" marL="342900" rtl="0" algn="l">
              <a:lnSpc>
                <a:spcPct val="90000"/>
              </a:lnSpc>
              <a:spcBef>
                <a:spcPts val="750"/>
              </a:spcBef>
              <a:spcAft>
                <a:spcPts val="0"/>
              </a:spcAft>
              <a:buClr>
                <a:srgbClr val="000000"/>
              </a:buClr>
              <a:buSzPts val="2300"/>
              <a:buFont typeface="Calibri"/>
              <a:buAutoNum type="arabicPeriod"/>
            </a:pPr>
            <a:r>
              <a:rPr i="0" lang="en-US" sz="2300" u="none" strike="noStrike">
                <a:solidFill>
                  <a:srgbClr val="000000"/>
                </a:solidFill>
              </a:rPr>
              <a:t>Cluster vs. Grid computing </a:t>
            </a:r>
            <a:endParaRPr sz="2600"/>
          </a:p>
          <a:p>
            <a:pPr indent="-342900" lvl="0" marL="342900" rtl="0" algn="l">
              <a:lnSpc>
                <a:spcPct val="90000"/>
              </a:lnSpc>
              <a:spcBef>
                <a:spcPts val="750"/>
              </a:spcBef>
              <a:spcAft>
                <a:spcPts val="0"/>
              </a:spcAft>
              <a:buClr>
                <a:srgbClr val="000000"/>
              </a:buClr>
              <a:buSzPts val="1800"/>
              <a:buFont typeface="Calibri"/>
              <a:buAutoNum type="arabicPeriod"/>
            </a:pPr>
            <a:r>
              <a:rPr i="0" lang="en-US" sz="2300" u="none" strike="noStrike">
                <a:solidFill>
                  <a:srgbClr val="000000"/>
                </a:solidFill>
              </a:rPr>
              <a:t>Grid vs. cluster vs. cloud computing </a:t>
            </a:r>
            <a:r>
              <a:rPr b="1" i="0" lang="en-US" sz="1800" u="none" strike="noStrike">
                <a:solidFill>
                  <a:srgbClr val="000000"/>
                </a:solidFill>
              </a:rPr>
              <a:t>	</a:t>
            </a:r>
            <a:endParaRPr/>
          </a:p>
          <a:p>
            <a:pPr indent="0" lvl="0" marL="0" rtl="0" algn="l">
              <a:lnSpc>
                <a:spcPct val="90000"/>
              </a:lnSpc>
              <a:spcBef>
                <a:spcPts val="750"/>
              </a:spcBef>
              <a:spcAft>
                <a:spcPts val="0"/>
              </a:spcAft>
              <a:buClr>
                <a:schemeClr val="dk1"/>
              </a:buClr>
              <a:buSzPts val="2400"/>
              <a:buNone/>
            </a:pPr>
            <a:r>
              <a:t/>
            </a:r>
            <a:endParaRPr b="1" sz="2400">
              <a:latin typeface="Calibri"/>
              <a:ea typeface="Calibri"/>
              <a:cs typeface="Calibri"/>
              <a:sym typeface="Calibri"/>
            </a:endParaRPr>
          </a:p>
        </p:txBody>
      </p:sp>
      <p:sp>
        <p:nvSpPr>
          <p:cNvPr id="161" name="Google Shape;161;p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62" name="Google Shape;162;p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3" name="Google Shape;163;p7"/>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64" name="Google Shape;164;p7"/>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8"/>
          <p:cNvSpPr txBox="1"/>
          <p:nvPr>
            <p:ph type="title"/>
          </p:nvPr>
        </p:nvSpPr>
        <p:spPr>
          <a:xfrm>
            <a:off x="2744425" y="70021"/>
            <a:ext cx="4478700" cy="7188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3200">
                <a:latin typeface="Calibri"/>
                <a:ea typeface="Calibri"/>
                <a:cs typeface="Calibri"/>
                <a:sym typeface="Calibri"/>
              </a:rPr>
              <a:t>Importance of the topic</a:t>
            </a:r>
            <a:endParaRPr sz="3200">
              <a:latin typeface="Calibri"/>
              <a:ea typeface="Calibri"/>
              <a:cs typeface="Calibri"/>
              <a:sym typeface="Calibri"/>
            </a:endParaRPr>
          </a:p>
        </p:txBody>
      </p:sp>
      <p:sp>
        <p:nvSpPr>
          <p:cNvPr id="170" name="Google Shape;170;p8"/>
          <p:cNvSpPr txBox="1"/>
          <p:nvPr>
            <p:ph idx="1" type="body"/>
          </p:nvPr>
        </p:nvSpPr>
        <p:spPr>
          <a:xfrm>
            <a:off x="457200" y="1046747"/>
            <a:ext cx="8229600" cy="3723425"/>
          </a:xfrm>
          <a:prstGeom prst="rect">
            <a:avLst/>
          </a:prstGeom>
          <a:noFill/>
          <a:ln>
            <a:noFill/>
          </a:ln>
        </p:spPr>
        <p:txBody>
          <a:bodyPr anchorCtr="0" anchor="t" bIns="45700" lIns="91425" spcFirstLastPara="1" rIns="91425" wrap="square" tIns="45700">
            <a:normAutofit/>
          </a:bodyPr>
          <a:lstStyle/>
          <a:p>
            <a:pPr indent="-171450" lvl="0" marL="171450" rtl="0" algn="just">
              <a:lnSpc>
                <a:spcPct val="90000"/>
              </a:lnSpc>
              <a:spcBef>
                <a:spcPts val="0"/>
              </a:spcBef>
              <a:spcAft>
                <a:spcPts val="0"/>
              </a:spcAft>
              <a:buClr>
                <a:schemeClr val="dk1"/>
              </a:buClr>
              <a:buSzPts val="2000"/>
              <a:buChar char="•"/>
            </a:pPr>
            <a:r>
              <a:rPr b="1" lang="en-US" sz="2000"/>
              <a:t>Scalability and Flexibility</a:t>
            </a:r>
            <a:r>
              <a:rPr lang="en-US" sz="2000"/>
              <a:t>: Cloud computing provides on-demand access to a vast range of resources, enabling businesses to scale up or down based on their needs.</a:t>
            </a:r>
            <a:endParaRPr/>
          </a:p>
          <a:p>
            <a:pPr indent="-171450" lvl="0" marL="171450" rtl="0" algn="just">
              <a:lnSpc>
                <a:spcPct val="90000"/>
              </a:lnSpc>
              <a:spcBef>
                <a:spcPts val="750"/>
              </a:spcBef>
              <a:spcAft>
                <a:spcPts val="0"/>
              </a:spcAft>
              <a:buClr>
                <a:schemeClr val="dk1"/>
              </a:buClr>
              <a:buSzPts val="2000"/>
              <a:buChar char="•"/>
            </a:pPr>
            <a:r>
              <a:rPr b="1" lang="en-US" sz="2000"/>
              <a:t>Cost Efficiency</a:t>
            </a:r>
            <a:r>
              <a:rPr lang="en-US" sz="2000"/>
              <a:t>: By using cloud services, businesses can significantly reduce costs associated with maintaining and upgrading physical hardware.</a:t>
            </a:r>
            <a:endParaRPr/>
          </a:p>
          <a:p>
            <a:pPr indent="-171450" lvl="0" marL="171450" rtl="0" algn="just">
              <a:lnSpc>
                <a:spcPct val="90000"/>
              </a:lnSpc>
              <a:spcBef>
                <a:spcPts val="750"/>
              </a:spcBef>
              <a:spcAft>
                <a:spcPts val="0"/>
              </a:spcAft>
              <a:buClr>
                <a:schemeClr val="dk1"/>
              </a:buClr>
              <a:buSzPts val="2000"/>
              <a:buChar char="•"/>
            </a:pPr>
            <a:r>
              <a:rPr b="1" lang="en-US" sz="2000"/>
              <a:t>Accessibility and Collaboration</a:t>
            </a:r>
            <a:r>
              <a:rPr lang="en-US" sz="2000"/>
              <a:t>: Cloud computing allows users to access data and applications from any device with an internet connection, facilitating remote work and global collaboration. This enhances productivity, supports flexible work environments, and enables real-time collaboration across teams and locations.</a:t>
            </a:r>
            <a:endParaRPr sz="2000"/>
          </a:p>
        </p:txBody>
      </p:sp>
      <p:sp>
        <p:nvSpPr>
          <p:cNvPr id="171" name="Google Shape;171;p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72" name="Google Shape;172;p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3" name="Google Shape;173;p8"/>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74" name="Google Shape;174;p8"/>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9"/>
          <p:cNvSpPr txBox="1"/>
          <p:nvPr>
            <p:ph type="title"/>
          </p:nvPr>
        </p:nvSpPr>
        <p:spPr>
          <a:xfrm>
            <a:off x="2744426" y="70036"/>
            <a:ext cx="4478695" cy="59477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Detail Topics</a:t>
            </a:r>
            <a:endParaRPr sz="2400">
              <a:latin typeface="Calibri"/>
              <a:ea typeface="Calibri"/>
              <a:cs typeface="Calibri"/>
              <a:sym typeface="Calibri"/>
            </a:endParaRPr>
          </a:p>
        </p:txBody>
      </p:sp>
      <p:sp>
        <p:nvSpPr>
          <p:cNvPr id="180" name="Google Shape;180;p9"/>
          <p:cNvSpPr txBox="1"/>
          <p:nvPr>
            <p:ph idx="1" type="body"/>
          </p:nvPr>
        </p:nvSpPr>
        <p:spPr>
          <a:xfrm>
            <a:off x="342175" y="1024650"/>
            <a:ext cx="8368800" cy="3608100"/>
          </a:xfrm>
          <a:prstGeom prst="rect">
            <a:avLst/>
          </a:prstGeom>
          <a:noFill/>
          <a:ln>
            <a:noFill/>
          </a:ln>
        </p:spPr>
        <p:txBody>
          <a:bodyPr anchorCtr="0" anchor="t" bIns="45700" lIns="91425" spcFirstLastPara="1" rIns="91425" wrap="square" tIns="45700">
            <a:normAutofit fontScale="77500" lnSpcReduction="20000"/>
          </a:bodyPr>
          <a:lstStyle/>
          <a:p>
            <a:pPr indent="0" lvl="0" marL="12065" rtl="0" algn="l">
              <a:lnSpc>
                <a:spcPct val="100000"/>
              </a:lnSpc>
              <a:spcBef>
                <a:spcPts val="0"/>
              </a:spcBef>
              <a:spcAft>
                <a:spcPts val="0"/>
              </a:spcAft>
              <a:buClr>
                <a:schemeClr val="dk1"/>
              </a:buClr>
              <a:buSzPct val="95594"/>
              <a:buNone/>
            </a:pPr>
            <a:r>
              <a:rPr lang="en-US" sz="2929"/>
              <a:t>The ACM </a:t>
            </a:r>
            <a:r>
              <a:rPr i="1" lang="en-US" sz="2929"/>
              <a:t>Computing Curricula 2005 </a:t>
            </a:r>
            <a:r>
              <a:rPr lang="en-US" sz="2929"/>
              <a:t>defined "computing" as</a:t>
            </a:r>
            <a:endParaRPr sz="3329"/>
          </a:p>
          <a:p>
            <a:pPr indent="-59054" lvl="0" marL="12700" marR="5080" rtl="0" algn="just">
              <a:lnSpc>
                <a:spcPct val="100000"/>
              </a:lnSpc>
              <a:spcBef>
                <a:spcPts val="750"/>
              </a:spcBef>
              <a:spcAft>
                <a:spcPts val="0"/>
              </a:spcAft>
              <a:buClr>
                <a:schemeClr val="dk1"/>
              </a:buClr>
              <a:buSzPct val="100000"/>
              <a:buFont typeface="Calibri"/>
              <a:buChar char="•"/>
            </a:pPr>
            <a:r>
              <a:rPr lang="en-US" sz="2929"/>
              <a:t>"In a general way, we can define computing to mean any goal-oriented  activity requiring, benefiting from, or creating computers. Thus,  computing includes designing and building hardware and software  systems for a wide range of purposes; processing, structuring, and  managing various kinds of information; doing scientific studies using  computers; making computer systems behave intelligently; creating  and using communications and entertainment media; finding and  gathering information relevant to any particular purpose, and so on.  The list is virtually endless, and the possibilities are vast."</a:t>
            </a:r>
            <a:endParaRPr sz="2929"/>
          </a:p>
          <a:p>
            <a:pPr indent="-108585" lvl="0" marL="171450" rtl="0" algn="l">
              <a:lnSpc>
                <a:spcPct val="90000"/>
              </a:lnSpc>
              <a:spcBef>
                <a:spcPts val="750"/>
              </a:spcBef>
              <a:spcAft>
                <a:spcPts val="0"/>
              </a:spcAft>
              <a:buClr>
                <a:schemeClr val="dk1"/>
              </a:buClr>
              <a:buSzPct val="100000"/>
              <a:buNone/>
            </a:pPr>
            <a:r>
              <a:t/>
            </a:r>
            <a:endParaRPr sz="1800"/>
          </a:p>
        </p:txBody>
      </p:sp>
      <p:sp>
        <p:nvSpPr>
          <p:cNvPr id="181" name="Google Shape;181;p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82" name="Google Shape;182;p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3" name="Google Shape;183;p9"/>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84" name="Google Shape;184;p9"/>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0"/>
          <p:cNvSpPr txBox="1"/>
          <p:nvPr>
            <p:ph type="title"/>
          </p:nvPr>
        </p:nvSpPr>
        <p:spPr>
          <a:xfrm>
            <a:off x="2807700" y="166125"/>
            <a:ext cx="4224900" cy="504600"/>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rgbClr val="000000"/>
              </a:buClr>
              <a:buSzPts val="2400"/>
              <a:buFont typeface="Calibri"/>
              <a:buNone/>
            </a:pPr>
            <a:r>
              <a:rPr b="1" lang="en-US" sz="3200">
                <a:solidFill>
                  <a:srgbClr val="000000"/>
                </a:solidFill>
              </a:rPr>
              <a:t>Cloud Computing?</a:t>
            </a:r>
            <a:endParaRPr b="1" sz="3200"/>
          </a:p>
        </p:txBody>
      </p:sp>
      <p:sp>
        <p:nvSpPr>
          <p:cNvPr id="190" name="Google Shape;190;p10"/>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37777"/>
              </a:lnSpc>
              <a:spcBef>
                <a:spcPts val="0"/>
              </a:spcBef>
              <a:spcAft>
                <a:spcPts val="0"/>
              </a:spcAft>
              <a:buNone/>
            </a:pPr>
            <a:r>
              <a:rPr lang="en-US"/>
              <a:t>7</a:t>
            </a:r>
            <a:endParaRPr/>
          </a:p>
        </p:txBody>
      </p:sp>
      <p:sp>
        <p:nvSpPr>
          <p:cNvPr id="191" name="Google Shape;191;p10"/>
          <p:cNvSpPr txBox="1"/>
          <p:nvPr/>
        </p:nvSpPr>
        <p:spPr>
          <a:xfrm>
            <a:off x="383540" y="943813"/>
            <a:ext cx="8343300" cy="3738300"/>
          </a:xfrm>
          <a:prstGeom prst="rect">
            <a:avLst/>
          </a:prstGeom>
          <a:noFill/>
          <a:ln>
            <a:noFill/>
          </a:ln>
        </p:spPr>
        <p:txBody>
          <a:bodyPr anchorCtr="0" anchor="t" bIns="0" lIns="0" spcFirstLastPara="1" rIns="0" wrap="square" tIns="13325">
            <a:spAutoFit/>
          </a:bodyPr>
          <a:lstStyle/>
          <a:p>
            <a:pPr indent="-311150" lvl="0" marL="285750" marR="0" rtl="0" algn="just">
              <a:lnSpc>
                <a:spcPct val="100000"/>
              </a:lnSpc>
              <a:spcBef>
                <a:spcPts val="0"/>
              </a:spcBef>
              <a:spcAft>
                <a:spcPts val="0"/>
              </a:spcAft>
              <a:buClr>
                <a:schemeClr val="dk1"/>
              </a:buClr>
              <a:buSzPts val="2200"/>
              <a:buFont typeface="Arial"/>
              <a:buChar char="•"/>
            </a:pPr>
            <a:r>
              <a:rPr b="0" i="0" lang="en-US" sz="2200" u="none" strike="noStrike">
                <a:solidFill>
                  <a:schemeClr val="dk1"/>
                </a:solidFill>
                <a:latin typeface="Calibri"/>
                <a:ea typeface="Calibri"/>
                <a:cs typeface="Calibri"/>
                <a:sym typeface="Calibri"/>
              </a:rPr>
              <a:t>Small as well as large IT companies, follow the traditional methods to provide the IT infrastructure. That means for any IT company, we need a Server Room that is the basic need of IT companies.</a:t>
            </a:r>
            <a:endParaRPr sz="1800"/>
          </a:p>
          <a:p>
            <a:pPr indent="-311150" lvl="0" marL="285750" marR="0" rtl="0" algn="just">
              <a:lnSpc>
                <a:spcPct val="100000"/>
              </a:lnSpc>
              <a:spcBef>
                <a:spcPts val="0"/>
              </a:spcBef>
              <a:spcAft>
                <a:spcPts val="0"/>
              </a:spcAft>
              <a:buClr>
                <a:schemeClr val="dk1"/>
              </a:buClr>
              <a:buSzPts val="2200"/>
              <a:buFont typeface="Arial"/>
              <a:buChar char="•"/>
            </a:pPr>
            <a:r>
              <a:rPr b="0" i="0" lang="en-US" sz="2200" u="none" strike="noStrike">
                <a:solidFill>
                  <a:schemeClr val="dk1"/>
                </a:solidFill>
                <a:latin typeface="Calibri"/>
                <a:ea typeface="Calibri"/>
                <a:cs typeface="Calibri"/>
                <a:sym typeface="Calibri"/>
              </a:rPr>
              <a:t>In that server room, there should be a database server, mail server, networking, firewalls, routers, modem, switches, QPS (Query Per Second means how much queries or load will be handled by the server), configurable system, high net speed, and the maintenance engineers.</a:t>
            </a:r>
            <a:endParaRPr sz="1800"/>
          </a:p>
          <a:p>
            <a:pPr indent="-311150" lvl="0" marL="285750" marR="0" rtl="0" algn="just">
              <a:lnSpc>
                <a:spcPct val="100000"/>
              </a:lnSpc>
              <a:spcBef>
                <a:spcPts val="0"/>
              </a:spcBef>
              <a:spcAft>
                <a:spcPts val="0"/>
              </a:spcAft>
              <a:buClr>
                <a:schemeClr val="dk1"/>
              </a:buClr>
              <a:buSzPts val="2200"/>
              <a:buFont typeface="Arial"/>
              <a:buChar char="•"/>
            </a:pPr>
            <a:r>
              <a:rPr b="0" i="0" lang="en-US" sz="2200" u="none" strike="noStrike">
                <a:solidFill>
                  <a:schemeClr val="dk1"/>
                </a:solidFill>
                <a:latin typeface="Calibri"/>
                <a:ea typeface="Calibri"/>
                <a:cs typeface="Calibri"/>
                <a:sym typeface="Calibri"/>
              </a:rPr>
              <a:t>To establish such IT infrastructure, we need to spend lots of money. To overcome all these problems and to reduce the IT infrastructure cost, Cloud Computing comes into existence.</a:t>
            </a:r>
            <a:endParaRPr sz="2300">
              <a:solidFill>
                <a:schemeClr val="dk1"/>
              </a:solidFill>
              <a:latin typeface="Calibri"/>
              <a:ea typeface="Calibri"/>
              <a:cs typeface="Calibri"/>
              <a:sym typeface="Calibri"/>
            </a:endParaRPr>
          </a:p>
        </p:txBody>
      </p:sp>
      <p:sp>
        <p:nvSpPr>
          <p:cNvPr id="192" name="Google Shape;192;p1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1"/>
          <p:cNvSpPr txBox="1"/>
          <p:nvPr>
            <p:ph type="title"/>
          </p:nvPr>
        </p:nvSpPr>
        <p:spPr>
          <a:xfrm>
            <a:off x="2133599" y="357831"/>
            <a:ext cx="5485511" cy="381515"/>
          </a:xfrm>
          <a:prstGeom prst="rect">
            <a:avLst/>
          </a:prstGeom>
          <a:noFill/>
          <a:ln>
            <a:noFill/>
          </a:ln>
        </p:spPr>
        <p:txBody>
          <a:bodyPr anchorCtr="0" anchor="ctr" bIns="0" lIns="0" spcFirstLastPara="1" rIns="0" wrap="square" tIns="12050">
            <a:spAutoFit/>
          </a:bodyPr>
          <a:lstStyle/>
          <a:p>
            <a:pPr indent="0" lvl="0" marL="169545" rtl="0" algn="ctr">
              <a:lnSpc>
                <a:spcPct val="100000"/>
              </a:lnSpc>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Grid Vs Cloud</a:t>
            </a:r>
            <a:endParaRPr/>
          </a:p>
        </p:txBody>
      </p:sp>
      <p:sp>
        <p:nvSpPr>
          <p:cNvPr id="198" name="Google Shape;198;p11"/>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03333"/>
              </a:lnSpc>
              <a:spcBef>
                <a:spcPts val="0"/>
              </a:spcBef>
              <a:spcAft>
                <a:spcPts val="0"/>
              </a:spcAft>
              <a:buNone/>
            </a:pPr>
            <a:r>
              <a:rPr lang="en-US"/>
              <a:t>8</a:t>
            </a:r>
            <a:endParaRPr/>
          </a:p>
        </p:txBody>
      </p:sp>
      <p:sp>
        <p:nvSpPr>
          <p:cNvPr id="199" name="Google Shape;199;p11"/>
          <p:cNvSpPr txBox="1"/>
          <p:nvPr/>
        </p:nvSpPr>
        <p:spPr>
          <a:xfrm>
            <a:off x="307350" y="978251"/>
            <a:ext cx="8455800" cy="2943900"/>
          </a:xfrm>
          <a:prstGeom prst="rect">
            <a:avLst/>
          </a:prstGeom>
          <a:noFill/>
          <a:ln>
            <a:noFill/>
          </a:ln>
        </p:spPr>
        <p:txBody>
          <a:bodyPr anchorCtr="0" anchor="t" bIns="0" lIns="0" spcFirstLastPara="1" rIns="0" wrap="square" tIns="153650">
            <a:spAutoFit/>
          </a:bodyPr>
          <a:lstStyle/>
          <a:p>
            <a:pPr indent="-361949" lvl="0" marL="512444" marR="0" rtl="0" algn="just">
              <a:lnSpc>
                <a:spcPct val="100000"/>
              </a:lnSpc>
              <a:spcBef>
                <a:spcPts val="0"/>
              </a:spcBef>
              <a:spcAft>
                <a:spcPts val="0"/>
              </a:spcAft>
              <a:buClr>
                <a:schemeClr val="dk1"/>
              </a:buClr>
              <a:buSzPts val="2300"/>
              <a:buFont typeface="Arial"/>
              <a:buChar char="•"/>
            </a:pPr>
            <a:r>
              <a:rPr b="1" lang="en-US" sz="2300">
                <a:solidFill>
                  <a:schemeClr val="dk1"/>
                </a:solidFill>
                <a:latin typeface="Calibri"/>
                <a:ea typeface="Calibri"/>
                <a:cs typeface="Calibri"/>
                <a:sym typeface="Calibri"/>
              </a:rPr>
              <a:t>Resource distribution: </a:t>
            </a:r>
            <a:r>
              <a:rPr lang="en-US" sz="2300">
                <a:solidFill>
                  <a:schemeClr val="dk1"/>
                </a:solidFill>
                <a:latin typeface="Calibri"/>
                <a:ea typeface="Calibri"/>
                <a:cs typeface="Calibri"/>
                <a:sym typeface="Calibri"/>
              </a:rPr>
              <a:t>Grid is a decentralized cloud computing is a centralized.</a:t>
            </a:r>
            <a:endParaRPr sz="2300"/>
          </a:p>
          <a:p>
            <a:pPr indent="-361949" lvl="0" marL="512444" marR="0" rtl="0" algn="just">
              <a:lnSpc>
                <a:spcPct val="100000"/>
              </a:lnSpc>
              <a:spcBef>
                <a:spcPts val="1210"/>
              </a:spcBef>
              <a:spcAft>
                <a:spcPts val="0"/>
              </a:spcAft>
              <a:buClr>
                <a:schemeClr val="dk1"/>
              </a:buClr>
              <a:buSzPts val="2300"/>
              <a:buFont typeface="Arial"/>
              <a:buChar char="•"/>
            </a:pPr>
            <a:r>
              <a:rPr b="1" lang="en-US" sz="2300">
                <a:solidFill>
                  <a:schemeClr val="dk1"/>
                </a:solidFill>
                <a:latin typeface="Calibri"/>
                <a:ea typeface="Calibri"/>
                <a:cs typeface="Calibri"/>
                <a:sym typeface="Calibri"/>
              </a:rPr>
              <a:t>Administration :</a:t>
            </a:r>
            <a:r>
              <a:rPr lang="en-US" sz="2300">
                <a:solidFill>
                  <a:schemeClr val="dk1"/>
                </a:solidFill>
                <a:latin typeface="Calibri"/>
                <a:ea typeface="Calibri"/>
                <a:cs typeface="Calibri"/>
                <a:sym typeface="Calibri"/>
              </a:rPr>
              <a:t> Grid have many administrative domains. Cloud computing has a single administrative domain.</a:t>
            </a:r>
            <a:endParaRPr sz="2300"/>
          </a:p>
          <a:p>
            <a:pPr indent="-361949" lvl="0" marL="512444" marR="0" rtl="0" algn="just">
              <a:lnSpc>
                <a:spcPct val="100000"/>
              </a:lnSpc>
              <a:spcBef>
                <a:spcPts val="1210"/>
              </a:spcBef>
              <a:spcAft>
                <a:spcPts val="0"/>
              </a:spcAft>
              <a:buClr>
                <a:schemeClr val="dk1"/>
              </a:buClr>
              <a:buSzPts val="2300"/>
              <a:buFont typeface="Arial"/>
              <a:buChar char="•"/>
            </a:pPr>
            <a:r>
              <a:rPr b="1" lang="en-US" sz="2300">
                <a:solidFill>
                  <a:schemeClr val="dk1"/>
                </a:solidFill>
                <a:latin typeface="Calibri"/>
                <a:ea typeface="Calibri"/>
                <a:cs typeface="Calibri"/>
                <a:sym typeface="Calibri"/>
              </a:rPr>
              <a:t>Ownership: </a:t>
            </a:r>
            <a:r>
              <a:rPr lang="en-US" sz="2300">
                <a:solidFill>
                  <a:schemeClr val="dk1"/>
                </a:solidFill>
                <a:latin typeface="Calibri"/>
                <a:ea typeface="Calibri"/>
                <a:cs typeface="Calibri"/>
                <a:sym typeface="Calibri"/>
              </a:rPr>
              <a:t>Grid is owned by multiple parties in multiple locations. Cloud computing is a collection of computers usually owned by a single party.</a:t>
            </a:r>
            <a:endParaRPr sz="2300">
              <a:solidFill>
                <a:schemeClr val="dk1"/>
              </a:solidFill>
              <a:latin typeface="Calibri"/>
              <a:ea typeface="Calibri"/>
              <a:cs typeface="Calibri"/>
              <a:sym typeface="Calibri"/>
            </a:endParaRPr>
          </a:p>
        </p:txBody>
      </p:sp>
      <p:sp>
        <p:nvSpPr>
          <p:cNvPr id="200" name="Google Shape;200;p11"/>
          <p:cNvSpPr txBox="1"/>
          <p:nvPr>
            <p:ph idx="11" type="ftr"/>
          </p:nvPr>
        </p:nvSpPr>
        <p:spPr>
          <a:xfrm>
            <a:off x="3028950" y="4767263"/>
            <a:ext cx="3086100" cy="273844"/>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a:t>Department of Computer Application</a:t>
            </a:r>
            <a:endParaRPr/>
          </a:p>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2"/>
          <p:cNvSpPr txBox="1"/>
          <p:nvPr>
            <p:ph type="title"/>
          </p:nvPr>
        </p:nvSpPr>
        <p:spPr>
          <a:xfrm>
            <a:off x="2888750" y="142900"/>
            <a:ext cx="4159200" cy="443100"/>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rgbClr val="000000"/>
              </a:buClr>
              <a:buSzPts val="2400"/>
              <a:buFont typeface="Calibri"/>
              <a:buNone/>
            </a:pPr>
            <a:r>
              <a:rPr b="1" lang="en-US" sz="2800">
                <a:solidFill>
                  <a:srgbClr val="000000"/>
                </a:solidFill>
                <a:latin typeface="Calibri"/>
                <a:ea typeface="Calibri"/>
                <a:cs typeface="Calibri"/>
                <a:sym typeface="Calibri"/>
              </a:rPr>
              <a:t>Cluster vs Grid Computing</a:t>
            </a:r>
            <a:endParaRPr b="1" sz="2800">
              <a:latin typeface="Calibri"/>
              <a:ea typeface="Calibri"/>
              <a:cs typeface="Calibri"/>
              <a:sym typeface="Calibri"/>
            </a:endParaRPr>
          </a:p>
        </p:txBody>
      </p:sp>
      <p:sp>
        <p:nvSpPr>
          <p:cNvPr id="206" name="Google Shape;206;p12"/>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37777"/>
              </a:lnSpc>
              <a:spcBef>
                <a:spcPts val="0"/>
              </a:spcBef>
              <a:spcAft>
                <a:spcPts val="0"/>
              </a:spcAft>
              <a:buNone/>
            </a:pPr>
            <a:r>
              <a:rPr lang="en-US"/>
              <a:t>9</a:t>
            </a:r>
            <a:endParaRPr/>
          </a:p>
        </p:txBody>
      </p:sp>
      <p:sp>
        <p:nvSpPr>
          <p:cNvPr id="207" name="Google Shape;207;p12"/>
          <p:cNvSpPr txBox="1"/>
          <p:nvPr/>
        </p:nvSpPr>
        <p:spPr>
          <a:xfrm>
            <a:off x="419500" y="998275"/>
            <a:ext cx="8376600" cy="3258600"/>
          </a:xfrm>
          <a:prstGeom prst="rect">
            <a:avLst/>
          </a:prstGeom>
          <a:noFill/>
          <a:ln>
            <a:noFill/>
          </a:ln>
        </p:spPr>
        <p:txBody>
          <a:bodyPr anchorCtr="0" anchor="t" bIns="0" lIns="0" spcFirstLastPara="1" rIns="0" wrap="square" tIns="71750">
            <a:spAutoFit/>
          </a:bodyPr>
          <a:lstStyle/>
          <a:p>
            <a:pPr indent="0" lvl="0" marL="0" marR="0" rtl="0" algn="just">
              <a:lnSpc>
                <a:spcPct val="100000"/>
              </a:lnSpc>
              <a:spcBef>
                <a:spcPts val="0"/>
              </a:spcBef>
              <a:spcAft>
                <a:spcPts val="0"/>
              </a:spcAft>
              <a:buNone/>
            </a:pPr>
            <a:r>
              <a:rPr b="1" i="0" lang="en-US" sz="2300" u="none" strike="noStrike">
                <a:solidFill>
                  <a:schemeClr val="dk1"/>
                </a:solidFill>
                <a:latin typeface="Calibri"/>
                <a:ea typeface="Calibri"/>
                <a:cs typeface="Calibri"/>
                <a:sym typeface="Calibri"/>
              </a:rPr>
              <a:t>Cluster Computing</a:t>
            </a:r>
            <a:r>
              <a:rPr lang="en-US" sz="1900">
                <a:latin typeface="Calibri"/>
                <a:ea typeface="Calibri"/>
                <a:cs typeface="Calibri"/>
                <a:sym typeface="Calibri"/>
              </a:rPr>
              <a:t>: </a:t>
            </a:r>
            <a:r>
              <a:rPr i="0" lang="en-US" sz="2300" u="none" strike="noStrike">
                <a:solidFill>
                  <a:schemeClr val="dk1"/>
                </a:solidFill>
                <a:latin typeface="Calibri"/>
                <a:ea typeface="Calibri"/>
                <a:cs typeface="Calibri"/>
                <a:sym typeface="Calibri"/>
              </a:rPr>
              <a:t>A cluster computer refers to a network of same type of computers whose target is to work as a same unit. Such a network is used when a resource hungry task requires high computing power or memory. Two or more same types of computers are clubbed together to make a cluster and perform the task.</a:t>
            </a:r>
            <a:endParaRPr sz="1900">
              <a:latin typeface="Calibri"/>
              <a:ea typeface="Calibri"/>
              <a:cs typeface="Calibri"/>
              <a:sym typeface="Calibri"/>
            </a:endParaRPr>
          </a:p>
          <a:p>
            <a:pPr indent="0" lvl="0" marL="0" marR="0" rtl="0" algn="just">
              <a:lnSpc>
                <a:spcPct val="100000"/>
              </a:lnSpc>
              <a:spcBef>
                <a:spcPts val="0"/>
              </a:spcBef>
              <a:spcAft>
                <a:spcPts val="0"/>
              </a:spcAft>
              <a:buNone/>
            </a:pPr>
            <a:r>
              <a:rPr b="1" i="0" lang="en-US" sz="2300" u="none" strike="noStrike">
                <a:solidFill>
                  <a:schemeClr val="dk1"/>
                </a:solidFill>
                <a:latin typeface="Calibri"/>
                <a:ea typeface="Calibri"/>
                <a:cs typeface="Calibri"/>
                <a:sym typeface="Calibri"/>
              </a:rPr>
              <a:t>Grid Computing</a:t>
            </a:r>
            <a:r>
              <a:rPr lang="en-US" sz="1900">
                <a:latin typeface="Calibri"/>
                <a:ea typeface="Calibri"/>
                <a:cs typeface="Calibri"/>
                <a:sym typeface="Calibri"/>
              </a:rPr>
              <a:t>: </a:t>
            </a:r>
            <a:r>
              <a:rPr i="0" lang="en-US" sz="2300" u="none" strike="noStrike">
                <a:solidFill>
                  <a:schemeClr val="dk1"/>
                </a:solidFill>
                <a:latin typeface="Calibri"/>
                <a:ea typeface="Calibri"/>
                <a:cs typeface="Calibri"/>
                <a:sym typeface="Calibri"/>
              </a:rPr>
              <a:t>Grid computing refers to a network of same or different types of computers whose target is to provide a environment where a task can be performed by multiple computers together on need basis. Each computer can work independently as well.</a:t>
            </a:r>
            <a:endParaRPr sz="2500">
              <a:solidFill>
                <a:schemeClr val="dk1"/>
              </a:solidFill>
              <a:latin typeface="Calibri"/>
              <a:ea typeface="Calibri"/>
              <a:cs typeface="Calibri"/>
              <a:sym typeface="Calibri"/>
            </a:endParaRPr>
          </a:p>
        </p:txBody>
      </p:sp>
      <p:sp>
        <p:nvSpPr>
          <p:cNvPr id="208" name="Google Shape;208;p1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3"/>
          <p:cNvSpPr txBox="1"/>
          <p:nvPr>
            <p:ph type="title"/>
          </p:nvPr>
        </p:nvSpPr>
        <p:spPr>
          <a:xfrm>
            <a:off x="2209799" y="361241"/>
            <a:ext cx="5271643" cy="382797"/>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000000"/>
              </a:buClr>
              <a:buSzPts val="2400"/>
              <a:buFont typeface="Calibri"/>
              <a:buNone/>
            </a:pPr>
            <a:r>
              <a:rPr b="1" lang="en-US" sz="2400">
                <a:solidFill>
                  <a:srgbClr val="000000"/>
                </a:solidFill>
                <a:latin typeface="Calibri"/>
                <a:ea typeface="Calibri"/>
                <a:cs typeface="Calibri"/>
                <a:sym typeface="Calibri"/>
              </a:rPr>
              <a:t>Cluster vs Grid Computing</a:t>
            </a:r>
            <a:endParaRPr b="1" sz="2400">
              <a:latin typeface="Calibri"/>
              <a:ea typeface="Calibri"/>
              <a:cs typeface="Calibri"/>
              <a:sym typeface="Calibri"/>
            </a:endParaRPr>
          </a:p>
        </p:txBody>
      </p:sp>
      <p:sp>
        <p:nvSpPr>
          <p:cNvPr id="214" name="Google Shape;214;p13"/>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37777"/>
              </a:lnSpc>
              <a:spcBef>
                <a:spcPts val="0"/>
              </a:spcBef>
              <a:spcAft>
                <a:spcPts val="0"/>
              </a:spcAft>
              <a:buNone/>
            </a:pPr>
            <a:r>
              <a:rPr lang="en-US"/>
              <a:t>10</a:t>
            </a:r>
            <a:endParaRPr/>
          </a:p>
        </p:txBody>
      </p:sp>
      <p:sp>
        <p:nvSpPr>
          <p:cNvPr id="215" name="Google Shape;215;p1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pic>
        <p:nvPicPr>
          <p:cNvPr id="216" name="Google Shape;216;p13"/>
          <p:cNvPicPr preferRelativeResize="0"/>
          <p:nvPr/>
        </p:nvPicPr>
        <p:blipFill rotWithShape="1">
          <a:blip r:embed="rId3">
            <a:alphaModFix/>
          </a:blip>
          <a:srcRect b="0" l="0" r="0" t="0"/>
          <a:stretch/>
        </p:blipFill>
        <p:spPr>
          <a:xfrm>
            <a:off x="752100" y="895350"/>
            <a:ext cx="7763249" cy="39623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4"/>
          <p:cNvSpPr txBox="1"/>
          <p:nvPr>
            <p:ph type="title"/>
          </p:nvPr>
        </p:nvSpPr>
        <p:spPr>
          <a:xfrm>
            <a:off x="2362200" y="361241"/>
            <a:ext cx="5318251" cy="382797"/>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000000"/>
              </a:buClr>
              <a:buSzPts val="2400"/>
              <a:buFont typeface="Calibri"/>
              <a:buNone/>
            </a:pPr>
            <a:r>
              <a:rPr b="1" lang="en-US" sz="2400">
                <a:solidFill>
                  <a:srgbClr val="000000"/>
                </a:solidFill>
                <a:latin typeface="Calibri"/>
                <a:ea typeface="Calibri"/>
                <a:cs typeface="Calibri"/>
                <a:sym typeface="Calibri"/>
              </a:rPr>
              <a:t>Cluster vs Grid Computing</a:t>
            </a:r>
            <a:endParaRPr b="1" sz="2400">
              <a:latin typeface="Calibri"/>
              <a:ea typeface="Calibri"/>
              <a:cs typeface="Calibri"/>
              <a:sym typeface="Calibri"/>
            </a:endParaRPr>
          </a:p>
        </p:txBody>
      </p:sp>
      <p:sp>
        <p:nvSpPr>
          <p:cNvPr id="222" name="Google Shape;222;p14"/>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37777"/>
              </a:lnSpc>
              <a:spcBef>
                <a:spcPts val="0"/>
              </a:spcBef>
              <a:spcAft>
                <a:spcPts val="0"/>
              </a:spcAft>
              <a:buNone/>
            </a:pPr>
            <a:r>
              <a:rPr lang="en-US"/>
              <a:t>11</a:t>
            </a:r>
            <a:endParaRPr/>
          </a:p>
        </p:txBody>
      </p:sp>
      <p:sp>
        <p:nvSpPr>
          <p:cNvPr id="223" name="Google Shape;223;p1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a:p>
            <a:pPr indent="0" lvl="0" marL="0" rtl="0" algn="ctr">
              <a:spcBef>
                <a:spcPts val="0"/>
              </a:spcBef>
              <a:spcAft>
                <a:spcPts val="0"/>
              </a:spcAft>
              <a:buNone/>
            </a:pPr>
            <a:r>
              <a:t/>
            </a:r>
            <a:endParaRPr/>
          </a:p>
        </p:txBody>
      </p:sp>
      <p:pic>
        <p:nvPicPr>
          <p:cNvPr id="224" name="Google Shape;224;p14"/>
          <p:cNvPicPr preferRelativeResize="0"/>
          <p:nvPr/>
        </p:nvPicPr>
        <p:blipFill rotWithShape="1">
          <a:blip r:embed="rId3">
            <a:alphaModFix/>
          </a:blip>
          <a:srcRect b="0" l="0" r="0" t="0"/>
          <a:stretch/>
        </p:blipFill>
        <p:spPr>
          <a:xfrm>
            <a:off x="659275" y="895350"/>
            <a:ext cx="7856075" cy="3810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5"/>
          <p:cNvSpPr txBox="1"/>
          <p:nvPr>
            <p:ph type="title"/>
          </p:nvPr>
        </p:nvSpPr>
        <p:spPr>
          <a:xfrm>
            <a:off x="2743200" y="438150"/>
            <a:ext cx="4876799" cy="382797"/>
          </a:xfrm>
          <a:prstGeom prst="rect">
            <a:avLst/>
          </a:prstGeom>
          <a:noFill/>
          <a:ln>
            <a:noFill/>
          </a:ln>
        </p:spPr>
        <p:txBody>
          <a:bodyPr anchorCtr="0" anchor="ctr" bIns="0" lIns="0" spcFirstLastPara="1" rIns="0" wrap="square" tIns="13325">
            <a:spAutoFit/>
          </a:bodyPr>
          <a:lstStyle/>
          <a:p>
            <a:pPr indent="0" lvl="0" marL="12700" marR="344170" rtl="0" algn="l">
              <a:lnSpc>
                <a:spcPct val="100000"/>
              </a:lnSpc>
              <a:spcBef>
                <a:spcPts val="0"/>
              </a:spcBef>
              <a:spcAft>
                <a:spcPts val="0"/>
              </a:spcAft>
              <a:buClr>
                <a:schemeClr val="dk1"/>
              </a:buClr>
              <a:buSzPts val="2400"/>
              <a:buFont typeface="Calibri"/>
              <a:buNone/>
            </a:pPr>
            <a:r>
              <a:rPr b="1" lang="en-US" sz="2400">
                <a:latin typeface="Calibri"/>
                <a:ea typeface="Calibri"/>
                <a:cs typeface="Calibri"/>
                <a:sym typeface="Calibri"/>
              </a:rPr>
              <a:t>Cluster Vs Grid &amp; Cloud computing</a:t>
            </a:r>
            <a:endParaRPr sz="2400">
              <a:latin typeface="Calibri"/>
              <a:ea typeface="Calibri"/>
              <a:cs typeface="Calibri"/>
              <a:sym typeface="Calibri"/>
            </a:endParaRPr>
          </a:p>
        </p:txBody>
      </p:sp>
      <p:sp>
        <p:nvSpPr>
          <p:cNvPr id="230" name="Google Shape;230;p15"/>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37777"/>
              </a:lnSpc>
              <a:spcBef>
                <a:spcPts val="0"/>
              </a:spcBef>
              <a:spcAft>
                <a:spcPts val="0"/>
              </a:spcAft>
              <a:buNone/>
            </a:pPr>
            <a:r>
              <a:rPr lang="en-US"/>
              <a:t>12</a:t>
            </a:r>
            <a:endParaRPr/>
          </a:p>
        </p:txBody>
      </p:sp>
      <p:sp>
        <p:nvSpPr>
          <p:cNvPr id="231" name="Google Shape;231;p15"/>
          <p:cNvSpPr txBox="1"/>
          <p:nvPr/>
        </p:nvSpPr>
        <p:spPr>
          <a:xfrm>
            <a:off x="459750" y="1107175"/>
            <a:ext cx="8305500" cy="3108600"/>
          </a:xfrm>
          <a:prstGeom prst="rect">
            <a:avLst/>
          </a:prstGeom>
          <a:noFill/>
          <a:ln>
            <a:noFill/>
          </a:ln>
        </p:spPr>
        <p:txBody>
          <a:bodyPr anchorCtr="0" anchor="t" bIns="0" lIns="0" spcFirstLastPara="1" rIns="0" wrap="square" tIns="12050">
            <a:spAutoFit/>
          </a:bodyPr>
          <a:lstStyle/>
          <a:p>
            <a:pPr indent="-355600" lvl="0" marL="355600" marR="344170" rtl="0" algn="just">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Cluster is a group of computers connected by a local area network (LAN)</a:t>
            </a:r>
            <a:endParaRPr sz="1600"/>
          </a:p>
          <a:p>
            <a:pPr indent="-355600" lvl="0" marL="355600" marR="344170" rtl="0" algn="just">
              <a:spcBef>
                <a:spcPts val="95"/>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Grid and Cloud are more wide scale and can be geographically distributed (WAN)</a:t>
            </a:r>
            <a:endParaRPr sz="1600"/>
          </a:p>
          <a:p>
            <a:pPr indent="-355600" lvl="0" marL="355600" marR="344170" rtl="0" algn="just">
              <a:spcBef>
                <a:spcPts val="95"/>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Cluster is a Tightly coupled , made up of machines with similar hardware and OS.</a:t>
            </a:r>
            <a:endParaRPr sz="1600"/>
          </a:p>
          <a:p>
            <a:pPr indent="-355600" lvl="0" marL="355600" marR="344170" rtl="0" algn="just">
              <a:spcBef>
                <a:spcPts val="95"/>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Grid and cloud are Loosely Coupled and made up of machines with different hardware configurations and OS.</a:t>
            </a:r>
            <a:endParaRPr sz="1600"/>
          </a:p>
          <a:p>
            <a:pPr indent="-355600" lvl="0" marL="355600" marR="344170" rtl="0" algn="just">
              <a:spcBef>
                <a:spcPts val="95"/>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Cluster is a Homogeneous and Grid &amp; Cloud are Heterogeneous.</a:t>
            </a:r>
            <a:endParaRPr sz="2200">
              <a:solidFill>
                <a:schemeClr val="dk1"/>
              </a:solidFill>
              <a:latin typeface="Calibri"/>
              <a:ea typeface="Calibri"/>
              <a:cs typeface="Calibri"/>
              <a:sym typeface="Calibri"/>
            </a:endParaRPr>
          </a:p>
        </p:txBody>
      </p:sp>
      <p:sp>
        <p:nvSpPr>
          <p:cNvPr id="232" name="Google Shape;232;p1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6"/>
          <p:cNvSpPr txBox="1"/>
          <p:nvPr>
            <p:ph type="title"/>
          </p:nvPr>
        </p:nvSpPr>
        <p:spPr>
          <a:xfrm>
            <a:off x="2761925" y="101075"/>
            <a:ext cx="4154700" cy="687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3200"/>
              <a:t>Summary</a:t>
            </a:r>
            <a:endParaRPr sz="3200"/>
          </a:p>
        </p:txBody>
      </p:sp>
      <p:sp>
        <p:nvSpPr>
          <p:cNvPr id="238" name="Google Shape;238;p16"/>
          <p:cNvSpPr txBox="1"/>
          <p:nvPr>
            <p:ph idx="1" type="body"/>
          </p:nvPr>
        </p:nvSpPr>
        <p:spPr>
          <a:xfrm>
            <a:off x="457200" y="1082842"/>
            <a:ext cx="8229600" cy="3404937"/>
          </a:xfrm>
          <a:prstGeom prst="rect">
            <a:avLst/>
          </a:prstGeom>
          <a:noFill/>
          <a:ln>
            <a:noFill/>
          </a:ln>
        </p:spPr>
        <p:txBody>
          <a:bodyPr anchorCtr="0" anchor="t" bIns="45700" lIns="91425" spcFirstLastPara="1" rIns="91425" wrap="square" tIns="45700">
            <a:noAutofit/>
          </a:bodyPr>
          <a:lstStyle/>
          <a:p>
            <a:pPr indent="-190500" lvl="0" marL="171450" rtl="0" algn="just">
              <a:lnSpc>
                <a:spcPct val="100000"/>
              </a:lnSpc>
              <a:spcBef>
                <a:spcPts val="0"/>
              </a:spcBef>
              <a:spcAft>
                <a:spcPts val="0"/>
              </a:spcAft>
              <a:buClr>
                <a:schemeClr val="dk1"/>
              </a:buClr>
              <a:buSzPts val="2100"/>
              <a:buChar char="•"/>
            </a:pPr>
            <a:r>
              <a:rPr b="1" lang="en-US"/>
              <a:t>Cloud Computing</a:t>
            </a:r>
            <a:r>
              <a:rPr lang="en-US"/>
              <a:t>: Primarily used for applications requiring flexible, on-demand access to computing resources (e.g., web hosting, data storage, SaaS).</a:t>
            </a:r>
            <a:endParaRPr sz="2400"/>
          </a:p>
          <a:p>
            <a:pPr indent="-190500" lvl="0" marL="171450" rtl="0" algn="just">
              <a:lnSpc>
                <a:spcPct val="100000"/>
              </a:lnSpc>
              <a:spcBef>
                <a:spcPts val="750"/>
              </a:spcBef>
              <a:spcAft>
                <a:spcPts val="0"/>
              </a:spcAft>
              <a:buClr>
                <a:schemeClr val="dk1"/>
              </a:buClr>
              <a:buSzPts val="2100"/>
              <a:buChar char="•"/>
            </a:pPr>
            <a:r>
              <a:rPr b="1" lang="en-US"/>
              <a:t>Grid Computing</a:t>
            </a:r>
            <a:r>
              <a:rPr lang="en-US"/>
              <a:t>: Often used for scientific, research, or large computational tasks where diverse resources are pooled together for solving complex problems (e.g., simulations, data analysis).</a:t>
            </a:r>
            <a:endParaRPr sz="2400"/>
          </a:p>
          <a:p>
            <a:pPr indent="-190500" lvl="0" marL="171450" rtl="0" algn="just">
              <a:lnSpc>
                <a:spcPct val="100000"/>
              </a:lnSpc>
              <a:spcBef>
                <a:spcPts val="750"/>
              </a:spcBef>
              <a:spcAft>
                <a:spcPts val="0"/>
              </a:spcAft>
              <a:buClr>
                <a:schemeClr val="dk1"/>
              </a:buClr>
              <a:buSzPts val="2100"/>
              <a:buChar char="•"/>
            </a:pPr>
            <a:r>
              <a:rPr b="1" lang="en-US"/>
              <a:t>Cluster Computing</a:t>
            </a:r>
            <a:r>
              <a:rPr lang="en-US"/>
              <a:t>: Focuses on providing high-performance computing for intensive applications like scientific simulations, rendering, and data processing in a controlled environment.</a:t>
            </a:r>
            <a:endParaRPr sz="2400"/>
          </a:p>
        </p:txBody>
      </p:sp>
      <p:sp>
        <p:nvSpPr>
          <p:cNvPr id="239" name="Google Shape;239;p1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p:txBody>
      </p:sp>
      <p:sp>
        <p:nvSpPr>
          <p:cNvPr id="240" name="Google Shape;240;p1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1" name="Google Shape;241;p16"/>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242" name="Google Shape;242;p16"/>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ph type="title"/>
          </p:nvPr>
        </p:nvSpPr>
        <p:spPr>
          <a:xfrm>
            <a:off x="2711250" y="70026"/>
            <a:ext cx="4545000" cy="7188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Font typeface="Calibri"/>
              <a:buNone/>
            </a:pPr>
            <a:r>
              <a:rPr b="1" lang="en-US" sz="3200"/>
              <a:t>References</a:t>
            </a:r>
            <a:endParaRPr sz="3200"/>
          </a:p>
        </p:txBody>
      </p:sp>
      <p:sp>
        <p:nvSpPr>
          <p:cNvPr id="248" name="Google Shape;248;p17"/>
          <p:cNvSpPr txBox="1"/>
          <p:nvPr>
            <p:ph idx="1" type="body"/>
          </p:nvPr>
        </p:nvSpPr>
        <p:spPr>
          <a:xfrm>
            <a:off x="628650" y="1024650"/>
            <a:ext cx="7886700" cy="3608100"/>
          </a:xfrm>
          <a:prstGeom prst="rect">
            <a:avLst/>
          </a:prstGeom>
          <a:noFill/>
          <a:ln>
            <a:noFill/>
          </a:ln>
        </p:spPr>
        <p:txBody>
          <a:bodyPr anchorCtr="0" anchor="t" bIns="45700" lIns="91425" spcFirstLastPara="1" rIns="91425" wrap="square" tIns="45700">
            <a:normAutofit fontScale="92500" lnSpcReduction="20000"/>
          </a:bodyPr>
          <a:lstStyle/>
          <a:p>
            <a:pPr indent="-209391" lvl="0" marL="171450" rtl="0" algn="just">
              <a:lnSpc>
                <a:spcPct val="90000"/>
              </a:lnSpc>
              <a:spcBef>
                <a:spcPts val="0"/>
              </a:spcBef>
              <a:spcAft>
                <a:spcPts val="0"/>
              </a:spcAft>
              <a:buClr>
                <a:schemeClr val="dk1"/>
              </a:buClr>
              <a:buSzPct val="100000"/>
              <a:buChar char="•"/>
            </a:pPr>
            <a:r>
              <a:rPr lang="en-US" sz="2008"/>
              <a:t>Books References</a:t>
            </a:r>
            <a:endParaRPr sz="2308"/>
          </a:p>
          <a:p>
            <a:pPr indent="0" lvl="0" marL="171450" rtl="0" algn="just">
              <a:lnSpc>
                <a:spcPct val="90000"/>
              </a:lnSpc>
              <a:spcBef>
                <a:spcPts val="750"/>
              </a:spcBef>
              <a:spcAft>
                <a:spcPts val="0"/>
              </a:spcAft>
              <a:buNone/>
            </a:pPr>
            <a:r>
              <a:rPr lang="en-US" sz="1858">
                <a:solidFill>
                  <a:srgbClr val="000000"/>
                </a:solidFill>
              </a:rPr>
              <a:t>Mastering Cloud Computing, Rajkumar Buyya, Christian Vecchiola, and ThamaraiSelvi, Tata McGraw Hill, ISBN-13: 978-1-25-902995-0, New Delhi, India,Feb 2013. </a:t>
            </a:r>
            <a:endParaRPr sz="2008"/>
          </a:p>
          <a:p>
            <a:pPr indent="-209391" lvl="0" marL="171450" rtl="0" algn="just">
              <a:lnSpc>
                <a:spcPct val="90000"/>
              </a:lnSpc>
              <a:spcBef>
                <a:spcPts val="750"/>
              </a:spcBef>
              <a:spcAft>
                <a:spcPts val="0"/>
              </a:spcAft>
              <a:buClr>
                <a:schemeClr val="dk1"/>
              </a:buClr>
              <a:buSzPct val="100000"/>
              <a:buChar char="•"/>
            </a:pPr>
            <a:r>
              <a:rPr lang="en-US" sz="2008"/>
              <a:t>E-book link</a:t>
            </a:r>
            <a:endParaRPr sz="2308"/>
          </a:p>
          <a:p>
            <a:pPr indent="0" lvl="0" marL="171450" rtl="0" algn="just">
              <a:lnSpc>
                <a:spcPct val="90000"/>
              </a:lnSpc>
              <a:spcBef>
                <a:spcPts val="750"/>
              </a:spcBef>
              <a:spcAft>
                <a:spcPts val="0"/>
              </a:spcAft>
              <a:buNone/>
            </a:pPr>
            <a:r>
              <a:rPr lang="en-US" sz="2008">
                <a:solidFill>
                  <a:schemeClr val="hlink"/>
                </a:solidFill>
                <a:uFill>
                  <a:noFill/>
                </a:uFill>
                <a:hlinkClick r:id="rId3"/>
              </a:rPr>
              <a:t>https://archive.org/details/cloudcomputingbi0000sosi</a:t>
            </a:r>
            <a:endParaRPr sz="2008"/>
          </a:p>
          <a:p>
            <a:pPr indent="-209391" lvl="0" marL="171450" rtl="0" algn="just">
              <a:lnSpc>
                <a:spcPct val="90000"/>
              </a:lnSpc>
              <a:spcBef>
                <a:spcPts val="750"/>
              </a:spcBef>
              <a:spcAft>
                <a:spcPts val="0"/>
              </a:spcAft>
              <a:buClr>
                <a:schemeClr val="dk1"/>
              </a:buClr>
              <a:buSzPct val="100000"/>
              <a:buChar char="•"/>
            </a:pPr>
            <a:r>
              <a:rPr lang="en-US" sz="2008"/>
              <a:t>YouTube link</a:t>
            </a:r>
            <a:endParaRPr sz="2308"/>
          </a:p>
          <a:p>
            <a:pPr indent="0" lvl="0" marL="171450" rtl="0" algn="just">
              <a:lnSpc>
                <a:spcPct val="90000"/>
              </a:lnSpc>
              <a:spcBef>
                <a:spcPts val="750"/>
              </a:spcBef>
              <a:spcAft>
                <a:spcPts val="0"/>
              </a:spcAft>
              <a:buNone/>
            </a:pPr>
            <a:r>
              <a:rPr lang="en-US" sz="2008">
                <a:solidFill>
                  <a:schemeClr val="hlink"/>
                </a:solidFill>
                <a:uFill>
                  <a:noFill/>
                </a:uFill>
                <a:hlinkClick r:id="rId4"/>
              </a:rPr>
              <a:t>https://www.youtube.com/@cloudcomputing351/videos</a:t>
            </a:r>
            <a:endParaRPr sz="2008"/>
          </a:p>
          <a:p>
            <a:pPr indent="0" lvl="0" marL="171450" rtl="0" algn="just">
              <a:lnSpc>
                <a:spcPct val="90000"/>
              </a:lnSpc>
              <a:spcBef>
                <a:spcPts val="750"/>
              </a:spcBef>
              <a:spcAft>
                <a:spcPts val="0"/>
              </a:spcAft>
              <a:buNone/>
            </a:pPr>
            <a:r>
              <a:rPr lang="en-US" sz="2008">
                <a:solidFill>
                  <a:schemeClr val="hlink"/>
                </a:solidFill>
                <a:uFill>
                  <a:noFill/>
                </a:uFill>
                <a:hlinkClick r:id="rId5"/>
              </a:rPr>
              <a:t>https://www.geeksforgeeks.org/cloud-computing/</a:t>
            </a:r>
            <a:endParaRPr sz="2008"/>
          </a:p>
          <a:p>
            <a:pPr indent="0" lvl="0" marL="171450" rtl="0" algn="just">
              <a:lnSpc>
                <a:spcPct val="90000"/>
              </a:lnSpc>
              <a:spcBef>
                <a:spcPts val="750"/>
              </a:spcBef>
              <a:spcAft>
                <a:spcPts val="0"/>
              </a:spcAft>
              <a:buNone/>
            </a:pPr>
            <a:r>
              <a:rPr lang="en-US" sz="2008">
                <a:solidFill>
                  <a:schemeClr val="hlink"/>
                </a:solidFill>
                <a:uFill>
                  <a:noFill/>
                </a:uFill>
                <a:hlinkClick r:id="rId6"/>
              </a:rPr>
              <a:t>https://www.tutorialspoint.com/cloud_computing/index.htm</a:t>
            </a:r>
            <a:endParaRPr sz="2008"/>
          </a:p>
          <a:p>
            <a:pPr indent="0" lvl="0" marL="171450" rtl="0" algn="just">
              <a:lnSpc>
                <a:spcPct val="90000"/>
              </a:lnSpc>
              <a:spcBef>
                <a:spcPts val="750"/>
              </a:spcBef>
              <a:spcAft>
                <a:spcPts val="0"/>
              </a:spcAft>
              <a:buNone/>
            </a:pPr>
            <a:r>
              <a:rPr lang="en-US" sz="2008">
                <a:solidFill>
                  <a:schemeClr val="hlink"/>
                </a:solidFill>
                <a:uFill>
                  <a:noFill/>
                </a:uFill>
                <a:hlinkClick r:id="rId7"/>
              </a:rPr>
              <a:t>https://nptel.ac.in/courses/106105167</a:t>
            </a:r>
            <a:endParaRPr sz="2008"/>
          </a:p>
          <a:p>
            <a:pPr indent="0" lvl="0" marL="171450" rtl="0" algn="just">
              <a:lnSpc>
                <a:spcPct val="90000"/>
              </a:lnSpc>
              <a:spcBef>
                <a:spcPts val="750"/>
              </a:spcBef>
              <a:spcAft>
                <a:spcPts val="0"/>
              </a:spcAft>
              <a:buNone/>
            </a:pPr>
            <a:r>
              <a:rPr lang="en-US" sz="2008">
                <a:solidFill>
                  <a:schemeClr val="hlink"/>
                </a:solidFill>
                <a:uFill>
                  <a:noFill/>
                </a:uFill>
                <a:hlinkClick r:id="rId8"/>
              </a:rPr>
              <a:t>https://www.edx.org/learn/cloud-computing</a:t>
            </a:r>
            <a:endParaRPr sz="2008"/>
          </a:p>
          <a:p>
            <a:pPr indent="-91440" lvl="0" marL="171450" rtl="0" algn="l">
              <a:lnSpc>
                <a:spcPct val="90000"/>
              </a:lnSpc>
              <a:spcBef>
                <a:spcPts val="750"/>
              </a:spcBef>
              <a:spcAft>
                <a:spcPts val="0"/>
              </a:spcAft>
              <a:buClr>
                <a:schemeClr val="dk1"/>
              </a:buClr>
              <a:buSzPct val="100000"/>
              <a:buFont typeface="Noto Sans Symbols"/>
              <a:buNone/>
            </a:pPr>
            <a:r>
              <a:t/>
            </a:r>
            <a:endParaRPr sz="1800"/>
          </a:p>
        </p:txBody>
      </p:sp>
      <p:sp>
        <p:nvSpPr>
          <p:cNvPr id="249" name="Google Shape;249;p1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p:txBody>
      </p:sp>
      <p:sp>
        <p:nvSpPr>
          <p:cNvPr id="250" name="Google Shape;250;p1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51" name="Google Shape;251;p17"/>
          <p:cNvPicPr preferRelativeResize="0"/>
          <p:nvPr/>
        </p:nvPicPr>
        <p:blipFill rotWithShape="1">
          <a:blip r:embed="rId9">
            <a:alphaModFix/>
          </a:blip>
          <a:srcRect b="0" l="0" r="0" t="0"/>
          <a:stretch/>
        </p:blipFill>
        <p:spPr>
          <a:xfrm>
            <a:off x="112575" y="70037"/>
            <a:ext cx="2564258" cy="718788"/>
          </a:xfrm>
          <a:prstGeom prst="rect">
            <a:avLst/>
          </a:prstGeom>
          <a:noFill/>
          <a:ln>
            <a:noFill/>
          </a:ln>
        </p:spPr>
      </p:pic>
      <p:pic>
        <p:nvPicPr>
          <p:cNvPr id="252" name="Google Shape;252;p17"/>
          <p:cNvPicPr preferRelativeResize="0"/>
          <p:nvPr/>
        </p:nvPicPr>
        <p:blipFill rotWithShape="1">
          <a:blip r:embed="rId10">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8"/>
          <p:cNvSpPr/>
          <p:nvPr/>
        </p:nvSpPr>
        <p:spPr>
          <a:xfrm>
            <a:off x="555172" y="1493556"/>
            <a:ext cx="8229600" cy="2961536"/>
          </a:xfrm>
          <a:prstGeom prst="rect">
            <a:avLst/>
          </a:prstGeom>
          <a:solidFill>
            <a:srgbClr val="385623">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258" name="Google Shape;258;p18"/>
          <p:cNvSpPr txBox="1"/>
          <p:nvPr/>
        </p:nvSpPr>
        <p:spPr>
          <a:xfrm>
            <a:off x="1100139" y="2236198"/>
            <a:ext cx="8043861" cy="115416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6000"/>
              <a:buFont typeface="Arial"/>
              <a:buNone/>
            </a:pPr>
            <a:r>
              <a:rPr lang="en-US" sz="6000">
                <a:solidFill>
                  <a:srgbClr val="FFFFFF"/>
                </a:solidFill>
                <a:latin typeface="Arial"/>
                <a:ea typeface="Arial"/>
                <a:cs typeface="Arial"/>
                <a:sym typeface="Arial"/>
              </a:rPr>
              <a:t>THANK YOU</a:t>
            </a:r>
            <a:endParaRPr/>
          </a:p>
          <a:p>
            <a:pPr indent="0" lvl="0" marL="0" marR="0" rtl="0" algn="ctr">
              <a:lnSpc>
                <a:spcPct val="100000"/>
              </a:lnSpc>
              <a:spcBef>
                <a:spcPts val="0"/>
              </a:spcBef>
              <a:spcAft>
                <a:spcPts val="0"/>
              </a:spcAft>
              <a:buClr>
                <a:srgbClr val="FFFFFF"/>
              </a:buClr>
              <a:buSzPts val="1500"/>
              <a:buFont typeface="Arial"/>
              <a:buNone/>
            </a:pPr>
            <a:r>
              <a:rPr lang="en-US" sz="1500">
                <a:solidFill>
                  <a:srgbClr val="FFFFFF"/>
                </a:solidFill>
                <a:latin typeface="Arial"/>
                <a:ea typeface="Arial"/>
                <a:cs typeface="Arial"/>
                <a:sym typeface="Arial"/>
              </a:rPr>
              <a:t>     </a:t>
            </a:r>
            <a:endParaRPr/>
          </a:p>
        </p:txBody>
      </p:sp>
      <p:sp>
        <p:nvSpPr>
          <p:cNvPr id="259" name="Google Shape;259;p18"/>
          <p:cNvSpPr/>
          <p:nvPr/>
        </p:nvSpPr>
        <p:spPr>
          <a:xfrm>
            <a:off x="1765409" y="1678802"/>
            <a:ext cx="1822847" cy="2419350"/>
          </a:xfrm>
          <a:custGeom>
            <a:rect b="b" l="l" r="r" t="t"/>
            <a:pathLst>
              <a:path extrusionOk="0" h="3225800" w="2430463">
                <a:moveTo>
                  <a:pt x="2430463" y="2413000"/>
                </a:moveTo>
                <a:lnTo>
                  <a:pt x="1612900" y="3225800"/>
                </a:lnTo>
                <a:lnTo>
                  <a:pt x="0" y="1612900"/>
                </a:lnTo>
                <a:lnTo>
                  <a:pt x="1612900" y="0"/>
                </a:lnTo>
                <a:lnTo>
                  <a:pt x="2430463" y="817563"/>
                </a:lnTo>
              </a:path>
            </a:pathLst>
          </a:custGeom>
          <a:no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60" name="Google Shape;260;p18"/>
          <p:cNvSpPr/>
          <p:nvPr/>
        </p:nvSpPr>
        <p:spPr>
          <a:xfrm>
            <a:off x="1981199" y="1663837"/>
            <a:ext cx="1822847" cy="2419350"/>
          </a:xfrm>
          <a:custGeom>
            <a:rect b="b" l="l" r="r" t="t"/>
            <a:pathLst>
              <a:path extrusionOk="0" h="3225800" w="2430463">
                <a:moveTo>
                  <a:pt x="2430463" y="2413000"/>
                </a:moveTo>
                <a:lnTo>
                  <a:pt x="1612900" y="3225800"/>
                </a:lnTo>
                <a:lnTo>
                  <a:pt x="0" y="1612900"/>
                </a:lnTo>
                <a:lnTo>
                  <a:pt x="1612900" y="0"/>
                </a:lnTo>
                <a:lnTo>
                  <a:pt x="2430463" y="817563"/>
                </a:lnTo>
              </a:path>
            </a:pathLst>
          </a:custGeom>
          <a:no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61" name="Google Shape;261;p18"/>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br>
              <a:rPr lang="en-US"/>
            </a:br>
            <a:endParaRPr/>
          </a:p>
        </p:txBody>
      </p:sp>
      <p:sp>
        <p:nvSpPr>
          <p:cNvPr id="262" name="Google Shape;262;p1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p:txBody>
      </p:sp>
      <p:sp>
        <p:nvSpPr>
          <p:cNvPr id="263" name="Google Shape;263;p1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050">
                <a:solidFill>
                  <a:schemeClr val="dk1"/>
                </a:solidFill>
              </a:rPr>
              <a:t>‹#›</a:t>
            </a:fld>
            <a:endParaRPr b="1" sz="1050">
              <a:solidFill>
                <a:schemeClr val="dk1"/>
              </a:solidFill>
            </a:endParaRPr>
          </a:p>
        </p:txBody>
      </p:sp>
      <p:pic>
        <p:nvPicPr>
          <p:cNvPr id="264" name="Google Shape;264;p18"/>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265" name="Google Shape;265;p18"/>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2024-12-06T17:10:37Z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